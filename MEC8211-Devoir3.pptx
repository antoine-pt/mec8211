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66" r:id="rId4"/>
    <p:sldId id="264" r:id="rId5"/>
    <p:sldId id="260" r:id="rId6"/>
    <p:sldId id="267" r:id="rId7"/>
    <p:sldId id="261" r:id="rId8"/>
    <p:sldId id="262" r:id="rId9"/>
    <p:sldId id="263"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3" autoAdjust="0"/>
    <p:restoredTop sz="94660"/>
  </p:normalViewPr>
  <p:slideViewPr>
    <p:cSldViewPr snapToGrid="0">
      <p:cViewPr varScale="1">
        <p:scale>
          <a:sx n="78" d="100"/>
          <a:sy n="78" d="100"/>
        </p:scale>
        <p:origin x="653"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D447F1-453D-4945-8981-7B47F590C70C}" type="datetimeFigureOut">
              <a:rPr lang="fr-CA" smtClean="0"/>
              <a:t>2026-03-26</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A0F3B1-98BF-4430-AB0B-53D22E8A78C9}" type="slidenum">
              <a:rPr lang="fr-CA" smtClean="0"/>
              <a:t>‹#›</a:t>
            </a:fld>
            <a:endParaRPr lang="fr-CA"/>
          </a:p>
        </p:txBody>
      </p:sp>
    </p:spTree>
    <p:extLst>
      <p:ext uri="{BB962C8B-B14F-4D97-AF65-F5344CB8AC3E}">
        <p14:creationId xmlns:p14="http://schemas.microsoft.com/office/powerpoint/2010/main" val="3853204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5A0F3B1-98BF-4430-AB0B-53D22E8A78C9}" type="slidenum">
              <a:rPr lang="fr-CA" smtClean="0"/>
              <a:t>5</a:t>
            </a:fld>
            <a:endParaRPr lang="fr-CA"/>
          </a:p>
        </p:txBody>
      </p:sp>
    </p:spTree>
    <p:extLst>
      <p:ext uri="{BB962C8B-B14F-4D97-AF65-F5344CB8AC3E}">
        <p14:creationId xmlns:p14="http://schemas.microsoft.com/office/powerpoint/2010/main" val="2299516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62C8-9F56-6A3F-7606-F5012E87156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606C73-C25B-B502-BFD4-729AB1AC9BC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060132-D4D8-91EA-AAC4-E3943EB2CC5E}"/>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400F20EB-06EC-198A-EC9A-6DDE888492AA}"/>
              </a:ext>
            </a:extLst>
          </p:cNvPr>
          <p:cNvSpPr>
            <a:spLocks noGrp="1"/>
          </p:cNvSpPr>
          <p:nvPr>
            <p:ph type="sldNum" sz="quarter" idx="5"/>
          </p:nvPr>
        </p:nvSpPr>
        <p:spPr/>
        <p:txBody>
          <a:bodyPr/>
          <a:lstStyle/>
          <a:p>
            <a:fld id="{75A0F3B1-98BF-4430-AB0B-53D22E8A78C9}" type="slidenum">
              <a:rPr lang="fr-CA" smtClean="0"/>
              <a:t>6</a:t>
            </a:fld>
            <a:endParaRPr lang="fr-CA"/>
          </a:p>
        </p:txBody>
      </p:sp>
    </p:spTree>
    <p:extLst>
      <p:ext uri="{BB962C8B-B14F-4D97-AF65-F5344CB8AC3E}">
        <p14:creationId xmlns:p14="http://schemas.microsoft.com/office/powerpoint/2010/main" val="1039464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2ECC62-EAF7-1035-8F94-5644B0ADD56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BDC137E-47EF-7813-F8D9-35C39650EE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883835A-20CD-C264-B152-5FE8D6983818}"/>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5" name="Espace réservé du pied de page 4">
            <a:extLst>
              <a:ext uri="{FF2B5EF4-FFF2-40B4-BE49-F238E27FC236}">
                <a16:creationId xmlns:a16="http://schemas.microsoft.com/office/drawing/2014/main" id="{FC27DB43-631C-6BE2-125A-9BAA883392D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0CCA212-B074-CE53-203B-D9AAF99E3601}"/>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3207649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0F0079-A8FD-1E3C-05DD-43C66D1BA82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6801B53-DEEB-745E-EC99-0476EF023E9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25AE8F8-313B-7E91-C379-8394CA43D763}"/>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5" name="Espace réservé du pied de page 4">
            <a:extLst>
              <a:ext uri="{FF2B5EF4-FFF2-40B4-BE49-F238E27FC236}">
                <a16:creationId xmlns:a16="http://schemas.microsoft.com/office/drawing/2014/main" id="{6BBDB642-DF18-412C-21BD-B3B0507DD0F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2C2301E-B2D6-5CF9-F855-7E04C464CB04}"/>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211229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F02322-6B4E-E697-1291-ED443433EBB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3688D89-7C39-6555-971F-4391ACD126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39118D0-49DF-05EC-8F47-3AD05DA33E3D}"/>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5" name="Espace réservé du pied de page 4">
            <a:extLst>
              <a:ext uri="{FF2B5EF4-FFF2-40B4-BE49-F238E27FC236}">
                <a16:creationId xmlns:a16="http://schemas.microsoft.com/office/drawing/2014/main" id="{55342888-E1F4-3EA8-B01F-8991D429F69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D834ED2-482F-CE8E-C2E8-46017D32560D}"/>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849570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3554EC-B2F9-CCAA-0C2D-C7C1B8CF4DC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1E797DB-F889-08EC-E1FC-0FDD80EADD7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486227C-6B4F-C012-364F-6EB683D6966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E44E6AD-1354-8644-1A63-EB046CA0FD88}"/>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6" name="Espace réservé du pied de page 5">
            <a:extLst>
              <a:ext uri="{FF2B5EF4-FFF2-40B4-BE49-F238E27FC236}">
                <a16:creationId xmlns:a16="http://schemas.microsoft.com/office/drawing/2014/main" id="{36B9067E-1426-D593-484A-B1CEC2BFB87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04C8401-2587-247E-0ED9-B36DA53642EF}"/>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1429532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0A6D36-3555-637A-2616-C227660E2A4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CB3D8F9-E275-91E4-0B31-1406C44474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19B9117-E166-E89C-7F67-20BDD15DDB9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7BD8A42-745A-7394-AE04-40101DB08D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356E7B9-A24E-500F-5AF9-0391547579D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FBC5BA7-54D6-1801-FC17-2753C9934FC2}"/>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8" name="Espace réservé du pied de page 7">
            <a:extLst>
              <a:ext uri="{FF2B5EF4-FFF2-40B4-BE49-F238E27FC236}">
                <a16:creationId xmlns:a16="http://schemas.microsoft.com/office/drawing/2014/main" id="{D1762DFE-E69B-D21C-09D6-A0F8AC61A57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B3A7B23-1B74-9C9F-9B85-61D5F3080420}"/>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2279879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92E926-7475-68DA-C790-4FA7DB1A5E7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8FBF773-7566-A041-FA69-A3B322707CBF}"/>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4" name="Espace réservé du pied de page 3">
            <a:extLst>
              <a:ext uri="{FF2B5EF4-FFF2-40B4-BE49-F238E27FC236}">
                <a16:creationId xmlns:a16="http://schemas.microsoft.com/office/drawing/2014/main" id="{B8B89780-EF4E-FF8C-CA83-32C4ABA7AEF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BF42B39-65EA-0754-4F3A-03BACF4FCF47}"/>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357489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79C3C60-4952-ABEE-B909-2B2CF0F304E0}"/>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3" name="Espace réservé du pied de page 2">
            <a:extLst>
              <a:ext uri="{FF2B5EF4-FFF2-40B4-BE49-F238E27FC236}">
                <a16:creationId xmlns:a16="http://schemas.microsoft.com/office/drawing/2014/main" id="{23452FE0-DF25-A36C-B352-A0AE425A50E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54F7236-BC28-0DA7-F5D9-3247AF8A7D84}"/>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852106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B47E47-8C8E-D99F-5F73-EF2C9C22AD4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349BB5D-CC07-B713-F9F9-50118EC086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31E9281-031C-EDCC-1C27-C470F4A773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8014BCA-3E21-1520-7E8C-AE3D946F67C8}"/>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6" name="Espace réservé du pied de page 5">
            <a:extLst>
              <a:ext uri="{FF2B5EF4-FFF2-40B4-BE49-F238E27FC236}">
                <a16:creationId xmlns:a16="http://schemas.microsoft.com/office/drawing/2014/main" id="{EA11CF75-28A5-4F83-85DF-A9A20280D79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9881D02-244A-6FDF-ED8D-728971970C08}"/>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244047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D81FFE-2852-F517-F4A6-8E405D2F17B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DDE2578-1FE4-E4D1-6689-20DE59F2C4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3709F10-A820-7FD3-0933-0DB97628C5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F62E178-027A-1C8C-D545-00FFE3BF8F0E}"/>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6" name="Espace réservé du pied de page 5">
            <a:extLst>
              <a:ext uri="{FF2B5EF4-FFF2-40B4-BE49-F238E27FC236}">
                <a16:creationId xmlns:a16="http://schemas.microsoft.com/office/drawing/2014/main" id="{9BDD9C8A-908B-8A6A-9242-91F2FCE7204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1900FDA-CC10-180F-AF80-1E57271CE159}"/>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2520982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620C77-413F-5529-A61D-780319117EB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C934F54-1E3E-37D6-1C0B-E0B9DC5AE06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30818A-C895-6754-E996-213B2FA20810}"/>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5" name="Espace réservé du pied de page 4">
            <a:extLst>
              <a:ext uri="{FF2B5EF4-FFF2-40B4-BE49-F238E27FC236}">
                <a16:creationId xmlns:a16="http://schemas.microsoft.com/office/drawing/2014/main" id="{8190E735-EEB0-ED57-9C07-320733EED98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12FF544-AB1B-20FB-6646-433FACC62F1E}"/>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961425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E1CE5C5-5417-261F-0ABD-6367744B315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5FE909A-9B32-8A2D-C28C-39F36749406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7971400-6C6D-A507-976D-38624667DD48}"/>
              </a:ext>
            </a:extLst>
          </p:cNvPr>
          <p:cNvSpPr>
            <a:spLocks noGrp="1"/>
          </p:cNvSpPr>
          <p:nvPr>
            <p:ph type="dt" sz="half" idx="10"/>
          </p:nvPr>
        </p:nvSpPr>
        <p:spPr/>
        <p:txBody>
          <a:bodyPr/>
          <a:lstStyle/>
          <a:p>
            <a:fld id="{31FFBCA7-9440-4261-9163-708EE63D7830}" type="datetimeFigureOut">
              <a:rPr lang="fr-FR" smtClean="0"/>
              <a:t>26/03/2026</a:t>
            </a:fld>
            <a:endParaRPr lang="fr-FR"/>
          </a:p>
        </p:txBody>
      </p:sp>
      <p:sp>
        <p:nvSpPr>
          <p:cNvPr id="5" name="Espace réservé du pied de page 4">
            <a:extLst>
              <a:ext uri="{FF2B5EF4-FFF2-40B4-BE49-F238E27FC236}">
                <a16:creationId xmlns:a16="http://schemas.microsoft.com/office/drawing/2014/main" id="{91BDC9C1-2934-0DFE-5778-39EB7D2B297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6621983-9DA0-8A74-5038-359D55DDEE8F}"/>
              </a:ext>
            </a:extLst>
          </p:cNvPr>
          <p:cNvSpPr>
            <a:spLocks noGrp="1"/>
          </p:cNvSpPr>
          <p:nvPr>
            <p:ph type="sldNum" sz="quarter" idx="12"/>
          </p:nvPr>
        </p:nvSpPr>
        <p:spPr/>
        <p:txBody>
          <a:bodyPr/>
          <a:lstStyle/>
          <a:p>
            <a:fld id="{604604B4-3276-4BB4-823A-E61BE8D504DF}" type="slidenum">
              <a:rPr lang="fr-FR" smtClean="0"/>
              <a:t>‹#›</a:t>
            </a:fld>
            <a:endParaRPr lang="fr-FR"/>
          </a:p>
        </p:txBody>
      </p:sp>
    </p:spTree>
    <p:extLst>
      <p:ext uri="{BB962C8B-B14F-4D97-AF65-F5344CB8AC3E}">
        <p14:creationId xmlns:p14="http://schemas.microsoft.com/office/powerpoint/2010/main" val="2485046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5091EDF-5198-4CAF-A12F-52A6BE05A6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255780F-7CC0-01B5-A667-7F23A92EAC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45A7F72-93F7-AF2B-F715-A89E5CBD92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FFBCA7-9440-4261-9163-708EE63D7830}" type="datetimeFigureOut">
              <a:rPr lang="fr-FR" smtClean="0"/>
              <a:t>26/03/2026</a:t>
            </a:fld>
            <a:endParaRPr lang="fr-FR"/>
          </a:p>
        </p:txBody>
      </p:sp>
      <p:sp>
        <p:nvSpPr>
          <p:cNvPr id="5" name="Espace réservé du pied de page 4">
            <a:extLst>
              <a:ext uri="{FF2B5EF4-FFF2-40B4-BE49-F238E27FC236}">
                <a16:creationId xmlns:a16="http://schemas.microsoft.com/office/drawing/2014/main" id="{5FDBB570-B3E5-9216-56E4-3134DA844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1A11292-186C-AD6B-3030-D2858E46D5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4604B4-3276-4BB4-823A-E61BE8D504DF}" type="slidenum">
              <a:rPr lang="fr-FR" smtClean="0"/>
              <a:t>‹#›</a:t>
            </a:fld>
            <a:endParaRPr lang="fr-FR"/>
          </a:p>
        </p:txBody>
      </p:sp>
    </p:spTree>
    <p:extLst>
      <p:ext uri="{BB962C8B-B14F-4D97-AF65-F5344CB8AC3E}">
        <p14:creationId xmlns:p14="http://schemas.microsoft.com/office/powerpoint/2010/main" val="201509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antoine-pt/MEC6212.gi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C991BE-FE4B-ED26-E133-B4042883214D}"/>
              </a:ext>
            </a:extLst>
          </p:cNvPr>
          <p:cNvSpPr>
            <a:spLocks noGrp="1"/>
          </p:cNvSpPr>
          <p:nvPr>
            <p:ph type="ctrTitle"/>
          </p:nvPr>
        </p:nvSpPr>
        <p:spPr>
          <a:xfrm>
            <a:off x="1524000" y="1426463"/>
            <a:ext cx="9144000" cy="1425131"/>
          </a:xfrm>
        </p:spPr>
        <p:txBody>
          <a:bodyPr/>
          <a:lstStyle/>
          <a:p>
            <a:r>
              <a:rPr lang="fr-FR" noProof="0" dirty="0"/>
              <a:t>MEC8211 – Devoir 3 </a:t>
            </a:r>
          </a:p>
        </p:txBody>
      </p:sp>
      <p:sp>
        <p:nvSpPr>
          <p:cNvPr id="3" name="Sous-titre 2">
            <a:extLst>
              <a:ext uri="{FF2B5EF4-FFF2-40B4-BE49-F238E27FC236}">
                <a16:creationId xmlns:a16="http://schemas.microsoft.com/office/drawing/2014/main" id="{C0AF6114-4134-51BE-88E4-DAEE360A6665}"/>
              </a:ext>
            </a:extLst>
          </p:cNvPr>
          <p:cNvSpPr>
            <a:spLocks noGrp="1"/>
          </p:cNvSpPr>
          <p:nvPr>
            <p:ph type="subTitle" idx="1"/>
          </p:nvPr>
        </p:nvSpPr>
        <p:spPr>
          <a:xfrm>
            <a:off x="1524000" y="4006407"/>
            <a:ext cx="9144000" cy="1945747"/>
          </a:xfrm>
        </p:spPr>
        <p:txBody>
          <a:bodyPr>
            <a:normAutofit fontScale="92500" lnSpcReduction="10000"/>
          </a:bodyPr>
          <a:lstStyle/>
          <a:p>
            <a:r>
              <a:rPr lang="fr-FR" noProof="0" dirty="0"/>
              <a:t>Antoine Payette-Toupin (2090788)</a:t>
            </a:r>
          </a:p>
          <a:p>
            <a:r>
              <a:rPr lang="fr-FR" noProof="0" dirty="0"/>
              <a:t>Charlotte Sabrié (2485495)</a:t>
            </a:r>
          </a:p>
          <a:p>
            <a:r>
              <a:rPr lang="fr-FR" noProof="0" dirty="0"/>
              <a:t>Loïc Vignaud (2485146)</a:t>
            </a:r>
          </a:p>
          <a:p>
            <a:endParaRPr lang="fr-FR" dirty="0"/>
          </a:p>
          <a:p>
            <a:r>
              <a:rPr lang="fr-FR" sz="2200" dirty="0">
                <a:hlinkClick r:id="rId2">
                  <a:extLst>
                    <a:ext uri="{A12FA001-AC4F-418D-AE19-62706E023703}">
                      <ahyp:hlinkClr xmlns:ahyp="http://schemas.microsoft.com/office/drawing/2018/hyperlinkcolor" val="tx"/>
                    </a:ext>
                  </a:extLst>
                </a:hlinkClick>
              </a:rPr>
              <a:t>Répertoire </a:t>
            </a:r>
            <a:r>
              <a:rPr lang="fr-FR" sz="2200" dirty="0" err="1">
                <a:hlinkClick r:id="rId2">
                  <a:extLst>
                    <a:ext uri="{A12FA001-AC4F-418D-AE19-62706E023703}">
                      <ahyp:hlinkClr xmlns:ahyp="http://schemas.microsoft.com/office/drawing/2018/hyperlinkcolor" val="tx"/>
                    </a:ext>
                  </a:extLst>
                </a:hlinkClick>
              </a:rPr>
              <a:t>Github</a:t>
            </a:r>
            <a:r>
              <a:rPr lang="fr-FR" sz="2200" dirty="0">
                <a:hlinkClick r:id="rId2">
                  <a:extLst>
                    <a:ext uri="{A12FA001-AC4F-418D-AE19-62706E023703}">
                      <ahyp:hlinkClr xmlns:ahyp="http://schemas.microsoft.com/office/drawing/2018/hyperlinkcolor" val="tx"/>
                    </a:ext>
                  </a:extLst>
                </a:hlinkClick>
              </a:rPr>
              <a:t> : </a:t>
            </a:r>
            <a:r>
              <a:rPr lang="fr-FR" sz="2200" u="sng" dirty="0">
                <a:hlinkClick r:id="rId2">
                  <a:extLst>
                    <a:ext uri="{A12FA001-AC4F-418D-AE19-62706E023703}">
                      <ahyp:hlinkClr xmlns:ahyp="http://schemas.microsoft.com/office/drawing/2018/hyperlinkcolor" val="tx"/>
                    </a:ext>
                  </a:extLst>
                </a:hlinkClick>
              </a:rPr>
              <a:t>https://github.com/antoine-pt/MEC6212.git</a:t>
            </a:r>
            <a:endParaRPr lang="fr-FR" sz="2200" noProof="0" dirty="0"/>
          </a:p>
        </p:txBody>
      </p:sp>
    </p:spTree>
    <p:extLst>
      <p:ext uri="{BB962C8B-B14F-4D97-AF65-F5344CB8AC3E}">
        <p14:creationId xmlns:p14="http://schemas.microsoft.com/office/powerpoint/2010/main" val="1918372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E7D87B06-2293-46A9-1B49-5FA555DC4644}"/>
                  </a:ext>
                </a:extLst>
              </p:cNvPr>
              <p:cNvSpPr>
                <a:spLocks noGrp="1"/>
              </p:cNvSpPr>
              <p:nvPr>
                <p:ph type="title"/>
              </p:nvPr>
            </p:nvSpPr>
            <p:spPr>
              <a:xfrm>
                <a:off x="838200" y="255321"/>
                <a:ext cx="10515600" cy="1325563"/>
              </a:xfrm>
            </p:spPr>
            <p:txBody>
              <a:bodyPr>
                <a:normAutofit/>
              </a:bodyPr>
              <a:lstStyle/>
              <a:p>
                <a:r>
                  <a:rPr lang="fr-FR" dirty="0"/>
                  <a:t>A) Incertitude numérique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𝑛𝑢𝑚</m:t>
                        </m:r>
                      </m:sub>
                    </m:sSub>
                  </m:oMath>
                </a14:m>
                <a:br>
                  <a:rPr lang="fr-FR" b="0" dirty="0"/>
                </a:br>
                <a:endParaRPr lang="fr-FR" dirty="0"/>
              </a:p>
            </p:txBody>
          </p:sp>
        </mc:Choice>
        <mc:Fallback xmlns="">
          <p:sp>
            <p:nvSpPr>
              <p:cNvPr id="2" name="Titre 1">
                <a:extLst>
                  <a:ext uri="{FF2B5EF4-FFF2-40B4-BE49-F238E27FC236}">
                    <a16:creationId xmlns:a16="http://schemas.microsoft.com/office/drawing/2014/main" id="{E7D87B06-2293-46A9-1B49-5FA555DC4644}"/>
                  </a:ext>
                </a:extLst>
              </p:cNvPr>
              <p:cNvSpPr>
                <a:spLocks noGrp="1" noRot="1" noChangeAspect="1" noMove="1" noResize="1" noEditPoints="1" noAdjustHandles="1" noChangeArrowheads="1" noChangeShapeType="1" noTextEdit="1"/>
              </p:cNvSpPr>
              <p:nvPr>
                <p:ph type="title"/>
              </p:nvPr>
            </p:nvSpPr>
            <p:spPr>
              <a:xfrm>
                <a:off x="838200" y="255321"/>
                <a:ext cx="10515600" cy="1325563"/>
              </a:xfrm>
              <a:blipFill>
                <a:blip r:embed="rId2"/>
                <a:stretch>
                  <a:fillRect l="-2377" t="-1336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22E80974-09C0-B5E5-C74A-D5162AC8CD95}"/>
                  </a:ext>
                </a:extLst>
              </p:cNvPr>
              <p:cNvSpPr>
                <a:spLocks noGrp="1"/>
              </p:cNvSpPr>
              <p:nvPr>
                <p:ph idx="1"/>
              </p:nvPr>
            </p:nvSpPr>
            <p:spPr>
              <a:xfrm>
                <a:off x="838200" y="1013988"/>
                <a:ext cx="10515600" cy="5939074"/>
              </a:xfrm>
            </p:spPr>
            <p:txBody>
              <a:bodyPr>
                <a:normAutofit/>
              </a:bodyPr>
              <a:lstStyle/>
              <a:p>
                <a14:m>
                  <m:oMath xmlns:m="http://schemas.openxmlformats.org/officeDocument/2006/math">
                    <m:sSub>
                      <m:sSubPr>
                        <m:ctrlPr>
                          <a:rPr lang="fr-FR" sz="2000" i="1" smtClean="0">
                            <a:latin typeface="Cambria Math" panose="02040503050406030204" pitchFamily="18" charset="0"/>
                          </a:rPr>
                        </m:ctrlPr>
                      </m:sSubPr>
                      <m:e>
                        <m:r>
                          <a:rPr lang="fr-FR" sz="2000" i="1">
                            <a:latin typeface="Cambria Math" panose="02040503050406030204" pitchFamily="18" charset="0"/>
                          </a:rPr>
                          <m:t>𝑢</m:t>
                        </m:r>
                      </m:e>
                      <m:sub>
                        <m:r>
                          <a:rPr lang="fr-FR" sz="2000" i="1">
                            <a:latin typeface="Cambria Math" panose="02040503050406030204" pitchFamily="18" charset="0"/>
                          </a:rPr>
                          <m:t>𝑛𝑢𝑚</m:t>
                        </m:r>
                      </m:sub>
                    </m:sSub>
                  </m:oMath>
                </a14:m>
                <a:r>
                  <a:rPr lang="fr-FR" sz="2000" dirty="0"/>
                  <a:t> peut être calculé à l’aide du GCI (</a:t>
                </a:r>
                <a:r>
                  <a:rPr lang="fr-FR" sz="2000" i="1" dirty="0" err="1"/>
                  <a:t>Grid</a:t>
                </a:r>
                <a:r>
                  <a:rPr lang="fr-FR" sz="2000" i="1" dirty="0"/>
                  <a:t> Convergence Index</a:t>
                </a:r>
                <a:r>
                  <a:rPr lang="fr-FR" sz="2000" dirty="0"/>
                  <a:t>)</a:t>
                </a:r>
              </a:p>
              <a:p>
                <a:r>
                  <a:rPr lang="fr-FR" sz="2000" dirty="0"/>
                  <a:t>GCI donne une évaluation conservative de l’incertitude à 95% de fiabilité. On conclu donc que </a:t>
                </a:r>
                <a14:m>
                  <m:oMath xmlns:m="http://schemas.openxmlformats.org/officeDocument/2006/math">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𝑢</m:t>
                        </m:r>
                      </m:e>
                      <m:sub>
                        <m:r>
                          <a:rPr lang="fr-CA" sz="2000" b="0" i="1" smtClean="0">
                            <a:latin typeface="Cambria Math" panose="02040503050406030204" pitchFamily="18" charset="0"/>
                          </a:rPr>
                          <m:t>𝑛𝑢𝑚</m:t>
                        </m:r>
                      </m:sub>
                    </m:sSub>
                    <m:r>
                      <a:rPr lang="fr-CA" sz="2000" b="0" i="1" smtClean="0">
                        <a:latin typeface="Cambria Math" panose="02040503050406030204" pitchFamily="18" charset="0"/>
                      </a:rPr>
                      <m:t>=</m:t>
                    </m:r>
                    <m:f>
                      <m:fPr>
                        <m:ctrlPr>
                          <a:rPr lang="fr-CA" sz="2000" b="0" i="1" smtClean="0">
                            <a:latin typeface="Cambria Math" panose="02040503050406030204" pitchFamily="18" charset="0"/>
                          </a:rPr>
                        </m:ctrlPr>
                      </m:fPr>
                      <m:num>
                        <m:r>
                          <a:rPr lang="fr-CA" sz="2000" b="0" i="1" smtClean="0">
                            <a:latin typeface="Cambria Math" panose="02040503050406030204" pitchFamily="18" charset="0"/>
                          </a:rPr>
                          <m:t>𝐺𝐶𝐼</m:t>
                        </m:r>
                      </m:num>
                      <m:den>
                        <m:r>
                          <a:rPr lang="fr-CA" sz="2000" b="0" i="1" smtClean="0">
                            <a:latin typeface="Cambria Math" panose="02040503050406030204" pitchFamily="18" charset="0"/>
                          </a:rPr>
                          <m:t>2</m:t>
                        </m:r>
                      </m:den>
                    </m:f>
                  </m:oMath>
                </a14:m>
                <a:r>
                  <a:rPr lang="fr-FR" sz="2000" dirty="0"/>
                  <a:t>, pour rester cohérent avec le facteur de couverture, </a:t>
                </a:r>
                <a14:m>
                  <m:oMath xmlns:m="http://schemas.openxmlformats.org/officeDocument/2006/math">
                    <m:r>
                      <a:rPr lang="fr-CA" sz="2000" b="0" i="1" smtClean="0">
                        <a:latin typeface="Cambria Math" panose="02040503050406030204" pitchFamily="18" charset="0"/>
                      </a:rPr>
                      <m:t>𝑘</m:t>
                    </m:r>
                    <m:r>
                      <a:rPr lang="fr-CA" sz="2000" b="0" i="1" smtClean="0">
                        <a:latin typeface="Cambria Math" panose="02040503050406030204" pitchFamily="18" charset="0"/>
                      </a:rPr>
                      <m:t>=2</m:t>
                    </m:r>
                  </m:oMath>
                </a14:m>
                <a:r>
                  <a:rPr lang="fr-FR" sz="2000" dirty="0"/>
                  <a:t>.</a:t>
                </a:r>
              </a:p>
              <a:p>
                <a:r>
                  <a:rPr lang="fr-FR" sz="2000" dirty="0"/>
                  <a:t>GCI est calculé de la manière suivante (</a:t>
                </a:r>
                <a:r>
                  <a:rPr lang="fr-FR" sz="2000" i="1" dirty="0"/>
                  <a:t>Figure 1</a:t>
                </a:r>
                <a:r>
                  <a:rPr lang="fr-FR" sz="2000" dirty="0"/>
                  <a:t>) : </a:t>
                </a:r>
                <a:br>
                  <a:rPr lang="fr-FR" sz="2000" dirty="0"/>
                </a:br>
                <a:r>
                  <a:rPr lang="fr-FR" sz="2000" dirty="0"/>
                  <a:t>	où </a:t>
                </a:r>
                <a14:m>
                  <m:oMath xmlns:m="http://schemas.openxmlformats.org/officeDocument/2006/math">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𝑝</m:t>
                        </m:r>
                      </m:e>
                      <m:sub>
                        <m:r>
                          <a:rPr lang="fr-CA" sz="2000" b="0" i="1" smtClean="0">
                            <a:latin typeface="Cambria Math" panose="02040503050406030204" pitchFamily="18" charset="0"/>
                          </a:rPr>
                          <m:t>𝑓</m:t>
                        </m:r>
                      </m:sub>
                    </m:sSub>
                  </m:oMath>
                </a14:m>
                <a:r>
                  <a:rPr lang="fr-FR" sz="2000" dirty="0"/>
                  <a:t> est l’ordre théorique en espace, soit 2,</a:t>
                </a:r>
                <a:br>
                  <a:rPr lang="fr-FR" sz="2000" dirty="0"/>
                </a:br>
                <a:r>
                  <a:rPr lang="fr-FR" sz="2000" dirty="0"/>
                  <a:t>	et </a:t>
                </a:r>
                <a14:m>
                  <m:oMath xmlns:m="http://schemas.openxmlformats.org/officeDocument/2006/math">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𝑝</m:t>
                        </m:r>
                      </m:e>
                    </m:acc>
                  </m:oMath>
                </a14:m>
                <a:r>
                  <a:rPr lang="fr-FR" sz="2000" dirty="0"/>
                  <a:t> est l’ordre observé.</a:t>
                </a:r>
              </a:p>
              <a:p>
                <a:r>
                  <a:rPr lang="fr-FR" sz="2000" dirty="0"/>
                  <a:t>Pour mesurer l’ordre </a:t>
                </a:r>
                <a14:m>
                  <m:oMath xmlns:m="http://schemas.openxmlformats.org/officeDocument/2006/math">
                    <m:acc>
                      <m:accPr>
                        <m:chr m:val="̂"/>
                        <m:ctrlPr>
                          <a:rPr lang="fr-FR" sz="2000" i="1" smtClean="0">
                            <a:latin typeface="Cambria Math" panose="02040503050406030204" pitchFamily="18" charset="0"/>
                          </a:rPr>
                        </m:ctrlPr>
                      </m:accPr>
                      <m:e>
                        <m:r>
                          <a:rPr lang="fr-CA" sz="2000" b="0" i="1" smtClean="0">
                            <a:latin typeface="Cambria Math" panose="02040503050406030204" pitchFamily="18" charset="0"/>
                          </a:rPr>
                          <m:t>𝑝</m:t>
                        </m:r>
                      </m:e>
                    </m:acc>
                  </m:oMath>
                </a14:m>
                <a:r>
                  <a:rPr lang="fr-FR" sz="2000" dirty="0"/>
                  <a:t>, comme on travaille avec des</a:t>
                </a:r>
                <a:br>
                  <a:rPr lang="fr-FR" sz="2000" dirty="0"/>
                </a:br>
                <a:r>
                  <a:rPr lang="fr-FR" sz="2000" dirty="0"/>
                  <a:t>données stochastiques, on propose la méthodologie</a:t>
                </a:r>
                <a:br>
                  <a:rPr lang="fr-FR" sz="2000" dirty="0"/>
                </a:br>
                <a:r>
                  <a:rPr lang="fr-FR" sz="2000" dirty="0"/>
                  <a:t>suivante :</a:t>
                </a:r>
              </a:p>
              <a:p>
                <a:pPr marL="800100" lvl="1" indent="-342900">
                  <a:buFont typeface="+mj-lt"/>
                  <a:buAutoNum type="arabicPeriod"/>
                </a:pPr>
                <a:r>
                  <a:rPr lang="fr-FR" sz="1600" dirty="0"/>
                  <a:t>Générer un nombre aléatoire avec un </a:t>
                </a:r>
                <a:r>
                  <a:rPr lang="fr-FR" sz="1600" i="1" dirty="0" err="1"/>
                  <a:t>seed</a:t>
                </a:r>
                <a:r>
                  <a:rPr lang="fr-FR" sz="1600" dirty="0"/>
                  <a:t> précis pour générer</a:t>
                </a:r>
                <a:br>
                  <a:rPr lang="fr-FR" sz="1600" dirty="0"/>
                </a:br>
                <a:r>
                  <a:rPr lang="fr-FR" sz="1600" dirty="0"/>
                  <a:t>une simulation du matériau du filtre.</a:t>
                </a:r>
              </a:p>
              <a:p>
                <a:pPr marL="800100" lvl="1" indent="-342900">
                  <a:buFont typeface="+mj-lt"/>
                  <a:buAutoNum type="arabicPeriod"/>
                </a:pPr>
                <a:r>
                  <a:rPr lang="fr-FR" sz="1600" dirty="0"/>
                  <a:t>Simuler l’écoulement pour le </a:t>
                </a:r>
                <a:r>
                  <a:rPr lang="fr-FR" sz="1600" i="1" dirty="0" err="1"/>
                  <a:t>seed</a:t>
                </a:r>
                <a:r>
                  <a:rPr lang="fr-FR" sz="1600" dirty="0"/>
                  <a:t> choisi pour un ensemble de maillages raffinés, en gardant une épaisseur constante (</a:t>
                </a:r>
                <a14:m>
                  <m:oMath xmlns:m="http://schemas.openxmlformats.org/officeDocument/2006/math">
                    <m:r>
                      <a:rPr lang="fr-FR" sz="1600" i="1" smtClean="0">
                        <a:latin typeface="Cambria Math" panose="02040503050406030204" pitchFamily="18" charset="0"/>
                        <a:ea typeface="Cambria Math" panose="02040503050406030204" pitchFamily="18" charset="0"/>
                      </a:rPr>
                      <m:t>∆</m:t>
                    </m:r>
                    <m:r>
                      <a:rPr lang="fr-CA" sz="1600" b="0" i="1" smtClean="0">
                        <a:latin typeface="Cambria Math" panose="02040503050406030204" pitchFamily="18" charset="0"/>
                        <a:ea typeface="Cambria Math" panose="02040503050406030204" pitchFamily="18" charset="0"/>
                      </a:rPr>
                      <m:t>𝑥</m:t>
                    </m:r>
                    <m:r>
                      <a:rPr lang="fr-CA" sz="1600" b="0" i="1" smtClean="0">
                        <a:latin typeface="Cambria Math" panose="02040503050406030204" pitchFamily="18" charset="0"/>
                        <a:ea typeface="Cambria Math" panose="02040503050406030204" pitchFamily="18" charset="0"/>
                      </a:rPr>
                      <m:t> </m:t>
                    </m:r>
                    <m:sSub>
                      <m:sSubPr>
                        <m:ctrlPr>
                          <a:rPr lang="fr-CA" sz="1600" b="0" i="1" smtClean="0">
                            <a:latin typeface="Cambria Math" panose="02040503050406030204" pitchFamily="18" charset="0"/>
                            <a:ea typeface="Cambria Math" panose="02040503050406030204" pitchFamily="18" charset="0"/>
                          </a:rPr>
                        </m:ctrlPr>
                      </m:sSubPr>
                      <m:e>
                        <m:r>
                          <a:rPr lang="fr-CA" sz="1600" b="0" i="1" smtClean="0">
                            <a:latin typeface="Cambria Math" panose="02040503050406030204" pitchFamily="18" charset="0"/>
                            <a:ea typeface="Cambria Math" panose="02040503050406030204" pitchFamily="18" charset="0"/>
                          </a:rPr>
                          <m:t>𝑁</m:t>
                        </m:r>
                      </m:e>
                      <m:sub>
                        <m:r>
                          <a:rPr lang="fr-CA" sz="1600" b="0" i="1" smtClean="0">
                            <a:latin typeface="Cambria Math" panose="02040503050406030204" pitchFamily="18" charset="0"/>
                            <a:ea typeface="Cambria Math" panose="02040503050406030204" pitchFamily="18" charset="0"/>
                          </a:rPr>
                          <m:t>𝑥</m:t>
                        </m:r>
                      </m:sub>
                    </m:sSub>
                    <m:r>
                      <a:rPr lang="fr-CA" sz="1600" b="0" i="1" smtClean="0">
                        <a:latin typeface="Cambria Math" panose="02040503050406030204" pitchFamily="18" charset="0"/>
                        <a:ea typeface="Cambria Math" panose="02040503050406030204" pitchFamily="18" charset="0"/>
                      </a:rPr>
                      <m:t>=</m:t>
                    </m:r>
                    <m:sSub>
                      <m:sSubPr>
                        <m:ctrlPr>
                          <a:rPr lang="fr-CA" sz="1600" b="0" i="1" smtClean="0">
                            <a:latin typeface="Cambria Math" panose="02040503050406030204" pitchFamily="18" charset="0"/>
                            <a:ea typeface="Cambria Math" panose="02040503050406030204" pitchFamily="18" charset="0"/>
                          </a:rPr>
                        </m:ctrlPr>
                      </m:sSubPr>
                      <m:e>
                        <m:r>
                          <a:rPr lang="fr-CA" sz="1600" b="0" i="1" smtClean="0">
                            <a:latin typeface="Cambria Math" panose="02040503050406030204" pitchFamily="18" charset="0"/>
                            <a:ea typeface="Cambria Math" panose="02040503050406030204" pitchFamily="18" charset="0"/>
                          </a:rPr>
                          <m:t>h</m:t>
                        </m:r>
                      </m:e>
                      <m:sub>
                        <m:r>
                          <a:rPr lang="fr-CA" sz="1600" b="0" i="1" smtClean="0">
                            <a:latin typeface="Cambria Math" panose="02040503050406030204" pitchFamily="18" charset="0"/>
                            <a:ea typeface="Cambria Math" panose="02040503050406030204" pitchFamily="18" charset="0"/>
                          </a:rPr>
                          <m:t>𝑐𝑠𝑡</m:t>
                        </m:r>
                      </m:sub>
                    </m:sSub>
                    <m:r>
                      <a:rPr lang="fr-CA" sz="1600" b="0" i="1" smtClean="0">
                        <a:latin typeface="Cambria Math" panose="02040503050406030204" pitchFamily="18" charset="0"/>
                        <a:ea typeface="Cambria Math" panose="02040503050406030204" pitchFamily="18" charset="0"/>
                      </a:rPr>
                      <m:t>)</m:t>
                    </m:r>
                  </m:oMath>
                </a14:m>
                <a:r>
                  <a:rPr lang="fr-FR" sz="1600" dirty="0"/>
                  <a:t>.</a:t>
                </a:r>
              </a:p>
              <a:p>
                <a:pPr marL="800100" lvl="1" indent="-342900">
                  <a:buFont typeface="+mj-lt"/>
                  <a:buAutoNum type="arabicPeriod"/>
                </a:pPr>
                <a:r>
                  <a:rPr lang="fr-FR" sz="1600" dirty="0"/>
                  <a:t>Répéter les étapes 1 et 2 pour plusieurs </a:t>
                </a:r>
                <a:r>
                  <a:rPr lang="fr-FR" sz="1600" i="1" dirty="0" err="1"/>
                  <a:t>seeds</a:t>
                </a:r>
                <a:r>
                  <a:rPr lang="fr-FR" sz="1600" i="1" dirty="0"/>
                  <a:t> </a:t>
                </a:r>
                <a:r>
                  <a:rPr lang="fr-FR" sz="1600" dirty="0"/>
                  <a:t>différents (dans ce cas, 3)</a:t>
                </a:r>
              </a:p>
              <a:p>
                <a:pPr marL="800100" lvl="1" indent="-342900">
                  <a:buFont typeface="+mj-lt"/>
                  <a:buAutoNum type="arabicPeriod"/>
                </a:pPr>
                <a:r>
                  <a:rPr lang="fr-FR" sz="1600" dirty="0"/>
                  <a:t>Évaluer la convergence de l’erreur relative par rapport à la solution fine (</a:t>
                </a:r>
                <a14:m>
                  <m:oMath xmlns:m="http://schemas.openxmlformats.org/officeDocument/2006/math">
                    <m:r>
                      <a:rPr lang="fr-CA" sz="1600" b="0" i="1" smtClean="0">
                        <a:latin typeface="Cambria Math" panose="02040503050406030204" pitchFamily="18" charset="0"/>
                      </a:rPr>
                      <m:t>𝑁𝑥</m:t>
                    </m:r>
                    <m:r>
                      <a:rPr lang="fr-CA" sz="1600" b="0" i="1" smtClean="0">
                        <a:latin typeface="Cambria Math" panose="02040503050406030204" pitchFamily="18" charset="0"/>
                      </a:rPr>
                      <m:t>=400</m:t>
                    </m:r>
                  </m:oMath>
                </a14:m>
                <a:r>
                  <a:rPr lang="fr-FR" sz="1600" dirty="0"/>
                  <a:t>) de la </a:t>
                </a:r>
                <a:r>
                  <a:rPr lang="fr-FR" sz="1600" b="1" dirty="0"/>
                  <a:t>moyenne</a:t>
                </a:r>
                <a:r>
                  <a:rPr lang="fr-FR" sz="1600" dirty="0"/>
                  <a:t> des valeurs de k obtenues à chaque maillage.</a:t>
                </a:r>
              </a:p>
              <a:p>
                <a:r>
                  <a:rPr lang="fr-FR" sz="2000" dirty="0"/>
                  <a:t>Les différentes simulations proposées ci-dessus ont été générés à l’aide du script </a:t>
                </a:r>
                <a:r>
                  <a:rPr lang="fr-FR" sz="2000" i="1" dirty="0"/>
                  <a:t>convergence_ devoir_3.bs</a:t>
                </a:r>
                <a:r>
                  <a:rPr lang="fr-FR" sz="2000" dirty="0"/>
                  <a:t>, qui lance aussi le fichier </a:t>
                </a:r>
                <a:r>
                  <a:rPr lang="fr-FR" sz="2000" i="1" dirty="0"/>
                  <a:t>GCI.py</a:t>
                </a:r>
                <a:r>
                  <a:rPr lang="fr-FR" sz="2000" dirty="0"/>
                  <a:t> afin de traiter les données et de calculer l’incertitude </a:t>
                </a:r>
                <a14:m>
                  <m:oMath xmlns:m="http://schemas.openxmlformats.org/officeDocument/2006/math">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𝑢</m:t>
                        </m:r>
                      </m:e>
                      <m:sub>
                        <m:r>
                          <a:rPr lang="fr-CA" sz="2000" b="0" i="1" smtClean="0">
                            <a:latin typeface="Cambria Math" panose="02040503050406030204" pitchFamily="18" charset="0"/>
                          </a:rPr>
                          <m:t>𝑛𝑢𝑚</m:t>
                        </m:r>
                      </m:sub>
                    </m:sSub>
                  </m:oMath>
                </a14:m>
                <a:r>
                  <a:rPr lang="fr-FR" sz="2000" i="1" dirty="0"/>
                  <a:t>.</a:t>
                </a:r>
              </a:p>
            </p:txBody>
          </p:sp>
        </mc:Choice>
        <mc:Fallback xmlns="">
          <p:sp>
            <p:nvSpPr>
              <p:cNvPr id="3" name="Espace réservé du contenu 2">
                <a:extLst>
                  <a:ext uri="{FF2B5EF4-FFF2-40B4-BE49-F238E27FC236}">
                    <a16:creationId xmlns:a16="http://schemas.microsoft.com/office/drawing/2014/main" id="{22E80974-09C0-B5E5-C74A-D5162AC8CD95}"/>
                  </a:ext>
                </a:extLst>
              </p:cNvPr>
              <p:cNvSpPr>
                <a:spLocks noGrp="1" noRot="1" noChangeAspect="1" noMove="1" noResize="1" noEditPoints="1" noAdjustHandles="1" noChangeArrowheads="1" noChangeShapeType="1" noTextEdit="1"/>
              </p:cNvSpPr>
              <p:nvPr>
                <p:ph idx="1"/>
              </p:nvPr>
            </p:nvSpPr>
            <p:spPr>
              <a:xfrm>
                <a:off x="838200" y="1013988"/>
                <a:ext cx="10515600" cy="5939074"/>
              </a:xfrm>
              <a:blipFill>
                <a:blip r:embed="rId3"/>
                <a:stretch>
                  <a:fillRect l="-522" t="-923"/>
                </a:stretch>
              </a:blipFill>
            </p:spPr>
            <p:txBody>
              <a:bodyPr/>
              <a:lstStyle/>
              <a:p>
                <a:r>
                  <a:rPr lang="fr-CA">
                    <a:noFill/>
                  </a:rPr>
                  <a:t> </a:t>
                </a:r>
              </a:p>
            </p:txBody>
          </p:sp>
        </mc:Fallback>
      </mc:AlternateContent>
      <p:grpSp>
        <p:nvGrpSpPr>
          <p:cNvPr id="10" name="Groupe 9">
            <a:extLst>
              <a:ext uri="{FF2B5EF4-FFF2-40B4-BE49-F238E27FC236}">
                <a16:creationId xmlns:a16="http://schemas.microsoft.com/office/drawing/2014/main" id="{C818C4AC-8626-2E5D-6FED-B13F5EE24EE3}"/>
              </a:ext>
            </a:extLst>
          </p:cNvPr>
          <p:cNvGrpSpPr/>
          <p:nvPr/>
        </p:nvGrpSpPr>
        <p:grpSpPr>
          <a:xfrm>
            <a:off x="7756401" y="2230909"/>
            <a:ext cx="2467451" cy="2159060"/>
            <a:chOff x="7756401" y="2339551"/>
            <a:chExt cx="2467451" cy="2159060"/>
          </a:xfrm>
        </p:grpSpPr>
        <p:grpSp>
          <p:nvGrpSpPr>
            <p:cNvPr id="8" name="Groupe 7">
              <a:extLst>
                <a:ext uri="{FF2B5EF4-FFF2-40B4-BE49-F238E27FC236}">
                  <a16:creationId xmlns:a16="http://schemas.microsoft.com/office/drawing/2014/main" id="{EE74B48D-2513-0199-37D8-0FC3A518E2C0}"/>
                </a:ext>
              </a:extLst>
            </p:cNvPr>
            <p:cNvGrpSpPr/>
            <p:nvPr/>
          </p:nvGrpSpPr>
          <p:grpSpPr>
            <a:xfrm>
              <a:off x="7756401" y="2339551"/>
              <a:ext cx="2467451" cy="1631805"/>
              <a:chOff x="5541169" y="2940195"/>
              <a:chExt cx="3005875" cy="2225722"/>
            </a:xfrm>
          </p:grpSpPr>
          <p:pic>
            <p:nvPicPr>
              <p:cNvPr id="5" name="Image 4">
                <a:extLst>
                  <a:ext uri="{FF2B5EF4-FFF2-40B4-BE49-F238E27FC236}">
                    <a16:creationId xmlns:a16="http://schemas.microsoft.com/office/drawing/2014/main" id="{2331C906-EF82-6CDB-6CA7-2BC81AC0AF48}"/>
                  </a:ext>
                </a:extLst>
              </p:cNvPr>
              <p:cNvPicPr>
                <a:picLocks noChangeAspect="1"/>
              </p:cNvPicPr>
              <p:nvPr/>
            </p:nvPicPr>
            <p:blipFill>
              <a:blip r:embed="rId4"/>
              <a:srcRect l="910"/>
              <a:stretch>
                <a:fillRect/>
              </a:stretch>
            </p:blipFill>
            <p:spPr>
              <a:xfrm>
                <a:off x="5541169" y="2940195"/>
                <a:ext cx="3005875" cy="552179"/>
              </a:xfrm>
              <a:prstGeom prst="rect">
                <a:avLst/>
              </a:prstGeom>
            </p:spPr>
          </p:pic>
          <p:pic>
            <p:nvPicPr>
              <p:cNvPr id="7" name="Image 6">
                <a:extLst>
                  <a:ext uri="{FF2B5EF4-FFF2-40B4-BE49-F238E27FC236}">
                    <a16:creationId xmlns:a16="http://schemas.microsoft.com/office/drawing/2014/main" id="{90B22E26-E316-4E03-D3FF-4DA9AE7C745C}"/>
                  </a:ext>
                </a:extLst>
              </p:cNvPr>
              <p:cNvPicPr>
                <a:picLocks noChangeAspect="1"/>
              </p:cNvPicPr>
              <p:nvPr/>
            </p:nvPicPr>
            <p:blipFill>
              <a:blip r:embed="rId5"/>
              <a:stretch>
                <a:fillRect/>
              </a:stretch>
            </p:blipFill>
            <p:spPr>
              <a:xfrm>
                <a:off x="5541169" y="3492375"/>
                <a:ext cx="3005875" cy="1673542"/>
              </a:xfrm>
              <a:prstGeom prst="rect">
                <a:avLst/>
              </a:prstGeom>
            </p:spPr>
          </p:pic>
        </p:grpSp>
        <p:sp>
          <p:nvSpPr>
            <p:cNvPr id="9" name="ZoneTexte 8">
              <a:extLst>
                <a:ext uri="{FF2B5EF4-FFF2-40B4-BE49-F238E27FC236}">
                  <a16:creationId xmlns:a16="http://schemas.microsoft.com/office/drawing/2014/main" id="{F622CA0B-9153-A67C-34BC-994D0DC1A366}"/>
                </a:ext>
              </a:extLst>
            </p:cNvPr>
            <p:cNvSpPr txBox="1"/>
            <p:nvPr/>
          </p:nvSpPr>
          <p:spPr>
            <a:xfrm>
              <a:off x="7756401" y="4083113"/>
              <a:ext cx="2467451" cy="415498"/>
            </a:xfrm>
            <a:prstGeom prst="rect">
              <a:avLst/>
            </a:prstGeom>
            <a:noFill/>
          </p:spPr>
          <p:txBody>
            <a:bodyPr wrap="square" rtlCol="0">
              <a:spAutoFit/>
            </a:bodyPr>
            <a:lstStyle/>
            <a:p>
              <a:pPr algn="ctr"/>
              <a:r>
                <a:rPr lang="fr-CA" sz="1050" i="1" dirty="0"/>
                <a:t>Figure 1: Méthodologie de calcul du GCI.</a:t>
              </a:r>
            </a:p>
          </p:txBody>
        </p:sp>
      </p:grpSp>
    </p:spTree>
    <p:extLst>
      <p:ext uri="{BB962C8B-B14F-4D97-AF65-F5344CB8AC3E}">
        <p14:creationId xmlns:p14="http://schemas.microsoft.com/office/powerpoint/2010/main" val="330113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0B2C-51A7-2196-FA74-78EBBE4CA85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ACD25E7A-0970-4CEE-B873-7AE5FFC4807E}"/>
                  </a:ext>
                </a:extLst>
              </p:cNvPr>
              <p:cNvSpPr>
                <a:spLocks noGrp="1"/>
              </p:cNvSpPr>
              <p:nvPr>
                <p:ph type="title"/>
              </p:nvPr>
            </p:nvSpPr>
            <p:spPr>
              <a:xfrm>
                <a:off x="838200" y="255321"/>
                <a:ext cx="10515600" cy="1325563"/>
              </a:xfrm>
            </p:spPr>
            <p:txBody>
              <a:bodyPr>
                <a:normAutofit/>
              </a:bodyPr>
              <a:lstStyle/>
              <a:p>
                <a:r>
                  <a:rPr lang="fr-FR" dirty="0"/>
                  <a:t>A) Incertitude numérique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𝑛𝑢𝑚</m:t>
                        </m:r>
                      </m:sub>
                    </m:sSub>
                  </m:oMath>
                </a14:m>
                <a:br>
                  <a:rPr lang="fr-FR" b="0" dirty="0"/>
                </a:br>
                <a:endParaRPr lang="fr-FR" dirty="0"/>
              </a:p>
            </p:txBody>
          </p:sp>
        </mc:Choice>
        <mc:Fallback xmlns="">
          <p:sp>
            <p:nvSpPr>
              <p:cNvPr id="2" name="Titre 1">
                <a:extLst>
                  <a:ext uri="{FF2B5EF4-FFF2-40B4-BE49-F238E27FC236}">
                    <a16:creationId xmlns:a16="http://schemas.microsoft.com/office/drawing/2014/main" id="{E7D87B06-2293-46A9-1B49-5FA555DC4644}"/>
                  </a:ext>
                </a:extLst>
              </p:cNvPr>
              <p:cNvSpPr>
                <a:spLocks noGrp="1" noRot="1" noChangeAspect="1" noMove="1" noResize="1" noEditPoints="1" noAdjustHandles="1" noChangeArrowheads="1" noChangeShapeType="1" noTextEdit="1"/>
              </p:cNvSpPr>
              <p:nvPr>
                <p:ph type="title"/>
              </p:nvPr>
            </p:nvSpPr>
            <p:spPr>
              <a:xfrm>
                <a:off x="838200" y="255321"/>
                <a:ext cx="10515600" cy="1325563"/>
              </a:xfrm>
              <a:blipFill>
                <a:blip r:embed="rId2"/>
                <a:stretch>
                  <a:fillRect l="-2377" t="-13364"/>
                </a:stretch>
              </a:blipFill>
            </p:spPr>
            <p:txBody>
              <a:bodyPr/>
              <a:lstStyle/>
              <a:p>
                <a:r>
                  <a:rPr lang="fr-FR">
                    <a:noFill/>
                  </a:rPr>
                  <a:t> </a:t>
                </a:r>
              </a:p>
            </p:txBody>
          </p:sp>
        </mc:Fallback>
      </mc:AlternateContent>
      <p:pic>
        <p:nvPicPr>
          <p:cNvPr id="6" name="Espace réservé du contenu 5">
            <a:extLst>
              <a:ext uri="{FF2B5EF4-FFF2-40B4-BE49-F238E27FC236}">
                <a16:creationId xmlns:a16="http://schemas.microsoft.com/office/drawing/2014/main" id="{C483BD03-40A8-C47C-6338-F4F32665B22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576663" y="1180652"/>
            <a:ext cx="5777137" cy="4070810"/>
          </a:xfrm>
          <a:prstGeom prst="rect">
            <a:avLst/>
          </a:prstGeom>
        </p:spPr>
      </p:pic>
      <p:sp>
        <p:nvSpPr>
          <p:cNvPr id="11" name="ZoneTexte 10">
            <a:extLst>
              <a:ext uri="{FF2B5EF4-FFF2-40B4-BE49-F238E27FC236}">
                <a16:creationId xmlns:a16="http://schemas.microsoft.com/office/drawing/2014/main" id="{47B6169A-A823-A626-B784-DFB66C1E8F5A}"/>
              </a:ext>
            </a:extLst>
          </p:cNvPr>
          <p:cNvSpPr txBox="1"/>
          <p:nvPr/>
        </p:nvSpPr>
        <p:spPr>
          <a:xfrm>
            <a:off x="5576663" y="5251462"/>
            <a:ext cx="5763849" cy="461665"/>
          </a:xfrm>
          <a:prstGeom prst="rect">
            <a:avLst/>
          </a:prstGeom>
          <a:noFill/>
        </p:spPr>
        <p:txBody>
          <a:bodyPr wrap="square" rtlCol="0">
            <a:spAutoFit/>
          </a:bodyPr>
          <a:lstStyle/>
          <a:p>
            <a:pPr algn="ctr"/>
            <a:r>
              <a:rPr lang="fr-CA" sz="1200" i="1" dirty="0"/>
              <a:t>Figure 2: Graphique de l’erreur relative de la perméabilité en fonction de la taille des cellules.</a:t>
            </a:r>
          </a:p>
        </p:txBody>
      </p:sp>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8AC6D6EA-7E9F-E1BB-3FC8-5AC2858539BB}"/>
                  </a:ext>
                </a:extLst>
              </p:cNvPr>
              <p:cNvSpPr txBox="1"/>
              <p:nvPr/>
            </p:nvSpPr>
            <p:spPr>
              <a:xfrm>
                <a:off x="688063" y="1180652"/>
                <a:ext cx="4001632" cy="5262979"/>
              </a:xfrm>
              <a:prstGeom prst="rect">
                <a:avLst/>
              </a:prstGeom>
              <a:noFill/>
            </p:spPr>
            <p:txBody>
              <a:bodyPr wrap="square" rtlCol="0">
                <a:spAutoFit/>
              </a:bodyPr>
              <a:lstStyle/>
              <a:p>
                <a:pPr marL="285750" indent="-285750">
                  <a:buFont typeface="Arial" panose="020B0604020202020204" pitchFamily="34" charset="0"/>
                  <a:buChar char="•"/>
                </a:pPr>
                <a:r>
                  <a:rPr lang="fr-CA" sz="1600" dirty="0"/>
                  <a:t>Ce graphique est le résultat de l’analyse de convergence pour 3 </a:t>
                </a:r>
                <a:r>
                  <a:rPr lang="fr-CA" sz="1600" i="1" dirty="0" err="1"/>
                  <a:t>seeds</a:t>
                </a:r>
                <a:r>
                  <a:rPr lang="fr-CA" sz="1600" i="1" dirty="0"/>
                  <a:t> </a:t>
                </a:r>
                <a:r>
                  <a:rPr lang="fr-CA" sz="1600" dirty="0"/>
                  <a:t>(101, 202, 303).</a:t>
                </a:r>
              </a:p>
              <a:p>
                <a:pPr marL="285750" indent="-285750">
                  <a:buFont typeface="Arial" panose="020B0604020202020204" pitchFamily="34" charset="0"/>
                  <a:buChar char="•"/>
                </a:pPr>
                <a:r>
                  <a:rPr lang="fr-CA" sz="1600" dirty="0"/>
                  <a:t>La valeur la plus fine n’est pas dans la région asymptotique et donc n’est pas considérée dans le calcul de l’ordre observé. Cela peut s’expliquer notamment par le fait que les données sont bruitées par la génération aléatoire des fibres et de l’incertitude sur la porosité.</a:t>
                </a:r>
              </a:p>
              <a:p>
                <a:pPr marL="285750" indent="-285750">
                  <a:buFont typeface="Arial" panose="020B0604020202020204" pitchFamily="34" charset="0"/>
                  <a:buChar char="•"/>
                </a:pPr>
                <a:r>
                  <a:rPr lang="fr-CA" sz="1600" dirty="0"/>
                  <a:t>Les barres d’erreur présentés dans ce graphique peuvent être interprétées comme étant les incertitudes des données d’entrée, qui seront calculées prochainement.</a:t>
                </a:r>
              </a:p>
              <a:p>
                <a:pPr marL="285750" indent="-285750">
                  <a:buFont typeface="Arial" panose="020B0604020202020204" pitchFamily="34" charset="0"/>
                  <a:buChar char="•"/>
                </a:pPr>
                <a:r>
                  <a:rPr lang="fr-CA" sz="1600" dirty="0"/>
                  <a:t>L’ordre observé est de </a:t>
                </a:r>
                <a14:m>
                  <m:oMath xmlns:m="http://schemas.openxmlformats.org/officeDocument/2006/math">
                    <m:acc>
                      <m:accPr>
                        <m:chr m:val="̂"/>
                        <m:ctrlPr>
                          <a:rPr lang="fr-CA" sz="1600" i="1" smtClean="0">
                            <a:latin typeface="Cambria Math" panose="02040503050406030204" pitchFamily="18" charset="0"/>
                          </a:rPr>
                        </m:ctrlPr>
                      </m:accPr>
                      <m:e>
                        <m:r>
                          <a:rPr lang="fr-CA" sz="1600" b="0" i="1" smtClean="0">
                            <a:latin typeface="Cambria Math" panose="02040503050406030204" pitchFamily="18" charset="0"/>
                          </a:rPr>
                          <m:t>𝑝</m:t>
                        </m:r>
                      </m:e>
                    </m:acc>
                    <m:r>
                      <a:rPr lang="fr-CA" sz="1600" b="0" i="1" smtClean="0">
                        <a:latin typeface="Cambria Math" panose="02040503050406030204" pitchFamily="18" charset="0"/>
                      </a:rPr>
                      <m:t>=2.34</m:t>
                    </m:r>
                  </m:oMath>
                </a14:m>
                <a:endParaRPr lang="fr-CA" sz="1600" dirty="0"/>
              </a:p>
              <a:p>
                <a:pPr marL="285750" indent="-285750">
                  <a:buFont typeface="Arial" panose="020B0604020202020204" pitchFamily="34" charset="0"/>
                  <a:buChar char="•"/>
                </a:pPr>
                <a:r>
                  <a:rPr lang="fr-CA" sz="1600" dirty="0"/>
                  <a:t>On peut ainsi calculer le GCI :</a:t>
                </a:r>
                <a:br>
                  <a:rPr lang="fr-CA" sz="1600" dirty="0"/>
                </a:br>
                <a14:m>
                  <m:oMath xmlns:m="http://schemas.openxmlformats.org/officeDocument/2006/math">
                    <m:r>
                      <a:rPr lang="fr-CA" sz="1600" i="1">
                        <a:latin typeface="Cambria Math" panose="02040503050406030204" pitchFamily="18" charset="0"/>
                      </a:rPr>
                      <m:t>𝐺𝐶𝐼</m:t>
                    </m:r>
                    <m:r>
                      <a:rPr lang="fr-CA" sz="1600" i="1">
                        <a:latin typeface="Cambria Math" panose="02040503050406030204" pitchFamily="18" charset="0"/>
                      </a:rPr>
                      <m:t>=1.086767</m:t>
                    </m:r>
                    <m:r>
                      <a:rPr lang="fr-CA" sz="1600" i="1">
                        <a:latin typeface="Cambria Math" panose="02040503050406030204" pitchFamily="18" charset="0"/>
                      </a:rPr>
                      <m:t>𝑒</m:t>
                    </m:r>
                    <m:r>
                      <a:rPr lang="fr-CA" sz="1600" i="1">
                        <a:latin typeface="Cambria Math" panose="02040503050406030204" pitchFamily="18" charset="0"/>
                      </a:rPr>
                      <m:t>−02 µ</m:t>
                    </m:r>
                    <m:r>
                      <a:rPr lang="fr-CA" sz="1600" i="1">
                        <a:latin typeface="Cambria Math" panose="02040503050406030204" pitchFamily="18" charset="0"/>
                      </a:rPr>
                      <m:t>𝑚</m:t>
                    </m:r>
                    <m:r>
                      <a:rPr lang="fr-CA" sz="1600" i="1">
                        <a:latin typeface="Cambria Math" panose="02040503050406030204" pitchFamily="18" charset="0"/>
                      </a:rPr>
                      <m:t>²</m:t>
                    </m:r>
                  </m:oMath>
                </a14:m>
                <a:endParaRPr lang="fr-CA" sz="1600" dirty="0"/>
              </a:p>
              <a:p>
                <a:pPr marL="285750" indent="-285750">
                  <a:buFont typeface="Arial" panose="020B0604020202020204" pitchFamily="34" charset="0"/>
                  <a:buChar char="•"/>
                </a:pPr>
                <a:r>
                  <a:rPr lang="fr-CA" sz="1600" dirty="0"/>
                  <a:t>Et donc l’incertitude numérique¹ :</a:t>
                </a:r>
                <a:br>
                  <a:rPr lang="fr-CA" sz="1600" dirty="0"/>
                </a:br>
                <a14:m>
                  <m:oMath xmlns:m="http://schemas.openxmlformats.org/officeDocument/2006/math">
                    <m:sSub>
                      <m:sSubPr>
                        <m:ctrlPr>
                          <a:rPr lang="fr-CA" sz="1600" b="1" i="1" smtClean="0">
                            <a:latin typeface="Cambria Math" panose="02040503050406030204" pitchFamily="18" charset="0"/>
                          </a:rPr>
                        </m:ctrlPr>
                      </m:sSubPr>
                      <m:e>
                        <m:r>
                          <a:rPr lang="fr-CA" sz="1600" b="1" i="1" smtClean="0">
                            <a:latin typeface="Cambria Math" panose="02040503050406030204" pitchFamily="18" charset="0"/>
                          </a:rPr>
                          <m:t>𝒖</m:t>
                        </m:r>
                      </m:e>
                      <m:sub>
                        <m:r>
                          <a:rPr lang="fr-CA" sz="1600" b="1" i="1" smtClean="0">
                            <a:latin typeface="Cambria Math" panose="02040503050406030204" pitchFamily="18" charset="0"/>
                          </a:rPr>
                          <m:t>𝒏𝒖𝒎</m:t>
                        </m:r>
                      </m:sub>
                    </m:sSub>
                    <m:r>
                      <a:rPr lang="fr-CA" sz="1600" b="1" i="1">
                        <a:latin typeface="Cambria Math" panose="02040503050406030204" pitchFamily="18" charset="0"/>
                      </a:rPr>
                      <m:t>=</m:t>
                    </m:r>
                    <m:r>
                      <a:rPr lang="fr-CA" sz="1600" b="1" i="1">
                        <a:latin typeface="Cambria Math" panose="02040503050406030204" pitchFamily="18" charset="0"/>
                      </a:rPr>
                      <m:t>𝟓</m:t>
                    </m:r>
                    <m:r>
                      <a:rPr lang="fr-CA" sz="1600" b="1" i="1">
                        <a:latin typeface="Cambria Math" panose="02040503050406030204" pitchFamily="18" charset="0"/>
                      </a:rPr>
                      <m:t>.</m:t>
                    </m:r>
                    <m:r>
                      <a:rPr lang="fr-CA" sz="1600" b="1" i="1">
                        <a:latin typeface="Cambria Math" panose="02040503050406030204" pitchFamily="18" charset="0"/>
                      </a:rPr>
                      <m:t>𝟒𝟑𝟑𝟖𝟑𝟑</m:t>
                    </m:r>
                    <m:r>
                      <a:rPr lang="fr-CA" sz="1600" b="1" i="1">
                        <a:latin typeface="Cambria Math" panose="02040503050406030204" pitchFamily="18" charset="0"/>
                      </a:rPr>
                      <m:t>𝒆</m:t>
                    </m:r>
                    <m:r>
                      <a:rPr lang="fr-CA" sz="1600" b="1" i="1">
                        <a:latin typeface="Cambria Math" panose="02040503050406030204" pitchFamily="18" charset="0"/>
                      </a:rPr>
                      <m:t>−</m:t>
                    </m:r>
                    <m:r>
                      <a:rPr lang="fr-CA" sz="1600" b="1" i="1">
                        <a:latin typeface="Cambria Math" panose="02040503050406030204" pitchFamily="18" charset="0"/>
                      </a:rPr>
                      <m:t>𝟎𝟑</m:t>
                    </m:r>
                    <m:r>
                      <a:rPr lang="fr-CA" sz="1600" b="1" i="1">
                        <a:latin typeface="Cambria Math" panose="02040503050406030204" pitchFamily="18" charset="0"/>
                      </a:rPr>
                      <m:t> µ</m:t>
                    </m:r>
                    <m:r>
                      <a:rPr lang="fr-CA" sz="1600" b="1" i="1">
                        <a:latin typeface="Cambria Math" panose="02040503050406030204" pitchFamily="18" charset="0"/>
                      </a:rPr>
                      <m:t>𝒎</m:t>
                    </m:r>
                    <m:r>
                      <a:rPr lang="fr-CA" sz="1600" b="1" i="1">
                        <a:latin typeface="Cambria Math" panose="02040503050406030204" pitchFamily="18" charset="0"/>
                      </a:rPr>
                      <m:t>²</m:t>
                    </m:r>
                  </m:oMath>
                </a14:m>
                <a:endParaRPr lang="fr-CA" sz="1600" b="1" dirty="0"/>
              </a:p>
            </p:txBody>
          </p:sp>
        </mc:Choice>
        <mc:Fallback xmlns="">
          <p:sp>
            <p:nvSpPr>
              <p:cNvPr id="12" name="ZoneTexte 11">
                <a:extLst>
                  <a:ext uri="{FF2B5EF4-FFF2-40B4-BE49-F238E27FC236}">
                    <a16:creationId xmlns:a16="http://schemas.microsoft.com/office/drawing/2014/main" id="{8AC6D6EA-7E9F-E1BB-3FC8-5AC2858539BB}"/>
                  </a:ext>
                </a:extLst>
              </p:cNvPr>
              <p:cNvSpPr txBox="1">
                <a:spLocks noRot="1" noChangeAspect="1" noMove="1" noResize="1" noEditPoints="1" noAdjustHandles="1" noChangeArrowheads="1" noChangeShapeType="1" noTextEdit="1"/>
              </p:cNvSpPr>
              <p:nvPr/>
            </p:nvSpPr>
            <p:spPr>
              <a:xfrm>
                <a:off x="688063" y="1180652"/>
                <a:ext cx="4001632" cy="5262979"/>
              </a:xfrm>
              <a:prstGeom prst="rect">
                <a:avLst/>
              </a:prstGeom>
              <a:blipFill>
                <a:blip r:embed="rId4"/>
                <a:stretch>
                  <a:fillRect l="-610" t="-348" r="-305"/>
                </a:stretch>
              </a:blipFill>
            </p:spPr>
            <p:txBody>
              <a:bodyPr/>
              <a:lstStyle/>
              <a:p>
                <a:r>
                  <a:rPr lang="fr-CA">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E731592B-FFEE-2191-A4DF-923F1D405983}"/>
                  </a:ext>
                </a:extLst>
              </p:cNvPr>
              <p:cNvSpPr txBox="1"/>
              <p:nvPr/>
            </p:nvSpPr>
            <p:spPr>
              <a:xfrm>
                <a:off x="4176879" y="6356457"/>
                <a:ext cx="8015121" cy="476477"/>
              </a:xfrm>
              <a:prstGeom prst="rect">
                <a:avLst/>
              </a:prstGeom>
              <a:noFill/>
            </p:spPr>
            <p:txBody>
              <a:bodyPr wrap="square" rtlCol="0">
                <a:spAutoFit/>
              </a:bodyPr>
              <a:lstStyle/>
              <a:p>
                <a:r>
                  <a:rPr lang="fr-CA" sz="1200" dirty="0"/>
                  <a:t>¹À noter que les autres incertitudes numériques sont mises à l’écart puisque soit négligeable par rapport à l’ordre de </a:t>
                </a:r>
                <a14:m>
                  <m:oMath xmlns:m="http://schemas.openxmlformats.org/officeDocument/2006/math">
                    <m:sSub>
                      <m:sSubPr>
                        <m:ctrlPr>
                          <a:rPr lang="fr-CA" sz="1200" b="0" i="1" smtClean="0">
                            <a:latin typeface="Cambria Math" panose="02040503050406030204" pitchFamily="18" charset="0"/>
                          </a:rPr>
                        </m:ctrlPr>
                      </m:sSubPr>
                      <m:e>
                        <m:r>
                          <a:rPr lang="fr-CA" sz="1200" b="0" i="1" smtClean="0">
                            <a:latin typeface="Cambria Math" panose="02040503050406030204" pitchFamily="18" charset="0"/>
                          </a:rPr>
                          <m:t>𝑢</m:t>
                        </m:r>
                      </m:e>
                      <m:sub>
                        <m:r>
                          <a:rPr lang="fr-CA" sz="1200" b="0" i="1" smtClean="0">
                            <a:latin typeface="Cambria Math" panose="02040503050406030204" pitchFamily="18" charset="0"/>
                          </a:rPr>
                          <m:t>𝑑𝑖𝑠𝑐𝑟𝑒𝑡𝑖𝑧𝑎𝑡𝑖𝑜𝑛</m:t>
                        </m:r>
                      </m:sub>
                    </m:sSub>
                  </m:oMath>
                </a14:m>
                <a:r>
                  <a:rPr lang="fr-CA" sz="1200" dirty="0"/>
                  <a:t> (</a:t>
                </a:r>
                <a14:m>
                  <m:oMath xmlns:m="http://schemas.openxmlformats.org/officeDocument/2006/math">
                    <m:sSub>
                      <m:sSubPr>
                        <m:ctrlPr>
                          <a:rPr lang="fr-CA" sz="1200" b="0" i="1" dirty="0" smtClean="0">
                            <a:latin typeface="Cambria Math" panose="02040503050406030204" pitchFamily="18" charset="0"/>
                          </a:rPr>
                        </m:ctrlPr>
                      </m:sSubPr>
                      <m:e>
                        <m:r>
                          <a:rPr lang="fr-CA" sz="1200" b="0" i="1" dirty="0" smtClean="0">
                            <a:latin typeface="Cambria Math" panose="02040503050406030204" pitchFamily="18" charset="0"/>
                          </a:rPr>
                          <m:t>𝑢</m:t>
                        </m:r>
                      </m:e>
                      <m:sub>
                        <m:r>
                          <a:rPr lang="fr-CA" sz="1200" b="0" i="1" dirty="0" smtClean="0">
                            <a:latin typeface="Cambria Math" panose="02040503050406030204" pitchFamily="18" charset="0"/>
                          </a:rPr>
                          <m:t>𝑟𝑜𝑢𝑛𝑑𝑜𝑓𝑓</m:t>
                        </m:r>
                      </m:sub>
                    </m:sSub>
                    <m:r>
                      <a:rPr lang="fr-CA" sz="1200" b="0" i="1" dirty="0" smtClean="0">
                        <a:latin typeface="Cambria Math" panose="02040503050406030204" pitchFamily="18" charset="0"/>
                      </a:rPr>
                      <m:t>, </m:t>
                    </m:r>
                    <m:sSub>
                      <m:sSubPr>
                        <m:ctrlPr>
                          <a:rPr lang="fr-CA" sz="1200" b="0" i="1" dirty="0" smtClean="0">
                            <a:latin typeface="Cambria Math" panose="02040503050406030204" pitchFamily="18" charset="0"/>
                          </a:rPr>
                        </m:ctrlPr>
                      </m:sSubPr>
                      <m:e>
                        <m:r>
                          <a:rPr lang="fr-CA" sz="1200" b="0" i="1" dirty="0" smtClean="0">
                            <a:latin typeface="Cambria Math" panose="02040503050406030204" pitchFamily="18" charset="0"/>
                          </a:rPr>
                          <m:t>𝑢</m:t>
                        </m:r>
                      </m:e>
                      <m:sub>
                        <m:r>
                          <a:rPr lang="fr-CA" sz="1200" b="0" i="1" dirty="0" smtClean="0">
                            <a:latin typeface="Cambria Math" panose="02040503050406030204" pitchFamily="18" charset="0"/>
                          </a:rPr>
                          <m:t>𝑠𝑎𝑚𝑝𝑙𝑖𝑛𝑔</m:t>
                        </m:r>
                      </m:sub>
                    </m:sSub>
                    <m:r>
                      <a:rPr lang="fr-CA" sz="1200" b="0" i="1" dirty="0" smtClean="0">
                        <a:latin typeface="Cambria Math" panose="02040503050406030204" pitchFamily="18" charset="0"/>
                      </a:rPr>
                      <m:t>, </m:t>
                    </m:r>
                    <m:sSub>
                      <m:sSubPr>
                        <m:ctrlPr>
                          <a:rPr lang="fr-CA" sz="1200" b="0" i="1" dirty="0" smtClean="0">
                            <a:latin typeface="Cambria Math" panose="02040503050406030204" pitchFamily="18" charset="0"/>
                          </a:rPr>
                        </m:ctrlPr>
                      </m:sSubPr>
                      <m:e>
                        <m:r>
                          <a:rPr lang="fr-CA" sz="1200" b="0" i="1" dirty="0" smtClean="0">
                            <a:latin typeface="Cambria Math" panose="02040503050406030204" pitchFamily="18" charset="0"/>
                          </a:rPr>
                          <m:t>𝑢</m:t>
                        </m:r>
                      </m:e>
                      <m:sub>
                        <m:r>
                          <a:rPr lang="fr-CA" sz="1200" b="0" i="1" dirty="0" smtClean="0">
                            <a:latin typeface="Cambria Math" panose="02040503050406030204" pitchFamily="18" charset="0"/>
                          </a:rPr>
                          <m:t>𝑖𝑡𝑒𝑟𝑎𝑡𝑖𝑣𝑒</m:t>
                        </m:r>
                      </m:sub>
                    </m:sSub>
                    <m:r>
                      <a:rPr lang="fr-CA" sz="1200" b="0" i="1" dirty="0" smtClean="0">
                        <a:latin typeface="Cambria Math" panose="02040503050406030204" pitchFamily="18" charset="0"/>
                      </a:rPr>
                      <m:t>)</m:t>
                    </m:r>
                    <m:r>
                      <a:rPr lang="fr-CA" sz="1200" b="0" i="0" dirty="0" smtClean="0">
                        <a:latin typeface="Cambria Math" panose="02040503050406030204" pitchFamily="18" charset="0"/>
                      </a:rPr>
                      <m:t>.</m:t>
                    </m:r>
                  </m:oMath>
                </a14:m>
                <a:endParaRPr lang="fr-CA" sz="1200" dirty="0"/>
              </a:p>
            </p:txBody>
          </p:sp>
        </mc:Choice>
        <mc:Fallback xmlns="">
          <p:sp>
            <p:nvSpPr>
              <p:cNvPr id="13" name="ZoneTexte 12">
                <a:extLst>
                  <a:ext uri="{FF2B5EF4-FFF2-40B4-BE49-F238E27FC236}">
                    <a16:creationId xmlns:a16="http://schemas.microsoft.com/office/drawing/2014/main" id="{E731592B-FFEE-2191-A4DF-923F1D405983}"/>
                  </a:ext>
                </a:extLst>
              </p:cNvPr>
              <p:cNvSpPr txBox="1">
                <a:spLocks noRot="1" noChangeAspect="1" noMove="1" noResize="1" noEditPoints="1" noAdjustHandles="1" noChangeArrowheads="1" noChangeShapeType="1" noTextEdit="1"/>
              </p:cNvSpPr>
              <p:nvPr/>
            </p:nvSpPr>
            <p:spPr>
              <a:xfrm>
                <a:off x="4176879" y="6356457"/>
                <a:ext cx="8015121" cy="476477"/>
              </a:xfrm>
              <a:prstGeom prst="rect">
                <a:avLst/>
              </a:prstGeom>
              <a:blipFill>
                <a:blip r:embed="rId5"/>
                <a:stretch>
                  <a:fillRect t="-1282" b="-7692"/>
                </a:stretch>
              </a:blipFill>
            </p:spPr>
            <p:txBody>
              <a:bodyPr/>
              <a:lstStyle/>
              <a:p>
                <a:r>
                  <a:rPr lang="fr-CA">
                    <a:noFill/>
                  </a:rPr>
                  <a:t> </a:t>
                </a:r>
              </a:p>
            </p:txBody>
          </p:sp>
        </mc:Fallback>
      </mc:AlternateContent>
    </p:spTree>
    <p:extLst>
      <p:ext uri="{BB962C8B-B14F-4D97-AF65-F5344CB8AC3E}">
        <p14:creationId xmlns:p14="http://schemas.microsoft.com/office/powerpoint/2010/main" val="2709558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74D36CD1-A375-1A58-349E-021823C47773}"/>
                  </a:ext>
                </a:extLst>
              </p:cNvPr>
              <p:cNvSpPr>
                <a:spLocks noGrp="1"/>
              </p:cNvSpPr>
              <p:nvPr>
                <p:ph type="title"/>
              </p:nvPr>
            </p:nvSpPr>
            <p:spPr/>
            <p:txBody>
              <a:bodyPr/>
              <a:lstStyle/>
              <a:p>
                <a:r>
                  <a:rPr lang="fr-FR" dirty="0"/>
                  <a:t>Évolution du maillage lors du calcul de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𝑛𝑢𝑚</m:t>
                        </m:r>
                      </m:sub>
                    </m:sSub>
                  </m:oMath>
                </a14:m>
                <a:endParaRPr lang="fr-FR" dirty="0"/>
              </a:p>
            </p:txBody>
          </p:sp>
        </mc:Choice>
        <mc:Fallback xmlns="">
          <p:sp>
            <p:nvSpPr>
              <p:cNvPr id="2" name="Titre 1">
                <a:extLst>
                  <a:ext uri="{FF2B5EF4-FFF2-40B4-BE49-F238E27FC236}">
                    <a16:creationId xmlns:a16="http://schemas.microsoft.com/office/drawing/2014/main" id="{74D36CD1-A375-1A58-349E-021823C47773}"/>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fr-FR">
                    <a:noFill/>
                  </a:rPr>
                  <a:t> </a:t>
                </a:r>
              </a:p>
            </p:txBody>
          </p:sp>
        </mc:Fallback>
      </mc:AlternateContent>
      <p:pic>
        <p:nvPicPr>
          <p:cNvPr id="7" name="Image 6">
            <a:extLst>
              <a:ext uri="{FF2B5EF4-FFF2-40B4-BE49-F238E27FC236}">
                <a16:creationId xmlns:a16="http://schemas.microsoft.com/office/drawing/2014/main" id="{83CCC273-2B29-D3EF-6690-0C19F7BA093E}"/>
              </a:ext>
            </a:extLst>
          </p:cNvPr>
          <p:cNvPicPr>
            <a:picLocks noChangeAspect="1"/>
          </p:cNvPicPr>
          <p:nvPr/>
        </p:nvPicPr>
        <p:blipFill>
          <a:blip r:embed="rId3">
            <a:extLst>
              <a:ext uri="{28A0092B-C50C-407E-A947-70E740481C1C}">
                <a14:useLocalDpi xmlns:a14="http://schemas.microsoft.com/office/drawing/2010/main" val="0"/>
              </a:ext>
            </a:extLst>
          </a:blip>
          <a:srcRect l="28494" r="24898"/>
          <a:stretch>
            <a:fillRect/>
          </a:stretch>
        </p:blipFill>
        <p:spPr>
          <a:xfrm>
            <a:off x="115478" y="3799432"/>
            <a:ext cx="2846981" cy="2964701"/>
          </a:xfrm>
          <a:prstGeom prst="rect">
            <a:avLst/>
          </a:prstGeom>
        </p:spPr>
      </p:pic>
      <p:pic>
        <p:nvPicPr>
          <p:cNvPr id="9" name="Image 8">
            <a:extLst>
              <a:ext uri="{FF2B5EF4-FFF2-40B4-BE49-F238E27FC236}">
                <a16:creationId xmlns:a16="http://schemas.microsoft.com/office/drawing/2014/main" id="{3DAD9868-C8F5-E667-5E2F-2B37AB742C12}"/>
              </a:ext>
            </a:extLst>
          </p:cNvPr>
          <p:cNvPicPr>
            <a:picLocks noChangeAspect="1"/>
          </p:cNvPicPr>
          <p:nvPr/>
        </p:nvPicPr>
        <p:blipFill>
          <a:blip r:embed="rId4">
            <a:extLst>
              <a:ext uri="{28A0092B-C50C-407E-A947-70E740481C1C}">
                <a14:useLocalDpi xmlns:a14="http://schemas.microsoft.com/office/drawing/2010/main" val="0"/>
              </a:ext>
            </a:extLst>
          </a:blip>
          <a:srcRect l="28668" r="24724"/>
          <a:stretch>
            <a:fillRect/>
          </a:stretch>
        </p:blipFill>
        <p:spPr>
          <a:xfrm>
            <a:off x="2962459" y="3746306"/>
            <a:ext cx="2967545" cy="3090250"/>
          </a:xfrm>
          <a:prstGeom prst="rect">
            <a:avLst/>
          </a:prstGeom>
        </p:spPr>
      </p:pic>
      <p:pic>
        <p:nvPicPr>
          <p:cNvPr id="11" name="Image 10">
            <a:extLst>
              <a:ext uri="{FF2B5EF4-FFF2-40B4-BE49-F238E27FC236}">
                <a16:creationId xmlns:a16="http://schemas.microsoft.com/office/drawing/2014/main" id="{D8330C72-DCCD-88C9-452E-A6BABB73055F}"/>
              </a:ext>
            </a:extLst>
          </p:cNvPr>
          <p:cNvPicPr>
            <a:picLocks noChangeAspect="1"/>
          </p:cNvPicPr>
          <p:nvPr/>
        </p:nvPicPr>
        <p:blipFill>
          <a:blip r:embed="rId5">
            <a:extLst>
              <a:ext uri="{28A0092B-C50C-407E-A947-70E740481C1C}">
                <a14:useLocalDpi xmlns:a14="http://schemas.microsoft.com/office/drawing/2010/main" val="0"/>
              </a:ext>
            </a:extLst>
          </a:blip>
          <a:srcRect l="26925" r="26466"/>
          <a:stretch>
            <a:fillRect/>
          </a:stretch>
        </p:blipFill>
        <p:spPr>
          <a:xfrm>
            <a:off x="5987574" y="3746306"/>
            <a:ext cx="2967545" cy="3090250"/>
          </a:xfrm>
          <a:prstGeom prst="rect">
            <a:avLst/>
          </a:prstGeom>
        </p:spPr>
      </p:pic>
      <p:pic>
        <p:nvPicPr>
          <p:cNvPr id="13" name="Image 12">
            <a:extLst>
              <a:ext uri="{FF2B5EF4-FFF2-40B4-BE49-F238E27FC236}">
                <a16:creationId xmlns:a16="http://schemas.microsoft.com/office/drawing/2014/main" id="{155D6098-69DC-392A-5271-0B4ADEC402C9}"/>
              </a:ext>
            </a:extLst>
          </p:cNvPr>
          <p:cNvPicPr>
            <a:picLocks noChangeAspect="1"/>
          </p:cNvPicPr>
          <p:nvPr/>
        </p:nvPicPr>
        <p:blipFill>
          <a:blip r:embed="rId6">
            <a:extLst>
              <a:ext uri="{28A0092B-C50C-407E-A947-70E740481C1C}">
                <a14:useLocalDpi xmlns:a14="http://schemas.microsoft.com/office/drawing/2010/main" val="0"/>
              </a:ext>
            </a:extLst>
          </a:blip>
          <a:srcRect l="26054" r="24573"/>
          <a:stretch>
            <a:fillRect/>
          </a:stretch>
        </p:blipFill>
        <p:spPr>
          <a:xfrm>
            <a:off x="9070258" y="3767750"/>
            <a:ext cx="3121742" cy="3068806"/>
          </a:xfrm>
          <a:prstGeom prst="rect">
            <a:avLst/>
          </a:prstGeom>
        </p:spPr>
      </p:pic>
      <p:sp>
        <p:nvSpPr>
          <p:cNvPr id="15" name="Espace réservé du contenu 14">
            <a:extLst>
              <a:ext uri="{FF2B5EF4-FFF2-40B4-BE49-F238E27FC236}">
                <a16:creationId xmlns:a16="http://schemas.microsoft.com/office/drawing/2014/main" id="{D9AAB447-663D-CB5D-80EB-3F3EF695043B}"/>
              </a:ext>
            </a:extLst>
          </p:cNvPr>
          <p:cNvSpPr>
            <a:spLocks noGrp="1"/>
          </p:cNvSpPr>
          <p:nvPr>
            <p:ph idx="1"/>
          </p:nvPr>
        </p:nvSpPr>
        <p:spPr>
          <a:xfrm>
            <a:off x="838200" y="1582938"/>
            <a:ext cx="10515600" cy="1325563"/>
          </a:xfrm>
        </p:spPr>
        <p:txBody>
          <a:bodyPr/>
          <a:lstStyle/>
          <a:p>
            <a:r>
              <a:rPr lang="fr-FR" dirty="0"/>
              <a:t>Le changement de la valeur </a:t>
            </a:r>
            <a:r>
              <a:rPr lang="fr-FR" dirty="0" err="1"/>
              <a:t>Nx</a:t>
            </a:r>
            <a:r>
              <a:rPr lang="fr-FR" dirty="0"/>
              <a:t> ne provoque pas un changement de géométrie mais seulement un raffinement du domaine pour une </a:t>
            </a:r>
            <a:r>
              <a:rPr lang="fr-FR" dirty="0" err="1"/>
              <a:t>seed</a:t>
            </a:r>
            <a:r>
              <a:rPr lang="fr-FR" dirty="0"/>
              <a:t> donnée (</a:t>
            </a:r>
            <a:r>
              <a:rPr lang="fr-FR" dirty="0" err="1"/>
              <a:t>seed</a:t>
            </a:r>
            <a:r>
              <a:rPr lang="fr-FR" dirty="0"/>
              <a:t> 1 ci-dessous)</a:t>
            </a:r>
          </a:p>
        </p:txBody>
      </p:sp>
      <p:cxnSp>
        <p:nvCxnSpPr>
          <p:cNvPr id="17" name="Connecteur droit avec flèche 16">
            <a:extLst>
              <a:ext uri="{FF2B5EF4-FFF2-40B4-BE49-F238E27FC236}">
                <a16:creationId xmlns:a16="http://schemas.microsoft.com/office/drawing/2014/main" id="{05810529-4DFA-2E96-842C-9D130ABEED3B}"/>
              </a:ext>
            </a:extLst>
          </p:cNvPr>
          <p:cNvCxnSpPr/>
          <p:nvPr/>
        </p:nvCxnSpPr>
        <p:spPr>
          <a:xfrm>
            <a:off x="309716" y="3554361"/>
            <a:ext cx="113415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ZoneTexte 17">
            <a:extLst>
              <a:ext uri="{FF2B5EF4-FFF2-40B4-BE49-F238E27FC236}">
                <a16:creationId xmlns:a16="http://schemas.microsoft.com/office/drawing/2014/main" id="{E4B355B5-3B02-E90B-38B1-9D3FCB067BD0}"/>
              </a:ext>
            </a:extLst>
          </p:cNvPr>
          <p:cNvSpPr txBox="1"/>
          <p:nvPr/>
        </p:nvSpPr>
        <p:spPr>
          <a:xfrm>
            <a:off x="1075485" y="3218871"/>
            <a:ext cx="431528" cy="369332"/>
          </a:xfrm>
          <a:prstGeom prst="rect">
            <a:avLst/>
          </a:prstGeom>
          <a:noFill/>
        </p:spPr>
        <p:txBody>
          <a:bodyPr wrap="none" rtlCol="0">
            <a:spAutoFit/>
          </a:bodyPr>
          <a:lstStyle/>
          <a:p>
            <a:r>
              <a:rPr lang="fr-FR" dirty="0"/>
              <a:t>75</a:t>
            </a:r>
          </a:p>
        </p:txBody>
      </p:sp>
      <p:sp>
        <p:nvSpPr>
          <p:cNvPr id="19" name="ZoneTexte 18">
            <a:extLst>
              <a:ext uri="{FF2B5EF4-FFF2-40B4-BE49-F238E27FC236}">
                <a16:creationId xmlns:a16="http://schemas.microsoft.com/office/drawing/2014/main" id="{6D002050-517E-568F-2E87-79DF74E1DE68}"/>
              </a:ext>
            </a:extLst>
          </p:cNvPr>
          <p:cNvSpPr txBox="1"/>
          <p:nvPr/>
        </p:nvSpPr>
        <p:spPr>
          <a:xfrm>
            <a:off x="4133246" y="3218871"/>
            <a:ext cx="554960" cy="369332"/>
          </a:xfrm>
          <a:prstGeom prst="rect">
            <a:avLst/>
          </a:prstGeom>
          <a:noFill/>
        </p:spPr>
        <p:txBody>
          <a:bodyPr wrap="none" rtlCol="0">
            <a:spAutoFit/>
          </a:bodyPr>
          <a:lstStyle/>
          <a:p>
            <a:r>
              <a:rPr lang="fr-FR" dirty="0"/>
              <a:t>150</a:t>
            </a:r>
          </a:p>
        </p:txBody>
      </p:sp>
      <p:sp>
        <p:nvSpPr>
          <p:cNvPr id="20" name="ZoneTexte 19">
            <a:extLst>
              <a:ext uri="{FF2B5EF4-FFF2-40B4-BE49-F238E27FC236}">
                <a16:creationId xmlns:a16="http://schemas.microsoft.com/office/drawing/2014/main" id="{306636FE-EBE5-53E1-1F85-9FADF5941F6D}"/>
              </a:ext>
            </a:extLst>
          </p:cNvPr>
          <p:cNvSpPr txBox="1"/>
          <p:nvPr/>
        </p:nvSpPr>
        <p:spPr>
          <a:xfrm>
            <a:off x="7314439" y="3218871"/>
            <a:ext cx="554960" cy="369332"/>
          </a:xfrm>
          <a:prstGeom prst="rect">
            <a:avLst/>
          </a:prstGeom>
          <a:noFill/>
        </p:spPr>
        <p:txBody>
          <a:bodyPr wrap="none" rtlCol="0">
            <a:spAutoFit/>
          </a:bodyPr>
          <a:lstStyle/>
          <a:p>
            <a:r>
              <a:rPr lang="fr-FR" dirty="0"/>
              <a:t>200</a:t>
            </a:r>
          </a:p>
        </p:txBody>
      </p:sp>
      <p:sp>
        <p:nvSpPr>
          <p:cNvPr id="21" name="ZoneTexte 20">
            <a:extLst>
              <a:ext uri="{FF2B5EF4-FFF2-40B4-BE49-F238E27FC236}">
                <a16:creationId xmlns:a16="http://schemas.microsoft.com/office/drawing/2014/main" id="{CA8A57C9-8E08-11C4-BB76-D6E101F68AAA}"/>
              </a:ext>
            </a:extLst>
          </p:cNvPr>
          <p:cNvSpPr txBox="1"/>
          <p:nvPr/>
        </p:nvSpPr>
        <p:spPr>
          <a:xfrm>
            <a:off x="10415365" y="3218871"/>
            <a:ext cx="554960" cy="369332"/>
          </a:xfrm>
          <a:prstGeom prst="rect">
            <a:avLst/>
          </a:prstGeom>
          <a:noFill/>
        </p:spPr>
        <p:txBody>
          <a:bodyPr wrap="none" rtlCol="0">
            <a:spAutoFit/>
          </a:bodyPr>
          <a:lstStyle/>
          <a:p>
            <a:r>
              <a:rPr lang="fr-FR" dirty="0"/>
              <a:t>400</a:t>
            </a:r>
          </a:p>
        </p:txBody>
      </p:sp>
      <p:sp>
        <p:nvSpPr>
          <p:cNvPr id="22" name="ZoneTexte 21">
            <a:extLst>
              <a:ext uri="{FF2B5EF4-FFF2-40B4-BE49-F238E27FC236}">
                <a16:creationId xmlns:a16="http://schemas.microsoft.com/office/drawing/2014/main" id="{2ED9CE0C-4C65-AAFA-0A63-917F18944AEF}"/>
              </a:ext>
            </a:extLst>
          </p:cNvPr>
          <p:cNvSpPr txBox="1"/>
          <p:nvPr/>
        </p:nvSpPr>
        <p:spPr>
          <a:xfrm>
            <a:off x="11651226" y="3376974"/>
            <a:ext cx="450764" cy="369332"/>
          </a:xfrm>
          <a:prstGeom prst="rect">
            <a:avLst/>
          </a:prstGeom>
          <a:noFill/>
        </p:spPr>
        <p:txBody>
          <a:bodyPr wrap="none" rtlCol="0">
            <a:spAutoFit/>
          </a:bodyPr>
          <a:lstStyle/>
          <a:p>
            <a:r>
              <a:rPr lang="fr-FR" dirty="0" err="1"/>
              <a:t>Nx</a:t>
            </a:r>
            <a:endParaRPr lang="fr-FR" dirty="0"/>
          </a:p>
        </p:txBody>
      </p:sp>
      <p:sp>
        <p:nvSpPr>
          <p:cNvPr id="3" name="ZoneTexte 2">
            <a:extLst>
              <a:ext uri="{FF2B5EF4-FFF2-40B4-BE49-F238E27FC236}">
                <a16:creationId xmlns:a16="http://schemas.microsoft.com/office/drawing/2014/main" id="{8D8320ED-12F4-95A7-217E-CBC390EE103F}"/>
              </a:ext>
            </a:extLst>
          </p:cNvPr>
          <p:cNvSpPr txBox="1"/>
          <p:nvPr/>
        </p:nvSpPr>
        <p:spPr>
          <a:xfrm>
            <a:off x="3427708" y="2931168"/>
            <a:ext cx="5004591" cy="338554"/>
          </a:xfrm>
          <a:prstGeom prst="rect">
            <a:avLst/>
          </a:prstGeom>
          <a:noFill/>
        </p:spPr>
        <p:txBody>
          <a:bodyPr wrap="square" rtlCol="0">
            <a:spAutoFit/>
          </a:bodyPr>
          <a:lstStyle/>
          <a:p>
            <a:r>
              <a:rPr lang="fr-CA" sz="1600" i="1" dirty="0"/>
              <a:t>Figure 3: Domaines générés en fonction du </a:t>
            </a:r>
            <a:r>
              <a:rPr lang="fr-CA" sz="1600" i="1" dirty="0" err="1"/>
              <a:t>seed</a:t>
            </a:r>
            <a:r>
              <a:rPr lang="fr-CA" sz="1600" i="1" dirty="0"/>
              <a:t> utilisé.</a:t>
            </a:r>
          </a:p>
        </p:txBody>
      </p:sp>
    </p:spTree>
    <p:extLst>
      <p:ext uri="{BB962C8B-B14F-4D97-AF65-F5344CB8AC3E}">
        <p14:creationId xmlns:p14="http://schemas.microsoft.com/office/powerpoint/2010/main" val="4122727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B71D2-F40F-4242-9CD0-9354BCACCA0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E42DB292-C1C7-B7A1-2983-182756BDF140}"/>
                  </a:ext>
                </a:extLst>
              </p:cNvPr>
              <p:cNvSpPr>
                <a:spLocks noGrp="1"/>
              </p:cNvSpPr>
              <p:nvPr>
                <p:ph type="title"/>
              </p:nvPr>
            </p:nvSpPr>
            <p:spPr>
              <a:xfrm>
                <a:off x="838200" y="255321"/>
                <a:ext cx="10515600" cy="1325563"/>
              </a:xfrm>
            </p:spPr>
            <p:txBody>
              <a:bodyPr>
                <a:normAutofit fontScale="90000"/>
              </a:bodyPr>
              <a:lstStyle/>
              <a:p>
                <a:r>
                  <a:rPr lang="fr-FR" dirty="0"/>
                  <a:t>B) Incertitude sur les données d’entrée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𝑖𝑛𝑝𝑢𝑡</m:t>
                        </m:r>
                      </m:sub>
                    </m:sSub>
                  </m:oMath>
                </a14:m>
                <a:br>
                  <a:rPr lang="fr-FR" b="0" dirty="0"/>
                </a:br>
                <a:endParaRPr lang="fr-FR" dirty="0"/>
              </a:p>
            </p:txBody>
          </p:sp>
        </mc:Choice>
        <mc:Fallback xmlns="">
          <p:sp>
            <p:nvSpPr>
              <p:cNvPr id="2" name="Titre 1">
                <a:extLst>
                  <a:ext uri="{FF2B5EF4-FFF2-40B4-BE49-F238E27FC236}">
                    <a16:creationId xmlns:a16="http://schemas.microsoft.com/office/drawing/2014/main" id="{E42DB292-C1C7-B7A1-2983-182756BDF140}"/>
                  </a:ext>
                </a:extLst>
              </p:cNvPr>
              <p:cNvSpPr>
                <a:spLocks noGrp="1" noRot="1" noChangeAspect="1" noMove="1" noResize="1" noEditPoints="1" noAdjustHandles="1" noChangeArrowheads="1" noChangeShapeType="1" noTextEdit="1"/>
              </p:cNvSpPr>
              <p:nvPr>
                <p:ph type="title"/>
              </p:nvPr>
            </p:nvSpPr>
            <p:spPr>
              <a:xfrm>
                <a:off x="838200" y="255321"/>
                <a:ext cx="10515600" cy="1325563"/>
              </a:xfrm>
              <a:blipFill>
                <a:blip r:embed="rId3"/>
                <a:stretch>
                  <a:fillRect l="-2087" t="-7834"/>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A6CA13C1-0552-592F-8A56-718E46BDA011}"/>
                  </a:ext>
                </a:extLst>
              </p:cNvPr>
              <p:cNvSpPr>
                <a:spLocks noGrp="1"/>
              </p:cNvSpPr>
              <p:nvPr>
                <p:ph idx="1"/>
              </p:nvPr>
            </p:nvSpPr>
            <p:spPr>
              <a:xfrm>
                <a:off x="838200" y="1580884"/>
                <a:ext cx="10515600" cy="4351338"/>
              </a:xfrm>
            </p:spPr>
            <p:txBody>
              <a:bodyPr>
                <a:normAutofit fontScale="62500" lnSpcReduction="20000"/>
              </a:bodyPr>
              <a:lstStyle/>
              <a:p>
                <a:r>
                  <a:rPr lang="fr-FR" dirty="0"/>
                  <a:t>On mesure </a:t>
                </a:r>
                <a14:m>
                  <m:oMath xmlns:m="http://schemas.openxmlformats.org/officeDocument/2006/math">
                    <m:sSub>
                      <m:sSubPr>
                        <m:ctrlPr>
                          <a:rPr lang="fr-CA" b="0" i="1" smtClean="0">
                            <a:latin typeface="Cambria Math" panose="02040503050406030204" pitchFamily="18" charset="0"/>
                          </a:rPr>
                        </m:ctrlPr>
                      </m:sSubPr>
                      <m:e>
                        <m:r>
                          <a:rPr lang="fr-CA" b="0" i="1" smtClean="0">
                            <a:latin typeface="Cambria Math" panose="02040503050406030204" pitchFamily="18" charset="0"/>
                          </a:rPr>
                          <m:t>𝑢</m:t>
                        </m:r>
                      </m:e>
                      <m:sub>
                        <m:r>
                          <a:rPr lang="fr-CA" b="0" i="1" smtClean="0">
                            <a:latin typeface="Cambria Math" panose="02040503050406030204" pitchFamily="18" charset="0"/>
                          </a:rPr>
                          <m:t>𝑖𝑛𝑝𝑢𝑡</m:t>
                        </m:r>
                      </m:sub>
                    </m:sSub>
                  </m:oMath>
                </a14:m>
                <a:r>
                  <a:rPr lang="fr-FR" dirty="0"/>
                  <a:t> à l’aide de la propagation des incertitudes par la méthode de Monte-Carlo.</a:t>
                </a:r>
              </a:p>
              <a:p>
                <a:r>
                  <a:rPr lang="fr-FR" dirty="0"/>
                  <a:t>Ici, les paramètres d’entrés affectant la SRQ (</a:t>
                </a:r>
                <a14:m>
                  <m:oMath xmlns:m="http://schemas.openxmlformats.org/officeDocument/2006/math">
                    <m:r>
                      <a:rPr lang="fr-CA" i="1">
                        <a:latin typeface="Cambria Math" panose="02040503050406030204" pitchFamily="18" charset="0"/>
                      </a:rPr>
                      <m:t>𝑘</m:t>
                    </m:r>
                  </m:oMath>
                </a14:m>
                <a:r>
                  <a:rPr lang="fr-FR" dirty="0"/>
                  <a:t>, perméabilité) sont la porosité et le diamètre des fibres.</a:t>
                </a:r>
              </a:p>
              <a:p>
                <a:r>
                  <a:rPr lang="fr-FR" dirty="0"/>
                  <a:t>L’impact de la propagation de l’incertitude de la taille des fibres est déjà pris en compte du fait qu’on génère un grand nombre de fibres de manière aléatoire suivant une distribution normale pour générer le matériau (en posant </a:t>
                </a:r>
                <a14:m>
                  <m:oMath xmlns:m="http://schemas.openxmlformats.org/officeDocument/2006/math">
                    <m:r>
                      <a:rPr lang="fr-CA" b="0" i="1" smtClean="0">
                        <a:latin typeface="Cambria Math" panose="02040503050406030204" pitchFamily="18" charset="0"/>
                      </a:rPr>
                      <m:t>𝑠𝑒𝑒𝑑</m:t>
                    </m:r>
                    <m:r>
                      <a:rPr lang="fr-CA" b="0" i="1" smtClean="0">
                        <a:latin typeface="Cambria Math" panose="02040503050406030204" pitchFamily="18" charset="0"/>
                      </a:rPr>
                      <m:t>=0</m:t>
                    </m:r>
                  </m:oMath>
                </a14:m>
                <a:r>
                  <a:rPr lang="fr-FR" dirty="0"/>
                  <a:t>, distribution aléatoire).</a:t>
                </a:r>
              </a:p>
              <a:p>
                <a:r>
                  <a:rPr lang="fr-FR" dirty="0"/>
                  <a:t>Donc, pour mesurer la propagation, on évalue la propagation pour un échantillon représentatif de la fonction de distribution des probabilités (PDF) de la porosité.</a:t>
                </a:r>
              </a:p>
              <a:p>
                <a:r>
                  <a:rPr lang="fr-FR" dirty="0"/>
                  <a:t>Méthodologie : </a:t>
                </a:r>
              </a:p>
              <a:p>
                <a:pPr marL="914400" lvl="1" indent="-457200">
                  <a:buFont typeface="+mj-lt"/>
                  <a:buAutoNum type="arabicPeriod"/>
                </a:pPr>
                <a:r>
                  <a:rPr lang="fr-FR" dirty="0"/>
                  <a:t>Générer un échantillon représentatif suivant la PDF de la porosité.</a:t>
                </a:r>
              </a:p>
              <a:p>
                <a:pPr marL="914400" lvl="1" indent="-457200">
                  <a:buFont typeface="+mj-lt"/>
                  <a:buAutoNum type="arabicPeriod"/>
                </a:pPr>
                <a:r>
                  <a:rPr lang="fr-FR" dirty="0"/>
                  <a:t>Calculer la perméabilité pour l’ensemble des points de l’échantillon.</a:t>
                </a:r>
              </a:p>
              <a:p>
                <a:pPr marL="914400" lvl="1" indent="-457200">
                  <a:buFont typeface="+mj-lt"/>
                  <a:buAutoNum type="arabicPeriod"/>
                </a:pPr>
                <a:r>
                  <a:rPr lang="fr-FR" dirty="0"/>
                  <a:t>Calculer la distribution de la SRQ (</a:t>
                </a:r>
                <a14:m>
                  <m:oMath xmlns:m="http://schemas.openxmlformats.org/officeDocument/2006/math">
                    <m:r>
                      <a:rPr lang="fr-CA" i="1">
                        <a:latin typeface="Cambria Math" panose="02040503050406030204" pitchFamily="18" charset="0"/>
                      </a:rPr>
                      <m:t>𝑘</m:t>
                    </m:r>
                  </m:oMath>
                </a14:m>
                <a:r>
                  <a:rPr lang="fr-FR" dirty="0"/>
                  <a:t>, perméabilité).</a:t>
                </a:r>
              </a:p>
              <a:p>
                <a:pPr lvl="2"/>
                <a:r>
                  <a:rPr lang="fr-FR" dirty="0"/>
                  <a:t>On se retrouve avec une distribution log-normale.</a:t>
                </a:r>
              </a:p>
              <a:p>
                <a:pPr lvl="2"/>
                <a:r>
                  <a:rPr lang="fr-FR" dirty="0"/>
                  <a:t>On utilise le facteur de variation géométrique (FVG) qui permet d’interpréter les résultats dans le domaine normal. Le FVG correspond à l’exponentielle de l’écart type mesuré dans l’espace log.</a:t>
                </a:r>
              </a:p>
              <a:p>
                <a:pPr lvl="2"/>
                <a:r>
                  <a:rPr lang="fr-FR" dirty="0"/>
                  <a:t>À l’aide tu FVG et de la médiane, on peut calculer l’intervalle dans lequel se trouvent  68.3% des données, basé sur </a:t>
                </a:r>
                <a14:m>
                  <m:oMath xmlns:m="http://schemas.openxmlformats.org/officeDocument/2006/math">
                    <m:r>
                      <a:rPr lang="fr-FR" i="1" smtClean="0">
                        <a:latin typeface="Cambria Math" panose="02040503050406030204" pitchFamily="18" charset="0"/>
                        <a:ea typeface="Cambria Math" panose="02040503050406030204" pitchFamily="18" charset="0"/>
                      </a:rPr>
                      <m:t>𝜇</m:t>
                    </m:r>
                    <m:r>
                      <a:rPr lang="fr-FR" i="1" smtClean="0">
                        <a:latin typeface="Cambria Math" panose="02040503050406030204" pitchFamily="18" charset="0"/>
                        <a:ea typeface="Cambria Math" panose="02040503050406030204" pitchFamily="18" charset="0"/>
                      </a:rPr>
                      <m:t>±</m:t>
                    </m:r>
                    <m:r>
                      <a:rPr lang="fr-FR" i="1" smtClean="0">
                        <a:latin typeface="Cambria Math" panose="02040503050406030204" pitchFamily="18" charset="0"/>
                        <a:ea typeface="Cambria Math" panose="02040503050406030204" pitchFamily="18" charset="0"/>
                      </a:rPr>
                      <m:t>𝜎</m:t>
                    </m:r>
                  </m:oMath>
                </a14:m>
                <a:r>
                  <a:rPr lang="fr-FR" dirty="0"/>
                  <a:t> dans l’espace logarithmique.</a:t>
                </a:r>
              </a:p>
              <a:p>
                <a:pPr marL="914400" lvl="1" indent="-457200">
                  <a:buFont typeface="+mj-lt"/>
                  <a:buAutoNum type="arabicPeriod"/>
                </a:pPr>
                <a:r>
                  <a:rPr lang="fr-FR" dirty="0"/>
                  <a:t>On pose </a:t>
                </a:r>
                <a14:m>
                  <m:oMath xmlns:m="http://schemas.openxmlformats.org/officeDocument/2006/math">
                    <m:sSub>
                      <m:sSubPr>
                        <m:ctrlPr>
                          <a:rPr lang="fr-CA" b="0" i="1" smtClean="0">
                            <a:latin typeface="Cambria Math" panose="02040503050406030204" pitchFamily="18" charset="0"/>
                          </a:rPr>
                        </m:ctrlPr>
                      </m:sSubPr>
                      <m:e>
                        <m:r>
                          <a:rPr lang="fr-CA" b="0" i="1" smtClean="0">
                            <a:latin typeface="Cambria Math" panose="02040503050406030204" pitchFamily="18" charset="0"/>
                          </a:rPr>
                          <m:t>𝑢</m:t>
                        </m:r>
                      </m:e>
                      <m:sub>
                        <m:r>
                          <a:rPr lang="fr-CA" b="0" i="1" smtClean="0">
                            <a:latin typeface="Cambria Math" panose="02040503050406030204" pitchFamily="18" charset="0"/>
                          </a:rPr>
                          <m:t>𝑖𝑛𝑝𝑢𝑡</m:t>
                        </m:r>
                      </m:sub>
                    </m:sSub>
                  </m:oMath>
                </a14:m>
                <a:r>
                  <a:rPr lang="fr-FR" dirty="0"/>
                  <a:t> égal au plus grand écart ; en log-normal, les écarts sont asymétriques :</a:t>
                </a:r>
                <a:br>
                  <a:rPr lang="fr-FR" dirty="0"/>
                </a:br>
                <a14:m>
                  <m:oMath xmlns:m="http://schemas.openxmlformats.org/officeDocument/2006/math">
                    <m:sSub>
                      <m:sSubPr>
                        <m:ctrlPr>
                          <a:rPr lang="fr-CA" b="0" i="1" smtClean="0">
                            <a:latin typeface="Cambria Math" panose="02040503050406030204" pitchFamily="18" charset="0"/>
                          </a:rPr>
                        </m:ctrlPr>
                      </m:sSubPr>
                      <m:e>
                        <m:r>
                          <a:rPr lang="fr-CA" b="0" i="1" smtClean="0">
                            <a:latin typeface="Cambria Math" panose="02040503050406030204" pitchFamily="18" charset="0"/>
                          </a:rPr>
                          <m:t>𝑢</m:t>
                        </m:r>
                      </m:e>
                      <m:sub>
                        <m:r>
                          <a:rPr lang="fr-CA" b="0" i="1" smtClean="0">
                            <a:latin typeface="Cambria Math" panose="02040503050406030204" pitchFamily="18" charset="0"/>
                          </a:rPr>
                          <m:t>𝑖𝑛𝑝𝑢𝑡</m:t>
                        </m:r>
                      </m:sub>
                    </m:sSub>
                    <m:r>
                      <a:rPr lang="fr-CA" b="0" i="1" smtClean="0">
                        <a:latin typeface="Cambria Math" panose="02040503050406030204" pitchFamily="18" charset="0"/>
                      </a:rPr>
                      <m:t>=</m:t>
                    </m:r>
                    <m:r>
                      <m:rPr>
                        <m:sty m:val="p"/>
                      </m:rPr>
                      <a:rPr lang="fr-CA" b="0" i="0" smtClean="0">
                        <a:latin typeface="Cambria Math" panose="02040503050406030204" pitchFamily="18" charset="0"/>
                      </a:rPr>
                      <m:t>max</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𝑘</m:t>
                        </m:r>
                      </m:e>
                      <m:sub>
                        <m:r>
                          <a:rPr lang="fr-CA" b="0" i="1" smtClean="0">
                            <a:latin typeface="Cambria Math" panose="02040503050406030204" pitchFamily="18" charset="0"/>
                          </a:rPr>
                          <m:t>𝑚𝑒𝑑𝑖𝑎𝑛𝑒</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𝑘</m:t>
                        </m:r>
                      </m:e>
                      <m:sub>
                        <m:r>
                          <a:rPr lang="fr-CA" b="0" i="1" smtClean="0">
                            <a:latin typeface="Cambria Math" panose="02040503050406030204" pitchFamily="18" charset="0"/>
                          </a:rPr>
                          <m:t>𝑚𝑖𝑛</m:t>
                        </m:r>
                      </m:sub>
                    </m:sSub>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𝑘</m:t>
                        </m:r>
                      </m:e>
                      <m:sub>
                        <m:r>
                          <a:rPr lang="fr-CA" b="0" i="1" smtClean="0">
                            <a:latin typeface="Cambria Math" panose="02040503050406030204" pitchFamily="18" charset="0"/>
                          </a:rPr>
                          <m:t>𝑚𝑎𝑥</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𝑘</m:t>
                        </m:r>
                      </m:e>
                      <m:sub>
                        <m:r>
                          <a:rPr lang="fr-CA" b="0" i="1" smtClean="0">
                            <a:latin typeface="Cambria Math" panose="02040503050406030204" pitchFamily="18" charset="0"/>
                          </a:rPr>
                          <m:t>𝑚𝑒𝑑𝑖𝑎𝑛𝑒</m:t>
                        </m:r>
                      </m:sub>
                    </m:sSub>
                    <m:r>
                      <a:rPr lang="fr-CA" b="0" i="0" smtClean="0">
                        <a:latin typeface="Cambria Math" panose="02040503050406030204" pitchFamily="18" charset="0"/>
                      </a:rPr>
                      <m:t>)</m:t>
                    </m:r>
                  </m:oMath>
                </a14:m>
                <a:endParaRPr lang="fr-FR" dirty="0"/>
              </a:p>
            </p:txBody>
          </p:sp>
        </mc:Choice>
        <mc:Fallback>
          <p:sp>
            <p:nvSpPr>
              <p:cNvPr id="3" name="Espace réservé du contenu 2">
                <a:extLst>
                  <a:ext uri="{FF2B5EF4-FFF2-40B4-BE49-F238E27FC236}">
                    <a16:creationId xmlns:a16="http://schemas.microsoft.com/office/drawing/2014/main" id="{A6CA13C1-0552-592F-8A56-718E46BDA011}"/>
                  </a:ext>
                </a:extLst>
              </p:cNvPr>
              <p:cNvSpPr>
                <a:spLocks noGrp="1" noRot="1" noChangeAspect="1" noMove="1" noResize="1" noEditPoints="1" noAdjustHandles="1" noChangeArrowheads="1" noChangeShapeType="1" noTextEdit="1"/>
              </p:cNvSpPr>
              <p:nvPr>
                <p:ph idx="1"/>
              </p:nvPr>
            </p:nvSpPr>
            <p:spPr>
              <a:xfrm>
                <a:off x="838200" y="1580884"/>
                <a:ext cx="10515600" cy="4351338"/>
              </a:xfrm>
              <a:blipFill>
                <a:blip r:embed="rId4"/>
                <a:stretch>
                  <a:fillRect l="-406" t="-1961" r="-870"/>
                </a:stretch>
              </a:blipFill>
            </p:spPr>
            <p:txBody>
              <a:bodyPr/>
              <a:lstStyle/>
              <a:p>
                <a:r>
                  <a:rPr lang="en-US">
                    <a:noFill/>
                  </a:rPr>
                  <a:t> </a:t>
                </a:r>
              </a:p>
            </p:txBody>
          </p:sp>
        </mc:Fallback>
      </mc:AlternateContent>
    </p:spTree>
    <p:extLst>
      <p:ext uri="{BB962C8B-B14F-4D97-AF65-F5344CB8AC3E}">
        <p14:creationId xmlns:p14="http://schemas.microsoft.com/office/powerpoint/2010/main" val="157417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F3900-E8F2-B59F-8037-8B8AD280B85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DF82B067-B537-3E0F-96D6-2FFA9E4B2202}"/>
                  </a:ext>
                </a:extLst>
              </p:cNvPr>
              <p:cNvSpPr>
                <a:spLocks noGrp="1"/>
              </p:cNvSpPr>
              <p:nvPr>
                <p:ph type="title"/>
              </p:nvPr>
            </p:nvSpPr>
            <p:spPr>
              <a:xfrm>
                <a:off x="838200" y="255321"/>
                <a:ext cx="10515600" cy="1325563"/>
              </a:xfrm>
            </p:spPr>
            <p:txBody>
              <a:bodyPr>
                <a:normAutofit fontScale="90000"/>
              </a:bodyPr>
              <a:lstStyle/>
              <a:p>
                <a:r>
                  <a:rPr lang="fr-FR" dirty="0"/>
                  <a:t>B) Incertitude sur les données d’entrée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𝑖𝑛𝑝𝑢𝑡</m:t>
                        </m:r>
                      </m:sub>
                    </m:sSub>
                  </m:oMath>
                </a14:m>
                <a:br>
                  <a:rPr lang="fr-FR" b="0" dirty="0"/>
                </a:br>
                <a:endParaRPr lang="fr-FR" dirty="0"/>
              </a:p>
            </p:txBody>
          </p:sp>
        </mc:Choice>
        <mc:Fallback xmlns="">
          <p:sp>
            <p:nvSpPr>
              <p:cNvPr id="2" name="Titre 1">
                <a:extLst>
                  <a:ext uri="{FF2B5EF4-FFF2-40B4-BE49-F238E27FC236}">
                    <a16:creationId xmlns:a16="http://schemas.microsoft.com/office/drawing/2014/main" id="{E42DB292-C1C7-B7A1-2983-182756BDF140}"/>
                  </a:ext>
                </a:extLst>
              </p:cNvPr>
              <p:cNvSpPr>
                <a:spLocks noGrp="1" noRot="1" noChangeAspect="1" noMove="1" noResize="1" noEditPoints="1" noAdjustHandles="1" noChangeArrowheads="1" noChangeShapeType="1" noTextEdit="1"/>
              </p:cNvSpPr>
              <p:nvPr>
                <p:ph type="title"/>
              </p:nvPr>
            </p:nvSpPr>
            <p:spPr>
              <a:xfrm>
                <a:off x="838200" y="255321"/>
                <a:ext cx="10515600" cy="1325563"/>
              </a:xfrm>
              <a:blipFill>
                <a:blip r:embed="rId3"/>
                <a:stretch>
                  <a:fillRect l="-2087" t="-7834"/>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6B684BD0-48B3-023C-548F-8DC561A6A601}"/>
                  </a:ext>
                </a:extLst>
              </p:cNvPr>
              <p:cNvSpPr>
                <a:spLocks noGrp="1"/>
              </p:cNvSpPr>
              <p:nvPr>
                <p:ph idx="1"/>
              </p:nvPr>
            </p:nvSpPr>
            <p:spPr>
              <a:xfrm>
                <a:off x="838199" y="1580884"/>
                <a:ext cx="4080309" cy="3597508"/>
              </a:xfrm>
            </p:spPr>
            <p:txBody>
              <a:bodyPr>
                <a:normAutofit/>
              </a:bodyPr>
              <a:lstStyle/>
              <a:p>
                <a:r>
                  <a:rPr lang="fr-FR" sz="2000" dirty="0"/>
                  <a:t>Les graphiques ci-contre présentent la fonction de probabilité ainsi que la fonction de probabilité cumulative de la SRQ.</a:t>
                </a:r>
              </a:p>
              <a:p>
                <a:r>
                  <a:rPr lang="fr-FR" sz="2000" dirty="0"/>
                  <a:t>L’intervalle maximal est calculé :</a:t>
                </a:r>
                <a:br>
                  <a:rPr lang="fr-FR" sz="2000" dirty="0"/>
                </a:br>
                <a14:m>
                  <m:oMath xmlns:m="http://schemas.openxmlformats.org/officeDocument/2006/math">
                    <m:sSub>
                      <m:sSubPr>
                        <m:ctrlPr>
                          <a:rPr lang="fr-CA" sz="2000" b="1" i="1" smtClean="0">
                            <a:latin typeface="Cambria Math" panose="02040503050406030204" pitchFamily="18" charset="0"/>
                          </a:rPr>
                        </m:ctrlPr>
                      </m:sSubPr>
                      <m:e>
                        <m:r>
                          <a:rPr lang="fr-CA" sz="2000" b="1" i="1" smtClean="0">
                            <a:latin typeface="Cambria Math" panose="02040503050406030204" pitchFamily="18" charset="0"/>
                          </a:rPr>
                          <m:t>𝒖</m:t>
                        </m:r>
                      </m:e>
                      <m:sub>
                        <m:r>
                          <a:rPr lang="fr-CA" sz="2000" b="1" i="1" smtClean="0">
                            <a:latin typeface="Cambria Math" panose="02040503050406030204" pitchFamily="18" charset="0"/>
                          </a:rPr>
                          <m:t>𝒊𝒏𝒑𝒖𝒕</m:t>
                        </m:r>
                      </m:sub>
                    </m:sSub>
                    <m:r>
                      <a:rPr lang="fr-CA" sz="2000" b="1" i="1" smtClean="0">
                        <a:latin typeface="Cambria Math" panose="02040503050406030204" pitchFamily="18" charset="0"/>
                      </a:rPr>
                      <m:t>= </m:t>
                    </m:r>
                  </m:oMath>
                </a14:m>
                <a:r>
                  <a:rPr lang="fr-FR" sz="2000" b="1" dirty="0"/>
                  <a:t>8.67 </a:t>
                </a:r>
                <a14:m>
                  <m:oMath xmlns:m="http://schemas.openxmlformats.org/officeDocument/2006/math">
                    <m:r>
                      <m:rPr>
                        <m:sty m:val="p"/>
                      </m:rPr>
                      <a:rPr lang="fr-FR" sz="2000" b="1" i="1" smtClean="0">
                        <a:latin typeface="Cambria Math" panose="02040503050406030204" pitchFamily="18" charset="0"/>
                      </a:rPr>
                      <m:t>μm</m:t>
                    </m:r>
                    <m:r>
                      <a:rPr lang="fr-FR" sz="2000" b="1" i="1" smtClean="0">
                        <a:latin typeface="Cambria Math" panose="02040503050406030204" pitchFamily="18" charset="0"/>
                      </a:rPr>
                      <m:t>²</m:t>
                    </m:r>
                  </m:oMath>
                </a14:m>
                <a:endParaRPr lang="fr-FR" sz="2000" b="1" dirty="0"/>
              </a:p>
              <a:p>
                <a:r>
                  <a:rPr lang="fr-FR" sz="2000" dirty="0"/>
                  <a:t>Monte-Carlo réalisé avec 100 échantillons et un pas </a:t>
                </a:r>
                <a14:m>
                  <m:oMath xmlns:m="http://schemas.openxmlformats.org/officeDocument/2006/math">
                    <m:r>
                      <m:rPr>
                        <m:sty m:val="p"/>
                      </m:rPr>
                      <a:rPr lang="fr-FR" sz="2000" b="0" i="1" smtClean="0">
                        <a:latin typeface="Cambria Math" panose="02040503050406030204" pitchFamily="18" charset="0"/>
                      </a:rPr>
                      <m:t>Δx</m:t>
                    </m:r>
                    <m:r>
                      <a:rPr lang="fr-FR" sz="2000" b="0" i="1" smtClean="0">
                        <a:latin typeface="Cambria Math" panose="02040503050406030204" pitchFamily="18" charset="0"/>
                      </a:rPr>
                      <m:t> = 1</m:t>
                    </m:r>
                    <m:r>
                      <m:rPr>
                        <m:sty m:val="p"/>
                      </m:rPr>
                      <a:rPr lang="fr-FR" sz="2000" b="0" i="1" smtClean="0">
                        <a:latin typeface="Cambria Math" panose="02040503050406030204" pitchFamily="18" charset="0"/>
                      </a:rPr>
                      <m:t>E</m:t>
                    </m:r>
                    <m:r>
                      <a:rPr lang="fr-FR" sz="2000" b="0" i="1" smtClean="0">
                        <a:latin typeface="Cambria Math" panose="02040503050406030204" pitchFamily="18" charset="0"/>
                      </a:rPr>
                      <m:t>-6   </m:t>
                    </m:r>
                    <m:r>
                      <m:rPr>
                        <m:sty m:val="p"/>
                      </m:rPr>
                      <a:rPr lang="fr-FR" sz="2000" b="0" i="1" smtClean="0">
                        <a:latin typeface="Cambria Math" panose="02040503050406030204" pitchFamily="18" charset="0"/>
                      </a:rPr>
                      <m:t>et</m:t>
                    </m:r>
                    <m:r>
                      <a:rPr lang="fr-FR" sz="2000" b="0" i="1" smtClean="0">
                        <a:latin typeface="Cambria Math" panose="02040503050406030204" pitchFamily="18" charset="0"/>
                      </a:rPr>
                      <m:t> </m:t>
                    </m:r>
                    <m:r>
                      <m:rPr>
                        <m:sty m:val="p"/>
                      </m:rPr>
                      <a:rPr lang="fr-FR" sz="2000" b="0" i="1" smtClean="0">
                        <a:latin typeface="Cambria Math" panose="02040503050406030204" pitchFamily="18" charset="0"/>
                      </a:rPr>
                      <m:t>Nx</m:t>
                    </m:r>
                    <m:r>
                      <a:rPr lang="fr-FR" sz="2000" b="0" i="1" smtClean="0">
                        <a:latin typeface="Cambria Math" panose="02040503050406030204" pitchFamily="18" charset="0"/>
                      </a:rPr>
                      <m:t> = 200.</m:t>
                    </m:r>
                  </m:oMath>
                </a14:m>
                <a:endParaRPr lang="fr-FR" sz="2000" dirty="0"/>
              </a:p>
            </p:txBody>
          </p:sp>
        </mc:Choice>
        <mc:Fallback>
          <p:sp>
            <p:nvSpPr>
              <p:cNvPr id="3" name="Espace réservé du contenu 2">
                <a:extLst>
                  <a:ext uri="{FF2B5EF4-FFF2-40B4-BE49-F238E27FC236}">
                    <a16:creationId xmlns:a16="http://schemas.microsoft.com/office/drawing/2014/main" id="{6B684BD0-48B3-023C-548F-8DC561A6A601}"/>
                  </a:ext>
                </a:extLst>
              </p:cNvPr>
              <p:cNvSpPr>
                <a:spLocks noGrp="1" noRot="1" noChangeAspect="1" noMove="1" noResize="1" noEditPoints="1" noAdjustHandles="1" noChangeArrowheads="1" noChangeShapeType="1" noTextEdit="1"/>
              </p:cNvSpPr>
              <p:nvPr>
                <p:ph idx="1"/>
              </p:nvPr>
            </p:nvSpPr>
            <p:spPr>
              <a:xfrm>
                <a:off x="838199" y="1580884"/>
                <a:ext cx="4080309" cy="3597508"/>
              </a:xfrm>
              <a:blipFill>
                <a:blip r:embed="rId4"/>
                <a:stretch>
                  <a:fillRect l="-1194" t="-152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646F739-E246-7718-42BD-FD146948AFDE}"/>
              </a:ext>
            </a:extLst>
          </p:cNvPr>
          <p:cNvPicPr>
            <a:picLocks noChangeAspect="1"/>
          </p:cNvPicPr>
          <p:nvPr/>
        </p:nvPicPr>
        <p:blipFill>
          <a:blip r:embed="rId5">
            <a:extLst>
              <a:ext uri="{28A0092B-C50C-407E-A947-70E740481C1C}">
                <a14:useLocalDpi xmlns:a14="http://schemas.microsoft.com/office/drawing/2010/main" val="0"/>
              </a:ext>
            </a:extLst>
          </a:blip>
          <a:srcRect l="-1241" t="4882" r="5838"/>
          <a:stretch>
            <a:fillRect/>
          </a:stretch>
        </p:blipFill>
        <p:spPr>
          <a:xfrm>
            <a:off x="7021493" y="3633902"/>
            <a:ext cx="4080310" cy="3088980"/>
          </a:xfrm>
          <a:prstGeom prst="rect">
            <a:avLst/>
          </a:prstGeom>
        </p:spPr>
      </p:pic>
      <p:pic>
        <p:nvPicPr>
          <p:cNvPr id="7" name="Picture 6">
            <a:extLst>
              <a:ext uri="{FF2B5EF4-FFF2-40B4-BE49-F238E27FC236}">
                <a16:creationId xmlns:a16="http://schemas.microsoft.com/office/drawing/2014/main" id="{B3C4CE8E-F464-27C0-B3AA-C16C3B6BECC3}"/>
              </a:ext>
            </a:extLst>
          </p:cNvPr>
          <p:cNvPicPr>
            <a:picLocks noChangeAspect="1"/>
          </p:cNvPicPr>
          <p:nvPr/>
        </p:nvPicPr>
        <p:blipFill>
          <a:blip r:embed="rId6">
            <a:extLst>
              <a:ext uri="{28A0092B-C50C-407E-A947-70E740481C1C}">
                <a14:useLocalDpi xmlns:a14="http://schemas.microsoft.com/office/drawing/2010/main" val="0"/>
              </a:ext>
            </a:extLst>
          </a:blip>
          <a:srcRect t="5439" r="7025"/>
          <a:stretch>
            <a:fillRect/>
          </a:stretch>
        </p:blipFill>
        <p:spPr>
          <a:xfrm>
            <a:off x="7273494" y="864757"/>
            <a:ext cx="3793677" cy="2893801"/>
          </a:xfrm>
          <a:prstGeom prst="rect">
            <a:avLst/>
          </a:prstGeom>
        </p:spPr>
      </p:pic>
    </p:spTree>
    <p:extLst>
      <p:ext uri="{BB962C8B-B14F-4D97-AF65-F5344CB8AC3E}">
        <p14:creationId xmlns:p14="http://schemas.microsoft.com/office/powerpoint/2010/main" val="13536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E4E87-1BBD-CE67-3881-6D0E335594A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37D96686-6BB1-2135-44BE-949A20147B54}"/>
                  </a:ext>
                </a:extLst>
              </p:cNvPr>
              <p:cNvSpPr>
                <a:spLocks noGrp="1"/>
              </p:cNvSpPr>
              <p:nvPr>
                <p:ph type="title"/>
              </p:nvPr>
            </p:nvSpPr>
            <p:spPr>
              <a:xfrm>
                <a:off x="838200" y="255321"/>
                <a:ext cx="10515600" cy="1325563"/>
              </a:xfrm>
            </p:spPr>
            <p:txBody>
              <a:bodyPr>
                <a:normAutofit/>
              </a:bodyPr>
              <a:lstStyle/>
              <a:p>
                <a:r>
                  <a:rPr lang="fr-FR" dirty="0"/>
                  <a:t>C) Incertitude expérimentale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𝐷</m:t>
                        </m:r>
                      </m:sub>
                    </m:sSub>
                  </m:oMath>
                </a14:m>
                <a:br>
                  <a:rPr lang="fr-FR" b="0" dirty="0"/>
                </a:br>
                <a:endParaRPr lang="fr-FR" dirty="0"/>
              </a:p>
            </p:txBody>
          </p:sp>
        </mc:Choice>
        <mc:Fallback xmlns="">
          <p:sp>
            <p:nvSpPr>
              <p:cNvPr id="2" name="Titre 1">
                <a:extLst>
                  <a:ext uri="{FF2B5EF4-FFF2-40B4-BE49-F238E27FC236}">
                    <a16:creationId xmlns:a16="http://schemas.microsoft.com/office/drawing/2014/main" id="{37D96686-6BB1-2135-44BE-949A20147B54}"/>
                  </a:ext>
                </a:extLst>
              </p:cNvPr>
              <p:cNvSpPr>
                <a:spLocks noGrp="1" noRot="1" noChangeAspect="1" noMove="1" noResize="1" noEditPoints="1" noAdjustHandles="1" noChangeArrowheads="1" noChangeShapeType="1" noTextEdit="1"/>
              </p:cNvSpPr>
              <p:nvPr>
                <p:ph type="title"/>
              </p:nvPr>
            </p:nvSpPr>
            <p:spPr>
              <a:xfrm>
                <a:off x="838200" y="255321"/>
                <a:ext cx="10515600" cy="1325563"/>
              </a:xfrm>
              <a:blipFill>
                <a:blip r:embed="rId2"/>
                <a:stretch>
                  <a:fillRect l="-2377" t="-1336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622EB648-3F2D-8A95-AAB6-E223881CFED9}"/>
                  </a:ext>
                </a:extLst>
              </p:cNvPr>
              <p:cNvSpPr>
                <a:spLocks noGrp="1"/>
              </p:cNvSpPr>
              <p:nvPr>
                <p:ph idx="1"/>
              </p:nvPr>
            </p:nvSpPr>
            <p:spPr/>
            <p:txBody>
              <a:bodyPr/>
              <a:lstStyle/>
              <a:p>
                <a:r>
                  <a:rPr lang="fr-FR" dirty="0"/>
                  <a:t>Systématique et aléatoire </a:t>
                </a:r>
              </a:p>
              <a:p>
                <a:r>
                  <a:rPr lang="fr-FR" dirty="0"/>
                  <a:t>Erreur expérimentale provient de la mesure de la perméabilité :  	</a:t>
                </a:r>
              </a:p>
              <a:p>
                <a:pPr lvl="1"/>
                <a:r>
                  <a:rPr lang="fr-FR" dirty="0"/>
                  <a:t>Erreur de l’outil de mesure (épistémique) </a:t>
                </a:r>
                <a:r>
                  <a:rPr lang="fr-FR" dirty="0">
                    <a:sym typeface="Wingdings" panose="05000000000000000000" pitchFamily="2" charset="2"/>
                  </a:rPr>
                  <a:t> </a:t>
                </a:r>
                <a14:m>
                  <m:oMath xmlns:m="http://schemas.openxmlformats.org/officeDocument/2006/math">
                    <m:sSub>
                      <m:sSubPr>
                        <m:ctrlPr>
                          <a:rPr lang="fr-FR" i="1">
                            <a:latin typeface="Cambria Math" panose="02040503050406030204" pitchFamily="18" charset="0"/>
                            <a:sym typeface="Wingdings" panose="05000000000000000000" pitchFamily="2" charset="2"/>
                          </a:rPr>
                        </m:ctrlPr>
                      </m:sSubPr>
                      <m:e>
                        <m:r>
                          <a:rPr lang="fr-FR" i="1">
                            <a:latin typeface="Cambria Math" panose="02040503050406030204" pitchFamily="18" charset="0"/>
                            <a:sym typeface="Wingdings" panose="05000000000000000000" pitchFamily="2" charset="2"/>
                          </a:rPr>
                          <m:t>𝐵</m:t>
                        </m:r>
                      </m:e>
                      <m:sub>
                        <m:r>
                          <a:rPr lang="fr-FR" i="1">
                            <a:latin typeface="Cambria Math" panose="02040503050406030204" pitchFamily="18" charset="0"/>
                            <a:sym typeface="Wingdings" panose="05000000000000000000" pitchFamily="2" charset="2"/>
                          </a:rPr>
                          <m:t>𝑟</m:t>
                        </m:r>
                      </m:sub>
                    </m:sSub>
                  </m:oMath>
                </a14:m>
                <a:endParaRPr lang="fr-FR" dirty="0">
                  <a:sym typeface="Wingdings" panose="05000000000000000000" pitchFamily="2" charset="2"/>
                </a:endParaRPr>
              </a:p>
              <a:p>
                <a:pPr lvl="1"/>
                <a:r>
                  <a:rPr lang="fr-FR" dirty="0"/>
                  <a:t>Incertitude de la perméabilité (aléatoire) </a:t>
                </a:r>
                <a:r>
                  <a:rPr lang="fr-FR" dirty="0">
                    <a:sym typeface="Wingdings" panose="05000000000000000000" pitchFamily="2" charset="2"/>
                  </a:rPr>
                  <a:t> </a:t>
                </a:r>
                <a14:m>
                  <m:oMath xmlns:m="http://schemas.openxmlformats.org/officeDocument/2006/math">
                    <m:sSub>
                      <m:sSubPr>
                        <m:ctrlPr>
                          <a:rPr lang="fr-FR" b="0" i="1" smtClean="0">
                            <a:latin typeface="Cambria Math" panose="02040503050406030204" pitchFamily="18" charset="0"/>
                            <a:sym typeface="Wingdings" panose="05000000000000000000" pitchFamily="2" charset="2"/>
                          </a:rPr>
                        </m:ctrlPr>
                      </m:sSubPr>
                      <m:e>
                        <m:r>
                          <a:rPr lang="fr-FR" b="0" i="1" smtClean="0">
                            <a:latin typeface="Cambria Math" panose="02040503050406030204" pitchFamily="18" charset="0"/>
                            <a:sym typeface="Wingdings" panose="05000000000000000000" pitchFamily="2" charset="2"/>
                          </a:rPr>
                          <m:t>𝑆</m:t>
                        </m:r>
                      </m:e>
                      <m:sub>
                        <m:r>
                          <a:rPr lang="fr-FR" b="0" i="1" smtClean="0">
                            <a:latin typeface="Cambria Math" panose="02040503050406030204" pitchFamily="18" charset="0"/>
                            <a:sym typeface="Wingdings" panose="05000000000000000000" pitchFamily="2" charset="2"/>
                          </a:rPr>
                          <m:t>𝑟</m:t>
                        </m:r>
                      </m:sub>
                    </m:sSub>
                  </m:oMath>
                </a14:m>
                <a:endParaRPr lang="fr-FR" dirty="0"/>
              </a:p>
              <a:p>
                <a14:m>
                  <m:oMath xmlns:m="http://schemas.openxmlformats.org/officeDocument/2006/math">
                    <m:sSub>
                      <m:sSubPr>
                        <m:ctrlPr>
                          <a:rPr lang="fr-FR" b="1" i="1" smtClean="0">
                            <a:latin typeface="Cambria Math" panose="02040503050406030204" pitchFamily="18" charset="0"/>
                          </a:rPr>
                        </m:ctrlPr>
                      </m:sSubPr>
                      <m:e>
                        <m:r>
                          <a:rPr lang="fr-FR" b="1" i="1" smtClean="0">
                            <a:latin typeface="Cambria Math" panose="02040503050406030204" pitchFamily="18" charset="0"/>
                          </a:rPr>
                          <m:t>𝒖</m:t>
                        </m:r>
                      </m:e>
                      <m:sub>
                        <m:r>
                          <a:rPr lang="fr-FR" b="1" i="1" smtClean="0">
                            <a:latin typeface="Cambria Math" panose="02040503050406030204" pitchFamily="18" charset="0"/>
                          </a:rPr>
                          <m:t>𝑫</m:t>
                        </m:r>
                      </m:sub>
                    </m:sSub>
                    <m:r>
                      <a:rPr lang="fr-FR" b="1" i="1" smtClean="0">
                        <a:latin typeface="Cambria Math" panose="02040503050406030204" pitchFamily="18" charset="0"/>
                      </a:rPr>
                      <m:t>=</m:t>
                    </m:r>
                    <m:rad>
                      <m:radPr>
                        <m:degHide m:val="on"/>
                        <m:ctrlPr>
                          <a:rPr lang="fr-FR" b="1" i="1" smtClean="0">
                            <a:latin typeface="Cambria Math" panose="02040503050406030204" pitchFamily="18" charset="0"/>
                          </a:rPr>
                        </m:ctrlPr>
                      </m:radPr>
                      <m:deg/>
                      <m:e>
                        <m:sSubSup>
                          <m:sSubSupPr>
                            <m:ctrlPr>
                              <a:rPr lang="fr-FR" b="1" i="1" smtClean="0">
                                <a:latin typeface="Cambria Math" panose="02040503050406030204" pitchFamily="18" charset="0"/>
                              </a:rPr>
                            </m:ctrlPr>
                          </m:sSubSupPr>
                          <m:e>
                            <m:r>
                              <a:rPr lang="fr-FR" b="1" i="1" smtClean="0">
                                <a:latin typeface="Cambria Math" panose="02040503050406030204" pitchFamily="18" charset="0"/>
                              </a:rPr>
                              <m:t>𝑺</m:t>
                            </m:r>
                          </m:e>
                          <m:sub>
                            <m:r>
                              <a:rPr lang="fr-FR" b="1" i="1" smtClean="0">
                                <a:latin typeface="Cambria Math" panose="02040503050406030204" pitchFamily="18" charset="0"/>
                              </a:rPr>
                              <m:t>𝒓</m:t>
                            </m:r>
                          </m:sub>
                          <m:sup>
                            <m:r>
                              <a:rPr lang="fr-FR" b="1" i="1" smtClean="0">
                                <a:latin typeface="Cambria Math" panose="02040503050406030204" pitchFamily="18" charset="0"/>
                              </a:rPr>
                              <m:t>𝟐</m:t>
                            </m:r>
                          </m:sup>
                        </m:sSubSup>
                        <m:r>
                          <a:rPr lang="fr-FR" b="1" i="1">
                            <a:latin typeface="Cambria Math" panose="02040503050406030204" pitchFamily="18" charset="0"/>
                          </a:rPr>
                          <m:t>+</m:t>
                        </m:r>
                        <m:sSubSup>
                          <m:sSubSupPr>
                            <m:ctrlPr>
                              <a:rPr lang="fr-FR" b="1" i="1">
                                <a:latin typeface="Cambria Math" panose="02040503050406030204" pitchFamily="18" charset="0"/>
                              </a:rPr>
                            </m:ctrlPr>
                          </m:sSubSupPr>
                          <m:e>
                            <m:r>
                              <a:rPr lang="fr-FR" b="1" i="1">
                                <a:latin typeface="Cambria Math" panose="02040503050406030204" pitchFamily="18" charset="0"/>
                              </a:rPr>
                              <m:t>𝑩</m:t>
                            </m:r>
                          </m:e>
                          <m:sub>
                            <m:r>
                              <a:rPr lang="fr-FR" b="1" i="1">
                                <a:latin typeface="Cambria Math" panose="02040503050406030204" pitchFamily="18" charset="0"/>
                              </a:rPr>
                              <m:t>𝒓</m:t>
                            </m:r>
                          </m:sub>
                          <m:sup>
                            <m:r>
                              <a:rPr lang="fr-FR" b="1" i="1">
                                <a:latin typeface="Cambria Math" panose="02040503050406030204" pitchFamily="18" charset="0"/>
                              </a:rPr>
                              <m:t>𝟐</m:t>
                            </m:r>
                          </m:sup>
                        </m:sSubSup>
                      </m:e>
                    </m:rad>
                    <m:r>
                      <a:rPr lang="fr-FR" b="1" i="1" smtClean="0">
                        <a:latin typeface="Cambria Math" panose="02040503050406030204" pitchFamily="18" charset="0"/>
                      </a:rPr>
                      <m:t>=</m:t>
                    </m:r>
                    <m:rad>
                      <m:radPr>
                        <m:degHide m:val="on"/>
                        <m:ctrlPr>
                          <a:rPr lang="fr-FR" b="1" i="1" smtClean="0">
                            <a:latin typeface="Cambria Math" panose="02040503050406030204" pitchFamily="18" charset="0"/>
                          </a:rPr>
                        </m:ctrlPr>
                      </m:radPr>
                      <m:deg/>
                      <m:e>
                        <m:sSup>
                          <m:sSupPr>
                            <m:ctrlPr>
                              <a:rPr lang="fr-FR" b="1" i="1" smtClean="0">
                                <a:latin typeface="Cambria Math" panose="02040503050406030204" pitchFamily="18" charset="0"/>
                              </a:rPr>
                            </m:ctrlPr>
                          </m:sSupPr>
                          <m:e>
                            <m:r>
                              <a:rPr lang="fr-FR" b="1" i="1" smtClean="0">
                                <a:latin typeface="Cambria Math" panose="02040503050406030204" pitchFamily="18" charset="0"/>
                              </a:rPr>
                              <m:t>𝟏𝟎</m:t>
                            </m:r>
                            <m:r>
                              <a:rPr lang="fr-FR" b="1" i="1" smtClean="0">
                                <a:latin typeface="Cambria Math" panose="02040503050406030204" pitchFamily="18" charset="0"/>
                              </a:rPr>
                              <m:t>.</m:t>
                            </m:r>
                            <m:r>
                              <a:rPr lang="fr-FR" b="1" i="1" smtClean="0">
                                <a:latin typeface="Cambria Math" panose="02040503050406030204" pitchFamily="18" charset="0"/>
                              </a:rPr>
                              <m:t>𝟎</m:t>
                            </m:r>
                          </m:e>
                          <m:sup>
                            <m:r>
                              <a:rPr lang="fr-FR" b="1" i="1" smtClean="0">
                                <a:latin typeface="Cambria Math" panose="02040503050406030204" pitchFamily="18" charset="0"/>
                              </a:rPr>
                              <m:t>𝟐</m:t>
                            </m:r>
                          </m:sup>
                        </m:sSup>
                        <m:r>
                          <a:rPr lang="fr-FR" b="1" i="1" smtClean="0">
                            <a:latin typeface="Cambria Math" panose="02040503050406030204" pitchFamily="18" charset="0"/>
                          </a:rPr>
                          <m:t>+</m:t>
                        </m:r>
                        <m:sSup>
                          <m:sSupPr>
                            <m:ctrlPr>
                              <a:rPr lang="fr-FR" b="1" i="1" smtClean="0">
                                <a:latin typeface="Cambria Math" panose="02040503050406030204" pitchFamily="18" charset="0"/>
                              </a:rPr>
                            </m:ctrlPr>
                          </m:sSupPr>
                          <m:e>
                            <m:r>
                              <a:rPr lang="fr-FR" b="1" i="1" smtClean="0">
                                <a:latin typeface="Cambria Math" panose="02040503050406030204" pitchFamily="18" charset="0"/>
                              </a:rPr>
                              <m:t>𝟏𝟒</m:t>
                            </m:r>
                            <m:r>
                              <a:rPr lang="fr-FR" b="1" i="1" smtClean="0">
                                <a:latin typeface="Cambria Math" panose="02040503050406030204" pitchFamily="18" charset="0"/>
                              </a:rPr>
                              <m:t>.</m:t>
                            </m:r>
                            <m:r>
                              <a:rPr lang="fr-FR" b="1" i="1" smtClean="0">
                                <a:latin typeface="Cambria Math" panose="02040503050406030204" pitchFamily="18" charset="0"/>
                              </a:rPr>
                              <m:t>𝟕</m:t>
                            </m:r>
                          </m:e>
                          <m:sup>
                            <m:r>
                              <a:rPr lang="fr-FR" b="1" i="1" smtClean="0">
                                <a:latin typeface="Cambria Math" panose="02040503050406030204" pitchFamily="18" charset="0"/>
                              </a:rPr>
                              <m:t>𝟐</m:t>
                            </m:r>
                          </m:sup>
                        </m:sSup>
                      </m:e>
                    </m:rad>
                    <m:r>
                      <a:rPr lang="fr-FR" b="1" i="1" smtClean="0">
                        <a:latin typeface="Cambria Math" panose="02040503050406030204" pitchFamily="18" charset="0"/>
                      </a:rPr>
                      <m:t>=</m:t>
                    </m:r>
                    <m:r>
                      <a:rPr lang="fr-FR" b="1" i="1" smtClean="0">
                        <a:latin typeface="Cambria Math" panose="02040503050406030204" pitchFamily="18" charset="0"/>
                      </a:rPr>
                      <m:t>𝟏𝟕</m:t>
                    </m:r>
                    <m:r>
                      <a:rPr lang="fr-FR" b="1" i="1" smtClean="0">
                        <a:latin typeface="Cambria Math" panose="02040503050406030204" pitchFamily="18" charset="0"/>
                      </a:rPr>
                      <m:t>.</m:t>
                    </m:r>
                    <m:r>
                      <a:rPr lang="fr-FR" b="1" i="1" smtClean="0">
                        <a:latin typeface="Cambria Math" panose="02040503050406030204" pitchFamily="18" charset="0"/>
                      </a:rPr>
                      <m:t>𝟖</m:t>
                    </m:r>
                    <m:r>
                      <a:rPr lang="fr-FR" b="1" i="1" smtClean="0">
                        <a:latin typeface="Cambria Math" panose="02040503050406030204" pitchFamily="18" charset="0"/>
                      </a:rPr>
                      <m:t> </m:t>
                    </m:r>
                    <m:r>
                      <a:rPr lang="fr-FR" b="1" i="1" smtClean="0">
                        <a:latin typeface="Cambria Math" panose="02040503050406030204" pitchFamily="18" charset="0"/>
                      </a:rPr>
                      <m:t>𝝁</m:t>
                    </m:r>
                    <m:sSup>
                      <m:sSupPr>
                        <m:ctrlPr>
                          <a:rPr lang="fr-FR" b="1" i="1" smtClean="0">
                            <a:latin typeface="Cambria Math" panose="02040503050406030204" pitchFamily="18" charset="0"/>
                          </a:rPr>
                        </m:ctrlPr>
                      </m:sSupPr>
                      <m:e>
                        <m:r>
                          <a:rPr lang="fr-FR" b="1" i="1" smtClean="0">
                            <a:latin typeface="Cambria Math" panose="02040503050406030204" pitchFamily="18" charset="0"/>
                          </a:rPr>
                          <m:t>𝒎</m:t>
                        </m:r>
                      </m:e>
                      <m:sup>
                        <m:r>
                          <a:rPr lang="fr-FR" b="1" i="1" smtClean="0">
                            <a:latin typeface="Cambria Math" panose="02040503050406030204" pitchFamily="18" charset="0"/>
                          </a:rPr>
                          <m:t>𝟐</m:t>
                        </m:r>
                      </m:sup>
                    </m:sSup>
                  </m:oMath>
                </a14:m>
                <a:endParaRPr lang="fr-FR" b="1" dirty="0"/>
              </a:p>
            </p:txBody>
          </p:sp>
        </mc:Choice>
        <mc:Fallback xmlns="">
          <p:sp>
            <p:nvSpPr>
              <p:cNvPr id="3" name="Espace réservé du contenu 2">
                <a:extLst>
                  <a:ext uri="{FF2B5EF4-FFF2-40B4-BE49-F238E27FC236}">
                    <a16:creationId xmlns:a16="http://schemas.microsoft.com/office/drawing/2014/main" id="{622EB648-3F2D-8A95-AAB6-E223881CFED9}"/>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fr-CA">
                    <a:noFill/>
                  </a:rPr>
                  <a:t> </a:t>
                </a:r>
              </a:p>
            </p:txBody>
          </p:sp>
        </mc:Fallback>
      </mc:AlternateContent>
    </p:spTree>
    <p:extLst>
      <p:ext uri="{BB962C8B-B14F-4D97-AF65-F5344CB8AC3E}">
        <p14:creationId xmlns:p14="http://schemas.microsoft.com/office/powerpoint/2010/main" val="2530867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124F0-B289-642A-9771-1BF06FCCAD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5EB509C-34AF-4FE2-2E9C-0C225D35486E}"/>
              </a:ext>
            </a:extLst>
          </p:cNvPr>
          <p:cNvSpPr>
            <a:spLocks noGrp="1"/>
          </p:cNvSpPr>
          <p:nvPr>
            <p:ph type="title"/>
          </p:nvPr>
        </p:nvSpPr>
        <p:spPr>
          <a:xfrm>
            <a:off x="838200" y="255321"/>
            <a:ext cx="10515600" cy="1325563"/>
          </a:xfrm>
        </p:spPr>
        <p:txBody>
          <a:bodyPr>
            <a:normAutofit/>
          </a:bodyPr>
          <a:lstStyle/>
          <a:p>
            <a:r>
              <a:rPr lang="fr-FR" dirty="0"/>
              <a:t>D) Erreur de simulation E </a:t>
            </a:r>
            <a:br>
              <a:rPr lang="fr-FR" b="0" dirty="0"/>
            </a:br>
            <a:endParaRPr lang="fr-FR" dirty="0"/>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253E90C5-151C-4E9F-B84E-15760D48BB9B}"/>
                  </a:ext>
                </a:extLst>
              </p:cNvPr>
              <p:cNvSpPr>
                <a:spLocks noGrp="1"/>
              </p:cNvSpPr>
              <p:nvPr>
                <p:ph idx="1"/>
              </p:nvPr>
            </p:nvSpPr>
            <p:spPr/>
            <p:txBody>
              <a:bodyPr/>
              <a:lstStyle/>
              <a:p>
                <a14:m>
                  <m:oMath xmlns:m="http://schemas.openxmlformats.org/officeDocument/2006/math">
                    <m:r>
                      <a:rPr lang="fr-FR" b="0" i="1" smtClean="0">
                        <a:latin typeface="Cambria Math" panose="02040503050406030204" pitchFamily="18" charset="0"/>
                      </a:rPr>
                      <m:t>𝐸</m:t>
                    </m:r>
                    <m:r>
                      <a:rPr lang="fr-FR" b="0" i="1" smtClean="0">
                        <a:latin typeface="Cambria Math" panose="02040503050406030204" pitchFamily="18" charset="0"/>
                      </a:rPr>
                      <m:t>=</m:t>
                    </m:r>
                    <m:r>
                      <a:rPr lang="fr-FR" b="0" i="1" smtClean="0">
                        <a:latin typeface="Cambria Math" panose="02040503050406030204" pitchFamily="18" charset="0"/>
                      </a:rPr>
                      <m:t>𝑆</m:t>
                    </m:r>
                    <m:r>
                      <a:rPr lang="fr-FR" b="0" i="1" smtClean="0">
                        <a:latin typeface="Cambria Math" panose="02040503050406030204" pitchFamily="18" charset="0"/>
                      </a:rPr>
                      <m:t>−</m:t>
                    </m:r>
                    <m:r>
                      <a:rPr lang="fr-FR" b="0" i="1" smtClean="0">
                        <a:latin typeface="Cambria Math" panose="02040503050406030204" pitchFamily="18" charset="0"/>
                      </a:rPr>
                      <m:t>𝐷</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𝑘</m:t>
                        </m:r>
                      </m:e>
                      <m:sub>
                        <m:r>
                          <a:rPr lang="fr-FR" b="0" i="1" smtClean="0">
                            <a:latin typeface="Cambria Math" panose="02040503050406030204" pitchFamily="18" charset="0"/>
                          </a:rPr>
                          <m:t>𝑠𝑖𝑚</m:t>
                        </m:r>
                      </m:sub>
                    </m:sSub>
                    <m:r>
                      <a:rPr lang="fr-FR" b="0" i="1" smtClean="0">
                        <a:latin typeface="Cambria Math" panose="02040503050406030204" pitchFamily="18" charset="0"/>
                      </a:rPr>
                      <m:t>−</m:t>
                    </m:r>
                    <m:bar>
                      <m:barPr>
                        <m:pos m:val="top"/>
                        <m:ctrlPr>
                          <a:rPr lang="fr-FR" b="0" i="1" smtClean="0">
                            <a:latin typeface="Cambria Math" panose="02040503050406030204" pitchFamily="18" charset="0"/>
                          </a:rPr>
                        </m:ctrlPr>
                      </m:barPr>
                      <m:e>
                        <m:r>
                          <a:rPr lang="fr-FR" b="0" i="1" smtClean="0">
                            <a:latin typeface="Cambria Math" panose="02040503050406030204" pitchFamily="18" charset="0"/>
                          </a:rPr>
                          <m:t>𝑘</m:t>
                        </m:r>
                      </m:e>
                    </m:bar>
                    <m:r>
                      <a:rPr lang="fr-FR" b="0" i="1" smtClean="0">
                        <a:latin typeface="Cambria Math" panose="02040503050406030204" pitchFamily="18" charset="0"/>
                      </a:rPr>
                      <m:t>=2</m:t>
                    </m:r>
                    <m:r>
                      <a:rPr lang="fr-FR" b="0" i="1" smtClean="0">
                        <a:latin typeface="Cambria Math" panose="02040503050406030204" pitchFamily="18" charset="0"/>
                      </a:rPr>
                      <m:t>7.8</m:t>
                    </m:r>
                    <m:r>
                      <a:rPr lang="fr-FR" b="0" i="1" smtClean="0">
                        <a:latin typeface="Cambria Math" panose="02040503050406030204" pitchFamily="18" charset="0"/>
                      </a:rPr>
                      <m:t>−80.6=−52.</m:t>
                    </m:r>
                    <m:r>
                      <a:rPr lang="fr-FR" b="0" i="1" smtClean="0">
                        <a:latin typeface="Cambria Math" panose="02040503050406030204" pitchFamily="18" charset="0"/>
                      </a:rPr>
                      <m:t>8</m:t>
                    </m:r>
                    <m:r>
                      <a:rPr lang="fr-FR" b="0" i="1" smtClean="0">
                        <a:latin typeface="Cambria Math" panose="02040503050406030204" pitchFamily="18" charset="0"/>
                      </a:rPr>
                      <m:t> </m:t>
                    </m:r>
                    <m:r>
                      <a:rPr lang="fr-FR" b="0" i="1" smtClean="0">
                        <a:latin typeface="Cambria Math" panose="02040503050406030204" pitchFamily="18" charset="0"/>
                      </a:rPr>
                      <m:t>𝜇</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𝑚</m:t>
                        </m:r>
                      </m:e>
                      <m:sup>
                        <m:r>
                          <a:rPr lang="fr-FR" b="0" i="1" smtClean="0">
                            <a:latin typeface="Cambria Math" panose="02040503050406030204" pitchFamily="18" charset="0"/>
                          </a:rPr>
                          <m:t>2</m:t>
                        </m:r>
                      </m:sup>
                    </m:sSup>
                  </m:oMath>
                </a14:m>
                <a:endParaRPr lang="fr-FR" dirty="0"/>
              </a:p>
              <a:p>
                <a:r>
                  <a:rPr lang="fr-FR" dirty="0"/>
                  <a:t>D calculé à partir des moyennes du tableau 1 (moyenne = médiane) </a:t>
                </a:r>
              </a:p>
              <a:p>
                <a:r>
                  <a:rPr lang="fr-FR" dirty="0"/>
                  <a:t>S simulé avec les paramètres suivants :</a:t>
                </a:r>
              </a:p>
              <a:p>
                <a:pPr lvl="1"/>
                <a:r>
                  <a:rPr lang="fr-FR" dirty="0"/>
                  <a:t>Porosité : 0.9 </a:t>
                </a:r>
              </a:p>
              <a:p>
                <a:pPr lvl="1"/>
                <a:r>
                  <a:rPr lang="fr-FR" dirty="0" err="1"/>
                  <a:t>Seed</a:t>
                </a:r>
                <a:r>
                  <a:rPr lang="fr-FR" dirty="0"/>
                  <a:t> : 101</a:t>
                </a:r>
              </a:p>
              <a:p>
                <a:pPr lvl="1"/>
                <a:r>
                  <a:rPr lang="fr-FR" dirty="0" err="1"/>
                  <a:t>Nx</a:t>
                </a:r>
                <a:r>
                  <a:rPr lang="fr-FR" dirty="0"/>
                  <a:t> = 200 et </a:t>
                </a:r>
                <a14:m>
                  <m:oMath xmlns:m="http://schemas.openxmlformats.org/officeDocument/2006/math">
                    <m:r>
                      <m:rPr>
                        <m:sty m:val="p"/>
                      </m:rPr>
                      <a:rPr lang="fr-FR" i="1">
                        <a:latin typeface="Cambria Math" panose="02040503050406030204" pitchFamily="18" charset="0"/>
                      </a:rPr>
                      <m:t>Δx</m:t>
                    </m:r>
                    <m:r>
                      <a:rPr lang="fr-FR" i="1">
                        <a:latin typeface="Cambria Math" panose="02040503050406030204" pitchFamily="18" charset="0"/>
                      </a:rPr>
                      <m:t> = 1</m:t>
                    </m:r>
                    <m:r>
                      <m:rPr>
                        <m:sty m:val="p"/>
                      </m:rPr>
                      <a:rPr lang="fr-FR" i="1">
                        <a:latin typeface="Cambria Math" panose="02040503050406030204" pitchFamily="18" charset="0"/>
                      </a:rPr>
                      <m:t>E</m:t>
                    </m:r>
                    <m:r>
                      <a:rPr lang="fr-FR" i="1">
                        <a:latin typeface="Cambria Math" panose="02040503050406030204" pitchFamily="18" charset="0"/>
                      </a:rPr>
                      <m:t>−6</m:t>
                    </m:r>
                  </m:oMath>
                </a14:m>
                <a:endParaRPr lang="fr-FR" dirty="0"/>
              </a:p>
              <a:p>
                <a:pPr lvl="1"/>
                <a14:m>
                  <m:oMath xmlns:m="http://schemas.openxmlformats.org/officeDocument/2006/math">
                    <m:r>
                      <m:rPr>
                        <m:sty m:val="p"/>
                      </m:rPr>
                      <a:rPr lang="fr-FR" i="1">
                        <a:latin typeface="Cambria Math" panose="02040503050406030204" pitchFamily="18" charset="0"/>
                      </a:rPr>
                      <m:t>ΔP</m:t>
                    </m:r>
                    <m:r>
                      <a:rPr lang="fr-FR" i="1">
                        <a:latin typeface="Cambria Math" panose="02040503050406030204" pitchFamily="18" charset="0"/>
                      </a:rPr>
                      <m:t> = 0.1 </m:t>
                    </m:r>
                  </m:oMath>
                </a14:m>
                <a:endParaRPr lang="fr-FR" dirty="0"/>
              </a:p>
              <a:p>
                <a:pPr lvl="1"/>
                <a14:m>
                  <m:oMath xmlns:m="http://schemas.openxmlformats.org/officeDocument/2006/math">
                    <m:r>
                      <m:rPr>
                        <m:sty m:val="p"/>
                      </m:rPr>
                      <a:rPr lang="fr-FR" i="1">
                        <a:latin typeface="Cambria Math" panose="02040503050406030204" pitchFamily="18" charset="0"/>
                      </a:rPr>
                      <m:t>σ</m:t>
                    </m:r>
                    <m:r>
                      <a:rPr lang="fr-FR" i="1">
                        <a:latin typeface="Cambria Math" panose="02040503050406030204" pitchFamily="18" charset="0"/>
                      </a:rPr>
                      <m:t>_</m:t>
                    </m:r>
                    <m:r>
                      <m:rPr>
                        <m:sty m:val="p"/>
                      </m:rPr>
                      <a:rPr lang="fr-FR" i="1">
                        <a:latin typeface="Cambria Math" panose="02040503050406030204" pitchFamily="18" charset="0"/>
                      </a:rPr>
                      <m:t>d</m:t>
                    </m:r>
                    <m:r>
                      <a:rPr lang="fr-FR" i="1">
                        <a:latin typeface="Cambria Math" panose="02040503050406030204" pitchFamily="18" charset="0"/>
                      </a:rPr>
                      <m:t>  = 2.85 </m:t>
                    </m:r>
                    <m:r>
                      <m:rPr>
                        <m:sty m:val="p"/>
                      </m:rPr>
                      <a:rPr lang="fr-FR" i="1">
                        <a:latin typeface="Cambria Math" panose="02040503050406030204" pitchFamily="18" charset="0"/>
                      </a:rPr>
                      <m:t>μm</m:t>
                    </m:r>
                    <m:r>
                      <a:rPr lang="fr-FR" i="1">
                        <a:latin typeface="Cambria Math" panose="02040503050406030204" pitchFamily="18" charset="0"/>
                      </a:rPr>
                      <m:t> </m:t>
                    </m:r>
                    <m:r>
                      <m:rPr>
                        <m:sty m:val="p"/>
                      </m:rPr>
                      <a:rPr lang="fr-FR" i="1">
                        <a:latin typeface="Cambria Math" panose="02040503050406030204" pitchFamily="18" charset="0"/>
                      </a:rPr>
                      <m:t>et</m:t>
                    </m:r>
                    <m:r>
                      <a:rPr lang="fr-FR" i="1">
                        <a:latin typeface="Cambria Math" panose="02040503050406030204" pitchFamily="18" charset="0"/>
                      </a:rPr>
                      <m:t> </m:t>
                    </m:r>
                    <m:bar>
                      <m:barPr>
                        <m:pos m:val="top"/>
                        <m:ctrlPr>
                          <a:rPr lang="fr-FR" i="1">
                            <a:latin typeface="Cambria Math" panose="02040503050406030204" pitchFamily="18" charset="0"/>
                          </a:rPr>
                        </m:ctrlPr>
                      </m:barPr>
                      <m:e>
                        <m:r>
                          <m:rPr>
                            <m:sty m:val="p"/>
                          </m:rPr>
                          <a:rPr lang="fr-FR" i="1">
                            <a:latin typeface="Cambria Math" panose="02040503050406030204" pitchFamily="18" charset="0"/>
                          </a:rPr>
                          <m:t>d</m:t>
                        </m:r>
                      </m:e>
                    </m:bar>
                    <m:r>
                      <a:rPr lang="fr-FR" i="1">
                        <a:latin typeface="Cambria Math" panose="02040503050406030204" pitchFamily="18" charset="0"/>
                      </a:rPr>
                      <m:t>=12.5 </m:t>
                    </m:r>
                    <m:r>
                      <m:rPr>
                        <m:sty m:val="p"/>
                      </m:rPr>
                      <a:rPr lang="fr-FR" i="1">
                        <a:latin typeface="Cambria Math" panose="02040503050406030204" pitchFamily="18" charset="0"/>
                      </a:rPr>
                      <m:t>μm</m:t>
                    </m:r>
                  </m:oMath>
                </a14:m>
                <a:endParaRPr lang="fr-FR" dirty="0"/>
              </a:p>
            </p:txBody>
          </p:sp>
        </mc:Choice>
        <mc:Fallback>
          <p:sp>
            <p:nvSpPr>
              <p:cNvPr id="3" name="Espace réservé du contenu 2">
                <a:extLst>
                  <a:ext uri="{FF2B5EF4-FFF2-40B4-BE49-F238E27FC236}">
                    <a16:creationId xmlns:a16="http://schemas.microsoft.com/office/drawing/2014/main" id="{253E90C5-151C-4E9F-B84E-15760D48BB9B}"/>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1876343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5D845-2688-1EA8-46B4-296C4A61C3F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2D5E69C6-E8E3-4136-83CE-73271C354542}"/>
                  </a:ext>
                </a:extLst>
              </p:cNvPr>
              <p:cNvSpPr>
                <a:spLocks noGrp="1"/>
              </p:cNvSpPr>
              <p:nvPr>
                <p:ph type="title"/>
              </p:nvPr>
            </p:nvSpPr>
            <p:spPr>
              <a:xfrm>
                <a:off x="838200" y="255321"/>
                <a:ext cx="10515600" cy="1325563"/>
              </a:xfrm>
            </p:spPr>
            <p:txBody>
              <a:bodyPr>
                <a:normAutofit/>
              </a:bodyPr>
              <a:lstStyle/>
              <a:p>
                <a:r>
                  <a:rPr lang="fr-FR" dirty="0"/>
                  <a:t>E) Erreur du modèle </a:t>
                </a: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𝛿</m:t>
                        </m:r>
                      </m:e>
                      <m:sub>
                        <m:r>
                          <a:rPr lang="fr-FR" b="0" i="1" smtClean="0">
                            <a:latin typeface="Cambria Math" panose="02040503050406030204" pitchFamily="18" charset="0"/>
                          </a:rPr>
                          <m:t>𝑚𝑜𝑑𝑒𝑙</m:t>
                        </m:r>
                      </m:sub>
                    </m:sSub>
                  </m:oMath>
                </a14:m>
                <a:br>
                  <a:rPr lang="fr-FR" b="0" dirty="0"/>
                </a:br>
                <a:endParaRPr lang="fr-FR" dirty="0"/>
              </a:p>
            </p:txBody>
          </p:sp>
        </mc:Choice>
        <mc:Fallback xmlns="">
          <p:sp>
            <p:nvSpPr>
              <p:cNvPr id="2" name="Titre 1">
                <a:extLst>
                  <a:ext uri="{FF2B5EF4-FFF2-40B4-BE49-F238E27FC236}">
                    <a16:creationId xmlns:a16="http://schemas.microsoft.com/office/drawing/2014/main" id="{2D5E69C6-E8E3-4136-83CE-73271C354542}"/>
                  </a:ext>
                </a:extLst>
              </p:cNvPr>
              <p:cNvSpPr>
                <a:spLocks noGrp="1" noRot="1" noChangeAspect="1" noMove="1" noResize="1" noEditPoints="1" noAdjustHandles="1" noChangeArrowheads="1" noChangeShapeType="1" noTextEdit="1"/>
              </p:cNvSpPr>
              <p:nvPr>
                <p:ph type="title"/>
              </p:nvPr>
            </p:nvSpPr>
            <p:spPr>
              <a:xfrm>
                <a:off x="838200" y="255321"/>
                <a:ext cx="10515600" cy="1325563"/>
              </a:xfrm>
              <a:blipFill>
                <a:blip r:embed="rId2"/>
                <a:stretch>
                  <a:fillRect l="-2377" t="-13364"/>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84B85A4B-2337-C8B2-3E88-9D0F327AB688}"/>
                  </a:ext>
                </a:extLst>
              </p:cNvPr>
              <p:cNvSpPr>
                <a:spLocks noGrp="1"/>
              </p:cNvSpPr>
              <p:nvPr>
                <p:ph idx="1"/>
              </p:nvPr>
            </p:nvSpPr>
            <p:spPr/>
            <p:txBody>
              <a:bodyPr/>
              <a:lstStyle/>
              <a:p>
                <a14:m>
                  <m:oMath xmlns:m="http://schemas.openxmlformats.org/officeDocument/2006/math">
                    <m:r>
                      <a:rPr lang="fr-FR" b="0" i="1" smtClean="0">
                        <a:latin typeface="Cambria Math" panose="02040503050406030204" pitchFamily="18" charset="0"/>
                      </a:rPr>
                      <m:t>𝐸</m:t>
                    </m:r>
                    <m:r>
                      <a:rPr lang="fr-FR" b="0" i="1" smtClean="0">
                        <a:latin typeface="Cambria Math" panose="02040503050406030204" pitchFamily="18" charset="0"/>
                      </a:rPr>
                      <m:t>−</m:t>
                    </m:r>
                    <m:r>
                      <a:rPr lang="fr-FR" b="0" i="1" smtClean="0">
                        <a:latin typeface="Cambria Math" panose="02040503050406030204" pitchFamily="18" charset="0"/>
                      </a:rPr>
                      <m:t>𝑘</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𝑣𝑎𝑙</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𝛿</m:t>
                        </m:r>
                      </m:e>
                      <m:sub>
                        <m:r>
                          <a:rPr lang="fr-FR" b="0" i="1" smtClean="0">
                            <a:latin typeface="Cambria Math" panose="02040503050406030204" pitchFamily="18" charset="0"/>
                          </a:rPr>
                          <m:t>𝑚𝑜𝑑𝑒𝑙</m:t>
                        </m:r>
                      </m:sub>
                    </m:sSub>
                    <m:r>
                      <a:rPr lang="fr-FR" b="0" i="1" smtClean="0">
                        <a:latin typeface="Cambria Math" panose="02040503050406030204" pitchFamily="18" charset="0"/>
                      </a:rPr>
                      <m:t>≤</m:t>
                    </m:r>
                    <m:r>
                      <a:rPr lang="fr-FR" b="0" i="1" smtClean="0">
                        <a:latin typeface="Cambria Math" panose="02040503050406030204" pitchFamily="18" charset="0"/>
                      </a:rPr>
                      <m:t>𝐸</m:t>
                    </m:r>
                    <m:r>
                      <a:rPr lang="fr-FR" b="0" i="1" smtClean="0">
                        <a:latin typeface="Cambria Math" panose="02040503050406030204" pitchFamily="18" charset="0"/>
                      </a:rPr>
                      <m:t>+</m:t>
                    </m:r>
                    <m:r>
                      <a:rPr lang="fr-FR" b="0" i="1" smtClean="0">
                        <a:latin typeface="Cambria Math" panose="02040503050406030204" pitchFamily="18" charset="0"/>
                      </a:rPr>
                      <m:t>𝑘</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𝑣𝑎𝑙</m:t>
                        </m:r>
                      </m:sub>
                    </m:sSub>
                  </m:oMath>
                </a14:m>
                <a:endParaRPr lang="fr-FR" b="0" dirty="0"/>
              </a:p>
              <a:p>
                <a:r>
                  <a:rPr lang="fr-FR" b="0" dirty="0"/>
                  <a:t>K = 2 pour in</a:t>
                </a:r>
                <a:r>
                  <a:rPr lang="fr-FR" dirty="0"/>
                  <a:t>tervalle de confiance à 95,4%</a:t>
                </a:r>
              </a:p>
              <a:p>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𝑣𝑎𝑙</m:t>
                        </m:r>
                      </m:sub>
                    </m:sSub>
                    <m:r>
                      <a:rPr lang="fr-FR" b="0" i="1" smtClean="0">
                        <a:latin typeface="Cambria Math" panose="02040503050406030204" pitchFamily="18" charset="0"/>
                      </a:rPr>
                      <m:t>=</m:t>
                    </m:r>
                    <m:rad>
                      <m:radPr>
                        <m:degHide m:val="on"/>
                        <m:ctrlPr>
                          <a:rPr lang="fr-FR" b="0" i="1" smtClean="0">
                            <a:latin typeface="Cambria Math" panose="02040503050406030204" pitchFamily="18" charset="0"/>
                          </a:rPr>
                        </m:ctrlPr>
                      </m:radPr>
                      <m:deg/>
                      <m:e>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𝑢</m:t>
                            </m:r>
                          </m:e>
                          <m:sub>
                            <m:r>
                              <a:rPr lang="fr-FR" b="0" i="1" smtClean="0">
                                <a:latin typeface="Cambria Math" panose="02040503050406030204" pitchFamily="18" charset="0"/>
                              </a:rPr>
                              <m:t>𝑛𝑢𝑚</m:t>
                            </m:r>
                          </m:sub>
                          <m:sup>
                            <m:r>
                              <a:rPr lang="fr-FR" b="0" i="1" smtClean="0">
                                <a:latin typeface="Cambria Math" panose="02040503050406030204" pitchFamily="18" charset="0"/>
                              </a:rPr>
                              <m:t>2</m:t>
                            </m:r>
                          </m:sup>
                        </m:sSubSup>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𝑢</m:t>
                            </m:r>
                          </m:e>
                          <m:sub>
                            <m:r>
                              <a:rPr lang="fr-FR" b="0" i="1" smtClean="0">
                                <a:latin typeface="Cambria Math" panose="02040503050406030204" pitchFamily="18" charset="0"/>
                              </a:rPr>
                              <m:t>𝑖𝑛𝑝𝑢𝑡</m:t>
                            </m:r>
                          </m:sub>
                          <m:sup>
                            <m:r>
                              <a:rPr lang="fr-FR" b="0" i="1" smtClean="0">
                                <a:latin typeface="Cambria Math" panose="02040503050406030204" pitchFamily="18" charset="0"/>
                              </a:rPr>
                              <m:t>2</m:t>
                            </m:r>
                          </m:sup>
                        </m:sSubSup>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𝑢</m:t>
                            </m:r>
                          </m:e>
                          <m:sub>
                            <m:r>
                              <a:rPr lang="fr-FR" b="0" i="1" smtClean="0">
                                <a:latin typeface="Cambria Math" panose="02040503050406030204" pitchFamily="18" charset="0"/>
                              </a:rPr>
                              <m:t>𝐷</m:t>
                            </m:r>
                          </m:sub>
                          <m:sup>
                            <m:r>
                              <a:rPr lang="fr-FR" b="0" i="1" smtClean="0">
                                <a:latin typeface="Cambria Math" panose="02040503050406030204" pitchFamily="18" charset="0"/>
                              </a:rPr>
                              <m:t>2</m:t>
                            </m:r>
                          </m:sup>
                        </m:sSubSup>
                      </m:e>
                    </m:rad>
                    <m:r>
                      <a:rPr lang="fr-FR" b="0" i="1" smtClean="0">
                        <a:latin typeface="Cambria Math" panose="02040503050406030204" pitchFamily="18" charset="0"/>
                      </a:rPr>
                      <m:t>=19.8 </m:t>
                    </m:r>
                    <m:r>
                      <m:rPr>
                        <m:sty m:val="p"/>
                      </m:rPr>
                      <a:rPr lang="fr-FR" b="0" i="1" smtClean="0">
                        <a:latin typeface="Cambria Math" panose="02040503050406030204" pitchFamily="18" charset="0"/>
                      </a:rPr>
                      <m:t>μm</m:t>
                    </m:r>
                    <m:r>
                      <a:rPr lang="fr-FR" b="0" i="1" smtClean="0">
                        <a:latin typeface="Cambria Math" panose="02040503050406030204" pitchFamily="18" charset="0"/>
                      </a:rPr>
                      <m:t>²</m:t>
                    </m:r>
                  </m:oMath>
                </a14:m>
                <a:r>
                  <a:rPr lang="fr-FR" b="0" dirty="0"/>
                  <a:t> </a:t>
                </a:r>
              </a:p>
              <a:p>
                <a14:m>
                  <m:oMath xmlns:m="http://schemas.openxmlformats.org/officeDocument/2006/math">
                    <m:r>
                      <a:rPr lang="fr-FR" b="0" i="1" smtClean="0">
                        <a:latin typeface="Cambria Math" panose="02040503050406030204" pitchFamily="18" charset="0"/>
                      </a:rPr>
                      <m:t>-92.4</m:t>
                    </m:r>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𝛿</m:t>
                        </m:r>
                      </m:e>
                      <m:sub>
                        <m:r>
                          <a:rPr lang="fr-FR" i="1">
                            <a:latin typeface="Cambria Math" panose="02040503050406030204" pitchFamily="18" charset="0"/>
                          </a:rPr>
                          <m:t>𝑚𝑜𝑑𝑒𝑙</m:t>
                        </m:r>
                      </m:sub>
                    </m:sSub>
                    <m:r>
                      <a:rPr lang="fr-FR" i="1">
                        <a:latin typeface="Cambria Math" panose="02040503050406030204" pitchFamily="18" charset="0"/>
                      </a:rPr>
                      <m:t>≤</m:t>
                    </m:r>
                    <m:r>
                      <a:rPr lang="fr-FR" b="0" i="1" smtClean="0">
                        <a:latin typeface="Cambria Math" panose="02040503050406030204" pitchFamily="18" charset="0"/>
                      </a:rPr>
                      <m:t>-13.2</m:t>
                    </m:r>
                  </m:oMath>
                </a14:m>
                <a:endParaRPr lang="fr-FR" dirty="0"/>
              </a:p>
              <a:p>
                <a:endParaRPr lang="fr-FR" b="0" dirty="0"/>
              </a:p>
              <a:p>
                <a:pPr marL="0" indent="0">
                  <a:buNone/>
                </a:pPr>
                <a:endParaRPr lang="fr-FR" dirty="0"/>
              </a:p>
            </p:txBody>
          </p:sp>
        </mc:Choice>
        <mc:Fallback>
          <p:sp>
            <p:nvSpPr>
              <p:cNvPr id="3" name="Espace réservé du contenu 2">
                <a:extLst>
                  <a:ext uri="{FF2B5EF4-FFF2-40B4-BE49-F238E27FC236}">
                    <a16:creationId xmlns:a16="http://schemas.microsoft.com/office/drawing/2014/main" id="{84B85A4B-2337-C8B2-3E88-9D0F327AB688}"/>
                  </a:ext>
                </a:extLst>
              </p:cNvPr>
              <p:cNvSpPr>
                <a:spLocks noGrp="1" noRot="1" noChangeAspect="1" noMove="1" noResize="1" noEditPoints="1" noAdjustHandles="1" noChangeArrowheads="1" noChangeShapeType="1" noTextEdit="1"/>
              </p:cNvSpPr>
              <p:nvPr>
                <p:ph idx="1"/>
              </p:nvPr>
            </p:nvSpPr>
            <p:spPr>
              <a:blipFill>
                <a:blip r:embed="rId3"/>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848531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2FD1E7-D507-F3B9-06EA-C4D755151F65}"/>
              </a:ext>
            </a:extLst>
          </p:cNvPr>
          <p:cNvSpPr>
            <a:spLocks noGrp="1"/>
          </p:cNvSpPr>
          <p:nvPr>
            <p:ph type="title"/>
          </p:nvPr>
        </p:nvSpPr>
        <p:spPr/>
        <p:txBody>
          <a:bodyPr/>
          <a:lstStyle/>
          <a:p>
            <a:r>
              <a:rPr lang="fr-FR" dirty="0"/>
              <a:t>Interprétation de l’intervalle de confiance </a:t>
            </a:r>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5F231FAE-DF1D-EF42-B4E7-03EBF13AC650}"/>
                  </a:ext>
                </a:extLst>
              </p:cNvPr>
              <p:cNvSpPr>
                <a:spLocks noGrp="1"/>
              </p:cNvSpPr>
              <p:nvPr>
                <p:ph idx="1"/>
              </p:nvPr>
            </p:nvSpPr>
            <p:spPr/>
            <p:txBody>
              <a:bodyPr/>
              <a:lstStyle/>
              <a:p>
                <a:r>
                  <a:rPr lang="fr-FR" b="0" dirty="0">
                    <a:latin typeface="Cambria Math" panose="02040503050406030204" pitchFamily="18" charset="0"/>
                  </a:rPr>
                  <a:t>Nous connaissons le signe de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𝛿</m:t>
                        </m:r>
                      </m:e>
                      <m:sub>
                        <m:r>
                          <a:rPr lang="fr-FR" i="1">
                            <a:latin typeface="Cambria Math" panose="02040503050406030204" pitchFamily="18" charset="0"/>
                          </a:rPr>
                          <m:t>𝑚𝑜𝑑𝑒𝑙</m:t>
                        </m:r>
                      </m:sub>
                    </m:sSub>
                  </m:oMath>
                </a14:m>
                <a:endParaRPr lang="fr-FR" b="0" dirty="0">
                  <a:latin typeface="Cambria Math" panose="02040503050406030204" pitchFamily="18" charset="0"/>
                </a:endParaRPr>
              </a:p>
              <a:p>
                <a14:m>
                  <m:oMath xmlns:m="http://schemas.openxmlformats.org/officeDocument/2006/math">
                    <m:r>
                      <a:rPr lang="fr-FR" b="0" i="1" smtClean="0">
                        <a:latin typeface="Cambria Math" panose="02040503050406030204" pitchFamily="18" charset="0"/>
                      </a:rPr>
                      <m:t>|</m:t>
                    </m:r>
                    <m:r>
                      <m:rPr>
                        <m:sty m:val="p"/>
                      </m:rPr>
                      <a:rPr lang="fr-FR" b="0" i="1" smtClean="0">
                        <a:latin typeface="Cambria Math" panose="02040503050406030204" pitchFamily="18" charset="0"/>
                      </a:rPr>
                      <m:t>E</m:t>
                    </m:r>
                    <m:r>
                      <a:rPr lang="fr-FR" b="0" i="1" smtClean="0">
                        <a:latin typeface="Cambria Math" panose="02040503050406030204" pitchFamily="18" charset="0"/>
                      </a:rPr>
                      <m:t>| &gt; </m:t>
                    </m:r>
                    <m:sSub>
                      <m:sSubPr>
                        <m:ctrlPr>
                          <a:rPr lang="fr-FR" i="1">
                            <a:latin typeface="Cambria Math" panose="02040503050406030204" pitchFamily="18" charset="0"/>
                          </a:rPr>
                        </m:ctrlPr>
                      </m:sSubPr>
                      <m:e>
                        <m:r>
                          <m:rPr>
                            <m:sty m:val="p"/>
                          </m:rPr>
                          <a:rPr lang="fr-FR" b="0" i="1" smtClean="0">
                            <a:latin typeface="Cambria Math" panose="02040503050406030204" pitchFamily="18" charset="0"/>
                          </a:rPr>
                          <m:t>k</m:t>
                        </m:r>
                        <m:r>
                          <a:rPr lang="fr-FR" i="1">
                            <a:latin typeface="Cambria Math" panose="02040503050406030204" pitchFamily="18" charset="0"/>
                          </a:rPr>
                          <m:t>𝑢</m:t>
                        </m:r>
                      </m:e>
                      <m:sub>
                        <m:r>
                          <a:rPr lang="fr-FR" i="1">
                            <a:latin typeface="Cambria Math" panose="02040503050406030204" pitchFamily="18" charset="0"/>
                          </a:rPr>
                          <m:t>𝑣𝑎𝑙</m:t>
                        </m:r>
                      </m:sub>
                    </m:sSub>
                  </m:oMath>
                </a14:m>
                <a:endParaRPr lang="fr-FR" b="0" dirty="0">
                  <a:latin typeface="Cambria Math" panose="02040503050406030204" pitchFamily="18" charset="0"/>
                </a:endParaRPr>
              </a:p>
              <a:p>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𝐷</m:t>
                        </m:r>
                      </m:sub>
                    </m:sSub>
                  </m:oMath>
                </a14:m>
                <a:r>
                  <a:rPr lang="fr-FR" dirty="0"/>
                  <a:t> semble être l’erreur prédominante dans la validation </a:t>
                </a:r>
                <a:r>
                  <a:rPr lang="fr-FR" dirty="0">
                    <a:sym typeface="Wingdings" panose="05000000000000000000" pitchFamily="2" charset="2"/>
                  </a:rPr>
                  <a:t> être plus précis sur les expériences  </a:t>
                </a:r>
                <a:endParaRPr lang="fr-FR" dirty="0"/>
              </a:p>
            </p:txBody>
          </p:sp>
        </mc:Choice>
        <mc:Fallback>
          <p:sp>
            <p:nvSpPr>
              <p:cNvPr id="3" name="Espace réservé du contenu 2">
                <a:extLst>
                  <a:ext uri="{FF2B5EF4-FFF2-40B4-BE49-F238E27FC236}">
                    <a16:creationId xmlns:a16="http://schemas.microsoft.com/office/drawing/2014/main" id="{5F231FAE-DF1D-EF42-B4E7-03EBF13AC650}"/>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93511411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TotalTime>
  <Words>1023</Words>
  <Application>Microsoft Office PowerPoint</Application>
  <PresentationFormat>Widescreen</PresentationFormat>
  <Paragraphs>77</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Cambria Math</vt:lpstr>
      <vt:lpstr>Wingdings</vt:lpstr>
      <vt:lpstr>Thème Office</vt:lpstr>
      <vt:lpstr>MEC8211 – Devoir 3 </vt:lpstr>
      <vt:lpstr>A) Incertitude numérique u_num </vt:lpstr>
      <vt:lpstr>A) Incertitude numérique u_num </vt:lpstr>
      <vt:lpstr>Évolution du maillage lors du calcul de u_num</vt:lpstr>
      <vt:lpstr>B) Incertitude sur les données d’entrée u_input </vt:lpstr>
      <vt:lpstr>B) Incertitude sur les données d’entrée u_input </vt:lpstr>
      <vt:lpstr>C) Incertitude expérimentale u_D </vt:lpstr>
      <vt:lpstr>D) Erreur de simulation E  </vt:lpstr>
      <vt:lpstr>E) Erreur du modèle δ_model </vt:lpstr>
      <vt:lpstr>Interprétation de l’intervalle de confiance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Charlotte Sabrié</dc:creator>
  <cp:lastModifiedBy>Loïc Vignaud</cp:lastModifiedBy>
  <cp:revision>10</cp:revision>
  <dcterms:created xsi:type="dcterms:W3CDTF">2026-03-17T16:04:56Z</dcterms:created>
  <dcterms:modified xsi:type="dcterms:W3CDTF">2026-03-26T04:18:24Z</dcterms:modified>
</cp:coreProperties>
</file>