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6" r:id="rId4"/>
    <p:sldId id="264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5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2ECC62-EAF7-1035-8F94-5644B0ADD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BDC137E-47EF-7813-F8D9-35C39650EE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83835A-20CD-C264-B152-5FE8D6983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27DB43-631C-6BE2-125A-9BAA88339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CCA212-B074-CE53-203B-D9AAF99E3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7649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F0079-A8FD-1E3C-05DD-43C66D1BA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801B53-DEEB-745E-EC99-0476EF023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5AE8F8-313B-7E91-C379-8394CA43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BDB642-DF18-412C-21BD-B3B0507DD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C2301E-B2D6-5CF9-F855-7E04C464C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29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02322-6B4E-E697-1291-ED443433E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3688D89-7C39-6555-971F-4391ACD12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39118D0-49DF-05EC-8F47-3AD05DA33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342888-E1F4-3EA8-B01F-8991D42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834ED2-482F-CE8E-C2E8-46017D3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9570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554EC-B2F9-CCAA-0C2D-C7C1B8CF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797DB-F889-08EC-E1FC-0FDD80EADD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486227C-6B4F-C012-364F-6EB683D69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E44E6AD-1354-8644-1A63-EB046CA0F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6B9067E-1426-D593-484A-B1CEC2BFB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04C8401-2587-247E-0ED9-B36DA5364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9532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0A6D36-3555-637A-2616-C227660E2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B3D8F9-E275-91E4-0B31-1406C4447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19B9117-E166-E89C-7F67-20BDD15DD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7BD8A42-745A-7394-AE04-40101DB08D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356E7B9-A24E-500F-5AF9-0391547579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FBC5BA7-54D6-1801-FC17-2753C9934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1762DFE-E69B-D21C-09D6-A0F8AC61A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B3A7B23-1B74-9C9F-9B85-61D5F3080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879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92E926-7475-68DA-C790-4FA7DB1A5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8FBF773-7566-A041-FA69-A3B32270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8B89780-EF4E-FF8C-CA83-32C4ABA7A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BF42B39-65EA-0754-4F3A-03BACF4FC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4895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9C3C60-4952-ABEE-B909-2B2CF0F30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3452FE0-DF25-A36C-B352-A0AE425A5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4F7236-BC28-0DA7-F5D9-3247AF8A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210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B47E47-8C8E-D99F-5F73-EF2C9C22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49BB5D-CC07-B713-F9F9-50118EC08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1E9281-031C-EDCC-1C27-C470F4A77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014BCA-3E21-1520-7E8C-AE3D946F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11CF75-28A5-4F83-85DF-A9A20280D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881D02-244A-6FDF-ED8D-728971970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0479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D81FFE-2852-F517-F4A6-8E405D2F1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DDE2578-1FE4-E4D1-6689-20DE59F2C4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709F10-A820-7FD3-0933-0DB97628C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F62E178-027A-1C8C-D545-00FFE3BF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BDD9C8A-908B-8A6A-9242-91F2FCE7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900FDA-CC10-180F-AF80-1E57271CE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0982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620C77-413F-5529-A61D-7803191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934F54-1E3E-37D6-1C0B-E0B9DC5AE0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30818A-C895-6754-E996-213B2FA2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90E735-EEB0-ED57-9C07-320733EED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2FF544-AB1B-20FB-6646-433FACC62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1425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E1CE5C5-5417-261F-0ABD-6367744B31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FE909A-9B32-8A2D-C28C-39F3674940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971400-6C6D-A507-976D-38624667D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BDC9C1-2934-0DFE-5778-39EB7D2B2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621983-9DA0-8A74-5038-359D55DDE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5046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5091EDF-5198-4CAF-A12F-52A6BE05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55780F-7CC0-01B5-A667-7F23A92EA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45A7F72-93F7-AF2B-F715-A89E5CBD92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FBCA7-9440-4261-9163-708EE63D7830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DBB570-B3E5-9216-56E4-3134DA844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A11292-186C-AD6B-3030-D2858E46D5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4604B4-3276-4BB4-823A-E61BE8D504D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50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Devoir 3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A)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2E80974-09C0-B5E5-C74A-D5162AC8CD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13988"/>
                <a:ext cx="10515600" cy="5939074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r>
                  <a:rPr lang="fr-FR" sz="2000" dirty="0"/>
                  <a:t> peut être calculé à l’aide du GCI (</a:t>
                </a:r>
                <a:r>
                  <a:rPr lang="fr-FR" sz="2000" i="1" dirty="0" err="1"/>
                  <a:t>Grid</a:t>
                </a:r>
                <a:r>
                  <a:rPr lang="fr-FR" sz="2000" i="1" dirty="0"/>
                  <a:t> Convergence Index</a:t>
                </a:r>
                <a:r>
                  <a:rPr lang="fr-FR" sz="2000" dirty="0"/>
                  <a:t>)</a:t>
                </a:r>
              </a:p>
              <a:p>
                <a:r>
                  <a:rPr lang="fr-FR" sz="2000" dirty="0"/>
                  <a:t>GCI donne une évaluation conservative de l’incertitude à 95% de fiabilité. On conclu donc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𝐺𝐶𝐼</m:t>
                        </m:r>
                      </m:num>
                      <m:den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sz="2000" dirty="0"/>
                  <a:t>, pour rester cohérent avec le facteur de couverture, </a:t>
                </a:r>
                <a14:m>
                  <m:oMath xmlns:m="http://schemas.openxmlformats.org/officeDocument/2006/math"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fr-FR" sz="2000" dirty="0"/>
                  <a:t>.</a:t>
                </a:r>
              </a:p>
              <a:p>
                <a:r>
                  <a:rPr lang="fr-FR" sz="2000" dirty="0"/>
                  <a:t>GCI est calculé de la manière suivante (</a:t>
                </a:r>
                <a:r>
                  <a:rPr lang="fr-FR" sz="2000" i="1" dirty="0"/>
                  <a:t>Figure 1</a:t>
                </a:r>
                <a:r>
                  <a:rPr lang="fr-FR" sz="2000" dirty="0"/>
                  <a:t>) : </a:t>
                </a:r>
                <a:br>
                  <a:rPr lang="fr-FR" sz="2000" dirty="0"/>
                </a:br>
                <a:r>
                  <a:rPr lang="fr-FR" sz="2000" dirty="0"/>
                  <a:t>	où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fr-FR" sz="2000" dirty="0"/>
                  <a:t> est l’ordre théorique en espace, soit 2,</a:t>
                </a:r>
                <a:br>
                  <a:rPr lang="fr-FR" sz="2000" dirty="0"/>
                </a:br>
                <a:r>
                  <a:rPr lang="fr-FR" sz="2000" dirty="0"/>
                  <a:t>	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fr-FR" sz="2000" dirty="0"/>
                  <a:t> est l’ordre observé.</a:t>
                </a:r>
              </a:p>
              <a:p>
                <a:r>
                  <a:rPr lang="fr-FR" sz="2000" dirty="0"/>
                  <a:t>Pour mesurer l’ordre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fr-FR" sz="2000" dirty="0"/>
                  <a:t>, comme on travaille avec des</a:t>
                </a:r>
                <a:br>
                  <a:rPr lang="fr-FR" sz="2000" dirty="0"/>
                </a:br>
                <a:r>
                  <a:rPr lang="fr-FR" sz="2000" dirty="0"/>
                  <a:t>données stochastiques, on propose la méthodologie</a:t>
                </a:r>
                <a:br>
                  <a:rPr lang="fr-FR" sz="2000" dirty="0"/>
                </a:br>
                <a:r>
                  <a:rPr lang="fr-FR" sz="2000" dirty="0"/>
                  <a:t>suivante :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fr-FR" sz="1600" dirty="0"/>
                  <a:t>Générer un nombre aléatoire avec un </a:t>
                </a:r>
                <a:r>
                  <a:rPr lang="fr-FR" sz="1600" i="1" dirty="0" err="1"/>
                  <a:t>seed</a:t>
                </a:r>
                <a:r>
                  <a:rPr lang="fr-FR" sz="1600" dirty="0"/>
                  <a:t> précis pour générer</a:t>
                </a:r>
                <a:br>
                  <a:rPr lang="fr-FR" sz="1600" dirty="0"/>
                </a:br>
                <a:r>
                  <a:rPr lang="fr-FR" sz="1600" dirty="0"/>
                  <a:t>une simulation du matériau du filtre.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fr-FR" sz="1600" dirty="0"/>
                  <a:t>Simuler l’écoulement pour le </a:t>
                </a:r>
                <a:r>
                  <a:rPr lang="fr-FR" sz="1600" i="1" dirty="0" err="1"/>
                  <a:t>seed</a:t>
                </a:r>
                <a:r>
                  <a:rPr lang="fr-FR" sz="1600" dirty="0"/>
                  <a:t> choisi pour un ensemble de maillages raffinés, en gardant une épaisseur constante (</a:t>
                </a:r>
                <a14:m>
                  <m:oMath xmlns:m="http://schemas.openxmlformats.org/officeDocument/2006/math">
                    <m:r>
                      <a:rPr lang="fr-F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fr-CA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fr-CA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CA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CA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CA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fr-CA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𝑐𝑠𝑡</m:t>
                        </m:r>
                      </m:sub>
                    </m:sSub>
                    <m:r>
                      <a:rPr lang="fr-CA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600" dirty="0"/>
                  <a:t>.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fr-FR" sz="1600" dirty="0"/>
                  <a:t>Répéter les étapes 1 et 2 pour plusieurs </a:t>
                </a:r>
                <a:r>
                  <a:rPr lang="fr-FR" sz="1600" i="1" dirty="0" err="1"/>
                  <a:t>seeds</a:t>
                </a:r>
                <a:r>
                  <a:rPr lang="fr-FR" sz="1600" i="1" dirty="0"/>
                  <a:t> </a:t>
                </a:r>
                <a:r>
                  <a:rPr lang="fr-FR" sz="1600" dirty="0"/>
                  <a:t>différents (dans ce cas, 3)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fr-FR" sz="1600" dirty="0"/>
                  <a:t>Évaluer la convergence de l’erreur relative par rapport à la solution fine (</a:t>
                </a:r>
                <a14:m>
                  <m:oMath xmlns:m="http://schemas.openxmlformats.org/officeDocument/2006/math">
                    <m:r>
                      <a:rPr lang="fr-CA" sz="1600" b="0" i="1" smtClean="0">
                        <a:latin typeface="Cambria Math" panose="02040503050406030204" pitchFamily="18" charset="0"/>
                      </a:rPr>
                      <m:t>𝑁𝑥</m:t>
                    </m:r>
                    <m:r>
                      <a:rPr lang="fr-CA" sz="1600" b="0" i="1" smtClean="0">
                        <a:latin typeface="Cambria Math" panose="02040503050406030204" pitchFamily="18" charset="0"/>
                      </a:rPr>
                      <m:t>=400</m:t>
                    </m:r>
                  </m:oMath>
                </a14:m>
                <a:r>
                  <a:rPr lang="fr-FR" sz="1600" dirty="0"/>
                  <a:t>) de la </a:t>
                </a:r>
                <a:r>
                  <a:rPr lang="fr-FR" sz="1600" b="1" dirty="0"/>
                  <a:t>moyenne</a:t>
                </a:r>
                <a:r>
                  <a:rPr lang="fr-FR" sz="1600" dirty="0"/>
                  <a:t> des valeurs de k obtenues à chaque maillage.</a:t>
                </a:r>
              </a:p>
              <a:p>
                <a:r>
                  <a:rPr lang="fr-FR" sz="2000" dirty="0"/>
                  <a:t>Les différentes simulations proposées ci-dessus ont été générés à l’aide du script </a:t>
                </a:r>
                <a:r>
                  <a:rPr lang="fr-FR" sz="2000" i="1" dirty="0"/>
                  <a:t>convergence_ devoir_3.bs</a:t>
                </a:r>
                <a:r>
                  <a:rPr lang="fr-FR" sz="2000" dirty="0"/>
                  <a:t>, qui lance aussi le fichier </a:t>
                </a:r>
                <a:r>
                  <a:rPr lang="fr-FR" sz="2000" i="1" dirty="0"/>
                  <a:t>GCI.py</a:t>
                </a:r>
                <a:r>
                  <a:rPr lang="fr-FR" sz="2000" dirty="0"/>
                  <a:t> afin de traiter les données et de calculer l’incertitude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r>
                  <a:rPr lang="fr-FR" sz="2000" i="1" dirty="0"/>
                  <a:t>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2E80974-09C0-B5E5-C74A-D5162AC8CD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13988"/>
                <a:ext cx="10515600" cy="5939074"/>
              </a:xfrm>
              <a:blipFill>
                <a:blip r:embed="rId3"/>
                <a:stretch>
                  <a:fillRect l="-522" t="-92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e 9">
            <a:extLst>
              <a:ext uri="{FF2B5EF4-FFF2-40B4-BE49-F238E27FC236}">
                <a16:creationId xmlns:a16="http://schemas.microsoft.com/office/drawing/2014/main" id="{C818C4AC-8626-2E5D-6FED-B13F5EE24EE3}"/>
              </a:ext>
            </a:extLst>
          </p:cNvPr>
          <p:cNvGrpSpPr/>
          <p:nvPr/>
        </p:nvGrpSpPr>
        <p:grpSpPr>
          <a:xfrm>
            <a:off x="7756401" y="2230909"/>
            <a:ext cx="2467451" cy="2159060"/>
            <a:chOff x="7756401" y="2339551"/>
            <a:chExt cx="2467451" cy="2159060"/>
          </a:xfrm>
        </p:grpSpPr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EE74B48D-2513-0199-37D8-0FC3A518E2C0}"/>
                </a:ext>
              </a:extLst>
            </p:cNvPr>
            <p:cNvGrpSpPr/>
            <p:nvPr/>
          </p:nvGrpSpPr>
          <p:grpSpPr>
            <a:xfrm>
              <a:off x="7756401" y="2339551"/>
              <a:ext cx="2467451" cy="1631805"/>
              <a:chOff x="5541169" y="2940195"/>
              <a:chExt cx="3005875" cy="2225722"/>
            </a:xfrm>
          </p:grpSpPr>
          <p:pic>
            <p:nvPicPr>
              <p:cNvPr id="5" name="Image 4">
                <a:extLst>
                  <a:ext uri="{FF2B5EF4-FFF2-40B4-BE49-F238E27FC236}">
                    <a16:creationId xmlns:a16="http://schemas.microsoft.com/office/drawing/2014/main" id="{2331C906-EF82-6CDB-6CA7-2BC81AC0AF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910"/>
              <a:stretch>
                <a:fillRect/>
              </a:stretch>
            </p:blipFill>
            <p:spPr>
              <a:xfrm>
                <a:off x="5541169" y="2940195"/>
                <a:ext cx="3005875" cy="552179"/>
              </a:xfrm>
              <a:prstGeom prst="rect">
                <a:avLst/>
              </a:prstGeom>
            </p:spPr>
          </p:pic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90B22E26-E316-4E03-D3FF-4DA9AE7C74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41169" y="3492375"/>
                <a:ext cx="3005875" cy="1673542"/>
              </a:xfrm>
              <a:prstGeom prst="rect">
                <a:avLst/>
              </a:prstGeom>
            </p:spPr>
          </p:pic>
        </p:grp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F622CA0B-9153-A67C-34BC-994D0DC1A366}"/>
                </a:ext>
              </a:extLst>
            </p:cNvPr>
            <p:cNvSpPr txBox="1"/>
            <p:nvPr/>
          </p:nvSpPr>
          <p:spPr>
            <a:xfrm>
              <a:off x="7756401" y="4083113"/>
              <a:ext cx="2467451" cy="415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A" sz="1050" i="1" dirty="0"/>
                <a:t>Figure 1: Méthodologie de calcul du GCI.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1136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40B2C-51A7-2196-FA74-78EBBE4CA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CD25E7A-0970-4CEE-B873-7AE5FFC4807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A)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7D87B06-2293-46A9-1B49-5FA555DC46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C483BD03-40A8-C47C-6338-F4F32665B2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663" y="1180652"/>
            <a:ext cx="5777137" cy="407081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7B6169A-A823-A626-B784-DFB66C1E8F5A}"/>
              </a:ext>
            </a:extLst>
          </p:cNvPr>
          <p:cNvSpPr txBox="1"/>
          <p:nvPr/>
        </p:nvSpPr>
        <p:spPr>
          <a:xfrm>
            <a:off x="5576663" y="5251462"/>
            <a:ext cx="5763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i="1" dirty="0"/>
              <a:t>Figure 2: Graphique de l’erreur relative de la perméabilité en fonction de la taille des cellules.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8AC6D6EA-7E9F-E1BB-3FC8-5AC2858539BB}"/>
                  </a:ext>
                </a:extLst>
              </p:cNvPr>
              <p:cNvSpPr txBox="1"/>
              <p:nvPr/>
            </p:nvSpPr>
            <p:spPr>
              <a:xfrm>
                <a:off x="742384" y="1580884"/>
                <a:ext cx="4001632" cy="42780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A" sz="1600" dirty="0"/>
                  <a:t>Ce graphique est le résultat de l’analyse de convergence pour 3 </a:t>
                </a:r>
                <a:r>
                  <a:rPr lang="fr-CA" sz="1600" i="1" dirty="0" err="1"/>
                  <a:t>seeds</a:t>
                </a:r>
                <a:r>
                  <a:rPr lang="fr-CA" sz="1600" i="1" dirty="0"/>
                  <a:t> </a:t>
                </a:r>
                <a:r>
                  <a:rPr lang="fr-CA" sz="1600" dirty="0"/>
                  <a:t>(101, 202, 303).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A" sz="1600" dirty="0"/>
                  <a:t>La valeur la plus fine n’est pas dans la région asymptotique et donc n’est pas considérée dans le calcul de l’ordre observé.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A" sz="1600" dirty="0"/>
                  <a:t>L’ordre observé est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fr-CA" sz="1600" b="0" i="1" smtClean="0">
                        <a:latin typeface="Cambria Math" panose="02040503050406030204" pitchFamily="18" charset="0"/>
                      </a:rPr>
                      <m:t>=2.34</m:t>
                    </m:r>
                  </m:oMath>
                </a14:m>
                <a:endParaRPr lang="fr-CA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A" sz="1600" dirty="0"/>
                  <a:t>On peut ainsi calculer le GCI :</a:t>
                </a:r>
                <a:br>
                  <a:rPr lang="fr-CA" sz="1600" dirty="0"/>
                </a:br>
                <a14:m>
                  <m:oMath xmlns:m="http://schemas.openxmlformats.org/officeDocument/2006/math">
                    <m:r>
                      <a:rPr lang="fr-CA" sz="1600" i="1">
                        <a:latin typeface="Cambria Math" panose="02040503050406030204" pitchFamily="18" charset="0"/>
                      </a:rPr>
                      <m:t>𝐺𝐶𝐼</m:t>
                    </m:r>
                    <m:r>
                      <a:rPr lang="fr-CA" sz="1600" i="1">
                        <a:latin typeface="Cambria Math" panose="02040503050406030204" pitchFamily="18" charset="0"/>
                      </a:rPr>
                      <m:t>=1.086767</m:t>
                    </m:r>
                    <m:r>
                      <a:rPr lang="fr-CA" sz="1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CA" sz="1600" i="1">
                        <a:latin typeface="Cambria Math" panose="02040503050406030204" pitchFamily="18" charset="0"/>
                      </a:rPr>
                      <m:t>-02 µ</m:t>
                    </m:r>
                    <m:r>
                      <a:rPr lang="fr-CA" sz="16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CA" sz="1600" i="1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endParaRPr lang="fr-CA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A" sz="1600" dirty="0"/>
                  <a:t>Et donc l’incertitude numérique¹ :</a:t>
                </a:r>
                <a:br>
                  <a:rPr lang="fr-CA" sz="16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6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CA" sz="1600" b="1" i="1" smtClean="0">
                            <a:latin typeface="Cambria Math" panose="02040503050406030204" pitchFamily="18" charset="0"/>
                          </a:rPr>
                          <m:t>𝒏𝒖𝒎</m:t>
                        </m:r>
                      </m:sub>
                    </m:sSub>
                    <m:r>
                      <a:rPr lang="fr-CA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𝟓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𝟒𝟑𝟑𝟖𝟑𝟑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𝒆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-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𝟎𝟑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 µ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fr-CA" sz="1600" b="1" i="1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endParaRPr lang="fr-CA" sz="16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A" sz="1600" dirty="0"/>
                  <a:t>Les barres d’erreur présentés dans ce graphique peuvent être interprétées comme étant les incertitudes des données d’entrée, qui seront calculées prochainement.</a:t>
                </a:r>
              </a:p>
            </p:txBody>
          </p:sp>
        </mc:Choice>
        <mc:Fallback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8AC6D6EA-7E9F-E1BB-3FC8-5AC285853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384" y="1580884"/>
                <a:ext cx="4001632" cy="4278094"/>
              </a:xfrm>
              <a:prstGeom prst="rect">
                <a:avLst/>
              </a:prstGeom>
              <a:blipFill>
                <a:blip r:embed="rId4"/>
                <a:stretch>
                  <a:fillRect l="-610" t="-427" r="-305" b="-85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E731592B-FFEE-2191-A4DF-923F1D405983}"/>
                  </a:ext>
                </a:extLst>
              </p:cNvPr>
              <p:cNvSpPr txBox="1"/>
              <p:nvPr/>
            </p:nvSpPr>
            <p:spPr>
              <a:xfrm>
                <a:off x="4176879" y="6356457"/>
                <a:ext cx="8015121" cy="4764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¹À noter que les autres incertitudes numériques sont mises à l’écart puisque soit négligeable par rapport à l’ordre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CA" sz="1200" b="0" i="1" smtClean="0">
                            <a:latin typeface="Cambria Math" panose="02040503050406030204" pitchFamily="18" charset="0"/>
                          </a:rPr>
                          <m:t>𝑑𝑖𝑠𝑐𝑟𝑒𝑡𝑖𝑧𝑎𝑡𝑖𝑜𝑛</m:t>
                        </m:r>
                      </m:sub>
                    </m:sSub>
                  </m:oMath>
                </a14:m>
                <a:r>
                  <a:rPr lang="fr-CA" sz="1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2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CA" sz="1200" b="0" i="1" dirty="0" smtClean="0">
                            <a:latin typeface="Cambria Math" panose="02040503050406030204" pitchFamily="18" charset="0"/>
                          </a:rPr>
                          <m:t>𝑟𝑜𝑢𝑛𝑑𝑜𝑓𝑓</m:t>
                        </m:r>
                      </m:sub>
                    </m:sSub>
                    <m:r>
                      <a:rPr lang="fr-CA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CA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2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CA" sz="1200" b="0" i="1" dirty="0" smtClean="0">
                            <a:latin typeface="Cambria Math" panose="02040503050406030204" pitchFamily="18" charset="0"/>
                          </a:rPr>
                          <m:t>𝑠𝑎𝑚𝑝𝑙𝑖𝑛𝑔</m:t>
                        </m:r>
                      </m:sub>
                    </m:sSub>
                    <m:r>
                      <a:rPr lang="fr-CA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CA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2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CA" sz="1200" b="0" i="1" dirty="0" smtClean="0">
                            <a:latin typeface="Cambria Math" panose="02040503050406030204" pitchFamily="18" charset="0"/>
                          </a:rPr>
                          <m:t>𝑖𝑡𝑒𝑟𝑎𝑡𝑖𝑣𝑒</m:t>
                        </m:r>
                      </m:sub>
                    </m:sSub>
                    <m:r>
                      <a:rPr lang="fr-CA" sz="1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sz="1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sz="1200" dirty="0"/>
              </a:p>
            </p:txBody>
          </p:sp>
        </mc:Choice>
        <mc:Fallback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E731592B-FFEE-2191-A4DF-923F1D405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879" y="6356457"/>
                <a:ext cx="8015121" cy="476477"/>
              </a:xfrm>
              <a:prstGeom prst="rect">
                <a:avLst/>
              </a:prstGeom>
              <a:blipFill>
                <a:blip r:embed="rId5"/>
                <a:stretch>
                  <a:fillRect t="-1282" b="-769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9558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74D36CD1-A375-1A58-349E-021823C477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Évolution du maillage lors du 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74D36CD1-A375-1A58-349E-021823C47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 6">
            <a:extLst>
              <a:ext uri="{FF2B5EF4-FFF2-40B4-BE49-F238E27FC236}">
                <a16:creationId xmlns:a16="http://schemas.microsoft.com/office/drawing/2014/main" id="{83CCC273-2B29-D3EF-6690-0C19F7BA0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94" r="24898"/>
          <a:stretch>
            <a:fillRect/>
          </a:stretch>
        </p:blipFill>
        <p:spPr>
          <a:xfrm>
            <a:off x="115478" y="3799432"/>
            <a:ext cx="2846981" cy="29647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DAD9868-C8F5-E667-5E2F-2B37AB742C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68" r="24724"/>
          <a:stretch>
            <a:fillRect/>
          </a:stretch>
        </p:blipFill>
        <p:spPr>
          <a:xfrm>
            <a:off x="2962459" y="3746306"/>
            <a:ext cx="2967545" cy="309025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8330C72-DCCD-88C9-452E-A6BABB7305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25" r="26466"/>
          <a:stretch>
            <a:fillRect/>
          </a:stretch>
        </p:blipFill>
        <p:spPr>
          <a:xfrm>
            <a:off x="5987574" y="3746306"/>
            <a:ext cx="2967545" cy="30902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5D6098-69DC-392A-5271-0B4ADEC402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54" r="24573"/>
          <a:stretch>
            <a:fillRect/>
          </a:stretch>
        </p:blipFill>
        <p:spPr>
          <a:xfrm>
            <a:off x="9070258" y="3767750"/>
            <a:ext cx="3121742" cy="3068806"/>
          </a:xfrm>
          <a:prstGeom prst="rect">
            <a:avLst/>
          </a:prstGeom>
        </p:spPr>
      </p:pic>
      <p:sp>
        <p:nvSpPr>
          <p:cNvPr id="15" name="Espace réservé du contenu 14">
            <a:extLst>
              <a:ext uri="{FF2B5EF4-FFF2-40B4-BE49-F238E27FC236}">
                <a16:creationId xmlns:a16="http://schemas.microsoft.com/office/drawing/2014/main" id="{D9AAB447-663D-CB5D-80EB-3F3EF6950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938"/>
            <a:ext cx="10515600" cy="1325563"/>
          </a:xfrm>
        </p:spPr>
        <p:txBody>
          <a:bodyPr/>
          <a:lstStyle/>
          <a:p>
            <a:r>
              <a:rPr lang="fr-FR" dirty="0"/>
              <a:t>Le changement de la valeur </a:t>
            </a:r>
            <a:r>
              <a:rPr lang="fr-FR" dirty="0" err="1"/>
              <a:t>Nx</a:t>
            </a:r>
            <a:r>
              <a:rPr lang="fr-FR" dirty="0"/>
              <a:t> ne provoque pas un changement de géométrie mais seulement un raffinement du domaine pour une </a:t>
            </a:r>
            <a:r>
              <a:rPr lang="fr-FR" dirty="0" err="1"/>
              <a:t>seed</a:t>
            </a:r>
            <a:r>
              <a:rPr lang="fr-FR" dirty="0"/>
              <a:t> donnée (</a:t>
            </a:r>
            <a:r>
              <a:rPr lang="fr-FR" dirty="0" err="1"/>
              <a:t>seed</a:t>
            </a:r>
            <a:r>
              <a:rPr lang="fr-FR" dirty="0"/>
              <a:t> 1 ci-dessous)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05810529-4DFA-2E96-842C-9D130ABEED3B}"/>
              </a:ext>
            </a:extLst>
          </p:cNvPr>
          <p:cNvCxnSpPr/>
          <p:nvPr/>
        </p:nvCxnSpPr>
        <p:spPr>
          <a:xfrm>
            <a:off x="309716" y="3554361"/>
            <a:ext cx="113415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E4B355B5-3B02-E90B-38B1-9D3FCB067BD0}"/>
              </a:ext>
            </a:extLst>
          </p:cNvPr>
          <p:cNvSpPr txBox="1"/>
          <p:nvPr/>
        </p:nvSpPr>
        <p:spPr>
          <a:xfrm>
            <a:off x="1075485" y="3218871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6D002050-517E-568F-2E87-79DF74E1DE68}"/>
              </a:ext>
            </a:extLst>
          </p:cNvPr>
          <p:cNvSpPr txBox="1"/>
          <p:nvPr/>
        </p:nvSpPr>
        <p:spPr>
          <a:xfrm>
            <a:off x="4133246" y="321887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150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06636FE-EBE5-53E1-1F85-9FADF5941F6D}"/>
              </a:ext>
            </a:extLst>
          </p:cNvPr>
          <p:cNvSpPr txBox="1"/>
          <p:nvPr/>
        </p:nvSpPr>
        <p:spPr>
          <a:xfrm>
            <a:off x="7314439" y="321887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200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A8A57C9-8E08-11C4-BB76-D6E101F68AAA}"/>
              </a:ext>
            </a:extLst>
          </p:cNvPr>
          <p:cNvSpPr txBox="1"/>
          <p:nvPr/>
        </p:nvSpPr>
        <p:spPr>
          <a:xfrm>
            <a:off x="10415365" y="321887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400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ED9CE0C-4C65-AAFA-0A63-917F18944AEF}"/>
              </a:ext>
            </a:extLst>
          </p:cNvPr>
          <p:cNvSpPr txBox="1"/>
          <p:nvPr/>
        </p:nvSpPr>
        <p:spPr>
          <a:xfrm>
            <a:off x="11651226" y="3376974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Nx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D8320ED-12F4-95A7-217E-CBC390EE103F}"/>
              </a:ext>
            </a:extLst>
          </p:cNvPr>
          <p:cNvSpPr txBox="1"/>
          <p:nvPr/>
        </p:nvSpPr>
        <p:spPr>
          <a:xfrm>
            <a:off x="3427708" y="2931168"/>
            <a:ext cx="5004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i="1" dirty="0"/>
              <a:t>Figure 3: Domaines générés en fonction du </a:t>
            </a:r>
            <a:r>
              <a:rPr lang="fr-CA" sz="1600" i="1" dirty="0" err="1"/>
              <a:t>seed</a:t>
            </a:r>
            <a:r>
              <a:rPr lang="fr-CA" sz="1600" i="1" dirty="0"/>
              <a:t> utilisé.</a:t>
            </a:r>
          </a:p>
        </p:txBody>
      </p:sp>
    </p:spTree>
    <p:extLst>
      <p:ext uri="{BB962C8B-B14F-4D97-AF65-F5344CB8AC3E}">
        <p14:creationId xmlns:p14="http://schemas.microsoft.com/office/powerpoint/2010/main" val="412272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71D2-F40F-4242-9CD0-9354BCACC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42DB292-C1C7-B7A1-2983-182756BDF14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fr-FR" dirty="0"/>
                  <a:t>B) Incertitude sur les données d’entrée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E42DB292-C1C7-B7A1-2983-182756BDF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087" t="-78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CA13C1-0552-592F-8A56-718E46BDA0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Méthode de Monte Carlo pour la propagation des incertitudes </a:t>
            </a:r>
          </a:p>
        </p:txBody>
      </p:sp>
    </p:spTree>
    <p:extLst>
      <p:ext uri="{BB962C8B-B14F-4D97-AF65-F5344CB8AC3E}">
        <p14:creationId xmlns:p14="http://schemas.microsoft.com/office/powerpoint/2010/main" val="1574176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E4E87-1BBD-CE67-3881-6D0E3355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37D96686-6BB1-2135-44BE-949A20147B5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C) Incertitude expérimentale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37D96686-6BB1-2135-44BE-949A20147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22EB648-3F2D-8A95-AAB6-E223881CFE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Systématique et aléatoire </a:t>
                </a:r>
              </a:p>
              <a:p>
                <a:r>
                  <a:rPr lang="fr-FR" dirty="0"/>
                  <a:t>Erreur expérimentale provient de la mesure de la perméabilité :  	</a:t>
                </a:r>
              </a:p>
              <a:p>
                <a:pPr lvl="1"/>
                <a:r>
                  <a:rPr lang="fr-FR" dirty="0"/>
                  <a:t>Erreur de l’outil de mesure (épistémique)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𝑟</m:t>
                        </m:r>
                      </m:sub>
                    </m:sSub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lvl="1"/>
                <a:r>
                  <a:rPr lang="fr-FR" dirty="0"/>
                  <a:t>Incertitude de la perméabilité (aléatoire)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𝑟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10.0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14.7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=17.8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22EB648-3F2D-8A95-AAB6-E223881CFE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0867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124F0-B289-642A-9771-1BF06FCC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EB509C-34AF-4FE2-2E9C-0C225D35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5321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D) Erreur de simulation E </a:t>
            </a:r>
            <a:br>
              <a:rPr lang="fr-FR" b="0" dirty="0"/>
            </a:b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53E90C5-151C-4E9F-B84E-15760D48BB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𝑠𝑖𝑚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bar>
                      <m:barPr>
                        <m:pos m:val="top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bar>
                    <m:r>
                      <a:rPr lang="fr-FR" b="0" i="1" smtClean="0">
                        <a:latin typeface="Cambria Math" panose="02040503050406030204" pitchFamily="18" charset="0"/>
                      </a:rPr>
                      <m:t>=28.5−80.6=−52.1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dirty="0"/>
              </a:p>
              <a:p>
                <a:r>
                  <a:rPr lang="fr-FR" dirty="0"/>
                  <a:t>D calculé à partir des moyennes du tableau 1 (moyenne = médiane) </a:t>
                </a:r>
              </a:p>
              <a:p>
                <a:r>
                  <a:rPr lang="fr-FR" dirty="0"/>
                  <a:t>S à simuler avec le code fourni 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53E90C5-151C-4E9F-B84E-15760D48BB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343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5D845-2688-1EA8-46B4-296C4A61C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2D5E69C6-E8E3-4136-83CE-73271C35454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E) Erreur du modèle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</m:oMath>
                </a14:m>
                <a:br>
                  <a:rPr lang="fr-FR" b="0" dirty="0"/>
                </a:br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2D5E69C6-E8E3-4136-83CE-73271C3545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255321"/>
                <a:ext cx="10515600" cy="1325563"/>
              </a:xfrm>
              <a:blipFill>
                <a:blip r:embed="rId2"/>
                <a:stretch>
                  <a:fillRect l="-2377" t="-1336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4B85A4B-2337-C8B2-3E88-9D0F327AB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b="0" dirty="0"/>
              </a:p>
              <a:p>
                <a:r>
                  <a:rPr lang="fr-FR" b="0" dirty="0"/>
                  <a:t>K = 2 pour in</a:t>
                </a:r>
                <a:r>
                  <a:rPr lang="fr-FR" dirty="0"/>
                  <a:t>tervalle de confiance à 95,4%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𝑛𝑢𝑚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𝑖𝑛𝑝𝑢𝑡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</m:oMath>
                </a14:m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4B85A4B-2337-C8B2-3E88-9D0F327AB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8531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FD1E7-D507-F3B9-06EA-C4D755151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Interprétation de l’intervalle de confiance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F231FAE-DF1D-EF42-B4E7-03EBF13AC6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E par rapport à </a:t>
                </a:r>
                <a:r>
                  <a:rPr lang="fr-FR" b="0" dirty="0" err="1">
                    <a:latin typeface="Cambria Math" panose="02040503050406030204" pitchFamily="18" charset="0"/>
                  </a:rPr>
                  <a:t>u_val</a:t>
                </a:r>
                <a:r>
                  <a:rPr lang="fr-FR" b="0" dirty="0">
                    <a:latin typeface="Cambria Math" panose="02040503050406030204" pitchFamily="18" charset="0"/>
                  </a:rPr>
                  <a:t> ?</a:t>
                </a:r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fr-FR" dirty="0"/>
                  <a:t> semble être l’erreur prédominante dans la validation </a:t>
                </a:r>
                <a:r>
                  <a:rPr lang="fr-FR" dirty="0">
                    <a:sym typeface="Wingdings" panose="05000000000000000000" pitchFamily="2" charset="2"/>
                  </a:rPr>
                  <a:t> être plus précis sur les expériences  </a:t>
                </a: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F231FAE-DF1D-EF42-B4E7-03EBF13AC6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11411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659</Words>
  <Application>Microsoft Office PowerPoint</Application>
  <PresentationFormat>Grand écran</PresentationFormat>
  <Paragraphs>54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Thème Office</vt:lpstr>
      <vt:lpstr>MEC8211 – Devoir 3 </vt:lpstr>
      <vt:lpstr>A) Incertitude numérique u_num </vt:lpstr>
      <vt:lpstr>A) Incertitude numérique u_num </vt:lpstr>
      <vt:lpstr>Évolution du maillage lors du calcul de u_num</vt:lpstr>
      <vt:lpstr>B) Incertitude sur les données d’entrée u_input </vt:lpstr>
      <vt:lpstr>C) Incertitude expérimentale u_D </vt:lpstr>
      <vt:lpstr>D) Erreur de simulation E  </vt:lpstr>
      <vt:lpstr>E) Erreur du modèle δ_model </vt:lpstr>
      <vt:lpstr>Interprétation de l’intervalle de confiance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5</cp:revision>
  <dcterms:created xsi:type="dcterms:W3CDTF">2026-03-17T16:04:56Z</dcterms:created>
  <dcterms:modified xsi:type="dcterms:W3CDTF">2026-03-26T03:18:01Z</dcterms:modified>
</cp:coreProperties>
</file>