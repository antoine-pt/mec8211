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3" autoAdjust="0"/>
    <p:restoredTop sz="94660"/>
  </p:normalViewPr>
  <p:slideViewPr>
    <p:cSldViewPr snapToGrid="0">
      <p:cViewPr varScale="1">
        <p:scale>
          <a:sx n="71" d="100"/>
          <a:sy n="71" d="100"/>
        </p:scale>
        <p:origin x="77" y="2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2026-03-27</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2629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r>
                      <a:rPr lang="fr-CA" sz="1600" i="1">
                        <a:latin typeface="Cambria Math" panose="02040503050406030204" pitchFamily="18" charset="0"/>
                      </a:rPr>
                      <m:t>𝑒</m:t>
                    </m:r>
                    <m:r>
                      <a:rPr lang="fr-CA" sz="1600" i="1">
                        <a:latin typeface="Cambria Math" panose="02040503050406030204" pitchFamily="18" charset="0"/>
                      </a:rPr>
                      <m:t>−02 µ</m:t>
                    </m:r>
                    <m:r>
                      <a:rPr lang="fr-CA" sz="1600" i="1">
                        <a:latin typeface="Cambria Math" panose="02040503050406030204" pitchFamily="18" charset="0"/>
                      </a:rPr>
                      <m:t>𝑚</m:t>
                    </m:r>
                    <m:r>
                      <a:rPr lang="fr-CA" sz="1600" i="1">
                        <a:latin typeface="Cambria Math" panose="02040503050406030204" pitchFamily="18" charset="0"/>
                      </a:rPr>
                      <m:t>²</m:t>
                    </m:r>
                  </m:oMath>
                </a14:m>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r>
                      <a:rPr lang="fr-CA" sz="1600" b="1" i="1">
                        <a:latin typeface="Cambria Math" panose="02040503050406030204" pitchFamily="18" charset="0"/>
                      </a:rPr>
                      <m:t>𝒆</m:t>
                    </m:r>
                    <m:r>
                      <a:rPr lang="fr-CA" sz="1600" b="1" i="1">
                        <a:latin typeface="Cambria Math" panose="02040503050406030204" pitchFamily="18" charset="0"/>
                      </a:rPr>
                      <m:t>−</m:t>
                    </m:r>
                    <m:r>
                      <a:rPr lang="fr-CA" sz="1600" b="1" i="1">
                        <a:latin typeface="Cambria Math" panose="02040503050406030204" pitchFamily="18" charset="0"/>
                      </a:rPr>
                      <m:t>𝟎𝟑</m:t>
                    </m:r>
                    <m:r>
                      <a:rPr lang="fr-CA" sz="1600" b="1" i="1">
                        <a:latin typeface="Cambria Math" panose="02040503050406030204" pitchFamily="18" charset="0"/>
                      </a:rPr>
                      <m:t> µ</m:t>
                    </m:r>
                    <m:r>
                      <a:rPr lang="fr-CA" sz="1600" b="1" i="1">
                        <a:latin typeface="Cambria Math" panose="02040503050406030204" pitchFamily="18" charset="0"/>
                      </a:rPr>
                      <m:t>𝒎</m:t>
                    </m:r>
                    <m:r>
                      <a:rPr lang="fr-CA" sz="1600" b="1" i="1">
                        <a:latin typeface="Cambria Math" panose="02040503050406030204" pitchFamily="18" charset="0"/>
                      </a:rPr>
                      <m:t>²</m:t>
                    </m:r>
                  </m:oMath>
                </a14:m>
                <a:endParaRPr lang="fr-CA" sz="1600" b="1" dirty="0"/>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262979"/>
              </a:xfrm>
              <a:prstGeom prst="rect">
                <a:avLst/>
              </a:prstGeom>
              <a:blipFill>
                <a:blip r:embed="rId4"/>
                <a:stretch>
                  <a:fillRect l="-610" t="-348" r="-305"/>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lstStyle/>
          <a:p>
            <a:r>
              <a:rPr lang="fr-FR" dirty="0"/>
              <a:t>Le changement de la valeur </a:t>
            </a:r>
            <a:r>
              <a:rPr lang="fr-FR" dirty="0" err="1"/>
              <a:t>Nx</a:t>
            </a:r>
            <a:r>
              <a:rPr lang="fr-FR" dirty="0"/>
              <a:t> ne provoque pas un changement de géométrie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838200" y="1580884"/>
                <a:ext cx="10515600" cy="4351338"/>
              </a:xfrm>
            </p:spPr>
            <p:txBody>
              <a:bodyPr>
                <a:normAutofit fontScale="62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838200" y="1580884"/>
                <a:ext cx="10515600" cy="4351338"/>
              </a:xfrm>
              <a:blipFill>
                <a:blip r:embed="rId4"/>
                <a:stretch>
                  <a:fillRect l="-406" t="-1961" r="-870"/>
                </a:stretch>
              </a:blipFill>
            </p:spPr>
            <p:txBody>
              <a:bodyPr/>
              <a:lstStyle/>
              <a:p>
                <a:r>
                  <a:rPr lang="en-US">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199" y="1580884"/>
                <a:ext cx="5080820" cy="3597508"/>
              </a:xfrm>
            </p:spPr>
            <p:txBody>
              <a:bodyPr>
                <a:normAutofit/>
              </a:bodyPr>
              <a:lstStyle/>
              <a:p>
                <a:r>
                  <a:rPr lang="fr-FR" sz="2000" dirty="0"/>
                  <a:t>Les graphiques ci-contre présentent la fonction de probabilité ainsi que la fonction de probabilité cumulative de la SRQ.</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r>
                  <a:rPr lang="fr-FR" sz="2000" b="1" dirty="0"/>
                  <a:t>8.67 </a:t>
                </a:r>
                <a14:m>
                  <m:oMath xmlns:m="http://schemas.openxmlformats.org/officeDocument/2006/math">
                    <m:r>
                      <m:rPr>
                        <m:sty m:val="p"/>
                      </m:rPr>
                      <a:rPr lang="fr-FR" sz="2000" b="1" i="1" smtClean="0">
                        <a:latin typeface="Cambria Math" panose="02040503050406030204" pitchFamily="18" charset="0"/>
                      </a:rPr>
                      <m:t>μm</m:t>
                    </m:r>
                    <m:r>
                      <a:rPr lang="fr-FR" sz="2000" b="1" i="1" smtClean="0">
                        <a:latin typeface="Cambria Math" panose="02040503050406030204" pitchFamily="18" charset="0"/>
                      </a:rPr>
                      <m:t>²</m:t>
                    </m:r>
                  </m:oMath>
                </a14:m>
                <a:endParaRPr lang="fr-FR" sz="2000" b="1" dirty="0"/>
              </a:p>
              <a:p>
                <a:r>
                  <a:rPr lang="fr-FR" sz="2000" dirty="0"/>
                  <a:t>Monte-Carlo réalisé avec 100 échantillons et un pas </a:t>
                </a:r>
                <a:endParaRPr lang="fr-FR" sz="20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𝑥</m:t>
                      </m:r>
                      <m:r>
                        <a:rPr lang="fr-FR" sz="2000" b="0" i="1" smtClean="0">
                          <a:latin typeface="Cambria Math" panose="02040503050406030204" pitchFamily="18" charset="0"/>
                        </a:rPr>
                        <m:t>=</m:t>
                      </m:r>
                      <m:r>
                        <a:rPr lang="fr-FR" sz="2000" b="0" i="1" smtClean="0">
                          <a:latin typeface="Cambria Math" panose="02040503050406030204" pitchFamily="18" charset="0"/>
                        </a:rPr>
                        <m:t> 1</m:t>
                      </m:r>
                      <m:r>
                        <a:rPr lang="fr-FR" sz="2000" b="0" i="1" smtClean="0">
                          <a:latin typeface="Cambria Math" panose="02040503050406030204" pitchFamily="18" charset="0"/>
                        </a:rPr>
                        <m:t>𝐸</m:t>
                      </m:r>
                      <m:r>
                        <a:rPr lang="fr-FR" sz="2000" b="0" i="1" smtClean="0">
                          <a:latin typeface="Cambria Math" panose="02040503050406030204" pitchFamily="18" charset="0"/>
                        </a:rPr>
                        <m:t>−6 , </m:t>
                      </m:r>
                      <m:r>
                        <a:rPr lang="fr-FR" sz="2000" b="0" i="1" smtClean="0">
                          <a:latin typeface="Cambria Math" panose="02040503050406030204" pitchFamily="18" charset="0"/>
                        </a:rPr>
                        <m:t>𝑁𝑥</m:t>
                      </m:r>
                      <m:r>
                        <a:rPr lang="fr-FR" sz="2000" b="0" i="1" smtClean="0">
                          <a:latin typeface="Cambria Math" panose="02040503050406030204" pitchFamily="18" charset="0"/>
                        </a:rPr>
                        <m:t> = 200,</m:t>
                      </m:r>
                      <m:r>
                        <m:rPr>
                          <m:sty m:val="p"/>
                        </m:rPr>
                        <a:rPr lang="fr-FR" sz="2000">
                          <a:latin typeface="Cambria Math" panose="02040503050406030204" pitchFamily="18" charset="0"/>
                        </a:rPr>
                        <m:t>Δ</m:t>
                      </m:r>
                      <m:r>
                        <m:rPr>
                          <m:sty m:val="p"/>
                        </m:rPr>
                        <a:rPr lang="fr-FR" sz="2000" i="1">
                          <a:latin typeface="Cambria Math" panose="02040503050406030204" pitchFamily="18" charset="0"/>
                        </a:rPr>
                        <m:t>P</m:t>
                      </m:r>
                      <m:r>
                        <a:rPr lang="fr-FR" sz="2000" i="1">
                          <a:latin typeface="Cambria Math" panose="02040503050406030204" pitchFamily="18" charset="0"/>
                        </a:rPr>
                        <m:t>= </m:t>
                      </m:r>
                      <m:r>
                        <a:rPr lang="fr-FR" sz="2000" i="1">
                          <a:latin typeface="Cambria Math" panose="02040503050406030204" pitchFamily="18" charset="0"/>
                        </a:rPr>
                        <m:t>0.1</m:t>
                      </m:r>
                      <m:r>
                        <a:rPr lang="fr-FR" sz="2000" b="0" i="1" smtClean="0">
                          <a:latin typeface="Cambria Math" panose="02040503050406030204" pitchFamily="18" charset="0"/>
                        </a:rPr>
                        <m:t> </m:t>
                      </m:r>
                      <m:r>
                        <m:rPr>
                          <m:sty m:val="p"/>
                        </m:rPr>
                        <a:rPr lang="fr-FR" sz="2000" b="0" i="1" smtClean="0">
                          <a:latin typeface="Cambria Math" panose="02040503050406030204" pitchFamily="18" charset="0"/>
                        </a:rPr>
                        <m:t>Pa</m:t>
                      </m:r>
                    </m:oMath>
                  </m:oMathPara>
                </a14:m>
                <a:endParaRPr lang="fr-FR" sz="2000" b="0" dirty="0"/>
              </a:p>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seed</m:t>
                      </m:r>
                      <m:r>
                        <a:rPr lang="fr-FR" sz="2000" b="0" i="1" smtClean="0">
                          <a:latin typeface="Cambria Math" panose="02040503050406030204" pitchFamily="18" charset="0"/>
                        </a:rPr>
                        <m:t> = 0, </m:t>
                      </m:r>
                      <m:r>
                        <m:rPr>
                          <m:sty m:val="p"/>
                        </m:rPr>
                        <a:rPr lang="fr-FR" sz="2000" b="0" i="1" smtClean="0">
                          <a:latin typeface="Cambria Math" panose="02040503050406030204" pitchFamily="18" charset="0"/>
                        </a:rPr>
                        <m:t>σ</m:t>
                      </m:r>
                      <m:r>
                        <a:rPr lang="fr-FR" sz="2000" b="0" i="1" smtClean="0">
                          <a:latin typeface="Cambria Math" panose="02040503050406030204" pitchFamily="18" charset="0"/>
                        </a:rPr>
                        <m:t>_</m:t>
                      </m:r>
                      <m:r>
                        <m:rPr>
                          <m:sty m:val="p"/>
                        </m:rPr>
                        <a:rPr lang="fr-FR" sz="2000" b="0" i="1" smtClean="0">
                          <a:latin typeface="Cambria Math" panose="02040503050406030204" pitchFamily="18" charset="0"/>
                        </a:rPr>
                        <m:t>d</m:t>
                      </m:r>
                      <m:r>
                        <a:rPr lang="fr-FR" sz="2000" b="0" i="1" smtClean="0">
                          <a:latin typeface="Cambria Math" panose="02040503050406030204" pitchFamily="18" charset="0"/>
                        </a:rPr>
                        <m:t> = 2.85 </m:t>
                      </m:r>
                      <m:r>
                        <m:rPr>
                          <m:sty m:val="p"/>
                        </m:rPr>
                        <a:rPr lang="fr-FR" sz="2000" i="1">
                          <a:latin typeface="Cambria Math" panose="02040503050406030204" pitchFamily="18" charset="0"/>
                        </a:rPr>
                        <m:t>μm</m:t>
                      </m:r>
                      <m:r>
                        <a:rPr lang="fr-FR" sz="2000" b="0" i="1" smtClean="0">
                          <a:latin typeface="Cambria Math" panose="02040503050406030204" pitchFamily="18" charset="0"/>
                        </a:rPr>
                        <m:t>,</m:t>
                      </m:r>
                      <m:bar>
                        <m:barPr>
                          <m:pos m:val="top"/>
                          <m:ctrlPr>
                            <a:rPr lang="fr-FR" sz="2000" i="1">
                              <a:latin typeface="Cambria Math" panose="02040503050406030204" pitchFamily="18" charset="0"/>
                            </a:rPr>
                          </m:ctrlPr>
                        </m:barPr>
                        <m:e>
                          <m:r>
                            <m:rPr>
                              <m:sty m:val="p"/>
                            </m:rPr>
                            <a:rPr lang="fr-FR" sz="2000" i="1">
                              <a:latin typeface="Cambria Math" panose="02040503050406030204" pitchFamily="18" charset="0"/>
                            </a:rPr>
                            <m:t>d</m:t>
                          </m:r>
                        </m:e>
                      </m:bar>
                      <m:r>
                        <a:rPr lang="fr-FR" sz="2000" b="0" i="1" smtClean="0">
                          <a:latin typeface="Cambria Math" panose="02040503050406030204" pitchFamily="18" charset="0"/>
                        </a:rPr>
                        <m:t> = 12.5 </m:t>
                      </m:r>
                      <m:r>
                        <m:rPr>
                          <m:sty m:val="p"/>
                        </m:rPr>
                        <a:rPr lang="fr-FR" sz="2000" i="1">
                          <a:latin typeface="Cambria Math" panose="02040503050406030204" pitchFamily="18" charset="0"/>
                        </a:rPr>
                        <m:t>μm</m:t>
                      </m:r>
                    </m:oMath>
                  </m:oMathPara>
                </a14:m>
                <a:endParaRPr lang="fr-FR" sz="2000" dirty="0"/>
              </a:p>
            </p:txBody>
          </p:sp>
        </mc:Choice>
        <mc:Fallback>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199" y="1580884"/>
                <a:ext cx="5080820" cy="3597508"/>
              </a:xfrm>
              <a:blipFill>
                <a:blip r:embed="rId4"/>
                <a:stretch>
                  <a:fillRect l="-959" t="-1525" r="-107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646F739-E246-7718-42BD-FD146948AFDE}"/>
              </a:ext>
            </a:extLst>
          </p:cNvPr>
          <p:cNvPicPr>
            <a:picLocks noChangeAspect="1"/>
          </p:cNvPicPr>
          <p:nvPr/>
        </p:nvPicPr>
        <p:blipFill>
          <a:blip r:embed="rId5">
            <a:extLst>
              <a:ext uri="{28A0092B-C50C-407E-A947-70E740481C1C}">
                <a14:useLocalDpi xmlns:a14="http://schemas.microsoft.com/office/drawing/2010/main" val="0"/>
              </a:ext>
            </a:extLst>
          </a:blip>
          <a:srcRect l="-1241" t="4882" r="5838"/>
          <a:stretch>
            <a:fillRect/>
          </a:stretch>
        </p:blipFill>
        <p:spPr>
          <a:xfrm>
            <a:off x="7021493" y="3633902"/>
            <a:ext cx="4080310" cy="3088980"/>
          </a:xfrm>
          <a:prstGeom prst="rect">
            <a:avLst/>
          </a:prstGeom>
        </p:spPr>
      </p:pic>
      <p:pic>
        <p:nvPicPr>
          <p:cNvPr id="7" name="Picture 6">
            <a:extLst>
              <a:ext uri="{FF2B5EF4-FFF2-40B4-BE49-F238E27FC236}">
                <a16:creationId xmlns:a16="http://schemas.microsoft.com/office/drawing/2014/main" id="{B3C4CE8E-F464-27C0-B3AA-C16C3B6BECC3}"/>
              </a:ext>
            </a:extLst>
          </p:cNvPr>
          <p:cNvPicPr>
            <a:picLocks noChangeAspect="1"/>
          </p:cNvPicPr>
          <p:nvPr/>
        </p:nvPicPr>
        <p:blipFill>
          <a:blip r:embed="rId6">
            <a:extLst>
              <a:ext uri="{28A0092B-C50C-407E-A947-70E740481C1C}">
                <a14:useLocalDpi xmlns:a14="http://schemas.microsoft.com/office/drawing/2010/main" val="0"/>
              </a:ext>
            </a:extLst>
          </a:blip>
          <a:srcRect t="5439" r="7025"/>
          <a:stretch>
            <a:fillRect/>
          </a:stretch>
        </p:blipFill>
        <p:spPr>
          <a:xfrm>
            <a:off x="7273494" y="864757"/>
            <a:ext cx="3793677" cy="2893801"/>
          </a:xfrm>
          <a:prstGeom prst="rect">
            <a:avLst/>
          </a:prstGeom>
        </p:spPr>
      </p:pic>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p:txBody>
              <a:bodyPr/>
              <a:lstStyle/>
              <a:p>
                <a:r>
                  <a:rPr lang="fr-FR" dirty="0"/>
                  <a:t>Systématique et aléatoire </a:t>
                </a:r>
              </a:p>
              <a:p>
                <a:r>
                  <a:rPr lang="fr-FR" dirty="0"/>
                  <a:t>Erreur expérimentale provient de la mesure de la perméabilité :  	</a:t>
                </a:r>
              </a:p>
              <a:p>
                <a:pPr lvl="1"/>
                <a:r>
                  <a:rPr lang="fr-FR" dirty="0"/>
                  <a:t>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Incertitude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𝟏𝟒</m:t>
                            </m:r>
                            <m:r>
                              <a:rPr lang="fr-FR" b="1" i="1" smtClean="0">
                                <a:latin typeface="Cambria Math" panose="02040503050406030204" pitchFamily="18" charset="0"/>
                              </a:rPr>
                              <m:t>.</m:t>
                            </m:r>
                            <m:r>
                              <a:rPr lang="fr-FR" b="1" i="1" smtClean="0">
                                <a:latin typeface="Cambria Math" panose="02040503050406030204" pitchFamily="18" charset="0"/>
                              </a:rPr>
                              <m:t>𝟕</m:t>
                            </m:r>
                          </m:e>
                          <m:sup>
                            <m:r>
                              <a:rPr lang="fr-FR" b="1" i="1" smtClean="0">
                                <a:latin typeface="Cambria Math" panose="02040503050406030204" pitchFamily="18" charset="0"/>
                              </a:rPr>
                              <m:t>𝟐</m:t>
                            </m:r>
                          </m:sup>
                        </m:sSup>
                        <m:r>
                          <a:rPr lang="fr-FR" b="1" i="1" smtClean="0">
                            <a:latin typeface="Cambria Math" panose="02040503050406030204" pitchFamily="18" charset="0"/>
                          </a:rPr>
                          <m:t> +</m:t>
                        </m:r>
                        <m:sSup>
                          <m:sSupPr>
                            <m:ctrlPr>
                              <a:rPr lang="fr-FR" b="1" i="1">
                                <a:latin typeface="Cambria Math" panose="02040503050406030204" pitchFamily="18" charset="0"/>
                              </a:rPr>
                            </m:ctrlPr>
                          </m:sSupPr>
                          <m:e>
                            <m:r>
                              <a:rPr lang="fr-FR" b="1" i="1">
                                <a:latin typeface="Cambria Math" panose="02040503050406030204" pitchFamily="18" charset="0"/>
                              </a:rPr>
                              <m:t>𝟏𝟎</m:t>
                            </m:r>
                            <m:r>
                              <a:rPr lang="fr-FR" b="1" i="1">
                                <a:latin typeface="Cambria Math" panose="02040503050406030204" pitchFamily="18" charset="0"/>
                              </a:rPr>
                              <m:t>.</m:t>
                            </m:r>
                            <m:r>
                              <a:rPr lang="fr-FR" b="1" i="1">
                                <a:latin typeface="Cambria Math" panose="02040503050406030204" pitchFamily="18" charset="0"/>
                              </a:rPr>
                              <m:t>𝟎</m:t>
                            </m:r>
                          </m:e>
                          <m:sup>
                            <m:r>
                              <a:rPr lang="fr-FR" b="1" i="1">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br>
              <a:rPr lang="fr-FR" b="0" dirty="0"/>
            </a:br>
            <a:endParaRPr lang="fr-FR" dirty="0"/>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𝑆</m:t>
                    </m:r>
                    <m:r>
                      <a:rPr lang="fr-FR" b="0" i="1" smtClean="0">
                        <a:latin typeface="Cambria Math" panose="02040503050406030204" pitchFamily="18" charset="0"/>
                      </a:rPr>
                      <m:t>−</m:t>
                    </m:r>
                    <m:r>
                      <a:rPr lang="fr-FR" b="0" i="1" smtClean="0">
                        <a:latin typeface="Cambria Math" panose="02040503050406030204" pitchFamily="18" charset="0"/>
                      </a:rPr>
                      <m:t>𝐷</m:t>
                    </m:r>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𝑘</m:t>
                        </m:r>
                      </m:e>
                      <m:sub>
                        <m:r>
                          <a:rPr lang="fr-FR" b="0" i="1" smtClean="0">
                            <a:latin typeface="Cambria Math" panose="02040503050406030204" pitchFamily="18" charset="0"/>
                          </a:rPr>
                          <m:t>𝑠𝑖𝑚</m:t>
                        </m:r>
                      </m:sub>
                    </m:sSub>
                    <m:r>
                      <a:rPr lang="fr-FR" b="0" i="1" smtClean="0">
                        <a:latin typeface="Cambria Math" panose="02040503050406030204" pitchFamily="18" charset="0"/>
                      </a:rPr>
                      <m:t>−</m:t>
                    </m:r>
                    <m:bar>
                      <m:barPr>
                        <m:pos m:val="top"/>
                        <m:ctrlPr>
                          <a:rPr lang="fr-FR" b="0" i="1" smtClean="0">
                            <a:latin typeface="Cambria Math" panose="02040503050406030204" pitchFamily="18" charset="0"/>
                          </a:rPr>
                        </m:ctrlPr>
                      </m:barPr>
                      <m:e>
                        <m:r>
                          <a:rPr lang="fr-FR" b="0" i="1" smtClean="0">
                            <a:latin typeface="Cambria Math" panose="02040503050406030204" pitchFamily="18" charset="0"/>
                          </a:rPr>
                          <m:t>𝑘</m:t>
                        </m:r>
                      </m:e>
                    </m:bar>
                    <m:r>
                      <a:rPr lang="fr-FR" b="0" i="1" smtClean="0">
                        <a:latin typeface="Cambria Math" panose="02040503050406030204" pitchFamily="18" charset="0"/>
                      </a:rPr>
                      <m:t>=27.8−80.6=−52.8 </m:t>
                    </m:r>
                    <m:r>
                      <a:rPr lang="fr-FR" b="0" i="1" smtClean="0">
                        <a:latin typeface="Cambria Math" panose="02040503050406030204" pitchFamily="18" charset="0"/>
                      </a:rPr>
                      <m:t>𝜇</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oMath>
                </a14:m>
                <a:endParaRPr lang="fr-FR" dirty="0"/>
              </a:p>
              <a:p>
                <a:r>
                  <a:rPr lang="fr-FR" dirty="0"/>
                  <a:t>D calculé à partir des moyennes du tableau 1 (moyenne = médiane) </a:t>
                </a:r>
              </a:p>
              <a:p>
                <a:r>
                  <a:rPr lang="fr-FR" dirty="0"/>
                  <a:t>S simulé avec les paramètres suivants :</a:t>
                </a:r>
              </a:p>
              <a:p>
                <a:pPr lvl="1"/>
                <a:r>
                  <a:rPr lang="fr-FR" dirty="0"/>
                  <a:t>Porosité = 0.9 </a:t>
                </a:r>
              </a:p>
              <a:p>
                <a:pPr lvl="1"/>
                <a:r>
                  <a:rPr lang="fr-FR" dirty="0" err="1"/>
                  <a:t>Seed</a:t>
                </a:r>
                <a:r>
                  <a:rPr lang="fr-FR" dirty="0"/>
                  <a:t> = 101</a:t>
                </a:r>
              </a:p>
              <a:p>
                <a:pPr lvl="1"/>
                <a:r>
                  <a:rPr lang="fr-FR" dirty="0" err="1"/>
                  <a:t>Nx</a:t>
                </a:r>
                <a:r>
                  <a:rPr lang="fr-FR" dirty="0"/>
                  <a:t> = 200 et </a:t>
                </a:r>
                <a14:m>
                  <m:oMath xmlns:m="http://schemas.openxmlformats.org/officeDocument/2006/math">
                    <m:r>
                      <m:rPr>
                        <m:sty m:val="p"/>
                      </m:rPr>
                      <a:rPr lang="fr-FR" i="1">
                        <a:latin typeface="Cambria Math" panose="02040503050406030204" pitchFamily="18" charset="0"/>
                      </a:rPr>
                      <m:t>Δx</m:t>
                    </m:r>
                    <m:r>
                      <a:rPr lang="fr-FR" i="1">
                        <a:latin typeface="Cambria Math" panose="02040503050406030204" pitchFamily="18" charset="0"/>
                      </a:rPr>
                      <m:t> = 1</m:t>
                    </m:r>
                    <m:r>
                      <m:rPr>
                        <m:sty m:val="p"/>
                      </m:rPr>
                      <a:rPr lang="fr-FR" i="1">
                        <a:latin typeface="Cambria Math" panose="02040503050406030204" pitchFamily="18" charset="0"/>
                      </a:rPr>
                      <m:t>E</m:t>
                    </m:r>
                    <m:r>
                      <a:rPr lang="fr-FR" i="1">
                        <a:latin typeface="Cambria Math" panose="02040503050406030204" pitchFamily="18" charset="0"/>
                      </a:rPr>
                      <m:t>−6</m:t>
                    </m:r>
                  </m:oMath>
                </a14:m>
                <a:endParaRPr lang="fr-FR" dirty="0"/>
              </a:p>
              <a:p>
                <a:pPr lvl="1"/>
                <a14:m>
                  <m:oMath xmlns:m="http://schemas.openxmlformats.org/officeDocument/2006/math">
                    <m:r>
                      <m:rPr>
                        <m:sty m:val="p"/>
                      </m:rPr>
                      <a:rPr lang="fr-FR" i="1">
                        <a:latin typeface="Cambria Math" panose="02040503050406030204" pitchFamily="18" charset="0"/>
                      </a:rPr>
                      <m:t>ΔP</m:t>
                    </m:r>
                    <m:r>
                      <a:rPr lang="fr-FR" i="1">
                        <a:latin typeface="Cambria Math" panose="02040503050406030204" pitchFamily="18" charset="0"/>
                      </a:rPr>
                      <m:t> = 0.1 </m:t>
                    </m:r>
                    <m:r>
                      <m:rPr>
                        <m:sty m:val="p"/>
                      </m:rPr>
                      <a:rPr lang="fr-FR" b="0" i="1" smtClean="0">
                        <a:latin typeface="Cambria Math" panose="02040503050406030204" pitchFamily="18" charset="0"/>
                      </a:rPr>
                      <m:t>Pa</m:t>
                    </m:r>
                    <m:r>
                      <a:rPr lang="fr-FR" i="1">
                        <a:latin typeface="Cambria Math" panose="02040503050406030204" pitchFamily="18" charset="0"/>
                      </a:rPr>
                      <m:t> </m:t>
                    </m:r>
                  </m:oMath>
                </a14:m>
                <a:endParaRPr lang="fr-FR" dirty="0"/>
              </a:p>
              <a:p>
                <a:pPr lvl="1"/>
                <a14:m>
                  <m:oMath xmlns:m="http://schemas.openxmlformats.org/officeDocument/2006/math">
                    <m:r>
                      <m:rPr>
                        <m:sty m:val="p"/>
                      </m:rPr>
                      <a:rPr lang="fr-FR" i="1">
                        <a:latin typeface="Cambria Math" panose="02040503050406030204" pitchFamily="18" charset="0"/>
                      </a:rPr>
                      <m:t>σ</m:t>
                    </m:r>
                    <m:r>
                      <a:rPr lang="fr-FR" i="1">
                        <a:latin typeface="Cambria Math" panose="02040503050406030204" pitchFamily="18" charset="0"/>
                      </a:rPr>
                      <m:t>_</m:t>
                    </m:r>
                    <m:r>
                      <m:rPr>
                        <m:sty m:val="p"/>
                      </m:rPr>
                      <a:rPr lang="fr-FR" i="1">
                        <a:latin typeface="Cambria Math" panose="02040503050406030204" pitchFamily="18" charset="0"/>
                      </a:rPr>
                      <m:t>d</m:t>
                    </m:r>
                    <m:r>
                      <a:rPr lang="fr-FR" i="1">
                        <a:latin typeface="Cambria Math" panose="02040503050406030204" pitchFamily="18" charset="0"/>
                      </a:rPr>
                      <m:t>  = 2.85 </m:t>
                    </m:r>
                    <m:r>
                      <m:rPr>
                        <m:sty m:val="p"/>
                      </m:rPr>
                      <a:rPr lang="fr-FR" i="1">
                        <a:latin typeface="Cambria Math" panose="02040503050406030204" pitchFamily="18" charset="0"/>
                      </a:rPr>
                      <m:t>μm</m:t>
                    </m:r>
                    <m:r>
                      <a:rPr lang="fr-FR" i="1">
                        <a:latin typeface="Cambria Math" panose="02040503050406030204" pitchFamily="18" charset="0"/>
                      </a:rPr>
                      <m:t> </m:t>
                    </m:r>
                    <m:r>
                      <m:rPr>
                        <m:sty m:val="p"/>
                      </m:rPr>
                      <a:rPr lang="fr-FR" i="1">
                        <a:latin typeface="Cambria Math" panose="02040503050406030204" pitchFamily="18" charset="0"/>
                      </a:rPr>
                      <m:t>et</m:t>
                    </m:r>
                    <m:r>
                      <a:rPr lang="fr-FR" i="1">
                        <a:latin typeface="Cambria Math" panose="02040503050406030204" pitchFamily="18" charset="0"/>
                      </a:rPr>
                      <m:t> </m:t>
                    </m:r>
                    <m:bar>
                      <m:barPr>
                        <m:pos m:val="top"/>
                        <m:ctrlPr>
                          <a:rPr lang="fr-FR" i="1">
                            <a:latin typeface="Cambria Math" panose="02040503050406030204" pitchFamily="18" charset="0"/>
                          </a:rPr>
                        </m:ctrlPr>
                      </m:barPr>
                      <m:e>
                        <m:r>
                          <m:rPr>
                            <m:sty m:val="p"/>
                          </m:rPr>
                          <a:rPr lang="fr-FR" i="1">
                            <a:latin typeface="Cambria Math" panose="02040503050406030204" pitchFamily="18" charset="0"/>
                          </a:rPr>
                          <m:t>d</m:t>
                        </m:r>
                      </m:e>
                    </m:bar>
                    <m:r>
                      <a:rPr lang="fr-FR" i="1">
                        <a:latin typeface="Cambria Math" panose="02040503050406030204" pitchFamily="18" charset="0"/>
                      </a:rPr>
                      <m:t>=12.5 </m:t>
                    </m:r>
                    <m:r>
                      <m:rPr>
                        <m:sty m:val="p"/>
                      </m:rPr>
                      <a:rPr lang="fr-FR" i="1">
                        <a:latin typeface="Cambria Math" panose="02040503050406030204" pitchFamily="18" charset="0"/>
                      </a:rPr>
                      <m:t>μm</m:t>
                    </m:r>
                  </m:oMath>
                </a14:m>
                <a:endParaRPr lang="fr-FR" dirty="0"/>
              </a:p>
            </p:txBody>
          </p:sp>
        </mc:Choice>
        <mc:Fallback>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en-US">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r>
                  <a:rPr lang="fr-FR" b="0" dirty="0"/>
                  <a:t>K = 2 pour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r>
                      <a:rPr lang="fr-FR" b="0" i="1" smtClean="0">
                        <a:latin typeface="Cambria Math" panose="02040503050406030204" pitchFamily="18" charset="0"/>
                      </a:rPr>
                      <m:t>=19.8 </m:t>
                    </m:r>
                    <m:r>
                      <m:rPr>
                        <m:sty m:val="p"/>
                      </m:rPr>
                      <a:rPr lang="fr-FR" b="0" i="1" smtClean="0">
                        <a:latin typeface="Cambria Math" panose="02040503050406030204" pitchFamily="18" charset="0"/>
                      </a:rPr>
                      <m:t>μm</m:t>
                    </m:r>
                    <m:r>
                      <a:rPr lang="fr-FR" b="0" i="1" smtClean="0">
                        <a:latin typeface="Cambria Math" panose="02040503050406030204" pitchFamily="18" charset="0"/>
                      </a:rPr>
                      <m:t>²</m:t>
                    </m:r>
                  </m:oMath>
                </a14:m>
                <a:r>
                  <a:rPr lang="fr-FR" b="0" dirty="0"/>
                  <a:t> </a:t>
                </a:r>
              </a:p>
              <a:p>
                <a14:m>
                  <m:oMath xmlns:m="http://schemas.openxmlformats.org/officeDocument/2006/math">
                    <m:r>
                      <a:rPr lang="fr-FR" b="0" i="1" smtClean="0">
                        <a:latin typeface="Cambria Math" panose="02040503050406030204" pitchFamily="18" charset="0"/>
                      </a:rPr>
                      <m:t>−92.4</m:t>
                    </m:r>
                    <m:r>
                      <a:rPr lang="fr-FR" b="0" i="1" smtClean="0">
                        <a:latin typeface="Cambria Math" panose="02040503050406030204" pitchFamily="18" charset="0"/>
                      </a:rPr>
                      <m:t> </m:t>
                    </m:r>
                    <m:r>
                      <m:rPr>
                        <m:sty m:val="p"/>
                      </m:rPr>
                      <a:rPr lang="fr-FR" i="1">
                        <a:latin typeface="Cambria Math" panose="02040503050406030204" pitchFamily="18" charset="0"/>
                      </a:rPr>
                      <m:t>μm</m:t>
                    </m:r>
                    <m:r>
                      <a:rPr lang="fr-FR" i="1">
                        <a:latin typeface="Cambria Math" panose="02040503050406030204" pitchFamily="18" charset="0"/>
                      </a:rPr>
                      <m:t>²≤</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b="0" i="1" smtClean="0">
                        <a:latin typeface="Cambria Math" panose="02040503050406030204" pitchFamily="18" charset="0"/>
                      </a:rPr>
                      <m:t>−13.2</m:t>
                    </m:r>
                    <m:r>
                      <m:rPr>
                        <m:sty m:val="p"/>
                      </m:rPr>
                      <a:rPr lang="fr-FR" i="1">
                        <a:latin typeface="Cambria Math" panose="02040503050406030204" pitchFamily="18" charset="0"/>
                      </a:rPr>
                      <m:t>μm</m:t>
                    </m:r>
                    <m:r>
                      <a:rPr lang="fr-FR" i="1">
                        <a:latin typeface="Cambria Math" panose="02040503050406030204" pitchFamily="18" charset="0"/>
                      </a:rPr>
                      <m:t>²</m:t>
                    </m:r>
                  </m:oMath>
                </a14:m>
                <a:endParaRPr lang="fr-FR" dirty="0"/>
              </a:p>
              <a:p>
                <a:endParaRPr lang="fr-FR" b="0" dirty="0"/>
              </a:p>
              <a:p>
                <a:pPr marL="0" indent="0">
                  <a:buNone/>
                </a:pPr>
                <a:endParaRPr lang="fr-FR" dirty="0"/>
              </a:p>
            </p:txBody>
          </p:sp>
        </mc:Choice>
        <mc:Fallback>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en-US">
                    <a:noFill/>
                  </a:rPr>
                  <a:t> </a:t>
                </a:r>
              </a:p>
            </p:txBody>
          </p:sp>
        </mc:Fallback>
      </mc:AlternateContent>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p:txBody>
          <a:bodyPr/>
          <a:lstStyle/>
          <a:p>
            <a:r>
              <a:rPr lang="fr-FR" dirty="0"/>
              <a:t>Interprétation de l’intervalle de confiance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a:xfrm>
                <a:off x="499038" y="1690688"/>
                <a:ext cx="5949875" cy="4351338"/>
              </a:xfrm>
            </p:spPr>
            <p:txBody>
              <a:bodyPr/>
              <a:lstStyle/>
              <a:p>
                <a:r>
                  <a:rPr lang="fr-FR" b="0" dirty="0">
                    <a:latin typeface="Cambria Math" panose="02040503050406030204" pitchFamily="18" charset="0"/>
                  </a:rPr>
                  <a:t>Nous connaissons le signe de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oMath>
                </a14:m>
                <a:endParaRPr lang="fr-FR" b="0"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m:t>
                    </m:r>
                    <m:r>
                      <m:rPr>
                        <m:sty m:val="p"/>
                      </m:rPr>
                      <a:rPr lang="fr-FR" b="0" i="1" smtClean="0">
                        <a:latin typeface="Cambria Math" panose="02040503050406030204" pitchFamily="18" charset="0"/>
                      </a:rPr>
                      <m:t>E</m:t>
                    </m:r>
                    <m:r>
                      <a:rPr lang="fr-FR" b="0" i="1" smtClean="0">
                        <a:latin typeface="Cambria Math" panose="02040503050406030204" pitchFamily="18" charset="0"/>
                      </a:rPr>
                      <m:t>| &gt; </m:t>
                    </m:r>
                    <m:sSub>
                      <m:sSubPr>
                        <m:ctrlPr>
                          <a:rPr lang="fr-FR" i="1">
                            <a:latin typeface="Cambria Math" panose="02040503050406030204" pitchFamily="18" charset="0"/>
                          </a:rPr>
                        </m:ctrlPr>
                      </m:sSubPr>
                      <m:e>
                        <m:r>
                          <m:rPr>
                            <m:sty m:val="p"/>
                          </m:rPr>
                          <a:rPr lang="fr-FR" b="0" i="1" smtClean="0">
                            <a:latin typeface="Cambria Math" panose="02040503050406030204" pitchFamily="18" charset="0"/>
                          </a:rPr>
                          <m:t>k</m:t>
                        </m:r>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b="0" dirty="0">
                  <a:latin typeface="Cambria Math" panose="02040503050406030204" pitchFamily="18" charset="0"/>
                </a:endParaRP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r>
                  <a:rPr lang="fr-FR" dirty="0"/>
                  <a:t> semble être l’erreur prédominante dans la validation </a:t>
                </a:r>
                <a:r>
                  <a:rPr lang="fr-FR" dirty="0">
                    <a:sym typeface="Wingdings" panose="05000000000000000000" pitchFamily="2" charset="2"/>
                  </a:rPr>
                  <a:t> être plus précis sur les expériences  </a:t>
                </a:r>
                <a:endParaRPr lang="fr-FR" dirty="0"/>
              </a:p>
            </p:txBody>
          </p:sp>
        </mc:Choice>
        <mc:Fallback>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xfrm>
                <a:off x="499038" y="1690688"/>
                <a:ext cx="5949875" cy="4351338"/>
              </a:xfrm>
              <a:blipFill>
                <a:blip r:embed="rId2"/>
                <a:stretch>
                  <a:fillRect l="-1844" t="-2381" r="-194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3BEB51FE-9D17-6E1A-CAEF-71B330E74E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9828" y="1331254"/>
            <a:ext cx="5852172" cy="4389129"/>
          </a:xfrm>
          <a:prstGeom prst="rect">
            <a:avLst/>
          </a:prstGeom>
        </p:spPr>
      </p:pic>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342</TotalTime>
  <Words>1047</Words>
  <Application>Microsoft Office PowerPoint</Application>
  <PresentationFormat>Widescreen</PresentationFormat>
  <Paragraphs>79</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Interprétation de l’intervalle de confiance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12</cp:revision>
  <dcterms:created xsi:type="dcterms:W3CDTF">2026-03-17T16:04:56Z</dcterms:created>
  <dcterms:modified xsi:type="dcterms:W3CDTF">2026-03-27T19:46:49Z</dcterms:modified>
</cp:coreProperties>
</file>