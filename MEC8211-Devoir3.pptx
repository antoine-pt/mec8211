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4" r:id="rId4"/>
    <p:sldId id="260" r:id="rId5"/>
    <p:sldId id="261" r:id="rId6"/>
    <p:sldId id="262" r:id="rId7"/>
    <p:sldId id="263" r:id="rId8"/>
    <p:sldId id="265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83" autoAdjust="0"/>
    <p:restoredTop sz="94660"/>
  </p:normalViewPr>
  <p:slideViewPr>
    <p:cSldViewPr snapToGrid="0">
      <p:cViewPr varScale="1">
        <p:scale>
          <a:sx n="65" d="100"/>
          <a:sy n="65" d="100"/>
        </p:scale>
        <p:origin x="65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2ECC62-EAF7-1035-8F94-5644B0ADD5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BDC137E-47EF-7813-F8D9-35C39650EE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883835A-20CD-C264-B152-5FE8D6983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C27DB43-631C-6BE2-125A-9BAA88339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0CCA212-B074-CE53-203B-D9AAF99E3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76490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0F0079-A8FD-1E3C-05DD-43C66D1BA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6801B53-DEEB-745E-EC99-0476EF023E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25AE8F8-313B-7E91-C379-8394CA43D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BBDB642-DF18-412C-21BD-B3B0507DD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2C2301E-B2D6-5CF9-F855-7E04C464C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2296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F02322-6B4E-E697-1291-ED443433E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3688D89-7C39-6555-971F-4391ACD126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39118D0-49DF-05EC-8F47-3AD05DA33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5342888-E1F4-3EA8-B01F-8991D429F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D834ED2-482F-CE8E-C2E8-46017D325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95702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3554EC-B2F9-CCAA-0C2D-C7C1B8CF4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E797DB-F889-08EC-E1FC-0FDD80EADD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486227C-6B4F-C012-364F-6EB683D696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E44E6AD-1354-8644-1A63-EB046CA0F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6B9067E-1426-D593-484A-B1CEC2BFB8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04C8401-2587-247E-0ED9-B36DA5364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295328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0A6D36-3555-637A-2616-C227660E2A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CB3D8F9-E275-91E4-0B31-1406C44474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19B9117-E166-E89C-7F67-20BDD15DDB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7BD8A42-745A-7394-AE04-40101DB08D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356E7B9-A24E-500F-5AF9-0391547579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BFBC5BA7-54D6-1801-FC17-2753C9934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D1762DFE-E69B-D21C-09D6-A0F8AC61A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B3A7B23-1B74-9C9F-9B85-61D5F3080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9879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92E926-7475-68DA-C790-4FA7DB1A5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8FBF773-7566-A041-FA69-A3B322707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8B89780-EF4E-FF8C-CA83-32C4ABA7A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BF42B39-65EA-0754-4F3A-03BACF4FC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48952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79C3C60-4952-ABEE-B909-2B2CF0F30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3452FE0-DF25-A36C-B352-A0AE425A5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54F7236-BC28-0DA7-F5D9-3247AF8A7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21063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B47E47-8C8E-D99F-5F73-EF2C9C22A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349BB5D-CC07-B713-F9F9-50118EC086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31E9281-031C-EDCC-1C27-C470F4A773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8014BCA-3E21-1520-7E8C-AE3D946F6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A11CF75-28A5-4F83-85DF-A9A20280D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881D02-244A-6FDF-ED8D-728971970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0479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D81FFE-2852-F517-F4A6-8E405D2F1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DDE2578-1FE4-E4D1-6689-20DE59F2C4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3709F10-A820-7FD3-0933-0DB97628C5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F62E178-027A-1C8C-D545-00FFE3BF8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BDD9C8A-908B-8A6A-9242-91F2FCE72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1900FDA-CC10-180F-AF80-1E57271CE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09827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620C77-413F-5529-A61D-780319117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C934F54-1E3E-37D6-1C0B-E0B9DC5AE0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430818A-C895-6754-E996-213B2FA208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190E735-EEB0-ED57-9C07-320733EED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12FF544-AB1B-20FB-6646-433FACC62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1425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FE1CE5C5-5417-261F-0ABD-6367744B31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5FE909A-9B32-8A2D-C28C-39F3674940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7971400-6C6D-A507-976D-38624667D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1BDC9C1-2934-0DFE-5778-39EB7D2B2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6621983-9DA0-8A74-5038-359D55DDE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50460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05091EDF-5198-4CAF-A12F-52A6BE05A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255780F-7CC0-01B5-A667-7F23A92EAC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45A7F72-93F7-AF2B-F715-A89E5CBD92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FFBCA7-9440-4261-9163-708EE63D7830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FDBB570-B3E5-9216-56E4-3134DA8445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1A11292-186C-AD6B-3030-D2858E46D5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509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ine-pt/MEC6212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26463"/>
            <a:ext cx="9144000" cy="1425131"/>
          </a:xfrm>
        </p:spPr>
        <p:txBody>
          <a:bodyPr/>
          <a:lstStyle/>
          <a:p>
            <a:r>
              <a:rPr lang="fr-FR" noProof="0" dirty="0"/>
              <a:t>MEC8211 – Devoir 3 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6407"/>
            <a:ext cx="9144000" cy="1945747"/>
          </a:xfrm>
        </p:spPr>
        <p:txBody>
          <a:bodyPr>
            <a:normAutofit fontScale="92500" lnSpcReduction="10000"/>
          </a:bodyPr>
          <a:lstStyle/>
          <a:p>
            <a:r>
              <a:rPr lang="fr-FR" noProof="0" dirty="0"/>
              <a:t>Antoine Payette-Toupin (2090788)</a:t>
            </a:r>
          </a:p>
          <a:p>
            <a:r>
              <a:rPr lang="fr-FR" noProof="0" dirty="0"/>
              <a:t>Charlotte Sabrié (2485495)</a:t>
            </a:r>
          </a:p>
          <a:p>
            <a:r>
              <a:rPr lang="fr-FR" noProof="0" dirty="0"/>
              <a:t>Loïc Vignaud (2485146)</a:t>
            </a:r>
          </a:p>
          <a:p>
            <a:endParaRPr lang="fr-FR" dirty="0"/>
          </a:p>
          <a:p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Répertoire </a:t>
            </a:r>
            <a:r>
              <a:rPr lang="fr-FR" sz="22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: </a:t>
            </a:r>
            <a:r>
              <a:rPr lang="fr-FR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https://github.com/antoine-pt/MEC6212.git</a:t>
            </a:r>
            <a:endParaRPr lang="fr-FR" sz="2200" noProof="0" dirty="0"/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E7D87B06-2293-46A9-1B49-5FA555DC464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255321"/>
                <a:ext cx="10515600" cy="1325563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A) Incertitude numérique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𝑛𝑢𝑚</m:t>
                        </m:r>
                      </m:sub>
                    </m:sSub>
                  </m:oMath>
                </a14:m>
                <a:br>
                  <a:rPr lang="fr-FR" b="0" dirty="0"/>
                </a:br>
                <a:endParaRPr lang="fr-FR" dirty="0"/>
              </a:p>
            </p:txBody>
          </p:sp>
        </mc:Choice>
        <mc:Fallback xmlns="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E7D87B06-2293-46A9-1B49-5FA555DC46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255321"/>
                <a:ext cx="10515600" cy="1325563"/>
              </a:xfrm>
              <a:blipFill>
                <a:blip r:embed="rId2"/>
                <a:stretch>
                  <a:fillRect l="-2377" t="-1336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2E80974-09C0-B5E5-C74A-D5162AC8CD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Mesure de l’ordre de convergence observé </a:t>
            </a:r>
          </a:p>
          <a:p>
            <a:r>
              <a:rPr lang="fr-FR" dirty="0"/>
              <a:t>Calcul du </a:t>
            </a:r>
            <a:r>
              <a:rPr lang="fr-FR" dirty="0" err="1"/>
              <a:t>Grid</a:t>
            </a:r>
            <a:r>
              <a:rPr lang="fr-FR" dirty="0"/>
              <a:t> Convergence Index (p=2)</a:t>
            </a:r>
          </a:p>
        </p:txBody>
      </p:sp>
    </p:spTree>
    <p:extLst>
      <p:ext uri="{BB962C8B-B14F-4D97-AF65-F5344CB8AC3E}">
        <p14:creationId xmlns:p14="http://schemas.microsoft.com/office/powerpoint/2010/main" val="33011362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74D36CD1-A375-1A58-349E-021823C4777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Évolution du maillage lors du calcul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𝑛𝑢𝑚</m:t>
                        </m:r>
                      </m:sub>
                    </m:sSub>
                  </m:oMath>
                </a14:m>
                <a:endParaRPr lang="fr-FR" dirty="0"/>
              </a:p>
            </p:txBody>
          </p:sp>
        </mc:Choice>
        <mc:Fallback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74D36CD1-A375-1A58-349E-021823C477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age 6">
            <a:extLst>
              <a:ext uri="{FF2B5EF4-FFF2-40B4-BE49-F238E27FC236}">
                <a16:creationId xmlns:a16="http://schemas.microsoft.com/office/drawing/2014/main" id="{83CCC273-2B29-D3EF-6690-0C19F7BA09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494" r="24898"/>
          <a:stretch>
            <a:fillRect/>
          </a:stretch>
        </p:blipFill>
        <p:spPr>
          <a:xfrm>
            <a:off x="115478" y="3799432"/>
            <a:ext cx="2846981" cy="296470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3DAD9868-C8F5-E667-5E2F-2B37AB742C1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68" r="24724"/>
          <a:stretch>
            <a:fillRect/>
          </a:stretch>
        </p:blipFill>
        <p:spPr>
          <a:xfrm>
            <a:off x="2962459" y="3746306"/>
            <a:ext cx="2967545" cy="309025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D8330C72-DCCD-88C9-452E-A6BABB73055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25" r="26466"/>
          <a:stretch>
            <a:fillRect/>
          </a:stretch>
        </p:blipFill>
        <p:spPr>
          <a:xfrm>
            <a:off x="5987574" y="3746306"/>
            <a:ext cx="2967545" cy="3090250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155D6098-69DC-392A-5271-0B4ADEC402C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54" r="24573"/>
          <a:stretch>
            <a:fillRect/>
          </a:stretch>
        </p:blipFill>
        <p:spPr>
          <a:xfrm>
            <a:off x="9070258" y="3767750"/>
            <a:ext cx="3121742" cy="3068806"/>
          </a:xfrm>
          <a:prstGeom prst="rect">
            <a:avLst/>
          </a:prstGeom>
        </p:spPr>
      </p:pic>
      <p:sp>
        <p:nvSpPr>
          <p:cNvPr id="15" name="Espace réservé du contenu 14">
            <a:extLst>
              <a:ext uri="{FF2B5EF4-FFF2-40B4-BE49-F238E27FC236}">
                <a16:creationId xmlns:a16="http://schemas.microsoft.com/office/drawing/2014/main" id="{D9AAB447-663D-CB5D-80EB-3F3EF69504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8856"/>
            <a:ext cx="10515600" cy="1325563"/>
          </a:xfrm>
        </p:spPr>
        <p:txBody>
          <a:bodyPr/>
          <a:lstStyle/>
          <a:p>
            <a:r>
              <a:rPr lang="fr-FR" dirty="0"/>
              <a:t>Le changement de la valeur </a:t>
            </a:r>
            <a:r>
              <a:rPr lang="fr-FR" dirty="0" err="1"/>
              <a:t>Nx</a:t>
            </a:r>
            <a:r>
              <a:rPr lang="fr-FR" dirty="0"/>
              <a:t> ne provoque pas un changement de géométrie mais seulement un raffinement du domaine pour une </a:t>
            </a:r>
            <a:r>
              <a:rPr lang="fr-FR" dirty="0" err="1"/>
              <a:t>seed</a:t>
            </a:r>
            <a:r>
              <a:rPr lang="fr-FR" dirty="0"/>
              <a:t> donnée (</a:t>
            </a:r>
            <a:r>
              <a:rPr lang="fr-FR" dirty="0" err="1"/>
              <a:t>seed</a:t>
            </a:r>
            <a:r>
              <a:rPr lang="fr-FR" dirty="0"/>
              <a:t> 1 ci-dessous)</a:t>
            </a:r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05810529-4DFA-2E96-842C-9D130ABEED3B}"/>
              </a:ext>
            </a:extLst>
          </p:cNvPr>
          <p:cNvCxnSpPr/>
          <p:nvPr/>
        </p:nvCxnSpPr>
        <p:spPr>
          <a:xfrm>
            <a:off x="309716" y="3554361"/>
            <a:ext cx="1134151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ZoneTexte 17">
            <a:extLst>
              <a:ext uri="{FF2B5EF4-FFF2-40B4-BE49-F238E27FC236}">
                <a16:creationId xmlns:a16="http://schemas.microsoft.com/office/drawing/2014/main" id="{E4B355B5-3B02-E90B-38B1-9D3FCB067BD0}"/>
              </a:ext>
            </a:extLst>
          </p:cNvPr>
          <p:cNvSpPr txBox="1"/>
          <p:nvPr/>
        </p:nvSpPr>
        <p:spPr>
          <a:xfrm>
            <a:off x="1075485" y="3218871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75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6D002050-517E-568F-2E87-79DF74E1DE68}"/>
              </a:ext>
            </a:extLst>
          </p:cNvPr>
          <p:cNvSpPr txBox="1"/>
          <p:nvPr/>
        </p:nvSpPr>
        <p:spPr>
          <a:xfrm>
            <a:off x="4133246" y="3218871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150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306636FE-EBE5-53E1-1F85-9FADF5941F6D}"/>
              </a:ext>
            </a:extLst>
          </p:cNvPr>
          <p:cNvSpPr txBox="1"/>
          <p:nvPr/>
        </p:nvSpPr>
        <p:spPr>
          <a:xfrm>
            <a:off x="7314439" y="3218871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200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CA8A57C9-8E08-11C4-BB76-D6E101F68AAA}"/>
              </a:ext>
            </a:extLst>
          </p:cNvPr>
          <p:cNvSpPr txBox="1"/>
          <p:nvPr/>
        </p:nvSpPr>
        <p:spPr>
          <a:xfrm>
            <a:off x="10415365" y="3218871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400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2ED9CE0C-4C65-AAFA-0A63-917F18944AEF}"/>
              </a:ext>
            </a:extLst>
          </p:cNvPr>
          <p:cNvSpPr txBox="1"/>
          <p:nvPr/>
        </p:nvSpPr>
        <p:spPr>
          <a:xfrm>
            <a:off x="11651226" y="3376974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Nx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227275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B71D2-F40F-4242-9CD0-9354BCACC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E42DB292-C1C7-B7A1-2983-182756BDF14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255321"/>
                <a:ext cx="10515600" cy="1325563"/>
              </a:xfrm>
            </p:spPr>
            <p:txBody>
              <a:bodyPr>
                <a:normAutofit fontScale="90000"/>
              </a:bodyPr>
              <a:lstStyle/>
              <a:p>
                <a:r>
                  <a:rPr lang="fr-FR" dirty="0"/>
                  <a:t>B) Incertitude sur les données d’entrée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</m:oMath>
                </a14:m>
                <a:br>
                  <a:rPr lang="fr-FR" b="0" dirty="0"/>
                </a:br>
                <a:endParaRPr lang="fr-FR" dirty="0"/>
              </a:p>
            </p:txBody>
          </p:sp>
        </mc:Choice>
        <mc:Fallback xmlns="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E42DB292-C1C7-B7A1-2983-182756BDF1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255321"/>
                <a:ext cx="10515600" cy="1325563"/>
              </a:xfrm>
              <a:blipFill>
                <a:blip r:embed="rId2"/>
                <a:stretch>
                  <a:fillRect l="-2087" t="-783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6CA13C1-0552-592F-8A56-718E46BDA0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Méthode de Monte Carlo pour la propagation des incertitudes </a:t>
            </a:r>
          </a:p>
        </p:txBody>
      </p:sp>
    </p:spTree>
    <p:extLst>
      <p:ext uri="{BB962C8B-B14F-4D97-AF65-F5344CB8AC3E}">
        <p14:creationId xmlns:p14="http://schemas.microsoft.com/office/powerpoint/2010/main" val="15741762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E4E87-1BBD-CE67-3881-6D0E33559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37D96686-6BB1-2135-44BE-949A20147B5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255321"/>
                <a:ext cx="10515600" cy="1325563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C) Incertitude expérimentale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br>
                  <a:rPr lang="fr-FR" b="0" dirty="0"/>
                </a:br>
                <a:endParaRPr lang="fr-FR" dirty="0"/>
              </a:p>
            </p:txBody>
          </p:sp>
        </mc:Choice>
        <mc:Fallback xmlns="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37D96686-6BB1-2135-44BE-949A20147B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255321"/>
                <a:ext cx="10515600" cy="1325563"/>
              </a:xfrm>
              <a:blipFill>
                <a:blip r:embed="rId2"/>
                <a:stretch>
                  <a:fillRect l="-2377" t="-1336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22EB648-3F2D-8A95-AAB6-E223881CFE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Systématique et aléatoire </a:t>
                </a:r>
              </a:p>
              <a:p>
                <a:r>
                  <a:rPr lang="fr-FR" dirty="0"/>
                  <a:t>Erreur expérimentale provient de la mesure de la perméabilité :  	</a:t>
                </a:r>
              </a:p>
              <a:p>
                <a:pPr lvl="1"/>
                <a:r>
                  <a:rPr lang="fr-FR" dirty="0"/>
                  <a:t>Erreur de l’outil de mesure (épistémique) </a:t>
                </a:r>
                <a:r>
                  <a:rPr lang="fr-FR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𝐵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𝑟</m:t>
                        </m:r>
                      </m:sub>
                    </m:sSub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pPr lvl="1"/>
                <a:r>
                  <a:rPr lang="fr-FR" dirty="0"/>
                  <a:t>Incertitude de la perméabilité (aléatoire) </a:t>
                </a:r>
                <a:r>
                  <a:rPr lang="fr-FR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𝑆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𝑟</m:t>
                        </m:r>
                      </m:sub>
                    </m:sSub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Sup>
                          <m:sSub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rad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10.0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14.7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fr-FR" b="0" i="1" smtClean="0">
                        <a:latin typeface="Cambria Math" panose="02040503050406030204" pitchFamily="18" charset="0"/>
                      </a:rPr>
                      <m:t>=17.8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22EB648-3F2D-8A95-AAB6-E223881CFE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0867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124F0-B289-642A-9771-1BF06FCCA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EB509C-34AF-4FE2-2E9C-0C225D354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5321"/>
            <a:ext cx="10515600" cy="1325563"/>
          </a:xfrm>
        </p:spPr>
        <p:txBody>
          <a:bodyPr>
            <a:normAutofit/>
          </a:bodyPr>
          <a:lstStyle/>
          <a:p>
            <a:r>
              <a:rPr lang="fr-FR" dirty="0"/>
              <a:t>D) Erreur de simulation E </a:t>
            </a:r>
            <a:br>
              <a:rPr lang="fr-FR" b="0" dirty="0"/>
            </a:br>
            <a:endParaRPr lang="fr-F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53E90C5-151C-4E9F-B84E-15760D48BB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𝑠𝑖𝑚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bar>
                      <m:barPr>
                        <m:pos m:val="top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bar>
                    <m:r>
                      <a:rPr lang="fr-FR" b="0" i="1" smtClean="0">
                        <a:latin typeface="Cambria Math" panose="02040503050406030204" pitchFamily="18" charset="0"/>
                      </a:rPr>
                      <m:t>=28.5−80.6=−52.1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fr-FR" dirty="0"/>
              </a:p>
              <a:p>
                <a:r>
                  <a:rPr lang="fr-FR" dirty="0"/>
                  <a:t>D calculé à partir des moyennes du tableau 1 (moyenne = médiane) </a:t>
                </a:r>
              </a:p>
              <a:p>
                <a:r>
                  <a:rPr lang="fr-FR" dirty="0"/>
                  <a:t>S à simuler avec le code fourni </a:t>
                </a:r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53E90C5-151C-4E9F-B84E-15760D48BB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63437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5D845-2688-1EA8-46B4-296C4A61C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2D5E69C6-E8E3-4136-83CE-73271C35454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255321"/>
                <a:ext cx="10515600" cy="1325563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E) Erreur du modèle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𝑚𝑜𝑑𝑒𝑙</m:t>
                        </m:r>
                      </m:sub>
                    </m:sSub>
                  </m:oMath>
                </a14:m>
                <a:br>
                  <a:rPr lang="fr-FR" b="0" dirty="0"/>
                </a:br>
                <a:endParaRPr lang="fr-FR" dirty="0"/>
              </a:p>
            </p:txBody>
          </p:sp>
        </mc:Choice>
        <mc:Fallback xmlns="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2D5E69C6-E8E3-4136-83CE-73271C3545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255321"/>
                <a:ext cx="10515600" cy="1325563"/>
              </a:xfrm>
              <a:blipFill>
                <a:blip r:embed="rId2"/>
                <a:stretch>
                  <a:fillRect l="-2377" t="-1336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4B85A4B-2337-C8B2-3E88-9D0F327AB6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𝑚𝑜𝑑𝑒𝑙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</m:oMath>
                </a14:m>
                <a:endParaRPr lang="fr-FR" b="0" dirty="0"/>
              </a:p>
              <a:p>
                <a:r>
                  <a:rPr lang="fr-FR" b="0" dirty="0"/>
                  <a:t>K = 2 pour in</a:t>
                </a:r>
                <a:r>
                  <a:rPr lang="fr-FR" dirty="0"/>
                  <a:t>tervalle de confiance à 95,4%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Sup>
                          <m:sSub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𝑛𝑢𝑚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𝑖𝑛𝑝𝑢𝑡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rad>
                  </m:oMath>
                </a14:m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4B85A4B-2337-C8B2-3E88-9D0F327AB6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85313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2FD1E7-D507-F3B9-06EA-C4D755151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Interprétation de l’intervalle de confiance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5F231FAE-DF1D-EF42-B4E7-03EBF13AC6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b="0" dirty="0">
                    <a:latin typeface="Cambria Math" panose="02040503050406030204" pitchFamily="18" charset="0"/>
                  </a:rPr>
                  <a:t>E par rapport à </a:t>
                </a:r>
                <a:r>
                  <a:rPr lang="fr-FR" b="0" dirty="0" err="1">
                    <a:latin typeface="Cambria Math" panose="02040503050406030204" pitchFamily="18" charset="0"/>
                  </a:rPr>
                  <a:t>u_val</a:t>
                </a:r>
                <a:r>
                  <a:rPr lang="fr-FR" b="0" dirty="0">
                    <a:latin typeface="Cambria Math" panose="02040503050406030204" pitchFamily="18" charset="0"/>
                  </a:rPr>
                  <a:t> ?</a:t>
                </a:r>
              </a:p>
              <a:p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fr-FR" dirty="0"/>
                  <a:t> semble être l’erreur prédominante dans la validation </a:t>
                </a:r>
                <a:r>
                  <a:rPr lang="fr-FR" dirty="0">
                    <a:sym typeface="Wingdings" panose="05000000000000000000" pitchFamily="2" charset="2"/>
                  </a:rPr>
                  <a:t> être plus précis sur les expériences  </a:t>
                </a: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5F231FAE-DF1D-EF42-B4E7-03EBF13AC6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511411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269</Words>
  <Application>Microsoft Office PowerPoint</Application>
  <PresentationFormat>Grand écran</PresentationFormat>
  <Paragraphs>36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Cambria Math</vt:lpstr>
      <vt:lpstr>Wingdings</vt:lpstr>
      <vt:lpstr>Thème Office</vt:lpstr>
      <vt:lpstr>MEC8211 – Devoir 3 </vt:lpstr>
      <vt:lpstr>A) Incertitude numérique u_num </vt:lpstr>
      <vt:lpstr>Évolution du maillage lors du calcul de u_num</vt:lpstr>
      <vt:lpstr>B) Incertitude sur les données d’entrée u_input </vt:lpstr>
      <vt:lpstr>C) Incertitude expérimentale u_D </vt:lpstr>
      <vt:lpstr>D) Erreur de simulation E  </vt:lpstr>
      <vt:lpstr>E) Erreur du modèle δ_model </vt:lpstr>
      <vt:lpstr>Interprétation de l’intervalle de confiance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Loic VIGNAUD</cp:lastModifiedBy>
  <cp:revision>4</cp:revision>
  <dcterms:created xsi:type="dcterms:W3CDTF">2026-03-17T16:04:56Z</dcterms:created>
  <dcterms:modified xsi:type="dcterms:W3CDTF">2026-03-26T00:58:56Z</dcterms:modified>
</cp:coreProperties>
</file>