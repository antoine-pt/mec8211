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65" r:id="rId9"/>
    <p:sldId id="269"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dirty="0"/>
              <a:t>Antoine Payette-Toupin (2090788)</a:t>
            </a:r>
          </a:p>
          <a:p>
            <a:r>
              <a:rPr lang="fr-FR" dirty="0"/>
              <a:t>Charlotte Sabrié (2485495)</a:t>
            </a:r>
          </a:p>
          <a:p>
            <a:r>
              <a:rPr lang="fr-FR"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dirty="0"/>
              <a:t>Problème stationnaire :</a:t>
            </a:r>
          </a:p>
          <a:p>
            <a:r>
              <a:rPr lang="fr-FR" dirty="0"/>
              <a:t>Problème </a:t>
            </a:r>
            <a:r>
              <a:rPr lang="fr-FR" b="1" dirty="0"/>
              <a:t>elliptique </a:t>
            </a:r>
            <a:endParaRPr lang="fr-FR" dirty="0"/>
          </a:p>
          <a:p>
            <a:r>
              <a:rPr lang="fr-FR" dirty="0"/>
              <a:t>Coordonnées cylindriques (symétrie autour de l’axe du pilier) </a:t>
            </a:r>
          </a:p>
          <a:p>
            <a:r>
              <a:rPr lang="fr-FR" dirty="0"/>
              <a:t> Réduction de la dimensionalité du problème : </a:t>
            </a:r>
          </a:p>
          <a:p>
            <a:pPr lvl="1"/>
            <a:r>
              <a:rPr lang="fr-FR" dirty="0"/>
              <a:t>Invariance par translation le long de l’axe du pilier (considéré infini)</a:t>
            </a:r>
          </a:p>
          <a:p>
            <a:pPr lvl="1"/>
            <a:r>
              <a:rPr lang="fr-FR" dirty="0"/>
              <a:t>Invariance par rotation autour de l’axe du pilier</a:t>
            </a:r>
          </a:p>
          <a:p>
            <a:pPr lvl="1"/>
            <a:r>
              <a:rPr lang="fr-FR" dirty="0">
                <a:sym typeface="Wingdings" panose="05000000000000000000" pitchFamily="2" charset="2"/>
              </a:rPr>
              <a:t> La </a:t>
            </a:r>
            <a:r>
              <a:rPr lang="fr-FR" b="1" dirty="0">
                <a:sym typeface="Wingdings" panose="05000000000000000000" pitchFamily="2" charset="2"/>
              </a:rPr>
              <a:t>concentration ne dépend que de r</a:t>
            </a:r>
            <a:r>
              <a:rPr lang="fr-FR" dirty="0">
                <a:sym typeface="Wingdings" panose="05000000000000000000" pitchFamily="2" charset="2"/>
              </a:rPr>
              <a:t>,</a:t>
            </a:r>
          </a:p>
          <a:p>
            <a:pPr marL="457200" lvl="1" indent="0">
              <a:buNone/>
            </a:pPr>
            <a:r>
              <a:rPr lang="fr-FR"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el-GR" sz="2800" b="0" i="0" u="none" strike="noStrike" kern="1200" cap="none" spc="0" normalizeH="0" baseline="0" noProof="0" dirty="0">
                <a:ln>
                  <a:noFill/>
                </a:ln>
                <a:solidFill>
                  <a:prstClr val="black"/>
                </a:solidFill>
                <a:effectLst/>
                <a:uLnTx/>
                <a:uFillTx/>
                <a:latin typeface="Aptos" panose="02110004020202020204"/>
                <a:ea typeface="+mn-ea"/>
                <a:cs typeface="+mn-cs"/>
              </a:rPr>
              <a:t>Δ</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r = R/5 = 0,1m</a:t>
            </a:r>
          </a:p>
          <a:p>
            <a:pPr marL="457200" lvl="1" indent="0">
              <a:buNone/>
            </a:pPr>
            <a:endParaRPr lang="fr-FR"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dirty="0"/>
                  <a:t>Conditions frontières : </a:t>
                </a:r>
              </a:p>
              <a:p>
                <a:pPr marL="0" indent="0">
                  <a:buNone/>
                </a:pPr>
                <a:r>
                  <a:rPr lang="fr-FR" dirty="0"/>
                  <a:t>	Au nœud 5, par continuité, on a :</a:t>
                </a:r>
              </a:p>
              <a:p>
                <a:pPr marL="0" indent="0">
                  <a:buNone/>
                </a:pPr>
                <a:r>
                  <a:rPr lang="fr-FR" dirty="0"/>
                  <a:t>	(conditions de Dirichlet)</a:t>
                </a:r>
              </a:p>
              <a:p>
                <a:pPr marL="0" indent="0">
                  <a:buNone/>
                </a:pPr>
                <a:r>
                  <a:rPr lang="fr-FR" dirty="0"/>
                  <a:t>	Au </a:t>
                </a:r>
                <a:r>
                  <a:rPr lang="fr-FR" dirty="0" err="1"/>
                  <a:t>noeud</a:t>
                </a:r>
                <a:r>
                  <a:rPr lang="fr-FR" dirty="0"/>
                  <a:t> 1, par symétrie, on a : </a:t>
                </a:r>
                <a14:m>
                  <m:oMath xmlns:m="http://schemas.openxmlformats.org/officeDocument/2006/math">
                    <m:f>
                      <m:fPr>
                        <m:ctrlPr>
                          <a:rPr lang="fr-CA" b="0" i="1" smtClean="0">
                            <a:latin typeface="Cambria Math" panose="02040503050406030204" pitchFamily="18" charset="0"/>
                          </a:rPr>
                        </m:ctrlPr>
                      </m:fPr>
                      <m:num>
                        <m:r>
                          <a:rPr lang="fr-CA" b="0" i="1" smtClean="0">
                            <a:latin typeface="Cambria Math" panose="02040503050406030204" pitchFamily="18" charset="0"/>
                          </a:rPr>
                          <m:t>𝑑</m:t>
                        </m:r>
                        <m:sSub>
                          <m:sSubPr>
                            <m:ctrlPr>
                              <a:rPr lang="fr-CA" b="0" i="1" smtClean="0">
                                <a:latin typeface="Cambria Math" panose="02040503050406030204" pitchFamily="18" charset="0"/>
                              </a:rPr>
                            </m:ctrlPr>
                          </m:sSubPr>
                          <m:e>
                            <m:r>
                              <a:rPr lang="fr-CA" b="0" i="1" smtClean="0">
                                <a:latin typeface="Cambria Math" panose="02040503050406030204" pitchFamily="18" charset="0"/>
                              </a:rPr>
                              <m:t>𝐶</m:t>
                            </m:r>
                          </m:e>
                          <m:sub>
                            <m:r>
                              <a:rPr lang="fr-CA" b="0" i="1" smtClean="0">
                                <a:latin typeface="Cambria Math" panose="02040503050406030204" pitchFamily="18" charset="0"/>
                              </a:rPr>
                              <m:t>1</m:t>
                            </m:r>
                          </m:sub>
                        </m:sSub>
                      </m:num>
                      <m:den>
                        <m:r>
                          <a:rPr lang="fr-CA" b="0" i="1" smtClean="0">
                            <a:latin typeface="Cambria Math" panose="02040503050406030204" pitchFamily="18" charset="0"/>
                          </a:rPr>
                          <m:t>𝑑𝑟</m:t>
                        </m:r>
                      </m:den>
                    </m:f>
                    <m:r>
                      <a:rPr lang="fr-CA" b="0" i="1" smtClean="0">
                        <a:latin typeface="Cambria Math" panose="02040503050406030204" pitchFamily="18" charset="0"/>
                      </a:rPr>
                      <m:t>=0</m:t>
                    </m:r>
                  </m:oMath>
                </a14:m>
                <a:br>
                  <a:rPr lang="fr-CA" dirty="0"/>
                </a:br>
                <a:r>
                  <a:rPr lang="fr-CA" dirty="0"/>
                  <a:t>	(condition de Neumann nulle)</a:t>
                </a:r>
                <a:endParaRPr lang="fr-FR" dirty="0"/>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dirty="0"/>
              </a:p>
              <a:p>
                <a:pPr marL="0" indent="0">
                  <a:buNone/>
                </a:pPr>
                <a:endParaRPr lang="fr-FR" dirty="0"/>
              </a:p>
            </p:txBody>
          </p:sp>
        </mc:Choice>
        <mc:Fallback>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r>
                          <a:rPr lang="fr-FR" b="0" i="1" smtClean="0">
                            <a:latin typeface="Cambria Math" panose="02040503050406030204" pitchFamily="18" charset="0"/>
                          </a:rPr>
                          <m:t> </m:t>
                        </m:r>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1</m:t>
                        </m:r>
                      </m:num>
                      <m:den>
                        <m:r>
                          <a:rPr lang="fr-FR" b="0" i="1" smtClean="0">
                            <a:latin typeface="Cambria Math" panose="02040503050406030204" pitchFamily="18" charset="0"/>
                          </a:rPr>
                          <m:t>𝑟</m:t>
                        </m:r>
                      </m:den>
                    </m:f>
                    <m:f>
                      <m:fPr>
                        <m:ctrlPr>
                          <a:rPr lang="fr-FR" b="0" i="1" smtClean="0">
                            <a:latin typeface="Cambria Math" panose="02040503050406030204" pitchFamily="18" charset="0"/>
                          </a:rPr>
                        </m:ctrlPr>
                      </m:fPr>
                      <m:num>
                        <m:r>
                          <a:rPr lang="fr-FR" b="0" i="1" smtClean="0">
                            <a:latin typeface="Cambria Math" panose="02040503050406030204" pitchFamily="18" charset="0"/>
                          </a:rPr>
                          <m:t>𝑑</m:t>
                        </m:r>
                      </m:num>
                      <m:den>
                        <m:r>
                          <a:rPr lang="fr-FR" b="0" i="1" smtClean="0">
                            <a:latin typeface="Cambria Math" panose="02040503050406030204" pitchFamily="18" charset="0"/>
                          </a:rPr>
                          <m:t>𝑑𝑟</m:t>
                        </m:r>
                      </m:den>
                    </m:f>
                    <m:d>
                      <m:dPr>
                        <m:ctrlPr>
                          <a:rPr lang="fr-FR" b="0" i="1" smtClean="0">
                            <a:latin typeface="Cambria Math" panose="02040503050406030204" pitchFamily="18" charset="0"/>
                          </a:rPr>
                        </m:ctrlPr>
                      </m:dPr>
                      <m:e>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e>
                    </m:d>
                  </m:oMath>
                </a14:m>
                <a:endParaRPr lang="fr-FR" dirty="0"/>
              </a:p>
              <a:p>
                <a14:m>
                  <m:oMath xmlns:m="http://schemas.openxmlformats.org/officeDocument/2006/math">
                    <m:nary>
                      <m:naryPr>
                        <m:limLoc m:val="undOvr"/>
                        <m:subHide m:val="on"/>
                        <m:supHide m:val="on"/>
                        <m:ctrlPr>
                          <a:rPr lang="fr-FR" b="0" i="1" smtClean="0">
                            <a:latin typeface="Cambria Math" panose="02040503050406030204" pitchFamily="18" charset="0"/>
                          </a:rPr>
                        </m:ctrlPr>
                      </m:naryPr>
                      <m:sub/>
                      <m:sup/>
                      <m:e>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dr</m:t>
                        </m:r>
                        <m:r>
                          <a:rPr lang="fr-FR" b="0" i="1" smtClean="0">
                            <a:latin typeface="Cambria Math" panose="02040503050406030204" pitchFamily="18" charset="0"/>
                          </a:rPr>
                          <m:t> = </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m:t>
                            </m:r>
                            <m:d>
                              <m:dPr>
                                <m:ctrlPr>
                                  <a:rPr lang="fr-FR" i="1">
                                    <a:latin typeface="Cambria Math" panose="02040503050406030204" pitchFamily="18" charset="0"/>
                                  </a:rPr>
                                </m:ctrlPr>
                              </m:dPr>
                              <m:e>
                                <m:r>
                                  <a:rPr lang="fr-FR" i="1">
                                    <a:latin typeface="Cambria Math" panose="02040503050406030204" pitchFamily="18" charset="0"/>
                                  </a:rPr>
                                  <m:t>𝑟</m:t>
                                </m:r>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e>
                            </m:d>
                          </m:e>
                        </m:nary>
                      </m:e>
                    </m:nary>
                    <m:r>
                      <a:rPr lang="fr-FR" b="0" i="1" smtClean="0">
                        <a:latin typeface="Cambria Math" panose="02040503050406030204" pitchFamily="18" charset="0"/>
                      </a:rPr>
                      <m:t>                         </m:t>
                    </m:r>
                    <m:f>
                      <m:fPr>
                        <m:ctrlPr>
                          <a:rPr lang="fr-FR" i="1">
                            <a:latin typeface="Cambria Math" panose="02040503050406030204" pitchFamily="18" charset="0"/>
                          </a:rPr>
                        </m:ctrlPr>
                      </m:fPr>
                      <m:num>
                        <m:r>
                          <a:rPr lang="fr-FR" i="1">
                            <a:latin typeface="Cambria Math" panose="02040503050406030204" pitchFamily="18" charset="0"/>
                          </a:rPr>
                          <m:t>𝑆</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r>
                          <a:rPr lang="fr-FR" i="1">
                            <a:latin typeface="Cambria Math" panose="02040503050406030204" pitchFamily="18" charset="0"/>
                          </a:rPr>
                          <m:t> </m:t>
                        </m:r>
                      </m:den>
                    </m:f>
                    <m:f>
                      <m:fPr>
                        <m:ctrlPr>
                          <a:rPr lang="fr-FR" b="0" i="1" smtClean="0">
                            <a:latin typeface="Cambria Math" panose="02040503050406030204" pitchFamily="18" charset="0"/>
                          </a:rPr>
                        </m:ctrlPr>
                      </m:fPr>
                      <m:num>
                        <m:sSup>
                          <m:sSupPr>
                            <m:ctrlPr>
                              <a:rPr lang="fr-FR" b="0" i="1" smtClean="0">
                                <a:latin typeface="Cambria Math" panose="02040503050406030204" pitchFamily="18" charset="0"/>
                              </a:rPr>
                            </m:ctrlPr>
                          </m:sSupPr>
                          <m:e>
                            <m:r>
                              <a:rPr lang="fr-FR" b="0" i="1" smtClean="0">
                                <a:latin typeface="Cambria Math" panose="02040503050406030204" pitchFamily="18" charset="0"/>
                              </a:rPr>
                              <m:t>𝑟</m:t>
                            </m:r>
                          </m:e>
                          <m:sup>
                            <m:r>
                              <a:rPr lang="fr-FR" b="0" i="1" smtClean="0">
                                <a:latin typeface="Cambria Math" panose="02040503050406030204" pitchFamily="18" charset="0"/>
                              </a:rPr>
                              <m:t>2</m:t>
                            </m:r>
                          </m:sup>
                        </m:sSup>
                      </m:num>
                      <m:den>
                        <m:r>
                          <a:rPr lang="fr-FR" b="0" i="1" smtClean="0">
                            <a:latin typeface="Cambria Math" panose="02040503050406030204" pitchFamily="18" charset="0"/>
                          </a:rPr>
                          <m:t>2</m:t>
                        </m:r>
                      </m:den>
                    </m:f>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1</m:t>
                        </m:r>
                      </m:sub>
                    </m:sSub>
                    <m:r>
                      <a:rPr lang="fr-FR" b="0" i="1" smtClean="0">
                        <a:latin typeface="Cambria Math" panose="02040503050406030204" pitchFamily="18" charset="0"/>
                      </a:rPr>
                      <m:t>=</m:t>
                    </m:r>
                    <m:r>
                      <a:rPr lang="fr-FR" b="0" i="1" smtClean="0">
                        <a:latin typeface="Cambria Math" panose="02040503050406030204" pitchFamily="18" charset="0"/>
                      </a:rPr>
                      <m:t>𝑟</m:t>
                    </m:r>
                    <m:f>
                      <m:fPr>
                        <m:ctrlPr>
                          <a:rPr lang="fr-FR" b="0" i="1" smtClean="0">
                            <a:latin typeface="Cambria Math" panose="02040503050406030204" pitchFamily="18" charset="0"/>
                          </a:rPr>
                        </m:ctrlPr>
                      </m:fPr>
                      <m:num>
                        <m:r>
                          <a:rPr lang="fr-FR" b="0" i="1" smtClean="0">
                            <a:latin typeface="Cambria Math" panose="02040503050406030204" pitchFamily="18" charset="0"/>
                          </a:rPr>
                          <m:t>𝑑𝐶</m:t>
                        </m:r>
                      </m:num>
                      <m:den>
                        <m:r>
                          <a:rPr lang="fr-FR" b="0" i="1" smtClean="0">
                            <a:latin typeface="Cambria Math" panose="02040503050406030204" pitchFamily="18" charset="0"/>
                          </a:rPr>
                          <m:t>𝑑𝑟</m:t>
                        </m:r>
                      </m:den>
                    </m:f>
                  </m:oMath>
                </a14:m>
                <a:endParaRPr lang="fr-FR" dirty="0"/>
              </a:p>
              <a:p>
                <a:r>
                  <a:rPr lang="fr-FR" dirty="0"/>
                  <a:t>Or  </a:t>
                </a:r>
                <a14:m>
                  <m:oMath xmlns:m="http://schemas.openxmlformats.org/officeDocument/2006/math">
                    <m:f>
                      <m:fPr>
                        <m:ctrlPr>
                          <a:rPr lang="fr-FR" i="1">
                            <a:latin typeface="Cambria Math" panose="02040503050406030204" pitchFamily="18" charset="0"/>
                          </a:rPr>
                        </m:ctrlPr>
                      </m:fPr>
                      <m:num>
                        <m:r>
                          <a:rPr lang="fr-FR" i="1">
                            <a:latin typeface="Cambria Math" panose="02040503050406030204" pitchFamily="18" charset="0"/>
                          </a:rPr>
                          <m:t>𝑑𝐶</m:t>
                        </m:r>
                      </m:num>
                      <m:den>
                        <m:r>
                          <a:rPr lang="fr-FR" i="1">
                            <a:latin typeface="Cambria Math" panose="02040503050406030204" pitchFamily="18" charset="0"/>
                          </a:rPr>
                          <m:t>𝑑𝑟</m:t>
                        </m:r>
                      </m:den>
                    </m:f>
                    <m:sSub>
                      <m:sSubPr>
                        <m:ctrlPr>
                          <a:rPr lang="fr-FR" b="0" i="1" smtClean="0">
                            <a:latin typeface="Cambria Math" panose="02040503050406030204" pitchFamily="18" charset="0"/>
                          </a:rPr>
                        </m:ctrlPr>
                      </m:sSubPr>
                      <m:e>
                        <m:d>
                          <m:dPr>
                            <m:begChr m:val=""/>
                            <m:endChr m:val="|"/>
                            <m:ctrlPr>
                              <a:rPr lang="fr-FR" b="0" i="1" smtClean="0">
                                <a:latin typeface="Cambria Math" panose="02040503050406030204" pitchFamily="18" charset="0"/>
                              </a:rPr>
                            </m:ctrlPr>
                          </m:dPr>
                          <m:e>
                            <m:r>
                              <a:rPr lang="en-US">
                                <a:latin typeface="Cambria Math" panose="02040503050406030204" pitchFamily="18" charset="0"/>
                              </a:rPr>
                              <m:t>​</m:t>
                            </m:r>
                          </m:e>
                        </m:d>
                      </m:e>
                      <m:sub>
                        <m:r>
                          <a:rPr lang="fr-FR" b="0" i="1" smtClean="0">
                            <a:latin typeface="Cambria Math" panose="02040503050406030204" pitchFamily="18" charset="0"/>
                          </a:rPr>
                          <m:t>𝑟</m:t>
                        </m:r>
                        <m:r>
                          <a:rPr lang="fr-FR" b="0" i="1" smtClean="0">
                            <a:latin typeface="Cambria Math" panose="02040503050406030204" pitchFamily="18" charset="0"/>
                          </a:rPr>
                          <m:t>=0</m:t>
                        </m:r>
                      </m:sub>
                    </m:sSub>
                    <m:r>
                      <a:rPr lang="fr-FR" b="0" i="1" smtClean="0">
                        <a:latin typeface="Cambria Math" panose="02040503050406030204" pitchFamily="18" charset="0"/>
                      </a:rPr>
                      <m:t>=0</m:t>
                    </m:r>
                  </m:oMath>
                </a14:m>
                <a:r>
                  <a:rPr lang="fr-FR" dirty="0"/>
                  <a:t>     d’où </a:t>
                </a:r>
                <a14:m>
                  <m:oMath xmlns:m="http://schemas.openxmlformats.org/officeDocument/2006/math">
                    <m:sSub>
                      <m:sSubPr>
                        <m:ctrlPr>
                          <a:rPr lang="fr-FR" i="1">
                            <a:latin typeface="Cambria Math" panose="02040503050406030204" pitchFamily="18" charset="0"/>
                          </a:rPr>
                        </m:ctrlPr>
                      </m:sSubPr>
                      <m:e>
                        <m:r>
                          <a:rPr lang="fr-FR" b="0" i="1" smtClean="0">
                            <a:latin typeface="Cambria Math" panose="02040503050406030204" pitchFamily="18" charset="0"/>
                          </a:rPr>
                          <m:t>    </m:t>
                        </m:r>
                        <m:r>
                          <a:rPr lang="fr-FR" i="1">
                            <a:latin typeface="Cambria Math" panose="02040503050406030204" pitchFamily="18" charset="0"/>
                          </a:rPr>
                          <m:t>𝐶</m:t>
                        </m:r>
                        <m:r>
                          <a:rPr lang="fr-CA" b="0" i="1" smtClean="0">
                            <a:latin typeface="Cambria Math" panose="02040503050406030204" pitchFamily="18" charset="0"/>
                          </a:rPr>
                          <m:t>𝑠𝑡</m:t>
                        </m:r>
                      </m:e>
                      <m:sub>
                        <m:r>
                          <a:rPr lang="fr-FR" i="1">
                            <a:latin typeface="Cambria Math" panose="02040503050406030204" pitchFamily="18" charset="0"/>
                          </a:rPr>
                          <m:t>1</m:t>
                        </m:r>
                      </m:sub>
                    </m:sSub>
                    <m:r>
                      <a:rPr lang="fr-FR" b="0" i="1" smtClean="0">
                        <a:latin typeface="Cambria Math" panose="02040503050406030204" pitchFamily="18" charset="0"/>
                      </a:rPr>
                      <m:t>= 0.</m:t>
                    </m:r>
                  </m:oMath>
                </a14:m>
                <a:endParaRPr lang="fr-FR" dirty="0"/>
              </a:p>
              <a:p>
                <a14:m>
                  <m:oMath xmlns:m="http://schemas.openxmlformats.org/officeDocument/2006/math">
                    <m:nary>
                      <m:naryPr>
                        <m:limLoc m:val="undOvr"/>
                        <m:subHide m:val="on"/>
                        <m:supHide m:val="on"/>
                        <m:ctrlPr>
                          <a:rPr lang="fr-FR" i="1" smtClean="0">
                            <a:latin typeface="Cambria Math" panose="02040503050406030204" pitchFamily="18" charset="0"/>
                          </a:rPr>
                        </m:ctrlPr>
                      </m:naryPr>
                      <m:sub/>
                      <m:sup/>
                      <m:e>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𝑟𝑑𝑟</m:t>
                        </m:r>
                        <m:r>
                          <a:rPr lang="fr-FR" b="0" i="1" smtClean="0">
                            <a:latin typeface="Cambria Math" panose="02040503050406030204" pitchFamily="18" charset="0"/>
                          </a:rPr>
                          <m:t>=</m:t>
                        </m:r>
                        <m:nary>
                          <m:naryPr>
                            <m:limLoc m:val="undOvr"/>
                            <m:subHide m:val="on"/>
                            <m:supHide m:val="on"/>
                            <m:ctrlPr>
                              <a:rPr lang="fr-FR" b="0" i="1" smtClean="0">
                                <a:latin typeface="Cambria Math" panose="02040503050406030204" pitchFamily="18" charset="0"/>
                              </a:rPr>
                            </m:ctrlPr>
                          </m:naryPr>
                          <m:sub/>
                          <m:sup/>
                          <m:e>
                            <m:r>
                              <m:rPr>
                                <m:sty m:val="p"/>
                              </m:rPr>
                              <a:rPr lang="fr-FR" b="0" i="1" smtClean="0">
                                <a:latin typeface="Cambria Math" panose="02040503050406030204" pitchFamily="18" charset="0"/>
                              </a:rPr>
                              <m:t>dC</m:t>
                            </m:r>
                          </m:e>
                        </m:nary>
                      </m:e>
                    </m:nary>
                  </m:oMath>
                </a14:m>
                <a:r>
                  <a:rPr lang="fr-FR" dirty="0"/>
                  <a:t>                     </a:t>
                </a:r>
                <a14:m>
                  <m:oMath xmlns:m="http://schemas.openxmlformats.org/officeDocument/2006/math">
                    <m:r>
                      <a:rPr lang="fr-FR" b="0" i="1" dirty="0" smtClean="0">
                        <a:latin typeface="Cambria Math" panose="02040503050406030204" pitchFamily="18" charset="0"/>
                      </a:rPr>
                      <m:t>𝐶</m:t>
                    </m:r>
                    <m:d>
                      <m:dPr>
                        <m:ctrlPr>
                          <a:rPr lang="fr-FR" b="0" i="1" dirty="0" smtClean="0">
                            <a:latin typeface="Cambria Math" panose="02040503050406030204" pitchFamily="18" charset="0"/>
                          </a:rPr>
                        </m:ctrlPr>
                      </m:dPr>
                      <m:e>
                        <m:r>
                          <a:rPr lang="fr-FR" b="0" i="1" dirty="0" smtClean="0">
                            <a:latin typeface="Cambria Math" panose="02040503050406030204" pitchFamily="18" charset="0"/>
                          </a:rPr>
                          <m:t>𝑟</m:t>
                        </m:r>
                      </m:e>
                    </m:d>
                    <m:r>
                      <a:rPr lang="fr-FR" b="0" i="1" dirty="0" smtClean="0">
                        <a:latin typeface="Cambria Math" panose="02040503050406030204" pitchFamily="18" charset="0"/>
                      </a:rPr>
                      <m:t>=</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r>
                          <a:rPr lang="fr-FR" b="0" i="1" dirty="0" smtClean="0">
                            <a:latin typeface="Cambria Math" panose="02040503050406030204" pitchFamily="18" charset="0"/>
                          </a:rPr>
                          <m:t>4⋅</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r>
                          <a:rPr lang="fr-CA" b="0" i="1" dirty="0" smtClean="0">
                            <a:latin typeface="Cambria Math" panose="02040503050406030204" pitchFamily="18" charset="0"/>
                          </a:rPr>
                          <m:t>𝑠𝑡</m:t>
                        </m:r>
                      </m:e>
                      <m:sub>
                        <m:r>
                          <a:rPr lang="fr-FR" b="0" i="1" dirty="0" smtClean="0">
                            <a:latin typeface="Cambria Math" panose="02040503050406030204" pitchFamily="18" charset="0"/>
                          </a:rPr>
                          <m:t>2</m:t>
                        </m:r>
                      </m:sub>
                    </m:sSub>
                  </m:oMath>
                </a14:m>
                <a:endParaRPr lang="fr-FR" dirty="0"/>
              </a:p>
              <a:p>
                <a:r>
                  <a:rPr lang="fr-FR" dirty="0"/>
                  <a:t>Or par continuité  en </a:t>
                </a:r>
                <a14:m>
                  <m:oMath xmlns:m="http://schemas.openxmlformats.org/officeDocument/2006/math">
                    <m:r>
                      <m:rPr>
                        <m:sty m:val="p"/>
                      </m:rPr>
                      <a:rPr lang="fr-FR" b="0" i="1" smtClean="0">
                        <a:latin typeface="Cambria Math" panose="02040503050406030204" pitchFamily="18" charset="0"/>
                      </a:rPr>
                      <m:t>r</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m:t>
                    </m:r>
                    <m:r>
                      <m:rPr>
                        <m:sty m:val="p"/>
                      </m:rPr>
                      <a:rPr lang="fr-FR" b="0" i="1" smtClean="0">
                        <a:latin typeface="Cambria Math" panose="02040503050406030204" pitchFamily="18" charset="0"/>
                      </a:rPr>
                      <m:t>C</m:t>
                    </m:r>
                    <m:r>
                      <a:rPr lang="fr-FR" b="0" i="1" smtClean="0">
                        <a:latin typeface="Cambria Math" panose="02040503050406030204" pitchFamily="18" charset="0"/>
                      </a:rPr>
                      <m:t>(</m:t>
                    </m:r>
                    <m:r>
                      <m:rPr>
                        <m:sty m:val="p"/>
                      </m:rPr>
                      <a:rPr lang="fr-FR" b="0" i="1" smtClean="0">
                        <a:latin typeface="Cambria Math" panose="02040503050406030204" pitchFamily="18" charset="0"/>
                      </a:rPr>
                      <m:t>R</m:t>
                    </m:r>
                    <m:r>
                      <a:rPr lang="fr-FR" b="0" i="1" smtClean="0">
                        <a:latin typeface="Cambria Math" panose="02040503050406030204" pitchFamily="18" charset="0"/>
                      </a:rPr>
                      <m:t>) =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fr-FR" dirty="0"/>
              </a:p>
              <a:p>
                <a14:m>
                  <m:oMath xmlns:m="http://schemas.openxmlformats.org/officeDocument/2006/math">
                    <m:sSub>
                      <m:sSubPr>
                        <m:ctrlPr>
                          <a:rPr lang="fr-FR" b="0" i="1" smtClean="0">
                            <a:latin typeface="Cambria Math" panose="02040503050406030204" pitchFamily="18" charset="0"/>
                          </a:rPr>
                        </m:ctrlPr>
                      </m:sSubPr>
                      <m:e>
                        <m:r>
                          <a:rPr lang="fr-CA" b="0" i="1" smtClean="0">
                            <a:latin typeface="Cambria Math" panose="02040503050406030204" pitchFamily="18" charset="0"/>
                          </a:rPr>
                          <m:t> </m:t>
                        </m:r>
                        <m:r>
                          <a:rPr lang="fr-FR" b="0" i="1" smtClean="0">
                            <a:latin typeface="Cambria Math" panose="02040503050406030204" pitchFamily="18" charset="0"/>
                          </a:rPr>
                          <m:t>𝐶</m:t>
                        </m:r>
                        <m:r>
                          <a:rPr lang="fr-CA" b="0" i="1" smtClean="0">
                            <a:latin typeface="Cambria Math" panose="02040503050406030204" pitchFamily="18" charset="0"/>
                          </a:rPr>
                          <m:t>𝑠𝑡</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𝑆</m:t>
                        </m:r>
                      </m:num>
                      <m:den>
                        <m:r>
                          <a:rPr lang="fr-FR" b="0" i="1" smtClean="0">
                            <a:latin typeface="Cambria Math" panose="02040503050406030204" pitchFamily="18" charset="0"/>
                          </a:rPr>
                          <m:t>4⋅</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sSup>
                      <m:sSupPr>
                        <m:ctrlPr>
                          <a:rPr lang="fr-FR" b="0" i="1" smtClean="0">
                            <a:latin typeface="Cambria Math" panose="02040503050406030204" pitchFamily="18" charset="0"/>
                          </a:rPr>
                        </m:ctrlPr>
                      </m:sSupPr>
                      <m:e>
                        <m:r>
                          <a:rPr lang="fr-FR" b="0" i="1" smtClean="0">
                            <a:latin typeface="Cambria Math" panose="02040503050406030204" pitchFamily="18" charset="0"/>
                          </a:rPr>
                          <m:t>𝑅</m:t>
                        </m:r>
                      </m:e>
                      <m:sup>
                        <m:r>
                          <a:rPr lang="fr-FR" b="0" i="1" smtClean="0">
                            <a:latin typeface="Cambria Math" panose="02040503050406030204" pitchFamily="18" charset="0"/>
                          </a:rPr>
                          <m:t>2</m:t>
                        </m:r>
                      </m:sup>
                    </m:sSup>
                  </m:oMath>
                </a14:m>
                <a:r>
                  <a:rPr lang="fr-FR" dirty="0"/>
                  <a:t>                     d’où   </a:t>
                </a:r>
                <a14:m>
                  <m:oMath xmlns:m="http://schemas.openxmlformats.org/officeDocument/2006/math">
                    <m:r>
                      <m:rPr>
                        <m:sty m:val="p"/>
                      </m:rPr>
                      <a:rPr lang="fr-FR" b="0" i="1" dirty="0" smtClean="0">
                        <a:latin typeface="Cambria Math" panose="02040503050406030204" pitchFamily="18" charset="0"/>
                      </a:rPr>
                      <m:t>C</m:t>
                    </m:r>
                    <m:r>
                      <a:rPr lang="fr-FR" b="0" i="1" dirty="0" smtClean="0">
                        <a:latin typeface="Cambria Math" panose="02040503050406030204" pitchFamily="18" charset="0"/>
                      </a:rPr>
                      <m:t>(</m:t>
                    </m:r>
                    <m:r>
                      <m:rPr>
                        <m:sty m:val="p"/>
                      </m:rPr>
                      <a:rPr lang="fr-FR" b="0" i="1" dirty="0" smtClean="0">
                        <a:latin typeface="Cambria Math" panose="02040503050406030204" pitchFamily="18" charset="0"/>
                      </a:rPr>
                      <m:t>r</m:t>
                    </m:r>
                    <m:r>
                      <a:rPr lang="fr-FR" b="0" i="1" dirty="0" smtClean="0">
                        <a:latin typeface="Cambria Math" panose="02040503050406030204" pitchFamily="18" charset="0"/>
                      </a:rPr>
                      <m:t>) =</m:t>
                    </m:r>
                    <m:f>
                      <m:fPr>
                        <m:ctrlPr>
                          <a:rPr lang="fr-FR" b="0" i="1" dirty="0" smtClean="0">
                            <a:latin typeface="Cambria Math" panose="02040503050406030204" pitchFamily="18" charset="0"/>
                          </a:rPr>
                        </m:ctrlPr>
                      </m:fPr>
                      <m:num>
                        <m:r>
                          <a:rPr lang="fr-FR" b="0" i="1" dirty="0" smtClean="0">
                            <a:latin typeface="Cambria Math" panose="02040503050406030204" pitchFamily="18" charset="0"/>
                          </a:rPr>
                          <m:t>𝑆</m:t>
                        </m:r>
                      </m:num>
                      <m:den>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𝐷</m:t>
                            </m:r>
                          </m:e>
                          <m:sub>
                            <m:r>
                              <a:rPr lang="fr-FR" b="0" i="1" dirty="0" smtClean="0">
                                <a:latin typeface="Cambria Math" panose="02040503050406030204" pitchFamily="18" charset="0"/>
                              </a:rPr>
                              <m:t>𝑒𝑓𝑓</m:t>
                            </m:r>
                          </m:sub>
                        </m:sSub>
                      </m:den>
                    </m:f>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
                      <m:dPr>
                        <m:ctrlPr>
                          <a:rPr lang="fr-FR" b="0" i="1" dirty="0" smtClean="0">
                            <a:latin typeface="Cambria Math" panose="02040503050406030204" pitchFamily="18" charset="0"/>
                          </a:rPr>
                        </m:ctrlPr>
                      </m:dPr>
                      <m:e>
                        <m:f>
                          <m:fPr>
                            <m:ctrlPr>
                              <a:rPr lang="fr-FR" b="0" i="1" dirty="0" smtClean="0">
                                <a:latin typeface="Cambria Math" panose="02040503050406030204" pitchFamily="18" charset="0"/>
                              </a:rPr>
                            </m:ctrlPr>
                          </m:fPr>
                          <m:num>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𝑟</m:t>
                                </m:r>
                              </m:e>
                              <m:sup>
                                <m:r>
                                  <a:rPr lang="fr-FR" b="0" i="1" dirty="0" smtClean="0">
                                    <a:latin typeface="Cambria Math" panose="02040503050406030204" pitchFamily="18" charset="0"/>
                                  </a:rPr>
                                  <m:t>2</m:t>
                                </m:r>
                              </m:sup>
                            </m:sSup>
                          </m:num>
                          <m:den>
                            <m:sSup>
                              <m:sSupPr>
                                <m:ctrlPr>
                                  <a:rPr lang="fr-FR" b="0" i="1" dirty="0" smtClean="0">
                                    <a:latin typeface="Cambria Math" panose="02040503050406030204" pitchFamily="18" charset="0"/>
                                  </a:rPr>
                                </m:ctrlPr>
                              </m:sSupPr>
                              <m:e>
                                <m:r>
                                  <a:rPr lang="fr-FR" b="0" i="1" dirty="0" smtClean="0">
                                    <a:latin typeface="Cambria Math" panose="02040503050406030204" pitchFamily="18" charset="0"/>
                                  </a:rPr>
                                  <m:t>𝑅</m:t>
                                </m:r>
                              </m:e>
                              <m:sup>
                                <m:r>
                                  <a:rPr lang="fr-FR" b="0" i="1" dirty="0" smtClean="0">
                                    <a:latin typeface="Cambria Math" panose="02040503050406030204" pitchFamily="18" charset="0"/>
                                  </a:rPr>
                                  <m:t>2</m:t>
                                </m:r>
                              </m:sup>
                            </m:sSup>
                          </m:den>
                        </m:f>
                        <m:r>
                          <a:rPr lang="fr-FR" b="0" i="1" dirty="0" smtClean="0">
                            <a:latin typeface="Cambria Math" panose="02040503050406030204" pitchFamily="18" charset="0"/>
                          </a:rPr>
                          <m:t>−1</m:t>
                        </m:r>
                      </m:e>
                    </m:d>
                    <m:r>
                      <a:rPr lang="fr-FR" b="0" i="1" dirty="0" smtClean="0">
                        <a:latin typeface="Cambria Math" panose="02040503050406030204" pitchFamily="18" charset="0"/>
                      </a:rPr>
                      <m:t>+</m:t>
                    </m:r>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𝐶</m:t>
                        </m:r>
                      </m:e>
                      <m:sub>
                        <m:r>
                          <a:rPr lang="fr-FR" b="0" i="1" dirty="0" smtClean="0">
                            <a:latin typeface="Cambria Math" panose="02040503050406030204" pitchFamily="18" charset="0"/>
                          </a:rPr>
                          <m:t>𝑒</m:t>
                        </m:r>
                      </m:sub>
                    </m:sSub>
                  </m:oMath>
                </a14:m>
                <a:endParaRPr lang="fr-FR" dirty="0"/>
              </a:p>
            </p:txBody>
          </p:sp>
        </mc:Choice>
        <mc:Fallback>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CA">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dirty="0"/>
                  <a:t>I =1 :   </a:t>
                </a:r>
                <a14:m>
                  <m:oMath xmlns:m="http://schemas.openxmlformats.org/officeDocument/2006/math">
                    <m:f>
                      <m:fPr>
                        <m:ctrlPr>
                          <a:rPr lang="fr-CA" b="0" i="0" dirty="0" smtClean="0">
                            <a:latin typeface="Cambria Math" panose="02040503050406030204" pitchFamily="18" charset="0"/>
                          </a:rPr>
                        </m:ctrlPr>
                      </m:fPr>
                      <m:num>
                        <m:sSub>
                          <m:sSubPr>
                            <m:ctrlPr>
                              <a:rPr lang="fr-CA" b="0" i="0" dirty="0" smtClean="0">
                                <a:latin typeface="Cambria Math" panose="02040503050406030204" pitchFamily="18" charset="0"/>
                              </a:rPr>
                            </m:ctrlPr>
                          </m:sSubPr>
                          <m:e>
                            <m:r>
                              <m:rPr>
                                <m:sty m:val="p"/>
                              </m:rPr>
                              <a:rPr lang="fr-CA" dirty="0" smtClean="0">
                                <a:latin typeface="Cambria Math" panose="02040503050406030204" pitchFamily="18" charset="0"/>
                              </a:rPr>
                              <m:t>d</m:t>
                            </m:r>
                            <m:r>
                              <m:rPr>
                                <m:sty m:val="p"/>
                              </m:rPr>
                              <a:rPr lang="fr-CA" b="0" i="0" dirty="0" smtClean="0">
                                <a:latin typeface="Cambria Math" panose="02040503050406030204" pitchFamily="18" charset="0"/>
                              </a:rPr>
                              <m:t>C</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rPr>
                          <m:t>𝑑𝑟</m:t>
                        </m:r>
                      </m:den>
                    </m:f>
                    <m:r>
                      <a:rPr lang="fr-CA" b="0" i="1" dirty="0" smtClean="0">
                        <a:latin typeface="Cambria Math" panose="02040503050406030204" pitchFamily="18" charset="0"/>
                      </a:rPr>
                      <m:t>=0 →</m:t>
                    </m:r>
                    <m:f>
                      <m:fPr>
                        <m:ctrlPr>
                          <a:rPr lang="fr-CA" b="0" i="1" dirty="0" smtClean="0">
                            <a:latin typeface="Cambria Math" panose="02040503050406030204" pitchFamily="18" charset="0"/>
                          </a:rPr>
                        </m:ctrlPr>
                      </m:fPr>
                      <m:num>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2</m:t>
                            </m:r>
                          </m:sub>
                        </m:sSub>
                        <m:r>
                          <a:rPr lang="fr-CA" b="0" i="1" dirty="0" smtClean="0">
                            <a:latin typeface="Cambria Math" panose="02040503050406030204" pitchFamily="18" charset="0"/>
                          </a:rPr>
                          <m:t>−</m:t>
                        </m:r>
                        <m:sSub>
                          <m:sSubPr>
                            <m:ctrlPr>
                              <a:rPr lang="fr-CA" b="0" i="1" dirty="0" smtClean="0">
                                <a:latin typeface="Cambria Math" panose="02040503050406030204" pitchFamily="18" charset="0"/>
                              </a:rPr>
                            </m:ctrlPr>
                          </m:sSubPr>
                          <m:e>
                            <m:r>
                              <a:rPr lang="fr-CA" b="0" i="1" dirty="0" smtClean="0">
                                <a:latin typeface="Cambria Math" panose="02040503050406030204" pitchFamily="18" charset="0"/>
                              </a:rPr>
                              <m:t>𝐶</m:t>
                            </m:r>
                          </m:e>
                          <m:sub>
                            <m:r>
                              <a:rPr lang="fr-CA" b="0" i="1" dirty="0" smtClean="0">
                                <a:latin typeface="Cambria Math" panose="02040503050406030204" pitchFamily="18" charset="0"/>
                              </a:rPr>
                              <m:t>1</m:t>
                            </m:r>
                          </m:sub>
                        </m:sSub>
                      </m:num>
                      <m:den>
                        <m:r>
                          <a:rPr lang="fr-CA" b="0" i="1" dirty="0" smtClean="0">
                            <a:latin typeface="Cambria Math" panose="02040503050406030204" pitchFamily="18" charset="0"/>
                            <a:ea typeface="Cambria Math" panose="02040503050406030204" pitchFamily="18" charset="0"/>
                          </a:rPr>
                          <m:t>∆</m:t>
                        </m:r>
                        <m:r>
                          <a:rPr lang="fr-CA" b="0" i="1" dirty="0" smtClean="0">
                            <a:latin typeface="Cambria Math" panose="02040503050406030204" pitchFamily="18" charset="0"/>
                            <a:ea typeface="Cambria Math" panose="02040503050406030204" pitchFamily="18" charset="0"/>
                          </a:rPr>
                          <m:t>𝑟</m:t>
                        </m:r>
                      </m:den>
                    </m:f>
                    <m:sSub>
                      <m:sSubPr>
                        <m:ctrlPr>
                          <a:rPr lang="fr-FR" b="0" i="1" smtClean="0">
                            <a:latin typeface="Cambria Math" panose="02040503050406030204" pitchFamily="18" charset="0"/>
                          </a:rPr>
                        </m:ctrlPr>
                      </m:sSubPr>
                      <m:e>
                        <m:r>
                          <a:rPr lang="fr-CA" b="0" i="1" smtClean="0">
                            <a:latin typeface="Cambria Math" panose="02040503050406030204" pitchFamily="18" charset="0"/>
                          </a:rPr>
                          <m:t>=0 →</m:t>
                        </m:r>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1</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oMath>
                </a14:m>
                <a:endParaRPr lang="fr-FR" dirty="0"/>
              </a:p>
              <a:p>
                <a:r>
                  <a:rPr lang="fr-FR" dirty="0"/>
                  <a:t>I = 2 :  </a:t>
                </a:r>
                <a14:m>
                  <m:oMath xmlns:m="http://schemas.openxmlformats.org/officeDocument/2006/math">
                    <m:f>
                      <m:fPr>
                        <m:ctrlPr>
                          <a:rPr lang="fr-FR" i="1" smtClean="0">
                            <a:latin typeface="Cambria Math" panose="02040503050406030204" pitchFamily="18" charset="0"/>
                          </a:rPr>
                        </m:ctrlPr>
                      </m:fPr>
                      <m:num>
                        <m:r>
                          <m:rPr>
                            <m:sty m:val="p"/>
                          </m:rPr>
                          <a:rPr lang="fr-FR" b="0" i="1" smtClean="0">
                            <a:latin typeface="Cambria Math" panose="02040503050406030204" pitchFamily="18" charset="0"/>
                          </a:rPr>
                          <m:t>S</m:t>
                        </m:r>
                      </m:num>
                      <m:den>
                        <m:sSub>
                          <m:sSubPr>
                            <m:ctrlPr>
                              <a:rPr lang="fr-FR" b="0" i="1" smtClean="0">
                                <a:latin typeface="Cambria Math" panose="02040503050406030204" pitchFamily="18" charset="0"/>
                              </a:rPr>
                            </m:ctrlPr>
                          </m:sSubPr>
                          <m:e>
                            <m:r>
                              <a:rPr lang="fr-FR" b="0" i="1" smtClean="0">
                                <a:latin typeface="Cambria Math" panose="02040503050406030204" pitchFamily="18" charset="0"/>
                              </a:rPr>
                              <m:t>𝐷</m:t>
                            </m:r>
                          </m:e>
                          <m:sub>
                            <m:r>
                              <a:rPr lang="fr-FR" b="0" i="1" smtClean="0">
                                <a:latin typeface="Cambria Math" panose="02040503050406030204" pitchFamily="18" charset="0"/>
                              </a:rPr>
                              <m:t>𝑒𝑓𝑓</m:t>
                            </m:r>
                          </m:sub>
                        </m:sSub>
                      </m:den>
                    </m:f>
                    <m:r>
                      <a:rPr lang="fr-FR" b="0" i="1" smtClean="0">
                        <a:latin typeface="Cambria Math" panose="02040503050406030204" pitchFamily="18" charset="0"/>
                      </a:rPr>
                      <m:t>= </m:t>
                    </m:r>
                    <m:f>
                      <m:fPr>
                        <m:ctrlPr>
                          <a:rPr lang="fr-FR" b="0" i="1" smtClean="0">
                            <a:latin typeface="Cambria Math" panose="02040503050406030204" pitchFamily="18" charset="0"/>
                          </a:rPr>
                        </m:ctrlPr>
                      </m:fPr>
                      <m:num>
                        <m:r>
                          <a:rPr lang="fr-FR" b="0" i="1" smtClean="0">
                            <a:latin typeface="Cambria Math" panose="02040503050406030204" pitchFamily="18" charset="0"/>
                          </a:rPr>
                          <m:t>2</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3</m:t>
                            </m:r>
                          </m:sub>
                        </m:sSub>
                        <m:r>
                          <a:rPr lang="fr-FR" b="0" i="1" smtClean="0">
                            <a:latin typeface="Cambria Math" panose="02040503050406030204" pitchFamily="18" charset="0"/>
                          </a:rPr>
                          <m:t>−3</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2</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1</m:t>
                            </m:r>
                          </m:sub>
                        </m:sSub>
                      </m:num>
                      <m:den>
                        <m:r>
                          <a:rPr lang="fr-FR" b="0" i="1" smtClean="0">
                            <a:latin typeface="Cambria Math" panose="02040503050406030204" pitchFamily="18" charset="0"/>
                          </a:rPr>
                          <m:t>0,01</m:t>
                        </m:r>
                      </m:den>
                    </m:f>
                  </m:oMath>
                </a14:m>
                <a:endParaRPr lang="en-US" dirty="0"/>
              </a:p>
              <a:p>
                <a:r>
                  <a:rPr lang="fr-FR" dirty="0"/>
                  <a:t>I = 3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5</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r>
                          <a:rPr lang="fr-FR" i="1">
                            <a:latin typeface="Cambria Math" panose="02040503050406030204" pitchFamily="18" charset="0"/>
                          </a:rPr>
                          <m:t>+</m:t>
                        </m:r>
                        <m:r>
                          <a:rPr lang="fr-FR" b="0" i="1" smtClean="0">
                            <a:latin typeface="Cambria Math" panose="02040503050406030204" pitchFamily="18" charset="0"/>
                          </a:rPr>
                          <m:t>2</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2</m:t>
                            </m:r>
                          </m:sub>
                        </m:sSub>
                      </m:num>
                      <m:den>
                        <m:r>
                          <a:rPr lang="fr-FR" i="1">
                            <a:latin typeface="Cambria Math" panose="02040503050406030204" pitchFamily="18" charset="0"/>
                          </a:rPr>
                          <m:t>0,0</m:t>
                        </m:r>
                        <m:r>
                          <a:rPr lang="fr-FR" b="0" i="1" smtClean="0">
                            <a:latin typeface="Cambria Math" panose="02040503050406030204" pitchFamily="18" charset="0"/>
                          </a:rPr>
                          <m:t>2</m:t>
                        </m:r>
                      </m:den>
                    </m:f>
                  </m:oMath>
                </a14:m>
                <a:endParaRPr lang="en-US" dirty="0"/>
              </a:p>
              <a:p>
                <a:r>
                  <a:rPr lang="fr-FR" dirty="0"/>
                  <a:t>I = 4 :  </a:t>
                </a:r>
                <a14:m>
                  <m:oMath xmlns:m="http://schemas.openxmlformats.org/officeDocument/2006/math">
                    <m:f>
                      <m:fPr>
                        <m:ctrlPr>
                          <a:rPr lang="fr-FR" i="1">
                            <a:latin typeface="Cambria Math" panose="02040503050406030204" pitchFamily="18" charset="0"/>
                          </a:rPr>
                        </m:ctrlPr>
                      </m:fPr>
                      <m:num>
                        <m:r>
                          <m:rPr>
                            <m:sty m:val="p"/>
                          </m:rPr>
                          <a:rPr lang="fr-FR" i="1">
                            <a:latin typeface="Cambria Math" panose="02040503050406030204" pitchFamily="18" charset="0"/>
                          </a:rPr>
                          <m:t>S</m:t>
                        </m:r>
                      </m:num>
                      <m:den>
                        <m:sSub>
                          <m:sSubPr>
                            <m:ctrlPr>
                              <a:rPr lang="fr-FR" i="1">
                                <a:latin typeface="Cambria Math" panose="02040503050406030204" pitchFamily="18" charset="0"/>
                              </a:rPr>
                            </m:ctrlPr>
                          </m:sSubPr>
                          <m:e>
                            <m:r>
                              <a:rPr lang="fr-FR" i="1">
                                <a:latin typeface="Cambria Math" panose="02040503050406030204" pitchFamily="18" charset="0"/>
                              </a:rPr>
                              <m:t>𝐷</m:t>
                            </m:r>
                          </m:e>
                          <m:sub>
                            <m:r>
                              <a:rPr lang="fr-FR" i="1">
                                <a:latin typeface="Cambria Math" panose="02040503050406030204" pitchFamily="18" charset="0"/>
                              </a:rPr>
                              <m:t>𝑒𝑓𝑓</m:t>
                            </m:r>
                          </m:sub>
                        </m:sSub>
                      </m:den>
                    </m:f>
                    <m:r>
                      <a:rPr lang="fr-FR" i="1">
                        <a:latin typeface="Cambria Math" panose="02040503050406030204" pitchFamily="18" charset="0"/>
                      </a:rPr>
                      <m:t>= </m:t>
                    </m:r>
                    <m:f>
                      <m:fPr>
                        <m:ctrlPr>
                          <a:rPr lang="fr-FR" i="1">
                            <a:latin typeface="Cambria Math" panose="02040503050406030204" pitchFamily="18" charset="0"/>
                          </a:rPr>
                        </m:ctrlPr>
                      </m:fPr>
                      <m:num>
                        <m:r>
                          <a:rPr lang="fr-FR" b="0" i="1" smtClean="0">
                            <a:latin typeface="Cambria Math" panose="02040503050406030204" pitchFamily="18" charset="0"/>
                          </a:rPr>
                          <m:t>4</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5</m:t>
                            </m:r>
                          </m:sub>
                        </m:sSub>
                        <m:r>
                          <a:rPr lang="fr-FR" i="1">
                            <a:latin typeface="Cambria Math" panose="02040503050406030204" pitchFamily="18" charset="0"/>
                          </a:rPr>
                          <m:t>−</m:t>
                        </m:r>
                        <m:r>
                          <a:rPr lang="fr-FR" b="0" i="1" smtClean="0">
                            <a:latin typeface="Cambria Math" panose="02040503050406030204" pitchFamily="18" charset="0"/>
                          </a:rPr>
                          <m:t>7</m:t>
                        </m:r>
                        <m:sSub>
                          <m:sSubPr>
                            <m:ctrlPr>
                              <a:rPr lang="fr-FR" i="1" smtClean="0">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4</m:t>
                            </m:r>
                          </m:sub>
                        </m:sSub>
                        <m:r>
                          <a:rPr lang="fr-FR" i="1">
                            <a:latin typeface="Cambria Math" panose="02040503050406030204" pitchFamily="18" charset="0"/>
                          </a:rPr>
                          <m:t>+</m:t>
                        </m:r>
                        <m:r>
                          <a:rPr lang="fr-FR" b="0" i="1" smtClean="0">
                            <a:latin typeface="Cambria Math" panose="02040503050406030204" pitchFamily="18" charset="0"/>
                          </a:rPr>
                          <m:t>3</m:t>
                        </m:r>
                        <m:sSub>
                          <m:sSubPr>
                            <m:ctrlPr>
                              <a:rPr lang="fr-FR" i="1">
                                <a:latin typeface="Cambria Math" panose="02040503050406030204" pitchFamily="18" charset="0"/>
                              </a:rPr>
                            </m:ctrlPr>
                          </m:sSubPr>
                          <m:e>
                            <m:r>
                              <a:rPr lang="fr-FR" i="1">
                                <a:latin typeface="Cambria Math" panose="02040503050406030204" pitchFamily="18" charset="0"/>
                              </a:rPr>
                              <m:t>𝐶</m:t>
                            </m:r>
                          </m:e>
                          <m:sub>
                            <m:r>
                              <a:rPr lang="fr-FR" b="0" i="1" smtClean="0">
                                <a:latin typeface="Cambria Math" panose="02040503050406030204" pitchFamily="18" charset="0"/>
                              </a:rPr>
                              <m:t>3</m:t>
                            </m:r>
                          </m:sub>
                        </m:sSub>
                      </m:num>
                      <m:den>
                        <m:r>
                          <a:rPr lang="fr-FR" i="1">
                            <a:latin typeface="Cambria Math" panose="02040503050406030204" pitchFamily="18" charset="0"/>
                          </a:rPr>
                          <m:t>0,0</m:t>
                        </m:r>
                        <m:r>
                          <a:rPr lang="fr-FR" b="0" i="1" smtClean="0">
                            <a:latin typeface="Cambria Math" panose="02040503050406030204" pitchFamily="18" charset="0"/>
                          </a:rPr>
                          <m:t>3</m:t>
                        </m:r>
                      </m:den>
                    </m:f>
                  </m:oMath>
                </a14:m>
                <a:endParaRPr lang="en-US" dirty="0"/>
              </a:p>
              <a:p>
                <a:r>
                  <a:rPr lang="en-US" dirty="0"/>
                  <a:t>I = 5 :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 </m:t>
                        </m:r>
                        <m:r>
                          <a:rPr lang="fr-FR" b="0" i="1" smtClean="0">
                            <a:latin typeface="Cambria Math" panose="02040503050406030204" pitchFamily="18" charset="0"/>
                          </a:rPr>
                          <m:t>𝐶</m:t>
                        </m:r>
                      </m:e>
                      <m:sub>
                        <m:r>
                          <a:rPr lang="fr-FR" b="0" i="1" smtClean="0">
                            <a:latin typeface="Cambria Math" panose="02040503050406030204" pitchFamily="18" charset="0"/>
                          </a:rPr>
                          <m:t>5</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𝐶</m:t>
                        </m:r>
                      </m:e>
                      <m:sub>
                        <m:r>
                          <a:rPr lang="fr-FR" b="0" i="1" smtClean="0">
                            <a:latin typeface="Cambria Math" panose="02040503050406030204" pitchFamily="18" charset="0"/>
                          </a:rPr>
                          <m:t>𝑒</m:t>
                        </m:r>
                      </m:sub>
                    </m:sSub>
                  </m:oMath>
                </a14:m>
                <a:endParaRPr lang="en-US" dirty="0"/>
              </a:p>
              <a:p>
                <a:endParaRPr lang="en-US" dirty="0"/>
              </a:p>
            </p:txBody>
          </p:sp>
        </mc:Choice>
        <mc:Fallback>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CA" dirty="0"/>
              <a:t>Procédure de résolution :</a:t>
            </a:r>
            <a:br>
              <a:rPr lang="fr-CA" dirty="0"/>
            </a:br>
            <a:br>
              <a:rPr lang="fr-CA" dirty="0"/>
            </a:br>
            <a:r>
              <a:rPr lang="fr-CA"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CA" dirty="0" err="1"/>
              <a:t>Numpy</a:t>
            </a:r>
            <a:r>
              <a:rPr lang="fr-CA" dirty="0"/>
              <a:t> fourni l'outil </a:t>
            </a:r>
            <a:r>
              <a:rPr lang="fr-CA" dirty="0" err="1"/>
              <a:t>numpy.linalg.solve</a:t>
            </a:r>
            <a:r>
              <a:rPr lang="fr-CA" dirty="0"/>
              <a:t>(</a:t>
            </a:r>
            <a:r>
              <a:rPr lang="fr-CA" dirty="0" err="1"/>
              <a:t>A,b</a:t>
            </a:r>
            <a:r>
              <a:rPr lang="fr-CA"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CA"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CA"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dirty="0"/>
              <a:t>C. Discrétisation</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smtClean="0">
                            <a:latin typeface="Cambria Math" panose="02040503050406030204" pitchFamily="18" charset="0"/>
                          </a:rPr>
                        </m:ctrlPr>
                      </m:fPr>
                      <m:num>
                        <m:r>
                          <a:rPr lang="fr-FR" sz="2000" i="1">
                            <a:latin typeface="Cambria Math" panose="02040503050406030204" pitchFamily="18" charset="0"/>
                          </a:rPr>
                          <m:t>1</m:t>
                        </m:r>
                      </m:num>
                      <m:den>
                        <m:r>
                          <a:rPr lang="fr-FR" sz="2000" i="1">
                            <a:latin typeface="Cambria Math" panose="02040503050406030204" pitchFamily="18" charset="0"/>
                          </a:rPr>
                          <m:t>𝑟</m:t>
                        </m:r>
                      </m:den>
                    </m:f>
                    <m:f>
                      <m:fPr>
                        <m:ctrlPr>
                          <a:rPr lang="fr-FR" sz="2000" i="1">
                            <a:latin typeface="Cambria Math" panose="02040503050406030204" pitchFamily="18" charset="0"/>
                          </a:rPr>
                        </m:ctrlPr>
                      </m:fPr>
                      <m:num>
                        <m:r>
                          <a:rPr lang="fr-FR" sz="2000" i="1">
                            <a:latin typeface="Cambria Math" panose="02040503050406030204" pitchFamily="18" charset="0"/>
                          </a:rPr>
                          <m:t>𝑑</m:t>
                        </m:r>
                      </m:num>
                      <m:den>
                        <m:r>
                          <a:rPr lang="fr-FR" sz="2000" i="1">
                            <a:latin typeface="Cambria Math" panose="02040503050406030204" pitchFamily="18" charset="0"/>
                          </a:rPr>
                          <m:t>𝑑𝑟</m:t>
                        </m:r>
                      </m:den>
                    </m:f>
                    <m:d>
                      <m:dPr>
                        <m:ctrlPr>
                          <a:rPr lang="fr-FR" sz="2000" i="1">
                            <a:latin typeface="Cambria Math" panose="02040503050406030204" pitchFamily="18" charset="0"/>
                          </a:rPr>
                        </m:ctrlPr>
                      </m:dPr>
                      <m:e>
                        <m:r>
                          <a:rPr lang="fr-FR" sz="2000" i="1">
                            <a:latin typeface="Cambria Math" panose="02040503050406030204" pitchFamily="18" charset="0"/>
                          </a:rPr>
                          <m:t>𝑟</m:t>
                        </m:r>
                        <m:f>
                          <m:fPr>
                            <m:ctrlPr>
                              <a:rPr lang="fr-FR" sz="2000" i="1">
                                <a:latin typeface="Cambria Math" panose="02040503050406030204" pitchFamily="18" charset="0"/>
                              </a:rPr>
                            </m:ctrlPr>
                          </m:fPr>
                          <m:num>
                            <m:r>
                              <a:rPr lang="fr-FR" sz="2000" i="1">
                                <a:latin typeface="Cambria Math" panose="02040503050406030204" pitchFamily="18" charset="0"/>
                              </a:rPr>
                              <m:t>𝑑𝐶</m:t>
                            </m:r>
                          </m:num>
                          <m:den>
                            <m:r>
                              <a:rPr lang="fr-FR" sz="2000" i="1">
                                <a:latin typeface="Cambria Math" panose="02040503050406030204" pitchFamily="18" charset="0"/>
                              </a:rPr>
                              <m:t>𝑑𝑟</m:t>
                            </m:r>
                          </m:den>
                        </m:f>
                      </m:e>
                    </m:d>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a:rPr lang="fr-FR" sz="2000" b="0" i="1" smtClean="0">
                            <a:latin typeface="Cambria Math" panose="02040503050406030204" pitchFamily="18" charset="0"/>
                          </a:rPr>
                          <m:t>²</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r>
                          <a:rPr lang="fr-FR" sz="2000" b="0" i="1" smtClean="0">
                            <a:latin typeface="Cambria Math" panose="02040503050406030204" pitchFamily="18" charset="0"/>
                          </a:rPr>
                          <m:t>²</m:t>
                        </m:r>
                      </m:den>
                    </m:f>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    </m:t>
                    </m:r>
                    <m:groupChr>
                      <m:groupChrPr>
                        <m:chr m:val="⇒"/>
                        <m:pos m:val="top"/>
                        <m:ctrlPr>
                          <a:rPr lang="fr-FR" sz="2000" b="0" i="1" smtClean="0">
                            <a:latin typeface="Cambria Math" panose="02040503050406030204" pitchFamily="18" charset="0"/>
                          </a:rPr>
                        </m:ctrlPr>
                      </m:groupChrPr>
                      <m:e>
                        <m:r>
                          <m:rPr>
                            <m:sty m:val="p"/>
                            <m:brk m:alnAt="1"/>
                          </m:rPr>
                          <a:rPr lang="fr-FR" sz="2000" b="0" i="1" smtClean="0">
                            <a:latin typeface="Cambria Math" panose="02040503050406030204" pitchFamily="18" charset="0"/>
                          </a:rPr>
                          <m:t>s</m:t>
                        </m:r>
                        <m:r>
                          <m:rPr>
                            <m:sty m:val="p"/>
                          </m:rPr>
                          <a:rPr lang="fr-FR" sz="2000" b="0" i="1" smtClean="0">
                            <a:latin typeface="Cambria Math" panose="02040503050406030204" pitchFamily="18" charset="0"/>
                          </a:rPr>
                          <m:t>ch</m:t>
                        </m:r>
                        <m:r>
                          <a:rPr lang="fr-FR" sz="2000" b="0" i="1" smtClean="0">
                            <a:latin typeface="Cambria Math" panose="02040503050406030204" pitchFamily="18" charset="0"/>
                          </a:rPr>
                          <m:t>é</m:t>
                        </m:r>
                        <m:r>
                          <m:rPr>
                            <m:sty m:val="p"/>
                          </m:rPr>
                          <a:rPr lang="fr-FR" sz="2000" b="0" i="1" smtClean="0">
                            <a:latin typeface="Cambria Math" panose="02040503050406030204" pitchFamily="18" charset="0"/>
                          </a:rPr>
                          <m:t>ma</m:t>
                        </m:r>
                      </m:e>
                    </m:groupChr>
                    <m:r>
                      <a:rPr lang="fr-FR" sz="2000" b="0" i="1" smtClean="0">
                        <a:latin typeface="Cambria Math" panose="02040503050406030204" pitchFamily="18" charset="0"/>
                      </a:rPr>
                      <m:t>   </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−2</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num>
                      <m:den>
                        <m:r>
                          <m:rPr>
                            <m:sty m:val="p"/>
                          </m:rPr>
                          <a:rPr lang="fr-FR" sz="2000" b="0" i="1" smtClean="0">
                            <a:latin typeface="Cambria Math" panose="02040503050406030204" pitchFamily="18" charset="0"/>
                          </a:rPr>
                          <m:t>Δr</m:t>
                        </m:r>
                        <m:r>
                          <a:rPr lang="fr-FR" sz="2000" b="0" i="1" smtClean="0">
                            <a:latin typeface="Cambria Math" panose="02040503050406030204" pitchFamily="18" charset="0"/>
                          </a:rPr>
                          <m:t>²</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1</m:t>
                        </m:r>
                      </m:num>
                      <m:den>
                        <m:r>
                          <m:rPr>
                            <m:sty m:val="p"/>
                          </m:rPr>
                          <a:rPr lang="fr-FR" sz="2000" b="0" i="1" smtClean="0">
                            <a:latin typeface="Cambria Math" panose="02040503050406030204" pitchFamily="18" charset="0"/>
                          </a:rPr>
                          <m:t>r</m:t>
                        </m:r>
                      </m:den>
                    </m:f>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num>
                      <m:den>
                        <m:r>
                          <m:rPr>
                            <m:sty m:val="p"/>
                          </m:rPr>
                          <a:rPr lang="fr-FR" sz="2000" b="0" i="1" smtClean="0">
                            <a:latin typeface="Cambria Math" panose="02040503050406030204" pitchFamily="18" charset="0"/>
                          </a:rPr>
                          <m:t>Δr</m:t>
                        </m:r>
                      </m:den>
                    </m:f>
                  </m:oMath>
                </a14:m>
                <a:endParaRPr lang="fr-FR" sz="2000" b="0" i="1" dirty="0">
                  <a:latin typeface="Cambria Math" panose="02040503050406030204" pitchFamily="18" charset="0"/>
                </a:endParaRPr>
              </a:p>
              <a:p>
                <a:r>
                  <a:rPr lang="fr-FR" sz="2000" dirty="0"/>
                  <a:t>1) </a:t>
                </a:r>
                <a14:m>
                  <m:oMath xmlns:m="http://schemas.openxmlformats.org/officeDocument/2006/math">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m:rPr>
                        <m:sty m:val="p"/>
                      </m:rPr>
                      <a:rPr lang="fr-FR" sz="2000">
                        <a:latin typeface="Cambria Math" panose="02040503050406030204" pitchFamily="18" charset="0"/>
                      </a:rPr>
                      <m:t>Δ</m:t>
                    </m:r>
                    <m:r>
                      <a:rPr lang="fr-FR" sz="2000" i="1">
                        <a:latin typeface="Cambria Math" panose="02040503050406030204" pitchFamily="18" charset="0"/>
                      </a:rPr>
                      <m:t>𝑟</m:t>
                    </m:r>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m:rPr>
                                <m:sty m:val="p"/>
                              </m:rPr>
                              <a:rPr lang="fr-FR" sz="2000" i="1">
                                <a:latin typeface="Cambria Math" panose="02040503050406030204" pitchFamily="18" charset="0"/>
                              </a:rPr>
                              <m:t>Δr</m:t>
                            </m:r>
                          </m:e>
                          <m:sup>
                            <m:r>
                              <a:rPr lang="fr-FR" sz="2000" i="1">
                                <a:latin typeface="Cambria Math" panose="02040503050406030204" pitchFamily="18" charset="0"/>
                              </a:rPr>
                              <m:t>2</m:t>
                            </m:r>
                          </m:sup>
                        </m:sSup>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3</m:t>
                            </m:r>
                          </m:sup>
                        </m:sSup>
                      </m:e>
                    </m:d>
                    <m:r>
                      <a:rPr lang="fr-CA" sz="2000" b="0" i="1" smtClean="0">
                        <a:latin typeface="Cambria Math" panose="02040503050406030204" pitchFamily="18" charset="0"/>
                      </a:rPr>
                      <m:t> →</m:t>
                    </m:r>
                    <m:f>
                      <m:fPr>
                        <m:ctrlPr>
                          <a:rPr lang="fr-CA" sz="2000" b="0" i="1" smtClean="0">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CA" sz="2000" b="0" i="1" smtClean="0">
                            <a:latin typeface="Cambria Math" panose="02040503050406030204" pitchFamily="18" charset="0"/>
                          </a:rPr>
                          <m:t>−</m:t>
                        </m:r>
                        <m:sSub>
                          <m:sSubPr>
                            <m:ctrlPr>
                              <a:rPr lang="fr-CA" sz="2000" b="0" i="1" smtClean="0">
                                <a:latin typeface="Cambria Math" panose="02040503050406030204" pitchFamily="18" charset="0"/>
                              </a:rPr>
                            </m:ctrlPr>
                          </m:sSubPr>
                          <m:e>
                            <m:r>
                              <a:rPr lang="fr-CA" sz="2000" b="0" i="1" smtClean="0">
                                <a:latin typeface="Cambria Math" panose="02040503050406030204" pitchFamily="18" charset="0"/>
                              </a:rPr>
                              <m:t>𝐶</m:t>
                            </m:r>
                          </m:e>
                          <m:sub>
                            <m:r>
                              <a:rPr lang="fr-CA" sz="2000" b="0" i="1" smtClean="0">
                                <a:latin typeface="Cambria Math" panose="02040503050406030204" pitchFamily="18" charset="0"/>
                              </a:rPr>
                              <m:t>𝑖</m:t>
                            </m:r>
                          </m:sub>
                        </m:sSub>
                      </m:num>
                      <m:den>
                        <m:r>
                          <a:rPr lang="fr-FR" sz="2000" b="1" i="1">
                            <a:latin typeface="Cambria Math" panose="02040503050406030204" pitchFamily="18" charset="0"/>
                          </a:rPr>
                          <m:t>𝜟</m:t>
                        </m:r>
                        <m:r>
                          <a:rPr lang="fr-CA" sz="2000" b="1" i="1" smtClean="0">
                            <a:latin typeface="Cambria Math" panose="02040503050406030204" pitchFamily="18" charset="0"/>
                          </a:rPr>
                          <m:t>𝒓</m:t>
                        </m:r>
                      </m:den>
                    </m:f>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FR" sz="2000" i="1">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b="0" i="1" smtClean="0">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2</m:t>
                            </m:r>
                          </m:sup>
                        </m:sSup>
                      </m:e>
                    </m:d>
                  </m:oMath>
                </a14:m>
                <a:endParaRPr lang="fr-FR" sz="2000" b="0" i="1" dirty="0">
                  <a:latin typeface="Cambria Math" panose="02040503050406030204" pitchFamily="18" charset="0"/>
                </a:endParaRPr>
              </a:p>
              <a:p>
                <a:r>
                  <a:rPr lang="fr-CA" sz="2000" b="0" dirty="0"/>
                  <a:t>2) </a:t>
                </a:r>
                <a14:m>
                  <m:oMath xmlns:m="http://schemas.openxmlformats.org/officeDocument/2006/math">
                    <m:r>
                      <a:rPr lang="fr-CA" sz="2000" b="0" i="1" smtClean="0">
                        <a:latin typeface="Cambria Math" panose="02040503050406030204" pitchFamily="18" charset="0"/>
                      </a:rPr>
                      <m:t> </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r>
                          <a:rPr lang="fr-FR" sz="2000" b="0" i="1" smtClean="0">
                            <a:latin typeface="Cambria Math" panose="02040503050406030204" pitchFamily="18" charset="0"/>
                          </a:rPr>
                          <m:t>−1</m:t>
                        </m:r>
                      </m:sub>
                    </m:sSub>
                    <m:r>
                      <a:rPr lang="fr-FR" sz="2000" b="0" i="1" smtClean="0">
                        <a:latin typeface="Cambria Math" panose="02040503050406030204" pitchFamily="18" charset="0"/>
                      </a:rPr>
                      <m:t>=</m:t>
                    </m:r>
                    <m:sSub>
                      <m:sSubPr>
                        <m:ctrlPr>
                          <a:rPr lang="fr-FR" sz="2000" b="0" i="1" smtClean="0">
                            <a:latin typeface="Cambria Math" panose="02040503050406030204" pitchFamily="18" charset="0"/>
                          </a:rPr>
                        </m:ctrlPr>
                      </m:sSubPr>
                      <m:e>
                        <m:r>
                          <a:rPr lang="fr-FR" sz="2000" b="0" i="1" smtClean="0">
                            <a:latin typeface="Cambria Math" panose="02040503050406030204" pitchFamily="18" charset="0"/>
                          </a:rPr>
                          <m:t>𝐶</m:t>
                        </m:r>
                      </m:e>
                      <m:sub>
                        <m:r>
                          <a:rPr lang="fr-FR" sz="2000" b="0" i="1" smtClean="0">
                            <a:latin typeface="Cambria Math" panose="02040503050406030204" pitchFamily="18" charset="0"/>
                          </a:rPr>
                          <m:t>𝑖</m:t>
                        </m:r>
                      </m:sub>
                    </m:sSub>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r>
                          <a:rPr lang="fr-FR" sz="2000" b="0" i="1" smtClean="0">
                            <a:latin typeface="Cambria Math" panose="02040503050406030204" pitchFamily="18" charset="0"/>
                          </a:rPr>
                          <m:t>𝜕</m:t>
                        </m:r>
                        <m:r>
                          <m:rPr>
                            <m:sty m:val="p"/>
                          </m:rPr>
                          <a:rPr lang="fr-FR" sz="2000" b="0" i="1" smtClean="0">
                            <a:latin typeface="Cambria Math" panose="02040503050406030204" pitchFamily="18" charset="0"/>
                          </a:rPr>
                          <m:t>C</m:t>
                        </m:r>
                      </m:num>
                      <m:den>
                        <m:r>
                          <a:rPr lang="fr-FR" sz="2000" b="0" i="1" smtClean="0">
                            <a:latin typeface="Cambria Math" panose="02040503050406030204" pitchFamily="18" charset="0"/>
                          </a:rPr>
                          <m:t>𝜕</m:t>
                        </m:r>
                        <m:r>
                          <m:rPr>
                            <m:sty m:val="p"/>
                          </m:rPr>
                          <a:rPr lang="fr-FR" sz="2000" b="0" i="1" smtClean="0">
                            <a:latin typeface="Cambria Math" panose="02040503050406030204" pitchFamily="18" charset="0"/>
                          </a:rPr>
                          <m:t>r</m:t>
                        </m:r>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r>
                      <a:rPr lang="fr-FR" sz="2000" b="0" i="1" smtClean="0">
                        <a:latin typeface="Cambria Math" panose="02040503050406030204" pitchFamily="18" charset="0"/>
                      </a:rPr>
                      <m:t>+</m:t>
                    </m:r>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m:t>
                            </m:r>
                          </m:e>
                          <m:sup>
                            <m:r>
                              <a:rPr lang="fr-FR" sz="2000" b="0" i="1" smtClean="0">
                                <a:latin typeface="Cambria Math" panose="02040503050406030204" pitchFamily="18" charset="0"/>
                              </a:rPr>
                              <m:t>2</m:t>
                            </m:r>
                          </m:sup>
                        </m:sSup>
                        <m:r>
                          <a:rPr lang="fr-FR" sz="2000" b="0" i="1" smtClean="0">
                            <a:latin typeface="Cambria Math" panose="02040503050406030204" pitchFamily="18" charset="0"/>
                          </a:rPr>
                          <m:t>𝐶</m:t>
                        </m:r>
                      </m:num>
                      <m:den>
                        <m:r>
                          <a:rPr lang="fr-FR" sz="2000" b="0" i="1" smtClean="0">
                            <a:latin typeface="Cambria Math" panose="02040503050406030204" pitchFamily="18" charset="0"/>
                          </a:rPr>
                          <m:t>𝜕</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2</m:t>
                            </m:r>
                          </m:sup>
                        </m:sSup>
                      </m:den>
                    </m:f>
                    <m:sSub>
                      <m:sSubPr>
                        <m:ctrlPr>
                          <a:rPr lang="fr-FR" sz="2000" b="0" i="1" smtClean="0">
                            <a:latin typeface="Cambria Math" panose="02040503050406030204" pitchFamily="18" charset="0"/>
                          </a:rPr>
                        </m:ctrlPr>
                      </m:sSubPr>
                      <m:e>
                        <m:d>
                          <m:dPr>
                            <m:begChr m:val=""/>
                            <m:endChr m:val="|"/>
                            <m:ctrlPr>
                              <a:rPr lang="fr-FR" sz="2000" b="0" i="1" smtClean="0">
                                <a:latin typeface="Cambria Math" panose="02040503050406030204" pitchFamily="18" charset="0"/>
                              </a:rPr>
                            </m:ctrlPr>
                          </m:dPr>
                          <m:e>
                            <m:r>
                              <a:rPr lang="fr-FR" sz="2000" b="0" i="1" smtClean="0">
                                <a:latin typeface="Cambria Math" panose="02040503050406030204" pitchFamily="18" charset="0"/>
                              </a:rPr>
                              <m:t>​</m:t>
                            </m:r>
                          </m:e>
                        </m:d>
                      </m:e>
                      <m:sub>
                        <m:r>
                          <a:rPr lang="fr-FR" sz="2000" b="0" i="1" smtClean="0">
                            <a:latin typeface="Cambria Math" panose="02040503050406030204" pitchFamily="18" charset="0"/>
                          </a:rPr>
                          <m:t>𝑖</m:t>
                        </m:r>
                      </m:sub>
                    </m:sSub>
                    <m:f>
                      <m:fPr>
                        <m:ctrlPr>
                          <a:rPr lang="fr-FR" sz="2000" b="0" i="1" smtClean="0">
                            <a:latin typeface="Cambria Math" panose="02040503050406030204" pitchFamily="18" charset="0"/>
                          </a:rPr>
                        </m:ctrlPr>
                      </m:fPr>
                      <m:num>
                        <m:sSup>
                          <m:sSupPr>
                            <m:ctrlPr>
                              <a:rPr lang="fr-FR" sz="2000" b="0" i="1" smtClean="0">
                                <a:latin typeface="Cambria Math" panose="02040503050406030204" pitchFamily="18" charset="0"/>
                              </a:rPr>
                            </m:ctrlPr>
                          </m:sSupPr>
                          <m:e>
                            <m:d>
                              <m:dPr>
                                <m:ctrlPr>
                                  <a:rPr lang="fr-FR" sz="2000" b="0" i="1" smtClean="0">
                                    <a:latin typeface="Cambria Math" panose="02040503050406030204" pitchFamily="18" charset="0"/>
                                  </a:rPr>
                                </m:ctrlPr>
                              </m:dPr>
                              <m:e>
                                <m:r>
                                  <a:rPr lang="fr-FR" sz="2000" b="0" i="1" smtClean="0">
                                    <a:latin typeface="Cambria Math" panose="02040503050406030204" pitchFamily="18" charset="0"/>
                                  </a:rPr>
                                  <m:t>−</m:t>
                                </m:r>
                                <m:r>
                                  <m:rPr>
                                    <m:sty m:val="p"/>
                                  </m:rPr>
                                  <a:rPr lang="fr-FR" sz="2000" b="0" i="0" smtClean="0">
                                    <a:latin typeface="Cambria Math" panose="02040503050406030204" pitchFamily="18" charset="0"/>
                                  </a:rPr>
                                  <m:t>Δ</m:t>
                                </m:r>
                                <m:r>
                                  <a:rPr lang="fr-FR" sz="2000" b="0" i="1" smtClean="0">
                                    <a:latin typeface="Cambria Math" panose="02040503050406030204" pitchFamily="18" charset="0"/>
                                  </a:rPr>
                                  <m:t>𝑟</m:t>
                                </m:r>
                              </m:e>
                            </m:d>
                          </m:e>
                          <m:sup>
                            <m:r>
                              <a:rPr lang="fr-FR" sz="2000" b="0" i="1" smtClean="0">
                                <a:latin typeface="Cambria Math" panose="02040503050406030204" pitchFamily="18" charset="0"/>
                              </a:rPr>
                              <m:t>2</m:t>
                            </m:r>
                          </m:sup>
                        </m:sSup>
                      </m:num>
                      <m:den>
                        <m:r>
                          <a:rPr lang="fr-FR" sz="2000" b="0" i="1" smtClean="0">
                            <a:latin typeface="Cambria Math" panose="02040503050406030204" pitchFamily="18" charset="0"/>
                          </a:rPr>
                          <m:t>2!</m:t>
                        </m:r>
                      </m:den>
                    </m:f>
                    <m:r>
                      <a:rPr lang="fr-FR" sz="2000" b="0" i="1" smtClean="0">
                        <a:latin typeface="Cambria Math" panose="02040503050406030204" pitchFamily="18" charset="0"/>
                      </a:rPr>
                      <m:t>+</m:t>
                    </m:r>
                    <m:r>
                      <a:rPr lang="fr-FR" sz="2000" b="0" i="1" smtClean="0">
                        <a:latin typeface="Cambria Math" panose="02040503050406030204" pitchFamily="18" charset="0"/>
                      </a:rPr>
                      <m:t>𝑜</m:t>
                    </m:r>
                    <m:d>
                      <m:dPr>
                        <m:ctrlPr>
                          <a:rPr lang="fr-FR" sz="2000" b="0" i="1" smtClean="0">
                            <a:latin typeface="Cambria Math" panose="02040503050406030204" pitchFamily="18" charset="0"/>
                          </a:rPr>
                        </m:ctrlPr>
                      </m:dPr>
                      <m:e>
                        <m:r>
                          <m:rPr>
                            <m:sty m:val="p"/>
                          </m:rPr>
                          <a:rPr lang="fr-FR" sz="2000" b="0" i="0" smtClean="0">
                            <a:latin typeface="Cambria Math" panose="02040503050406030204" pitchFamily="18" charset="0"/>
                          </a:rPr>
                          <m:t>Δ</m:t>
                        </m:r>
                        <m:sSup>
                          <m:sSupPr>
                            <m:ctrlPr>
                              <a:rPr lang="fr-FR" sz="2000" b="0" i="1" smtClean="0">
                                <a:latin typeface="Cambria Math" panose="02040503050406030204" pitchFamily="18" charset="0"/>
                              </a:rPr>
                            </m:ctrlPr>
                          </m:sSupPr>
                          <m:e>
                            <m:r>
                              <a:rPr lang="fr-FR" sz="2000" b="0" i="1" smtClean="0">
                                <a:latin typeface="Cambria Math" panose="02040503050406030204" pitchFamily="18" charset="0"/>
                              </a:rPr>
                              <m:t>𝑟</m:t>
                            </m:r>
                          </m:e>
                          <m:sup>
                            <m:r>
                              <a:rPr lang="fr-FR" sz="2000" b="0" i="1" smtClean="0">
                                <a:latin typeface="Cambria Math" panose="02040503050406030204" pitchFamily="18" charset="0"/>
                              </a:rPr>
                              <m:t>3</m:t>
                            </m:r>
                          </m:sup>
                        </m:sSup>
                      </m:e>
                    </m:d>
                    <m:r>
                      <a:rPr lang="fr-CA" sz="2000" i="1">
                        <a:latin typeface="Cambria Math" panose="02040503050406030204" pitchFamily="18" charset="0"/>
                      </a:rPr>
                      <m:t>→</m:t>
                    </m:r>
                    <m:f>
                      <m:fPr>
                        <m:ctrlPr>
                          <a:rPr lang="fr-CA"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CA" sz="2000" b="0" i="1" smtClean="0">
                                <a:latin typeface="Cambria Math" panose="02040503050406030204" pitchFamily="18" charset="0"/>
                              </a:rPr>
                              <m:t>−1</m:t>
                            </m:r>
                          </m:sub>
                        </m:sSub>
                        <m:r>
                          <a:rPr lang="fr-CA" sz="2000" b="0" i="1" smtClean="0">
                            <a:latin typeface="Cambria Math" panose="02040503050406030204" pitchFamily="18" charset="0"/>
                          </a:rPr>
                          <m:t>−</m:t>
                        </m:r>
                        <m:sSub>
                          <m:sSubPr>
                            <m:ctrlPr>
                              <a:rPr lang="fr-CA" sz="2000" i="1">
                                <a:latin typeface="Cambria Math" panose="02040503050406030204" pitchFamily="18" charset="0"/>
                              </a:rPr>
                            </m:ctrlPr>
                          </m:sSubPr>
                          <m:e>
                            <m:r>
                              <a:rPr lang="fr-CA" sz="2000" i="1">
                                <a:latin typeface="Cambria Math" panose="02040503050406030204" pitchFamily="18" charset="0"/>
                              </a:rPr>
                              <m:t>𝐶</m:t>
                            </m:r>
                          </m:e>
                          <m:sub>
                            <m:r>
                              <a:rPr lang="fr-CA" sz="2000" i="1">
                                <a:latin typeface="Cambria Math" panose="02040503050406030204" pitchFamily="18" charset="0"/>
                              </a:rPr>
                              <m:t>𝑖</m:t>
                            </m:r>
                          </m:sub>
                        </m:sSub>
                      </m:num>
                      <m:den>
                        <m:r>
                          <a:rPr lang="fr-FR" sz="2000" b="1" i="1">
                            <a:latin typeface="Cambria Math" panose="02040503050406030204" pitchFamily="18" charset="0"/>
                          </a:rPr>
                          <m:t>𝜟</m:t>
                        </m:r>
                        <m:r>
                          <a:rPr lang="fr-CA" sz="2000" b="1" i="1">
                            <a:latin typeface="Cambria Math" panose="02040503050406030204" pitchFamily="18" charset="0"/>
                          </a:rPr>
                          <m:t>𝒓</m:t>
                        </m:r>
                      </m:den>
                    </m:f>
                    <m:r>
                      <a:rPr lang="fr-CA" sz="2000" i="1">
                        <a:latin typeface="Cambria Math" panose="02040503050406030204" pitchFamily="18" charset="0"/>
                      </a:rPr>
                      <m:t>=</m:t>
                    </m:r>
                    <m:r>
                      <a:rPr lang="fr-CA" sz="2000" b="0" i="1" smtClean="0">
                        <a:latin typeface="Cambria Math" panose="02040503050406030204" pitchFamily="18" charset="0"/>
                      </a:rPr>
                      <m:t>−</m:t>
                    </m:r>
                    <m:f>
                      <m:fPr>
                        <m:ctrlPr>
                          <a:rPr lang="fr-FR" sz="2000" i="1">
                            <a:latin typeface="Cambria Math" panose="02040503050406030204" pitchFamily="18" charset="0"/>
                          </a:rPr>
                        </m:ctrlPr>
                      </m:fPr>
                      <m:num>
                        <m:r>
                          <a:rPr lang="fr-FR" sz="2000" i="1">
                            <a:latin typeface="Cambria Math" panose="02040503050406030204" pitchFamily="18" charset="0"/>
                          </a:rPr>
                          <m:t>𝜕</m:t>
                        </m:r>
                        <m:r>
                          <m:rPr>
                            <m:sty m:val="p"/>
                          </m:rPr>
                          <a:rPr lang="fr-FR" sz="2000" i="1">
                            <a:latin typeface="Cambria Math" panose="02040503050406030204" pitchFamily="18" charset="0"/>
                          </a:rPr>
                          <m:t>C</m:t>
                        </m:r>
                      </m:num>
                      <m:den>
                        <m:r>
                          <a:rPr lang="fr-FR" sz="2000" i="1">
                            <a:latin typeface="Cambria Math" panose="02040503050406030204" pitchFamily="18" charset="0"/>
                          </a:rPr>
                          <m:t>𝜕</m:t>
                        </m:r>
                        <m:r>
                          <m:rPr>
                            <m:sty m:val="p"/>
                          </m:rPr>
                          <a:rPr lang="fr-FR" sz="2000" i="1">
                            <a:latin typeface="Cambria Math" panose="02040503050406030204" pitchFamily="18" charset="0"/>
                          </a:rPr>
                          <m:t>r</m:t>
                        </m:r>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f>
                      <m:fPr>
                        <m:ctrlPr>
                          <a:rPr lang="fr-FR" sz="2000" i="1">
                            <a:latin typeface="Cambria Math" panose="02040503050406030204" pitchFamily="18" charset="0"/>
                          </a:rPr>
                        </m:ctrlPr>
                      </m:fPr>
                      <m:num>
                        <m:r>
                          <m:rPr>
                            <m:sty m:val="p"/>
                          </m:rPr>
                          <a:rPr lang="fr-FR" sz="2000" i="1">
                            <a:latin typeface="Cambria Math" panose="02040503050406030204" pitchFamily="18" charset="0"/>
                          </a:rPr>
                          <m:t>Δ</m:t>
                        </m:r>
                        <m:r>
                          <a:rPr lang="fr-CA" sz="2000" i="1">
                            <a:latin typeface="Cambria Math" panose="02040503050406030204" pitchFamily="18" charset="0"/>
                          </a:rPr>
                          <m:t>𝑟</m:t>
                        </m:r>
                      </m:num>
                      <m:den>
                        <m:r>
                          <a:rPr lang="fr-FR" sz="2000" i="1">
                            <a:latin typeface="Cambria Math" panose="02040503050406030204" pitchFamily="18" charset="0"/>
                          </a:rPr>
                          <m:t>2!</m:t>
                        </m:r>
                      </m:den>
                    </m:f>
                    <m:r>
                      <a:rPr lang="fr-FR" sz="2000" i="1">
                        <a:latin typeface="Cambria Math" panose="02040503050406030204" pitchFamily="18" charset="0"/>
                      </a:rPr>
                      <m:t>+</m:t>
                    </m:r>
                    <m:r>
                      <a:rPr lang="fr-FR" sz="2000" i="1">
                        <a:latin typeface="Cambria Math" panose="02040503050406030204" pitchFamily="18" charset="0"/>
                      </a:rPr>
                      <m:t>𝑜</m:t>
                    </m:r>
                    <m:d>
                      <m:dPr>
                        <m:ctrlPr>
                          <a:rPr lang="fr-FR" sz="2000" i="1">
                            <a:latin typeface="Cambria Math" panose="02040503050406030204" pitchFamily="18" charset="0"/>
                          </a:rPr>
                        </m:ctrlPr>
                      </m:dPr>
                      <m:e>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i="1">
                                <a:latin typeface="Cambria Math" panose="02040503050406030204" pitchFamily="18" charset="0"/>
                              </a:rPr>
                              <m:t>2</m:t>
                            </m:r>
                          </m:sup>
                        </m:sSup>
                      </m:e>
                    </m:d>
                  </m:oMath>
                </a14:m>
                <a:endParaRPr lang="fr-FR" sz="2000" b="0" i="1" dirty="0">
                  <a:latin typeface="Cambria Math" panose="02040503050406030204" pitchFamily="18" charset="0"/>
                </a:endParaRPr>
              </a:p>
              <a:p>
                <a:r>
                  <a:rPr lang="fr-FR" sz="2000" dirty="0"/>
                  <a:t>1) + 2) =&gt;</a:t>
                </a:r>
                <a14:m>
                  <m:oMath xmlns:m="http://schemas.openxmlformats.org/officeDocument/2006/math">
                    <m:f>
                      <m:fPr>
                        <m:ctrlPr>
                          <a:rPr lang="fr-FR" sz="2000" i="1">
                            <a:latin typeface="Cambria Math" panose="02040503050406030204" pitchFamily="18" charset="0"/>
                          </a:rPr>
                        </m:ctrlPr>
                      </m:fPr>
                      <m:num>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r>
                          <a:rPr lang="fr-FR" sz="2000" i="1">
                            <a:latin typeface="Cambria Math" panose="02040503050406030204" pitchFamily="18" charset="0"/>
                          </a:rPr>
                          <m:t>−2</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sub>
                        </m:sSub>
                        <m:r>
                          <a:rPr lang="fr-FR" sz="2000" i="1">
                            <a:latin typeface="Cambria Math" panose="02040503050406030204" pitchFamily="18" charset="0"/>
                          </a:rPr>
                          <m:t>+</m:t>
                        </m:r>
                        <m:sSub>
                          <m:sSubPr>
                            <m:ctrlPr>
                              <a:rPr lang="fr-FR" sz="2000" i="1">
                                <a:latin typeface="Cambria Math" panose="02040503050406030204" pitchFamily="18" charset="0"/>
                              </a:rPr>
                            </m:ctrlPr>
                          </m:sSubPr>
                          <m:e>
                            <m:r>
                              <a:rPr lang="fr-FR" sz="2000" i="1">
                                <a:latin typeface="Cambria Math" panose="02040503050406030204" pitchFamily="18" charset="0"/>
                              </a:rPr>
                              <m:t>𝐶</m:t>
                            </m:r>
                          </m:e>
                          <m:sub>
                            <m:r>
                              <a:rPr lang="fr-FR" sz="2000" i="1">
                                <a:latin typeface="Cambria Math" panose="02040503050406030204" pitchFamily="18" charset="0"/>
                              </a:rPr>
                              <m:t>𝑖</m:t>
                            </m:r>
                            <m:r>
                              <a:rPr lang="fr-FR" sz="2000" i="1">
                                <a:latin typeface="Cambria Math" panose="02040503050406030204" pitchFamily="18" charset="0"/>
                              </a:rPr>
                              <m:t>−1</m:t>
                            </m:r>
                          </m:sub>
                        </m:sSub>
                      </m:num>
                      <m:den>
                        <m:r>
                          <m:rPr>
                            <m:sty m:val="p"/>
                          </m:rPr>
                          <a:rPr lang="fr-FR" sz="2000" i="1">
                            <a:latin typeface="Cambria Math" panose="02040503050406030204" pitchFamily="18" charset="0"/>
                          </a:rPr>
                          <m:t>Δr</m:t>
                        </m:r>
                        <m:r>
                          <a:rPr lang="fr-FR" sz="2000" i="1">
                            <a:latin typeface="Cambria Math" panose="02040503050406030204" pitchFamily="18" charset="0"/>
                          </a:rPr>
                          <m:t>²</m:t>
                        </m:r>
                      </m:den>
                    </m:f>
                    <m:r>
                      <a:rPr lang="fr-CA" sz="2000" b="0" i="1" smtClean="0">
                        <a:latin typeface="Cambria Math" panose="02040503050406030204" pitchFamily="18" charset="0"/>
                      </a:rPr>
                      <m:t>= </m:t>
                    </m:r>
                    <m:f>
                      <m:fPr>
                        <m:ctrlPr>
                          <a:rPr lang="fr-FR" sz="2000" i="1">
                            <a:latin typeface="Cambria Math" panose="02040503050406030204" pitchFamily="18" charset="0"/>
                          </a:rPr>
                        </m:ctrlPr>
                      </m:fPr>
                      <m:num>
                        <m:sSup>
                          <m:sSupPr>
                            <m:ctrlPr>
                              <a:rPr lang="fr-FR" sz="2000" i="1">
                                <a:latin typeface="Cambria Math" panose="02040503050406030204" pitchFamily="18" charset="0"/>
                              </a:rPr>
                            </m:ctrlPr>
                          </m:sSupPr>
                          <m:e>
                            <m:r>
                              <a:rPr lang="fr-FR" sz="2000" i="1">
                                <a:latin typeface="Cambria Math" panose="02040503050406030204" pitchFamily="18" charset="0"/>
                              </a:rPr>
                              <m:t>𝜕</m:t>
                            </m:r>
                          </m:e>
                          <m:sup>
                            <m:r>
                              <a:rPr lang="fr-FR" sz="2000" i="1">
                                <a:latin typeface="Cambria Math" panose="02040503050406030204" pitchFamily="18" charset="0"/>
                              </a:rPr>
                              <m:t>2</m:t>
                            </m:r>
                          </m:sup>
                        </m:sSup>
                        <m:r>
                          <a:rPr lang="fr-FR" sz="2000" i="1">
                            <a:latin typeface="Cambria Math" panose="02040503050406030204" pitchFamily="18" charset="0"/>
                          </a:rPr>
                          <m:t>𝐶</m:t>
                        </m:r>
                      </m:num>
                      <m:den>
                        <m:r>
                          <a:rPr lang="fr-FR" sz="2000" i="1">
                            <a:latin typeface="Cambria Math" panose="02040503050406030204" pitchFamily="18" charset="0"/>
                          </a:rPr>
                          <m:t>𝜕</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FR" sz="2000" i="1">
                                <a:latin typeface="Cambria Math" panose="02040503050406030204" pitchFamily="18" charset="0"/>
                              </a:rPr>
                              <m:t>2</m:t>
                            </m:r>
                          </m:sup>
                        </m:sSup>
                      </m:den>
                    </m:f>
                    <m:sSub>
                      <m:sSubPr>
                        <m:ctrlPr>
                          <a:rPr lang="fr-FR" sz="2000" i="1">
                            <a:latin typeface="Cambria Math" panose="02040503050406030204" pitchFamily="18" charset="0"/>
                          </a:rPr>
                        </m:ctrlPr>
                      </m:sSubPr>
                      <m:e>
                        <m:d>
                          <m:dPr>
                            <m:begChr m:val=""/>
                            <m:endChr m:val="|"/>
                            <m:ctrlPr>
                              <a:rPr lang="fr-FR" sz="2000" i="1">
                                <a:latin typeface="Cambria Math" panose="02040503050406030204" pitchFamily="18" charset="0"/>
                              </a:rPr>
                            </m:ctrlPr>
                          </m:dPr>
                          <m:e>
                            <m:r>
                              <a:rPr lang="fr-FR" sz="2000" i="1">
                                <a:latin typeface="Cambria Math" panose="02040503050406030204" pitchFamily="18" charset="0"/>
                              </a:rPr>
                              <m:t>​</m:t>
                            </m:r>
                          </m:e>
                        </m:d>
                      </m:e>
                      <m:sub>
                        <m:r>
                          <a:rPr lang="fr-FR" sz="2000" i="1">
                            <a:latin typeface="Cambria Math" panose="02040503050406030204" pitchFamily="18" charset="0"/>
                          </a:rPr>
                          <m:t>𝑖</m:t>
                        </m:r>
                      </m:sub>
                    </m:sSub>
                    <m:r>
                      <a:rPr lang="fr-CA" sz="2000" b="0" i="1" smtClean="0">
                        <a:latin typeface="Cambria Math" panose="02040503050406030204" pitchFamily="18" charset="0"/>
                      </a:rPr>
                      <m:t>+</m:t>
                    </m:r>
                    <m:r>
                      <a:rPr lang="fr-CA" sz="2000" b="0" i="1" smtClean="0">
                        <a:latin typeface="Cambria Math" panose="02040503050406030204" pitchFamily="18" charset="0"/>
                      </a:rPr>
                      <m:t>𝑜</m:t>
                    </m:r>
                    <m:r>
                      <a:rPr lang="fr-CA" sz="2000" b="0" i="1" smtClean="0">
                        <a:latin typeface="Cambria Math" panose="02040503050406030204" pitchFamily="18" charset="0"/>
                      </a:rPr>
                      <m:t>(</m:t>
                    </m:r>
                    <m:r>
                      <m:rPr>
                        <m:sty m:val="p"/>
                      </m:rPr>
                      <a:rPr lang="fr-FR" sz="2000">
                        <a:latin typeface="Cambria Math" panose="02040503050406030204" pitchFamily="18" charset="0"/>
                      </a:rPr>
                      <m:t>Δ</m:t>
                    </m:r>
                    <m:sSup>
                      <m:sSupPr>
                        <m:ctrlPr>
                          <a:rPr lang="fr-FR" sz="2000" i="1">
                            <a:latin typeface="Cambria Math" panose="02040503050406030204" pitchFamily="18" charset="0"/>
                          </a:rPr>
                        </m:ctrlPr>
                      </m:sSupPr>
                      <m:e>
                        <m:r>
                          <a:rPr lang="fr-FR" sz="2000" i="1">
                            <a:latin typeface="Cambria Math" panose="02040503050406030204" pitchFamily="18" charset="0"/>
                          </a:rPr>
                          <m:t>𝑟</m:t>
                        </m:r>
                      </m:e>
                      <m:sup>
                        <m:r>
                          <a:rPr lang="fr-CA" sz="2000" b="0" i="1" smtClean="0">
                            <a:latin typeface="Cambria Math" panose="02040503050406030204" pitchFamily="18" charset="0"/>
                          </a:rPr>
                          <m:t>4</m:t>
                        </m:r>
                      </m:sup>
                    </m:sSup>
                    <m:r>
                      <a:rPr lang="fr-CA" sz="2000" b="0" i="1" smtClean="0">
                        <a:latin typeface="Cambria Math" panose="02040503050406030204" pitchFamily="18" charset="0"/>
                      </a:rPr>
                      <m:t>)</m:t>
                    </m:r>
                  </m:oMath>
                </a14:m>
                <a:endParaRPr lang="fr-FR" sz="2000" dirty="0"/>
              </a:p>
              <a:p>
                <a:r>
                  <a:rPr lang="fr-FR" sz="2000" dirty="0"/>
                  <a:t>Retour sur le schéma : </a:t>
                </a:r>
                <a14:m>
                  <m:oMath xmlns:m="http://schemas.openxmlformats.org/officeDocument/2006/math">
                    <m:f>
                      <m:fPr>
                        <m:ctrlPr>
                          <a:rPr lang="fr-FR" sz="2000" i="1" smtClean="0">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−2</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num>
                      <m:den>
                        <m:r>
                          <m:rPr>
                            <m:sty m:val="p"/>
                          </m:rPr>
                          <a:rPr lang="fr-FR" sz="2000" i="1">
                            <a:solidFill>
                              <a:schemeClr val="accent3">
                                <a:lumMod val="75000"/>
                              </a:schemeClr>
                            </a:solidFill>
                            <a:latin typeface="Cambria Math" panose="02040503050406030204" pitchFamily="18" charset="0"/>
                          </a:rPr>
                          <m:t>Δr</m:t>
                        </m:r>
                        <m:r>
                          <a:rPr lang="fr-FR" sz="2000" i="1">
                            <a:solidFill>
                              <a:schemeClr val="accent3">
                                <a:lumMod val="75000"/>
                              </a:schemeClr>
                            </a:solidFill>
                            <a:latin typeface="Cambria Math" panose="02040503050406030204" pitchFamily="18" charset="0"/>
                          </a:rPr>
                          <m:t>²</m:t>
                        </m:r>
                      </m:den>
                    </m:f>
                    <m:r>
                      <a:rPr lang="fr-CA" sz="2000" b="0" i="1" smtClean="0">
                        <a:latin typeface="Cambria Math" panose="02040503050406030204" pitchFamily="18" charset="0"/>
                      </a:rPr>
                      <m:t>+</m:t>
                    </m:r>
                    <m:r>
                      <a:rPr lang="fr-CA" sz="2000" i="1" smtClean="0">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i="1">
                                <a:solidFill>
                                  <a:schemeClr val="accent5">
                                    <a:lumMod val="75000"/>
                                  </a:schemeClr>
                                </a:solidFill>
                                <a:latin typeface="Cambria Math" panose="02040503050406030204" pitchFamily="18" charset="0"/>
                              </a:rPr>
                              <m:t>4</m:t>
                            </m:r>
                          </m:sup>
                        </m:sSup>
                      </m:e>
                    </m:d>
                    <m:r>
                      <a:rPr lang="fr-FR" sz="2000" i="1">
                        <a:latin typeface="Cambria Math" panose="02040503050406030204" pitchFamily="18" charset="0"/>
                      </a:rPr>
                      <m:t>+</m:t>
                    </m:r>
                    <m:f>
                      <m:fPr>
                        <m:ctrlPr>
                          <a:rPr lang="fr-FR" sz="2000" i="1" smtClean="0">
                            <a:solidFill>
                              <a:schemeClr val="accent3">
                                <a:lumMod val="75000"/>
                              </a:schemeClr>
                            </a:solidFill>
                            <a:latin typeface="Cambria Math" panose="02040503050406030204" pitchFamily="18" charset="0"/>
                          </a:rPr>
                        </m:ctrlPr>
                      </m:fPr>
                      <m:num>
                        <m:r>
                          <a:rPr lang="fr-FR" sz="2000" i="1">
                            <a:solidFill>
                              <a:schemeClr val="accent3">
                                <a:lumMod val="75000"/>
                              </a:schemeClr>
                            </a:solidFill>
                            <a:latin typeface="Cambria Math" panose="02040503050406030204" pitchFamily="18" charset="0"/>
                          </a:rPr>
                          <m:t>1</m:t>
                        </m:r>
                      </m:num>
                      <m:den>
                        <m:r>
                          <m:rPr>
                            <m:sty m:val="p"/>
                          </m:rPr>
                          <a:rPr lang="fr-FR" sz="2000" i="1">
                            <a:solidFill>
                              <a:schemeClr val="accent3">
                                <a:lumMod val="75000"/>
                              </a:schemeClr>
                            </a:solidFill>
                            <a:latin typeface="Cambria Math" panose="02040503050406030204" pitchFamily="18" charset="0"/>
                          </a:rPr>
                          <m:t>r</m:t>
                        </m:r>
                      </m:den>
                    </m:f>
                    <m:r>
                      <a:rPr lang="fr-FR" sz="2000" i="1">
                        <a:solidFill>
                          <a:schemeClr val="accent3">
                            <a:lumMod val="75000"/>
                          </a:schemeClr>
                        </a:solidFill>
                        <a:latin typeface="Cambria Math" panose="02040503050406030204" pitchFamily="18" charset="0"/>
                      </a:rPr>
                      <m:t>⋅</m:t>
                    </m:r>
                    <m:f>
                      <m:fPr>
                        <m:ctrlPr>
                          <a:rPr lang="fr-FR" sz="2000" i="1">
                            <a:solidFill>
                              <a:schemeClr val="accent3">
                                <a:lumMod val="75000"/>
                              </a:schemeClr>
                            </a:solidFill>
                            <a:latin typeface="Cambria Math" panose="02040503050406030204" pitchFamily="18" charset="0"/>
                          </a:rPr>
                        </m:ctrlPr>
                      </m:fPr>
                      <m:num>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r>
                              <a:rPr lang="fr-FR" sz="2000" i="1">
                                <a:solidFill>
                                  <a:schemeClr val="accent3">
                                    <a:lumMod val="75000"/>
                                  </a:schemeClr>
                                </a:solidFill>
                                <a:latin typeface="Cambria Math" panose="02040503050406030204" pitchFamily="18" charset="0"/>
                              </a:rPr>
                              <m:t>+1</m:t>
                            </m:r>
                          </m:sub>
                        </m:sSub>
                        <m:r>
                          <a:rPr lang="fr-FR" sz="2000" i="1">
                            <a:solidFill>
                              <a:schemeClr val="accent3">
                                <a:lumMod val="75000"/>
                              </a:schemeClr>
                            </a:solidFill>
                            <a:latin typeface="Cambria Math" panose="02040503050406030204" pitchFamily="18" charset="0"/>
                          </a:rPr>
                          <m:t>−</m:t>
                        </m:r>
                        <m:sSub>
                          <m:sSubPr>
                            <m:ctrlPr>
                              <a:rPr lang="fr-FR" sz="2000" i="1">
                                <a:solidFill>
                                  <a:schemeClr val="accent3">
                                    <a:lumMod val="75000"/>
                                  </a:schemeClr>
                                </a:solidFill>
                                <a:latin typeface="Cambria Math" panose="02040503050406030204" pitchFamily="18" charset="0"/>
                              </a:rPr>
                            </m:ctrlPr>
                          </m:sSubPr>
                          <m:e>
                            <m:r>
                              <a:rPr lang="fr-FR" sz="2000" i="1">
                                <a:solidFill>
                                  <a:schemeClr val="accent3">
                                    <a:lumMod val="75000"/>
                                  </a:schemeClr>
                                </a:solidFill>
                                <a:latin typeface="Cambria Math" panose="02040503050406030204" pitchFamily="18" charset="0"/>
                              </a:rPr>
                              <m:t>𝐶</m:t>
                            </m:r>
                          </m:e>
                          <m:sub>
                            <m:r>
                              <a:rPr lang="fr-FR" sz="2000" i="1">
                                <a:solidFill>
                                  <a:schemeClr val="accent3">
                                    <a:lumMod val="75000"/>
                                  </a:schemeClr>
                                </a:solidFill>
                                <a:latin typeface="Cambria Math" panose="02040503050406030204" pitchFamily="18" charset="0"/>
                              </a:rPr>
                              <m:t>𝑖</m:t>
                            </m:r>
                          </m:sub>
                        </m:sSub>
                      </m:num>
                      <m:den>
                        <m:r>
                          <m:rPr>
                            <m:sty m:val="p"/>
                          </m:rPr>
                          <a:rPr lang="fr-FR" sz="2000" i="1">
                            <a:solidFill>
                              <a:schemeClr val="accent3">
                                <a:lumMod val="75000"/>
                              </a:schemeClr>
                            </a:solidFill>
                            <a:latin typeface="Cambria Math" panose="02040503050406030204" pitchFamily="18" charset="0"/>
                          </a:rPr>
                          <m:t>Δr</m:t>
                        </m:r>
                      </m:den>
                    </m:f>
                    <m:r>
                      <a:rPr lang="fr-CA" sz="2000" b="0" i="1" smtClean="0">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r>
                      <a:rPr lang="fr-CA" sz="2000" i="1">
                        <a:solidFill>
                          <a:schemeClr val="accent5">
                            <a:lumMod val="75000"/>
                          </a:schemeClr>
                        </a:solidFill>
                        <a:latin typeface="Cambria Math" panose="02040503050406030204" pitchFamily="18" charset="0"/>
                      </a:rPr>
                      <m:t>(</m:t>
                    </m:r>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r>
                      <a:rPr lang="fr-CA" sz="2000" i="1">
                        <a:solidFill>
                          <a:schemeClr val="accent5">
                            <a:lumMod val="75000"/>
                          </a:schemeClr>
                        </a:solidFill>
                        <a:latin typeface="Cambria Math" panose="02040503050406030204" pitchFamily="18" charset="0"/>
                      </a:rPr>
                      <m:t>)</m:t>
                    </m:r>
                  </m:oMath>
                </a14:m>
                <a:endParaRPr lang="fr-FR" sz="2000" dirty="0">
                  <a:solidFill>
                    <a:schemeClr val="accent5">
                      <a:lumMod val="75000"/>
                    </a:schemeClr>
                  </a:solidFill>
                </a:endParaRPr>
              </a:p>
              <a:p>
                <a14:m>
                  <m:oMath xmlns:m="http://schemas.openxmlformats.org/officeDocument/2006/math">
                    <m:sSub>
                      <m:sSubPr>
                        <m:ctrlPr>
                          <a:rPr lang="fr-FR" sz="2000" b="0" i="1" dirty="0" smtClean="0">
                            <a:latin typeface="Cambria Math" panose="02040503050406030204" pitchFamily="18" charset="0"/>
                          </a:rPr>
                        </m:ctrlPr>
                      </m:sSubPr>
                      <m:e>
                        <m:r>
                          <m:rPr>
                            <m:sty m:val="p"/>
                          </m:rPr>
                          <a:rPr lang="fr-FR" sz="2000" b="0" i="1" dirty="0" smtClean="0">
                            <a:latin typeface="Cambria Math" panose="02040503050406030204" pitchFamily="18" charset="0"/>
                          </a:rPr>
                          <m:t>L</m:t>
                        </m:r>
                      </m:e>
                      <m:sub>
                        <m:r>
                          <a:rPr lang="fr-FR" sz="2000" b="0" i="1" dirty="0" smtClean="0">
                            <a:latin typeface="Cambria Math" panose="02040503050406030204" pitchFamily="18" charset="0"/>
                          </a:rPr>
                          <m:t>h</m:t>
                        </m:r>
                      </m:sub>
                    </m:sSub>
                    <m:d>
                      <m:dPr>
                        <m:ctrlPr>
                          <a:rPr lang="fr-FR" sz="2000" b="0" i="1" dirty="0" smtClean="0">
                            <a:latin typeface="Cambria Math" panose="02040503050406030204" pitchFamily="18" charset="0"/>
                          </a:rPr>
                        </m:ctrlPr>
                      </m:dPr>
                      <m:e>
                        <m:r>
                          <a:rPr lang="fr-FR" sz="2000" b="0" i="1" dirty="0" smtClean="0">
                            <a:latin typeface="Cambria Math" panose="02040503050406030204" pitchFamily="18" charset="0"/>
                          </a:rPr>
                          <m:t>𝐶</m:t>
                        </m:r>
                      </m:e>
                    </m:d>
                    <m:r>
                      <a:rPr lang="fr-FR" sz="2000" b="0" i="1" dirty="0" smtClean="0">
                        <a:latin typeface="Cambria Math" panose="02040503050406030204" pitchFamily="18" charset="0"/>
                      </a:rPr>
                      <m:t>=</m:t>
                    </m:r>
                    <m:f>
                      <m:fPr>
                        <m:ctrlPr>
                          <a:rPr lang="fr-FR" sz="2000" b="0" i="1" dirty="0" smtClean="0">
                            <a:solidFill>
                              <a:schemeClr val="accent3">
                                <a:lumMod val="75000"/>
                              </a:schemeClr>
                            </a:solidFill>
                            <a:latin typeface="Cambria Math" panose="02040503050406030204" pitchFamily="18" charset="0"/>
                          </a:rPr>
                        </m:ctrlPr>
                      </m:fPr>
                      <m:num>
                        <m:sSub>
                          <m:sSubPr>
                            <m:ctrlPr>
                              <a:rPr lang="fr-FR" sz="2000" b="0" i="1" dirty="0" smtClean="0">
                                <a:solidFill>
                                  <a:schemeClr val="accent3">
                                    <a:lumMod val="75000"/>
                                  </a:schemeClr>
                                </a:solidFill>
                                <a:latin typeface="Cambria Math" panose="02040503050406030204" pitchFamily="18" charset="0"/>
                              </a:rPr>
                            </m:ctrlPr>
                          </m:sSubPr>
                          <m:e>
                            <m:r>
                              <a:rPr lang="fr-FR" sz="2000" b="0" i="1" dirty="0" smtClean="0">
                                <a:solidFill>
                                  <a:schemeClr val="accent3">
                                    <a:lumMod val="75000"/>
                                  </a:schemeClr>
                                </a:solidFill>
                                <a:latin typeface="Cambria Math" panose="02040503050406030204" pitchFamily="18" charset="0"/>
                              </a:rPr>
                              <m:t>𝐷</m:t>
                            </m:r>
                          </m:e>
                          <m:sub>
                            <m:r>
                              <a:rPr lang="fr-FR" sz="2000" b="0" i="1" dirty="0" smtClean="0">
                                <a:solidFill>
                                  <a:schemeClr val="accent3">
                                    <a:lumMod val="75000"/>
                                  </a:schemeClr>
                                </a:solidFill>
                                <a:latin typeface="Cambria Math" panose="02040503050406030204" pitchFamily="18" charset="0"/>
                              </a:rPr>
                              <m:t>𝑒𝑓𝑓</m:t>
                            </m:r>
                          </m:sub>
                        </m:sSub>
                      </m:num>
                      <m:den>
                        <m:r>
                          <a:rPr lang="fr-FR" sz="2000" b="0" i="1" dirty="0" smtClean="0">
                            <a:solidFill>
                              <a:schemeClr val="accent3">
                                <a:lumMod val="75000"/>
                              </a:schemeClr>
                            </a:solidFill>
                            <a:latin typeface="Cambria Math" panose="02040503050406030204" pitchFamily="18" charset="0"/>
                          </a:rPr>
                          <m:t>𝑟</m:t>
                        </m:r>
                      </m:den>
                    </m:f>
                    <m:f>
                      <m:fPr>
                        <m:ctrlPr>
                          <a:rPr lang="fr-FR" sz="2000" b="0" i="1" dirty="0" smtClean="0">
                            <a:solidFill>
                              <a:schemeClr val="accent3">
                                <a:lumMod val="75000"/>
                              </a:schemeClr>
                            </a:solidFill>
                            <a:latin typeface="Cambria Math" panose="02040503050406030204" pitchFamily="18" charset="0"/>
                          </a:rPr>
                        </m:ctrlPr>
                      </m:fPr>
                      <m:num>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C</m:t>
                        </m:r>
                      </m:num>
                      <m:den>
                        <m:r>
                          <a:rPr lang="fr-FR" sz="2000" b="0" i="1" dirty="0" smtClean="0">
                            <a:solidFill>
                              <a:schemeClr val="accent3">
                                <a:lumMod val="75000"/>
                              </a:schemeClr>
                            </a:solidFill>
                            <a:latin typeface="Cambria Math" panose="02040503050406030204" pitchFamily="18" charset="0"/>
                          </a:rPr>
                          <m:t>𝜕</m:t>
                        </m:r>
                        <m:r>
                          <m:rPr>
                            <m:sty m:val="p"/>
                          </m:rPr>
                          <a:rPr lang="fr-FR" sz="2000" b="0" i="1" dirty="0" smtClean="0">
                            <a:solidFill>
                              <a:schemeClr val="accent3">
                                <a:lumMod val="75000"/>
                              </a:schemeClr>
                            </a:solidFill>
                            <a:latin typeface="Cambria Math" panose="02040503050406030204" pitchFamily="18" charset="0"/>
                          </a:rPr>
                          <m:t>r</m:t>
                        </m:r>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r>
                      <a:rPr lang="fr-FR" sz="2000" b="0" i="1" dirty="0" smtClean="0">
                        <a:solidFill>
                          <a:schemeClr val="accent3">
                            <a:lumMod val="75000"/>
                          </a:schemeClr>
                        </a:solidFill>
                        <a:latin typeface="Cambria Math" panose="02040503050406030204" pitchFamily="18" charset="0"/>
                      </a:rPr>
                      <m:t>𝑟</m:t>
                    </m:r>
                    <m:r>
                      <a:rPr lang="fr-FR" sz="2000" b="0" i="1" dirty="0" smtClean="0">
                        <a:solidFill>
                          <a:schemeClr val="accent3">
                            <a:lumMod val="75000"/>
                          </a:schemeClr>
                        </a:solidFill>
                        <a:latin typeface="Cambria Math" panose="02040503050406030204" pitchFamily="18" charset="0"/>
                      </a:rPr>
                      <m:t>+</m:t>
                    </m:r>
                    <m:f>
                      <m:fPr>
                        <m:ctrlPr>
                          <a:rPr lang="fr-FR" sz="2000" b="0" i="1" dirty="0" smtClean="0">
                            <a:solidFill>
                              <a:schemeClr val="accent3">
                                <a:lumMod val="75000"/>
                              </a:schemeClr>
                            </a:solidFill>
                            <a:latin typeface="Cambria Math" panose="02040503050406030204" pitchFamily="18" charset="0"/>
                          </a:rPr>
                        </m:ctrlPr>
                      </m:fPr>
                      <m:num>
                        <m:sSub>
                          <m:sSubPr>
                            <m:ctrlPr>
                              <a:rPr lang="fr-FR" sz="2000" b="0" i="1" dirty="0" smtClean="0">
                                <a:solidFill>
                                  <a:schemeClr val="accent3">
                                    <a:lumMod val="75000"/>
                                  </a:schemeClr>
                                </a:solidFill>
                                <a:latin typeface="Cambria Math" panose="02040503050406030204" pitchFamily="18" charset="0"/>
                              </a:rPr>
                            </m:ctrlPr>
                          </m:sSubPr>
                          <m:e>
                            <m:r>
                              <a:rPr lang="fr-FR" sz="2000" b="0" i="1" dirty="0" smtClean="0">
                                <a:solidFill>
                                  <a:schemeClr val="accent3">
                                    <a:lumMod val="75000"/>
                                  </a:schemeClr>
                                </a:solidFill>
                                <a:latin typeface="Cambria Math" panose="02040503050406030204" pitchFamily="18" charset="0"/>
                              </a:rPr>
                              <m:t>𝐷</m:t>
                            </m:r>
                          </m:e>
                          <m:sub>
                            <m:r>
                              <a:rPr lang="fr-FR" sz="2000" b="0" i="1" dirty="0" smtClean="0">
                                <a:solidFill>
                                  <a:schemeClr val="accent3">
                                    <a:lumMod val="75000"/>
                                  </a:schemeClr>
                                </a:solidFill>
                                <a:latin typeface="Cambria Math" panose="02040503050406030204" pitchFamily="18" charset="0"/>
                              </a:rPr>
                              <m:t>𝑒𝑓𝑓</m:t>
                            </m:r>
                          </m:sub>
                        </m:sSub>
                      </m:num>
                      <m:den>
                        <m:r>
                          <a:rPr lang="fr-FR" sz="2000" b="0" i="1" dirty="0" smtClean="0">
                            <a:solidFill>
                              <a:schemeClr val="accent3">
                                <a:lumMod val="75000"/>
                              </a:schemeClr>
                            </a:solidFill>
                            <a:latin typeface="Cambria Math" panose="02040503050406030204" pitchFamily="18" charset="0"/>
                          </a:rPr>
                          <m:t>2</m:t>
                        </m:r>
                        <m:r>
                          <a:rPr lang="fr-FR" sz="2000" b="0" i="1" dirty="0" smtClean="0">
                            <a:solidFill>
                              <a:schemeClr val="accent3">
                                <a:lumMod val="75000"/>
                              </a:schemeClr>
                            </a:solidFill>
                            <a:latin typeface="Cambria Math" panose="02040503050406030204" pitchFamily="18" charset="0"/>
                          </a:rPr>
                          <m:t>𝑟</m:t>
                        </m:r>
                      </m:den>
                    </m:f>
                    <m:f>
                      <m:fPr>
                        <m:ctrlPr>
                          <a:rPr lang="fr-FR" sz="2000" b="0" i="1" dirty="0" smtClean="0">
                            <a:solidFill>
                              <a:schemeClr val="accent3">
                                <a:lumMod val="75000"/>
                              </a:schemeClr>
                            </a:solidFill>
                            <a:latin typeface="Cambria Math" panose="02040503050406030204" pitchFamily="18" charset="0"/>
                          </a:rPr>
                        </m:ctrlPr>
                      </m:fPr>
                      <m:num>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m:t>
                            </m:r>
                          </m:e>
                          <m:sup>
                            <m:r>
                              <a:rPr lang="fr-FR" sz="2000" b="0" i="1" dirty="0" smtClean="0">
                                <a:solidFill>
                                  <a:schemeClr val="accent3">
                                    <a:lumMod val="75000"/>
                                  </a:schemeClr>
                                </a:solidFill>
                                <a:latin typeface="Cambria Math" panose="02040503050406030204" pitchFamily="18" charset="0"/>
                              </a:rPr>
                              <m:t>2</m:t>
                            </m:r>
                          </m:sup>
                        </m:sSup>
                        <m:r>
                          <a:rPr lang="fr-FR" sz="2000" b="0" i="1" dirty="0" smtClean="0">
                            <a:solidFill>
                              <a:schemeClr val="accent3">
                                <a:lumMod val="75000"/>
                              </a:schemeClr>
                            </a:solidFill>
                            <a:latin typeface="Cambria Math" panose="02040503050406030204" pitchFamily="18" charset="0"/>
                          </a:rPr>
                          <m:t>𝐶</m:t>
                        </m:r>
                      </m:num>
                      <m:den>
                        <m:r>
                          <a:rPr lang="fr-FR" sz="2000" b="0" i="1" dirty="0" smtClean="0">
                            <a:solidFill>
                              <a:schemeClr val="accent3">
                                <a:lumMod val="75000"/>
                              </a:schemeClr>
                            </a:solidFill>
                            <a:latin typeface="Cambria Math" panose="02040503050406030204" pitchFamily="18" charset="0"/>
                          </a:rPr>
                          <m:t>𝜕</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den>
                    </m:f>
                    <m:sSub>
                      <m:sSubPr>
                        <m:ctrlPr>
                          <a:rPr lang="fr-FR" sz="2000" b="0" i="1" dirty="0" smtClean="0">
                            <a:solidFill>
                              <a:schemeClr val="accent3">
                                <a:lumMod val="75000"/>
                              </a:schemeClr>
                            </a:solidFill>
                            <a:latin typeface="Cambria Math" panose="02040503050406030204" pitchFamily="18" charset="0"/>
                          </a:rPr>
                        </m:ctrlPr>
                      </m:sSubPr>
                      <m:e>
                        <m:d>
                          <m:dPr>
                            <m:begChr m:val=""/>
                            <m:endChr m:val="|"/>
                            <m:ctrlPr>
                              <a:rPr lang="fr-FR" sz="2000" b="0" i="1" dirty="0" smtClean="0">
                                <a:solidFill>
                                  <a:schemeClr val="accent3">
                                    <a:lumMod val="75000"/>
                                  </a:schemeClr>
                                </a:solidFill>
                                <a:latin typeface="Cambria Math" panose="02040503050406030204" pitchFamily="18" charset="0"/>
                              </a:rPr>
                            </m:ctrlPr>
                          </m:dPr>
                          <m:e>
                            <m:r>
                              <a:rPr lang="fr-FR" sz="2000" b="0" i="1" dirty="0" smtClean="0">
                                <a:solidFill>
                                  <a:schemeClr val="accent3">
                                    <a:lumMod val="75000"/>
                                  </a:schemeClr>
                                </a:solidFill>
                                <a:latin typeface="Cambria Math" panose="02040503050406030204" pitchFamily="18" charset="0"/>
                              </a:rPr>
                              <m:t>​</m:t>
                            </m:r>
                          </m:e>
                        </m:d>
                      </m:e>
                      <m:sub>
                        <m:r>
                          <a:rPr lang="fr-FR" sz="2000" b="0" i="1" dirty="0" smtClean="0">
                            <a:solidFill>
                              <a:schemeClr val="accent3">
                                <a:lumMod val="75000"/>
                              </a:schemeClr>
                            </a:solidFill>
                            <a:latin typeface="Cambria Math" panose="02040503050406030204" pitchFamily="18" charset="0"/>
                          </a:rPr>
                          <m:t>𝑖</m:t>
                        </m:r>
                      </m:sub>
                    </m:sSub>
                    <m:r>
                      <m:rPr>
                        <m:sty m:val="p"/>
                      </m:rPr>
                      <a:rPr lang="fr-FR" sz="2000" b="0" i="0" dirty="0" smtClean="0">
                        <a:solidFill>
                          <a:schemeClr val="accent3">
                            <a:lumMod val="75000"/>
                          </a:schemeClr>
                        </a:solidFill>
                        <a:latin typeface="Cambria Math" panose="02040503050406030204" pitchFamily="18" charset="0"/>
                      </a:rPr>
                      <m:t>Δ</m:t>
                    </m:r>
                    <m:sSup>
                      <m:sSupPr>
                        <m:ctrlPr>
                          <a:rPr lang="fr-FR" sz="2000" b="0" i="1" dirty="0" smtClean="0">
                            <a:solidFill>
                              <a:schemeClr val="accent3">
                                <a:lumMod val="75000"/>
                              </a:schemeClr>
                            </a:solidFill>
                            <a:latin typeface="Cambria Math" panose="02040503050406030204" pitchFamily="18" charset="0"/>
                          </a:rPr>
                        </m:ctrlPr>
                      </m:sSupPr>
                      <m:e>
                        <m:r>
                          <a:rPr lang="fr-FR" sz="2000" b="0" i="1" dirty="0" smtClean="0">
                            <a:solidFill>
                              <a:schemeClr val="accent3">
                                <a:lumMod val="75000"/>
                              </a:schemeClr>
                            </a:solidFill>
                            <a:latin typeface="Cambria Math" panose="02040503050406030204" pitchFamily="18" charset="0"/>
                          </a:rPr>
                          <m:t>𝑟</m:t>
                        </m:r>
                      </m:e>
                      <m:sup>
                        <m:r>
                          <a:rPr lang="fr-FR" sz="2000" b="0" i="1" dirty="0" smtClean="0">
                            <a:solidFill>
                              <a:schemeClr val="accent3">
                                <a:lumMod val="75000"/>
                              </a:schemeClr>
                            </a:solidFill>
                            <a:latin typeface="Cambria Math" panose="02040503050406030204" pitchFamily="18" charset="0"/>
                          </a:rPr>
                          <m:t>2</m:t>
                        </m:r>
                      </m:sup>
                    </m:sSup>
                    <m:r>
                      <a:rPr lang="fr-CA" sz="2000" b="0" i="1" dirty="0" smtClean="0">
                        <a:solidFill>
                          <a:schemeClr val="accent3">
                            <a:lumMod val="75000"/>
                          </a:schemeClr>
                        </a:solidFill>
                        <a:latin typeface="Cambria Math" panose="02040503050406030204" pitchFamily="18" charset="0"/>
                      </a:rPr>
                      <m:t>−</m:t>
                    </m:r>
                    <m:r>
                      <a:rPr lang="fr-CA" sz="2000" b="0" i="1" dirty="0" smtClean="0">
                        <a:solidFill>
                          <a:schemeClr val="accent3">
                            <a:lumMod val="75000"/>
                          </a:schemeClr>
                        </a:solidFill>
                        <a:latin typeface="Cambria Math" panose="02040503050406030204" pitchFamily="18" charset="0"/>
                      </a:rPr>
                      <m:t>𝑆</m:t>
                    </m:r>
                    <m:r>
                      <a:rPr lang="fr-CA" sz="2000" b="0" i="1" dirty="0" smtClean="0">
                        <a:solidFill>
                          <a:schemeClr val="tx1"/>
                        </a:solidFill>
                        <a:latin typeface="Cambria Math" panose="02040503050406030204" pitchFamily="18" charset="0"/>
                      </a:rPr>
                      <m:t>+</m:t>
                    </m:r>
                    <m:f>
                      <m:fPr>
                        <m:ctrlPr>
                          <a:rPr lang="fr-FR" sz="2000" i="1" smtClean="0">
                            <a:solidFill>
                              <a:schemeClr val="accent5">
                                <a:lumMod val="75000"/>
                              </a:schemeClr>
                            </a:solidFill>
                            <a:latin typeface="Cambria Math" panose="02040503050406030204" pitchFamily="18" charset="0"/>
                          </a:rPr>
                        </m:ctrlPr>
                      </m:fPr>
                      <m:num>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m:t>
                            </m:r>
                          </m:e>
                          <m:sup>
                            <m:r>
                              <a:rPr lang="fr-FR" sz="2000" i="1">
                                <a:solidFill>
                                  <a:schemeClr val="accent5">
                                    <a:lumMod val="75000"/>
                                  </a:schemeClr>
                                </a:solidFill>
                                <a:latin typeface="Cambria Math" panose="02040503050406030204" pitchFamily="18" charset="0"/>
                              </a:rPr>
                              <m:t>2</m:t>
                            </m:r>
                          </m:sup>
                        </m:sSup>
                        <m:r>
                          <a:rPr lang="fr-FR" sz="2000" i="1">
                            <a:solidFill>
                              <a:schemeClr val="accent5">
                                <a:lumMod val="75000"/>
                              </a:schemeClr>
                            </a:solidFill>
                            <a:latin typeface="Cambria Math" panose="02040503050406030204" pitchFamily="18" charset="0"/>
                          </a:rPr>
                          <m:t>𝐶</m:t>
                        </m:r>
                      </m:num>
                      <m:den>
                        <m:r>
                          <a:rPr lang="fr-FR" sz="2000" i="1">
                            <a:solidFill>
                              <a:schemeClr val="accent5">
                                <a:lumMod val="75000"/>
                              </a:schemeClr>
                            </a:solidFill>
                            <a:latin typeface="Cambria Math" panose="02040503050406030204" pitchFamily="18" charset="0"/>
                          </a:rPr>
                          <m:t>𝜕</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FR" sz="2000" i="1">
                                <a:solidFill>
                                  <a:schemeClr val="accent5">
                                    <a:lumMod val="75000"/>
                                  </a:schemeClr>
                                </a:solidFill>
                                <a:latin typeface="Cambria Math" panose="02040503050406030204" pitchFamily="18" charset="0"/>
                              </a:rPr>
                              <m:t>2</m:t>
                            </m:r>
                          </m:sup>
                        </m:sSup>
                      </m:den>
                    </m:f>
                    <m:sSub>
                      <m:sSubPr>
                        <m:ctrlPr>
                          <a:rPr lang="fr-FR" sz="2000" i="1">
                            <a:solidFill>
                              <a:schemeClr val="accent5">
                                <a:lumMod val="75000"/>
                              </a:schemeClr>
                            </a:solidFill>
                            <a:latin typeface="Cambria Math" panose="02040503050406030204" pitchFamily="18" charset="0"/>
                          </a:rPr>
                        </m:ctrlPr>
                      </m:sSubPr>
                      <m:e>
                        <m:d>
                          <m:dPr>
                            <m:begChr m:val=""/>
                            <m:endChr m:val="|"/>
                            <m:ctrlPr>
                              <a:rPr lang="fr-FR" sz="2000" i="1">
                                <a:solidFill>
                                  <a:schemeClr val="accent5">
                                    <a:lumMod val="75000"/>
                                  </a:schemeClr>
                                </a:solidFill>
                                <a:latin typeface="Cambria Math" panose="02040503050406030204" pitchFamily="18" charset="0"/>
                              </a:rPr>
                            </m:ctrlPr>
                          </m:dPr>
                          <m:e>
                            <m:r>
                              <a:rPr lang="fr-FR" sz="2000" i="1">
                                <a:solidFill>
                                  <a:schemeClr val="accent5">
                                    <a:lumMod val="75000"/>
                                  </a:schemeClr>
                                </a:solidFill>
                                <a:latin typeface="Cambria Math" panose="02040503050406030204" pitchFamily="18" charset="0"/>
                              </a:rPr>
                              <m:t>​</m:t>
                            </m:r>
                          </m:e>
                        </m:d>
                      </m:e>
                      <m:sub>
                        <m:r>
                          <a:rPr lang="fr-FR" sz="2000" i="1">
                            <a:solidFill>
                              <a:schemeClr val="accent5">
                                <a:lumMod val="75000"/>
                              </a:schemeClr>
                            </a:solidFill>
                            <a:latin typeface="Cambria Math" panose="02040503050406030204" pitchFamily="18" charset="0"/>
                          </a:rPr>
                          <m:t>𝑖</m:t>
                        </m:r>
                      </m:sub>
                    </m:sSub>
                    <m:f>
                      <m:fPr>
                        <m:ctrlPr>
                          <a:rPr lang="fr-FR" sz="2000" i="1">
                            <a:solidFill>
                              <a:schemeClr val="accent5">
                                <a:lumMod val="75000"/>
                              </a:schemeClr>
                            </a:solidFill>
                            <a:latin typeface="Cambria Math" panose="02040503050406030204" pitchFamily="18" charset="0"/>
                          </a:rPr>
                        </m:ctrlPr>
                      </m:fPr>
                      <m:num>
                        <m:r>
                          <m:rPr>
                            <m:sty m:val="p"/>
                          </m:rPr>
                          <a:rPr lang="fr-FR" sz="2000" i="1">
                            <a:solidFill>
                              <a:schemeClr val="accent5">
                                <a:lumMod val="75000"/>
                              </a:schemeClr>
                            </a:solidFill>
                            <a:latin typeface="Cambria Math" panose="02040503050406030204" pitchFamily="18" charset="0"/>
                          </a:rPr>
                          <m:t>Δ</m:t>
                        </m:r>
                        <m:r>
                          <a:rPr lang="fr-CA" sz="2000" i="1">
                            <a:solidFill>
                              <a:schemeClr val="accent5">
                                <a:lumMod val="75000"/>
                              </a:schemeClr>
                            </a:solidFill>
                            <a:latin typeface="Cambria Math" panose="02040503050406030204" pitchFamily="18" charset="0"/>
                          </a:rPr>
                          <m:t>𝑟</m:t>
                        </m:r>
                      </m:num>
                      <m:den>
                        <m:r>
                          <a:rPr lang="fr-FR" sz="2000" i="1">
                            <a:solidFill>
                              <a:schemeClr val="accent5">
                                <a:lumMod val="75000"/>
                              </a:schemeClr>
                            </a:solidFill>
                            <a:latin typeface="Cambria Math" panose="02040503050406030204" pitchFamily="18" charset="0"/>
                          </a:rPr>
                          <m:t>2!</m:t>
                        </m:r>
                      </m:den>
                    </m:f>
                    <m:r>
                      <a:rPr lang="fr-CA" sz="2000" b="0" i="1" dirty="0" smtClean="0">
                        <a:solidFill>
                          <a:schemeClr val="accent5">
                            <a:lumMod val="75000"/>
                          </a:schemeClr>
                        </a:solidFill>
                        <a:latin typeface="Cambria Math" panose="02040503050406030204" pitchFamily="18" charset="0"/>
                      </a:rPr>
                      <m:t>+</m:t>
                    </m:r>
                    <m:r>
                      <a:rPr lang="fr-CA" sz="2000" i="1">
                        <a:solidFill>
                          <a:schemeClr val="accent5">
                            <a:lumMod val="75000"/>
                          </a:schemeClr>
                        </a:solidFill>
                        <a:latin typeface="Cambria Math" panose="02040503050406030204" pitchFamily="18" charset="0"/>
                      </a:rPr>
                      <m:t>𝑜</m:t>
                    </m:r>
                    <m:d>
                      <m:dPr>
                        <m:ctrlPr>
                          <a:rPr lang="fr-CA" sz="2000" i="1">
                            <a:solidFill>
                              <a:schemeClr val="accent5">
                                <a:lumMod val="75000"/>
                              </a:schemeClr>
                            </a:solidFill>
                            <a:latin typeface="Cambria Math" panose="02040503050406030204" pitchFamily="18" charset="0"/>
                          </a:rPr>
                        </m:ctrlPr>
                      </m:dPr>
                      <m:e>
                        <m:r>
                          <m:rPr>
                            <m:sty m:val="p"/>
                          </m:rPr>
                          <a:rPr lang="fr-FR" sz="2000">
                            <a:solidFill>
                              <a:schemeClr val="accent5">
                                <a:lumMod val="75000"/>
                              </a:schemeClr>
                            </a:solidFill>
                            <a:latin typeface="Cambria Math" panose="02040503050406030204" pitchFamily="18" charset="0"/>
                          </a:rPr>
                          <m:t>Δ</m:t>
                        </m:r>
                        <m:sSup>
                          <m:sSupPr>
                            <m:ctrlPr>
                              <a:rPr lang="fr-FR" sz="2000" i="1">
                                <a:solidFill>
                                  <a:schemeClr val="accent5">
                                    <a:lumMod val="75000"/>
                                  </a:schemeClr>
                                </a:solidFill>
                                <a:latin typeface="Cambria Math" panose="02040503050406030204" pitchFamily="18" charset="0"/>
                              </a:rPr>
                            </m:ctrlPr>
                          </m:sSupPr>
                          <m:e>
                            <m:r>
                              <a:rPr lang="fr-FR" sz="2000" i="1">
                                <a:solidFill>
                                  <a:schemeClr val="accent5">
                                    <a:lumMod val="75000"/>
                                  </a:schemeClr>
                                </a:solidFill>
                                <a:latin typeface="Cambria Math" panose="02040503050406030204" pitchFamily="18" charset="0"/>
                              </a:rPr>
                              <m:t>𝑟</m:t>
                            </m:r>
                          </m:e>
                          <m:sup>
                            <m:r>
                              <a:rPr lang="fr-CA" sz="2000" b="0" i="1" smtClean="0">
                                <a:solidFill>
                                  <a:schemeClr val="accent5">
                                    <a:lumMod val="75000"/>
                                  </a:schemeClr>
                                </a:solidFill>
                                <a:latin typeface="Cambria Math" panose="02040503050406030204" pitchFamily="18" charset="0"/>
                              </a:rPr>
                              <m:t>2</m:t>
                            </m:r>
                          </m:sup>
                        </m:sSup>
                      </m:e>
                    </m:d>
                    <m:r>
                      <a:rPr lang="fr-FR" sz="2000" b="0" i="1" dirty="0" smtClean="0">
                        <a:solidFill>
                          <a:schemeClr val="accent5">
                            <a:lumMod val="75000"/>
                          </a:schemeClr>
                        </a:solidFill>
                        <a:latin typeface="Cambria Math" panose="02040503050406030204" pitchFamily="18" charset="0"/>
                      </a:rPr>
                      <m:t>+</m:t>
                    </m:r>
                    <m:r>
                      <a:rPr lang="fr-FR" sz="2000" b="0" i="1" dirty="0" smtClean="0">
                        <a:solidFill>
                          <a:schemeClr val="accent5">
                            <a:lumMod val="75000"/>
                          </a:schemeClr>
                        </a:solidFill>
                        <a:latin typeface="Cambria Math" panose="02040503050406030204" pitchFamily="18" charset="0"/>
                      </a:rPr>
                      <m:t>𝑜</m:t>
                    </m:r>
                    <m:d>
                      <m:dPr>
                        <m:ctrlPr>
                          <a:rPr lang="fr-FR" sz="2000" b="0" i="1" dirty="0" smtClean="0">
                            <a:solidFill>
                              <a:schemeClr val="accent5">
                                <a:lumMod val="75000"/>
                              </a:schemeClr>
                            </a:solidFill>
                            <a:latin typeface="Cambria Math" panose="02040503050406030204" pitchFamily="18" charset="0"/>
                          </a:rPr>
                        </m:ctrlPr>
                      </m:dPr>
                      <m:e>
                        <m:r>
                          <m:rPr>
                            <m:sty m:val="p"/>
                          </m:rPr>
                          <a:rPr lang="fr-FR" sz="2000" b="0" i="0" dirty="0" smtClean="0">
                            <a:solidFill>
                              <a:schemeClr val="accent5">
                                <a:lumMod val="75000"/>
                              </a:schemeClr>
                            </a:solidFill>
                            <a:latin typeface="Cambria Math" panose="02040503050406030204" pitchFamily="18" charset="0"/>
                          </a:rPr>
                          <m:t>Δ</m:t>
                        </m:r>
                        <m:sSup>
                          <m:sSupPr>
                            <m:ctrlPr>
                              <a:rPr lang="fr-FR" sz="2000" b="0" i="1" dirty="0" smtClean="0">
                                <a:solidFill>
                                  <a:schemeClr val="accent5">
                                    <a:lumMod val="75000"/>
                                  </a:schemeClr>
                                </a:solidFill>
                                <a:latin typeface="Cambria Math" panose="02040503050406030204" pitchFamily="18" charset="0"/>
                              </a:rPr>
                            </m:ctrlPr>
                          </m:sSupPr>
                          <m:e>
                            <m:r>
                              <a:rPr lang="fr-FR" sz="2000" b="0" i="1" dirty="0" smtClean="0">
                                <a:solidFill>
                                  <a:schemeClr val="accent5">
                                    <a:lumMod val="75000"/>
                                  </a:schemeClr>
                                </a:solidFill>
                                <a:latin typeface="Cambria Math" panose="02040503050406030204" pitchFamily="18" charset="0"/>
                              </a:rPr>
                              <m:t>𝑟</m:t>
                            </m:r>
                          </m:e>
                          <m:sup>
                            <m:r>
                              <a:rPr lang="fr-CA" sz="2000" b="0" i="1" dirty="0" smtClean="0">
                                <a:solidFill>
                                  <a:schemeClr val="accent5">
                                    <a:lumMod val="75000"/>
                                  </a:schemeClr>
                                </a:solidFill>
                                <a:latin typeface="Cambria Math" panose="02040503050406030204" pitchFamily="18" charset="0"/>
                              </a:rPr>
                              <m:t>4</m:t>
                            </m:r>
                          </m:sup>
                        </m:sSup>
                      </m:e>
                    </m:d>
                  </m:oMath>
                </a14:m>
                <a:endParaRPr lang="fr-FR" sz="2000" b="0" i="1" dirty="0">
                  <a:latin typeface="Cambria Math" panose="02040503050406030204" pitchFamily="18" charset="0"/>
                </a:endParaRPr>
              </a:p>
              <a:p>
                <a:pPr marL="0" indent="0">
                  <a:buNone/>
                </a:pPr>
                <a:r>
                  <a:rPr lang="en-US" sz="2000" dirty="0">
                    <a:latin typeface="Cambria Math" panose="02040503050406030204" pitchFamily="18" charset="0"/>
                  </a:rPr>
                  <a:t>                                             </a:t>
                </a:r>
                <a:r>
                  <a:rPr lang="en-US" sz="2000" dirty="0">
                    <a:solidFill>
                      <a:schemeClr val="accent3">
                        <a:lumMod val="75000"/>
                      </a:schemeClr>
                    </a:solidFill>
                    <a:latin typeface="Cambria Math" panose="02040503050406030204" pitchFamily="18" charset="0"/>
                  </a:rPr>
                  <a:t>L(C)                                 </a:t>
                </a:r>
                <a:r>
                  <a:rPr lang="en-US" sz="2000" dirty="0" err="1">
                    <a:solidFill>
                      <a:schemeClr val="accent5">
                        <a:lumMod val="75000"/>
                      </a:schemeClr>
                    </a:solidFill>
                    <a:latin typeface="Cambria Math" panose="02040503050406030204" pitchFamily="18" charset="0"/>
                  </a:rPr>
                  <a:t>Erreur</a:t>
                </a:r>
                <a:r>
                  <a:rPr lang="en-US" sz="2000" i="1" dirty="0">
                    <a:solidFill>
                      <a:schemeClr val="accent5">
                        <a:lumMod val="75000"/>
                      </a:schemeClr>
                    </a:solidFill>
                    <a:latin typeface="Cambria Math" panose="02040503050406030204" pitchFamily="18" charset="0"/>
                  </a:rPr>
                  <a:t> </a:t>
                </a:r>
                <a:r>
                  <a:rPr lang="en-US" sz="2000" dirty="0">
                    <a:solidFill>
                      <a:schemeClr val="accent5">
                        <a:lumMod val="75000"/>
                      </a:schemeClr>
                    </a:solidFill>
                    <a:latin typeface="Cambria Math" panose="02040503050406030204" pitchFamily="18" charset="0"/>
                  </a:rPr>
                  <a:t>de</a:t>
                </a:r>
                <a:r>
                  <a:rPr lang="en-US" sz="2000" i="1" dirty="0">
                    <a:solidFill>
                      <a:schemeClr val="accent5">
                        <a:lumMod val="75000"/>
                      </a:schemeClr>
                    </a:solidFill>
                    <a:latin typeface="Cambria Math" panose="02040503050406030204" pitchFamily="18" charset="0"/>
                  </a:rPr>
                  <a:t> </a:t>
                </a:r>
                <a:r>
                  <a:rPr lang="en-US" sz="2000" dirty="0" err="1">
                    <a:solidFill>
                      <a:schemeClr val="accent5">
                        <a:lumMod val="75000"/>
                      </a:schemeClr>
                    </a:solidFill>
                    <a:latin typeface="Cambria Math" panose="02040503050406030204" pitchFamily="18" charset="0"/>
                  </a:rPr>
                  <a:t>troncature</a:t>
                </a:r>
                <a:endParaRPr lang="en-US" sz="2000" dirty="0">
                  <a:solidFill>
                    <a:schemeClr val="accent5">
                      <a:lumMod val="75000"/>
                    </a:schemeClr>
                  </a:solidFill>
                  <a:latin typeface="Cambria Math" panose="02040503050406030204" pitchFamily="18" charset="0"/>
                </a:endParaRPr>
              </a:p>
              <a:p>
                <a:r>
                  <a:rPr lang="en-US" sz="2000" dirty="0">
                    <a:latin typeface="Cambria Math" panose="02040503050406030204" pitchFamily="18" charset="0"/>
                  </a:rPr>
                  <a:t>Ordre de precision </a:t>
                </a:r>
                <a:r>
                  <a:rPr lang="en-US" sz="2000" dirty="0" err="1">
                    <a:latin typeface="Cambria Math" panose="02040503050406030204" pitchFamily="18" charset="0"/>
                  </a:rPr>
                  <a:t>attendu</a:t>
                </a:r>
                <a:r>
                  <a:rPr lang="en-US" sz="2000" dirty="0">
                    <a:latin typeface="Cambria Math" panose="02040503050406030204" pitchFamily="18" charset="0"/>
                  </a:rPr>
                  <a:t> : 1 par rapport à r</a:t>
                </a:r>
              </a:p>
            </p:txBody>
          </p:sp>
        </mc:Choice>
        <mc:Fallback>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dirty="0"/>
              <a:t>E. Nouveaux schémas de différenciation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lstStyle/>
              <a:p>
                <a:r>
                  <a:rPr lang="fr-FR" dirty="0"/>
                  <a:t>Pas d’erreur de troncature </a:t>
                </a:r>
                <a14:m>
                  <m:oMath xmlns:m="http://schemas.openxmlformats.org/officeDocument/2006/math">
                    <m:groupChr>
                      <m:groupChrPr>
                        <m:chr m:val="⇒"/>
                        <m:pos m:val="top"/>
                        <m:ctrlPr>
                          <a:rPr lang="fr-FR" i="1" smtClean="0">
                            <a:latin typeface="Cambria Math" panose="02040503050406030204" pitchFamily="18" charset="0"/>
                          </a:rPr>
                        </m:ctrlPr>
                      </m:groupChrPr>
                      <m:e/>
                    </m:groupChr>
                  </m:oMath>
                </a14:m>
                <a:r>
                  <a:rPr lang="en-US" dirty="0"/>
                  <a:t> precision </a:t>
                </a:r>
                <a:r>
                  <a:rPr lang="en-US" dirty="0" err="1"/>
                  <a:t>attendue</a:t>
                </a:r>
                <a:r>
                  <a:rPr lang="en-US" dirty="0"/>
                  <a:t> : </a:t>
                </a:r>
                <a:r>
                  <a:rPr lang="en-US" dirty="0" err="1"/>
                  <a:t>exacte</a:t>
                </a:r>
                <a:endParaRPr lang="en-US" dirty="0"/>
              </a:p>
            </p:txBody>
          </p:sp>
        </mc:Choice>
        <mc:Fallback xmlns="">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t="-2101"/>
                </a:stretch>
              </a:blipFill>
            </p:spPr>
            <p:txBody>
              <a:bodyPr/>
              <a:lstStyle/>
              <a:p>
                <a:r>
                  <a:rPr lang="en-US">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dirty="0"/>
              <a:t>F. Résultats et analyse - Avant</a:t>
            </a:r>
            <a:endParaRPr lang="en-US" dirty="0"/>
          </a:p>
        </p:txBody>
      </p:sp>
      <p:sp>
        <p:nvSpPr>
          <p:cNvPr id="9" name="ZoneTexte 8">
            <a:extLst>
              <a:ext uri="{FF2B5EF4-FFF2-40B4-BE49-F238E27FC236}">
                <a16:creationId xmlns:a16="http://schemas.microsoft.com/office/drawing/2014/main" id="{956B2C77-283E-DF73-AD29-6A345270E2A1}"/>
              </a:ext>
            </a:extLst>
          </p:cNvPr>
          <p:cNvSpPr txBox="1"/>
          <p:nvPr/>
        </p:nvSpPr>
        <p:spPr>
          <a:xfrm>
            <a:off x="1068310" y="4746447"/>
            <a:ext cx="10520126" cy="1815882"/>
          </a:xfrm>
          <a:prstGeom prst="rect">
            <a:avLst/>
          </a:prstGeom>
          <a:noFill/>
        </p:spPr>
        <p:txBody>
          <a:bodyPr wrap="square" rtlCol="0">
            <a:spAutoFit/>
          </a:bodyPr>
          <a:lstStyle/>
          <a:p>
            <a:r>
              <a:rPr lang="fr-CA" sz="1600" dirty="0"/>
              <a:t>À droite,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CA" sz="1600" dirty="0"/>
          </a:p>
          <a:p>
            <a:r>
              <a:rPr lang="fr-CA" sz="1600" dirty="0"/>
              <a:t>À gauche, pour ce schéma, on obtient un ordre de convergence / pente d’environ 1 pour les trois erreurs. L’erreur commise est de l’ordre de 10</a:t>
            </a:r>
            <a:r>
              <a:rPr lang="fr-CA" sz="1600" baseline="30000" dirty="0"/>
              <a:t>-2</a:t>
            </a:r>
            <a:r>
              <a:rPr lang="fr-CA" sz="1600" dirty="0"/>
              <a:t> à 10</a:t>
            </a:r>
            <a:r>
              <a:rPr lang="fr-CA" sz="1600" baseline="30000" dirty="0"/>
              <a:t>0</a:t>
            </a:r>
            <a:r>
              <a:rPr lang="fr-CA" sz="1600" dirty="0"/>
              <a:t>. Ce résultat est conforme à l’ordre de précision qui a été démontré précédemment.</a:t>
            </a:r>
          </a:p>
        </p:txBody>
      </p:sp>
      <p:pic>
        <p:nvPicPr>
          <p:cNvPr id="15" name="Picture 14">
            <a:extLst>
              <a:ext uri="{FF2B5EF4-FFF2-40B4-BE49-F238E27FC236}">
                <a16:creationId xmlns:a16="http://schemas.microsoft.com/office/drawing/2014/main" id="{D78F9CC7-F47A-7242-E4B5-3C84090E800A}"/>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7DEE5F67-42C2-D599-59DA-D8C9BC475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2362006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dirty="0"/>
              <a:t>F. Résultats et analyse - Centré</a:t>
            </a:r>
            <a:endParaRPr lang="en-US" dirty="0"/>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CA" sz="1400" dirty="0"/>
              <a:t>À droite,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CA" sz="1400" dirty="0"/>
              <a:t>     </a:t>
            </a:r>
          </a:p>
          <a:p>
            <a:r>
              <a:rPr lang="fr-CA" sz="1400" dirty="0"/>
              <a:t>À gauche, pour le schéma à discrétisation centrée, on obtient un ordre de convergence / pente non concluant, variant de -6.51 à -3.17. L’erreur observée est de 10</a:t>
            </a:r>
            <a:r>
              <a:rPr lang="fr-CA" sz="1400" baseline="30000" dirty="0"/>
              <a:t>-16</a:t>
            </a:r>
            <a:r>
              <a:rPr lang="fr-CA" sz="1400" dirty="0"/>
              <a:t> à 10</a:t>
            </a:r>
            <a:r>
              <a:rPr lang="fr-CA" sz="1400" baseline="30000" dirty="0"/>
              <a:t>-9</a:t>
            </a:r>
            <a:r>
              <a:rPr lang="fr-CA" sz="140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a:t>
            </a:r>
            <a:r>
              <a:rPr lang="el-GR" sz="1400" dirty="0"/>
              <a:t>Δ</a:t>
            </a:r>
            <a:r>
              <a:rPr lang="fr-CA" sz="1400" dirty="0"/>
              <a:t>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1915</TotalTime>
  <Words>824</Words>
  <Application>Microsoft Office PowerPoint</Application>
  <PresentationFormat>Grand écran</PresentationFormat>
  <Paragraphs>56</Paragraphs>
  <Slides>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9</vt:i4>
      </vt:variant>
    </vt:vector>
  </HeadingPairs>
  <TitlesOfParts>
    <vt:vector size="15"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8</cp:revision>
  <dcterms:created xsi:type="dcterms:W3CDTF">2026-02-07T22:10:41Z</dcterms:created>
  <dcterms:modified xsi:type="dcterms:W3CDTF">2026-02-16T01:18:02Z</dcterms:modified>
</cp:coreProperties>
</file>