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62" r:id="rId6"/>
    <p:sldId id="263" r:id="rId7"/>
    <p:sldId id="261" r:id="rId8"/>
    <p:sldId id="265" r:id="rId9"/>
    <p:sldId id="267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MEC8211 – Devoir 1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0817"/>
            <a:ext cx="9144000" cy="1655762"/>
          </a:xfrm>
        </p:spPr>
        <p:txBody>
          <a:bodyPr/>
          <a:lstStyle/>
          <a:p>
            <a:r>
              <a:rPr lang="fr-FR" dirty="0"/>
              <a:t>Antoine Payette-Toupin (2090788)</a:t>
            </a:r>
          </a:p>
          <a:p>
            <a:r>
              <a:rPr lang="fr-FR" dirty="0"/>
              <a:t>Charlotte Sabrié (2485495)</a:t>
            </a:r>
          </a:p>
          <a:p>
            <a:r>
              <a:rPr lang="fr-FR" dirty="0"/>
              <a:t>Loïc Vignaud (2485146)</a:t>
            </a:r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273917-48AA-BB75-2DCF-C2F32465E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4B52A-E1C1-39D0-F09E-BC090C67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445" y="1249853"/>
            <a:ext cx="10888579" cy="4781300"/>
          </a:xfrm>
        </p:spPr>
        <p:txBody>
          <a:bodyPr/>
          <a:lstStyle/>
          <a:p>
            <a:r>
              <a:rPr lang="fr-FR" dirty="0"/>
              <a:t>Problème stationnaire :</a:t>
            </a:r>
          </a:p>
          <a:p>
            <a:r>
              <a:rPr lang="fr-FR" dirty="0"/>
              <a:t>Problème </a:t>
            </a:r>
            <a:r>
              <a:rPr lang="fr-FR" b="1" dirty="0"/>
              <a:t>elliptique </a:t>
            </a:r>
            <a:endParaRPr lang="fr-FR" dirty="0"/>
          </a:p>
          <a:p>
            <a:r>
              <a:rPr lang="fr-FR" dirty="0"/>
              <a:t>Coordonnées cylindriques (symétrie autour de l’axe du pilier) </a:t>
            </a:r>
          </a:p>
          <a:p>
            <a:r>
              <a:rPr lang="fr-FR" dirty="0"/>
              <a:t> Réduction de la dimensionalité du problème : </a:t>
            </a:r>
          </a:p>
          <a:p>
            <a:pPr lvl="1"/>
            <a:r>
              <a:rPr lang="fr-FR" dirty="0"/>
              <a:t>Invariance par translation le long de l’axe du pilier (considéré infini)</a:t>
            </a:r>
          </a:p>
          <a:p>
            <a:pPr lvl="1"/>
            <a:r>
              <a:rPr lang="fr-FR" dirty="0"/>
              <a:t>Invariance par rotation autour de l’axe du pilier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 La </a:t>
            </a:r>
            <a:r>
              <a:rPr lang="fr-FR" b="1" dirty="0">
                <a:sym typeface="Wingdings" panose="05000000000000000000" pitchFamily="2" charset="2"/>
              </a:rPr>
              <a:t>concentration ne dépend que de r</a:t>
            </a:r>
            <a:r>
              <a:rPr lang="fr-FR" dirty="0">
                <a:sym typeface="Wingdings" panose="05000000000000000000" pitchFamily="2" charset="2"/>
              </a:rPr>
              <a:t>,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     la distance au centre du pilier. -&gt; 1D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Le système est discrétisé à l’aide de cinq nœuds,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   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disposés tels que </a:t>
            </a:r>
            <a:r>
              <a:rPr kumimoji="0" lang="el-G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Δ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 = R/5 = 0,1m</a:t>
            </a:r>
          </a:p>
          <a:p>
            <a:pPr marL="457200" lvl="1" indent="0">
              <a:buNone/>
            </a:pPr>
            <a:endParaRPr lang="fr-FR" dirty="0">
              <a:sym typeface="Wingdings" panose="05000000000000000000" pitchFamily="2" charset="2"/>
            </a:endParaRPr>
          </a:p>
        </p:txBody>
      </p:sp>
      <p:pic>
        <p:nvPicPr>
          <p:cNvPr id="5" name="Image 4" descr="Une image contenant Police, blanc, typographie, calligraphie&#10;&#10;Le contenu généré par l’IA peut être incorrect.">
            <a:extLst>
              <a:ext uri="{FF2B5EF4-FFF2-40B4-BE49-F238E27FC236}">
                <a16:creationId xmlns:a16="http://schemas.microsoft.com/office/drawing/2014/main" id="{27D56F01-7022-CBE0-6E09-7F23518C5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682" y="1193659"/>
            <a:ext cx="2585010" cy="574446"/>
          </a:xfrm>
          <a:prstGeom prst="rect">
            <a:avLst/>
          </a:prstGeom>
        </p:spPr>
      </p:pic>
      <p:pic>
        <p:nvPicPr>
          <p:cNvPr id="7" name="Image 6" descr="Une image contenant cercle, texte, capture d’écran, diagramme&#10;&#10;Le contenu généré par l’IA peut être incorrect.">
            <a:extLst>
              <a:ext uri="{FF2B5EF4-FFF2-40B4-BE49-F238E27FC236}">
                <a16:creationId xmlns:a16="http://schemas.microsoft.com/office/drawing/2014/main" id="{E00351DC-A5B5-77A4-AA32-A3D8A8428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319" y="3707905"/>
            <a:ext cx="3139712" cy="26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887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1ECC886-3C4C-03F7-F7FE-9717E3684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Conditions frontières : </a:t>
                </a:r>
              </a:p>
              <a:p>
                <a:pPr marL="0" indent="0">
                  <a:buNone/>
                </a:pPr>
                <a:r>
                  <a:rPr lang="fr-FR" dirty="0"/>
                  <a:t>	Au nœud 5, par continuité, on a :</a:t>
                </a:r>
              </a:p>
              <a:p>
                <a:pPr marL="0" indent="0">
                  <a:buNone/>
                </a:pPr>
                <a:r>
                  <a:rPr lang="fr-FR" dirty="0"/>
                  <a:t>	(conditions de Dirichlet)</a:t>
                </a:r>
              </a:p>
              <a:p>
                <a:pPr marL="0" indent="0">
                  <a:buNone/>
                </a:pPr>
                <a:r>
                  <a:rPr lang="fr-FR" dirty="0"/>
                  <a:t>	Au </a:t>
                </a:r>
                <a:r>
                  <a:rPr lang="fr-FR" dirty="0" err="1"/>
                  <a:t>noeud</a:t>
                </a:r>
                <a:r>
                  <a:rPr lang="fr-FR" dirty="0"/>
                  <a:t> 1, par symétrie, on a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br>
                  <a:rPr lang="fr-CA" dirty="0"/>
                </a:br>
                <a:r>
                  <a:rPr lang="fr-CA" dirty="0"/>
                  <a:t>	(condition de Neumann nulle)</a:t>
                </a:r>
                <a:endParaRPr lang="fr-FR" dirty="0"/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fr-FR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Conditions initiales : sans objet puisque le problème est stationnaire 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1ECC886-3C4C-03F7-F7FE-9717E3684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re 1">
            <a:extLst>
              <a:ext uri="{FF2B5EF4-FFF2-40B4-BE49-F238E27FC236}">
                <a16:creationId xmlns:a16="http://schemas.microsoft.com/office/drawing/2014/main" id="{41994DCE-0655-49EB-76A8-F20E9240F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pic>
        <p:nvPicPr>
          <p:cNvPr id="6" name="Image 5" descr="Une image contenant Police, calligraphie, blanc, texte&#10;&#10;Le contenu généré par l’IA peut être incorrect.">
            <a:extLst>
              <a:ext uri="{FF2B5EF4-FFF2-40B4-BE49-F238E27FC236}">
                <a16:creationId xmlns:a16="http://schemas.microsoft.com/office/drawing/2014/main" id="{8DB6BF51-8879-AB0F-E39E-7E855B423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880" y="2218995"/>
            <a:ext cx="3924640" cy="65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2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</p:spPr>
            <p:txBody>
              <a:bodyPr bIns="91440">
                <a:norm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dr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𝑑𝐶</m:t>
                                    </m:r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</m:den>
                                </m:f>
                              </m:e>
                            </m:d>
                          </m:e>
                        </m:nary>
                      </m:e>
                    </m:nary>
                    <m:r>
                      <a:rPr lang="fr-FR" b="0" i="1" smtClean="0">
                        <a:latin typeface="Cambria Math" panose="02040503050406030204" pitchFamily="18" charset="0"/>
                      </a:rPr>
                      <m:t>                        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/>
                  <a:t>Or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dirty="0"/>
                  <a:t>     d’où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0.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2⋅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</m:den>
                        </m:f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𝑟𝑑𝑟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dC</m:t>
                            </m:r>
                          </m:e>
                        </m:nary>
                      </m:e>
                    </m:nary>
                  </m:oMath>
                </a14:m>
                <a:r>
                  <a:rPr lang="fr-FR" dirty="0"/>
                  <a:t>                     </a:t>
                </a:r>
                <a14:m>
                  <m:oMath xmlns:m="http://schemas.openxmlformats.org/officeDocument/2006/math"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dirty="0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Or par continuité  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/>
                  <a:t>                     d’où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) 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  <a:blipFill>
                <a:blip r:embed="rId2"/>
                <a:stretch>
                  <a:fillRect l="-97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re 1">
            <a:extLst>
              <a:ext uri="{FF2B5EF4-FFF2-40B4-BE49-F238E27FC236}">
                <a16:creationId xmlns:a16="http://schemas.microsoft.com/office/drawing/2014/main" id="{CD5D4174-5671-2FDC-55EC-7EC6BA508FB7}"/>
              </a:ext>
            </a:extLst>
          </p:cNvPr>
          <p:cNvSpPr txBox="1">
            <a:spLocks/>
          </p:cNvSpPr>
          <p:nvPr/>
        </p:nvSpPr>
        <p:spPr>
          <a:xfrm>
            <a:off x="838199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B. Résolution analytique  </a:t>
            </a:r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2565681D-147C-975B-E586-FEDE1ACE8B80}"/>
              </a:ext>
            </a:extLst>
          </p:cNvPr>
          <p:cNvCxnSpPr/>
          <p:nvPr/>
        </p:nvCxnSpPr>
        <p:spPr>
          <a:xfrm>
            <a:off x="5069940" y="2634558"/>
            <a:ext cx="137612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1C38FDFA-0BE2-1A30-B889-8B8889E7EF50}"/>
              </a:ext>
            </a:extLst>
          </p:cNvPr>
          <p:cNvCxnSpPr>
            <a:cxnSpLocks/>
          </p:cNvCxnSpPr>
          <p:nvPr/>
        </p:nvCxnSpPr>
        <p:spPr>
          <a:xfrm>
            <a:off x="4099709" y="4045389"/>
            <a:ext cx="124183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AC58FB8-BBC4-93A9-D6EC-B16FEB93DDF3}"/>
              </a:ext>
            </a:extLst>
          </p:cNvPr>
          <p:cNvCxnSpPr>
            <a:cxnSpLocks/>
          </p:cNvCxnSpPr>
          <p:nvPr/>
        </p:nvCxnSpPr>
        <p:spPr>
          <a:xfrm>
            <a:off x="4568981" y="5429060"/>
            <a:ext cx="124183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41EBAB5-C377-DB14-72DD-9FD67C6084D7}"/>
              </a:ext>
            </a:extLst>
          </p:cNvPr>
          <p:cNvSpPr/>
          <p:nvPr/>
        </p:nvSpPr>
        <p:spPr>
          <a:xfrm>
            <a:off x="6673158" y="4980307"/>
            <a:ext cx="4680641" cy="82537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86540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A4B4F-5B0B-48FA-73A3-D5726809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I =1 :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CA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CA" dirty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r>
                              <m:rPr>
                                <m:sty m:val="p"/>
                              </m:rPr>
                              <a:rPr lang="fr-CA" b="0" i="0" dirty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CA" b="0" i="1" dirty="0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r>
                      <a:rPr lang="fr-CA" b="0" i="1" dirty="0" smtClean="0">
                        <a:latin typeface="Cambria Math" panose="02040503050406030204" pitchFamily="18" charset="0"/>
                      </a:rPr>
                      <m:t>=0 →</m:t>
                    </m:r>
                    <m:f>
                      <m:fPr>
                        <m:ctrlPr>
                          <a:rPr lang="fr-CA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CA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CA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fr-CA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=0 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I = 2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0,01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3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4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7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I = 5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2B8FA286-F00E-8B4D-BE33-75983933812F}"/>
              </a:ext>
            </a:extLst>
          </p:cNvPr>
          <p:cNvSpPr txBox="1"/>
          <p:nvPr/>
        </p:nvSpPr>
        <p:spPr>
          <a:xfrm>
            <a:off x="6364586" y="2770360"/>
            <a:ext cx="48798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Procédure de résolution :</a:t>
            </a:r>
            <a:br>
              <a:rPr lang="fr-CA" dirty="0"/>
            </a:br>
            <a:br>
              <a:rPr lang="fr-CA" dirty="0"/>
            </a:br>
            <a:r>
              <a:rPr lang="fr-CA" dirty="0"/>
              <a:t>Construire le système matriciel Ax = b correspondant à l'ensemble des équations de discrétisation et des conditions limites. La matrice A est constitué de tous les coefficients des x, et le vecteur b est constitué de tous les autres termes. Puis, la librairie </a:t>
            </a:r>
            <a:r>
              <a:rPr lang="fr-CA" dirty="0" err="1"/>
              <a:t>Numpy</a:t>
            </a:r>
            <a:r>
              <a:rPr lang="fr-CA" dirty="0"/>
              <a:t> fourni l'outil </a:t>
            </a:r>
            <a:r>
              <a:rPr lang="fr-CA" dirty="0" err="1"/>
              <a:t>numpy.linalg.solve</a:t>
            </a:r>
            <a:r>
              <a:rPr lang="fr-CA" dirty="0"/>
              <a:t>(</a:t>
            </a:r>
            <a:r>
              <a:rPr lang="fr-CA" dirty="0" err="1"/>
              <a:t>A,b</a:t>
            </a:r>
            <a:r>
              <a:rPr lang="fr-CA" dirty="0"/>
              <a:t>) afin de résoudre le système et déterminer les inconnues x.</a:t>
            </a:r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E7D86AC-199F-1FC6-887F-7DA87AF9BFDD}"/>
              </a:ext>
            </a:extLst>
          </p:cNvPr>
          <p:cNvCxnSpPr/>
          <p:nvPr/>
        </p:nvCxnSpPr>
        <p:spPr>
          <a:xfrm>
            <a:off x="4354717" y="4834550"/>
            <a:ext cx="669956" cy="5975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BA218C03-0F64-A990-9AF3-717E20FFD87B}"/>
              </a:ext>
            </a:extLst>
          </p:cNvPr>
          <p:cNvCxnSpPr/>
          <p:nvPr/>
        </p:nvCxnSpPr>
        <p:spPr>
          <a:xfrm>
            <a:off x="2344848" y="5423025"/>
            <a:ext cx="669956" cy="5975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8688AEE6-509F-AAA1-8FCF-6A2A2C487917}"/>
              </a:ext>
            </a:extLst>
          </p:cNvPr>
          <p:cNvSpPr txBox="1"/>
          <p:nvPr/>
        </p:nvSpPr>
        <p:spPr>
          <a:xfrm>
            <a:off x="4704782" y="5481355"/>
            <a:ext cx="1391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Dans la matrice A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97F5669-F217-0F6C-7C21-D594C7712879}"/>
              </a:ext>
            </a:extLst>
          </p:cNvPr>
          <p:cNvSpPr txBox="1"/>
          <p:nvPr/>
        </p:nvSpPr>
        <p:spPr>
          <a:xfrm>
            <a:off x="2963499" y="6020554"/>
            <a:ext cx="1391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Dans le vecteur b</a:t>
            </a:r>
          </a:p>
        </p:txBody>
      </p:sp>
    </p:spTree>
    <p:extLst>
      <p:ext uri="{BB962C8B-B14F-4D97-AF65-F5344CB8AC3E}">
        <p14:creationId xmlns:p14="http://schemas.microsoft.com/office/powerpoint/2010/main" val="3754190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0AA5E-2B52-BD99-82C6-1C785020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 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    </m:t>
                    </m:r>
                    <m:groupChr>
                      <m:groupChrPr>
                        <m:chr m:val="⇒"/>
                        <m:pos m:val="top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r>
                  <a:rPr lang="fr-FR" sz="2000" dirty="0"/>
                  <a:t>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000" i="1">
                                <a:latin typeface="Cambria Math" panose="02040503050406030204" pitchFamily="18" charset="0"/>
                              </a:rPr>
                              <m:t>Δr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 →</m:t>
                    </m:r>
                    <m:f>
                      <m:f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fr-FR" sz="2000" b="1" i="1">
                            <a:latin typeface="Cambria Math" panose="02040503050406030204" pitchFamily="18" charset="0"/>
                          </a:rPr>
                          <m:t>𝜟</m:t>
                        </m:r>
                        <m:r>
                          <a:rPr lang="fr-CA" sz="20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r>
                  <a:rPr lang="fr-CA" sz="2000" b="0" dirty="0"/>
                  <a:t>2) </a:t>
                </a:r>
                <a14:m>
                  <m:oMath xmlns:m="http://schemas.openxmlformats.org/officeDocument/2006/math"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000" b="0" i="0" smtClean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fr-CA" sz="2000" i="1">
                        <a:latin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fr-CA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CA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fr-FR" sz="2000" b="1" i="1">
                            <a:latin typeface="Cambria Math" panose="02040503050406030204" pitchFamily="18" charset="0"/>
                          </a:rPr>
                          <m:t>𝜟</m:t>
                        </m:r>
                        <m:r>
                          <a:rPr lang="fr-CA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den>
                    </m:f>
                    <m:r>
                      <a:rPr lang="fr-CA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000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r>
                  <a:rPr lang="fr-FR" sz="2000" dirty="0"/>
                  <a:t>1) + 2) =&gt;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00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000" dirty="0"/>
              </a:p>
              <a:p>
                <a:r>
                  <a:rPr lang="fr-FR" sz="2000" dirty="0"/>
                  <a:t>Retour sur le schéma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sz="200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CA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sz="2000" i="1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CA" sz="2000" b="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sz="2000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CA" sz="2000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00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CA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CA" sz="2000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000" dirty="0">
                  <a:solidFill>
                    <a:schemeClr val="accent5">
                      <a:lumMod val="75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fr-FR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 b="0" i="0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000" b="0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000" b="0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dirty="0" smtClean="0">
                                <a:solidFill>
                                  <a:schemeClr val="accent3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 b="0" i="0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000" b="0" i="1" dirty="0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CA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fr-FR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CA" sz="2000" b="0" i="1" dirty="0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sz="2000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CA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fr-FR" sz="2000" b="0" i="1" dirty="0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b="0" i="1" dirty="0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b="0" i="1" dirty="0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 b="0" i="0" dirty="0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b="0" i="1" dirty="0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b="0" i="1" dirty="0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latin typeface="Cambria Math" panose="02040503050406030204" pitchFamily="18" charset="0"/>
                  </a:rPr>
                  <a:t>                                             </a:t>
                </a:r>
                <a:r>
                  <a:rPr lang="en-US" sz="2000" dirty="0">
                    <a:solidFill>
                      <a:schemeClr val="accent3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L(C)                                 </a:t>
                </a:r>
                <a:r>
                  <a:rPr lang="en-US" sz="2000" dirty="0" err="1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Erreur</a:t>
                </a:r>
                <a:r>
                  <a:rPr lang="en-US" sz="2000" i="1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de</a:t>
                </a:r>
                <a:r>
                  <a:rPr lang="en-US" sz="2000" i="1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000" dirty="0" err="1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troncature</a:t>
                </a:r>
                <a:endParaRPr lang="en-US" sz="2000" dirty="0">
                  <a:solidFill>
                    <a:schemeClr val="accent5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2000" dirty="0">
                    <a:latin typeface="Cambria Math" panose="02040503050406030204" pitchFamily="18" charset="0"/>
                  </a:rPr>
                  <a:t>Ordre de precision </a:t>
                </a:r>
                <a:r>
                  <a:rPr lang="en-US" sz="2000" dirty="0" err="1">
                    <a:latin typeface="Cambria Math" panose="02040503050406030204" pitchFamily="18" charset="0"/>
                  </a:rPr>
                  <a:t>attendu</a:t>
                </a:r>
                <a:r>
                  <a:rPr lang="en-US" sz="2000" dirty="0">
                    <a:latin typeface="Cambria Math" panose="02040503050406030204" pitchFamily="18" charset="0"/>
                  </a:rPr>
                  <a:t> : 1 par rapport à 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7483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6639E-9501-8478-3EB4-8AFBCC750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E. Nouveaux schémas de différenciation	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Pas d’erreur de troncature </a:t>
                </a:r>
                <a14:m>
                  <m:oMath xmlns:m="http://schemas.openxmlformats.org/officeDocument/2006/math">
                    <m:groupChr>
                      <m:groupChrPr>
                        <m:chr m:val="⇒"/>
                        <m:pos m:val="top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precision </a:t>
                </a:r>
                <a:r>
                  <a:rPr lang="en-US" dirty="0" err="1"/>
                  <a:t>attendue</a:t>
                </a:r>
                <a:r>
                  <a:rPr lang="en-US" dirty="0"/>
                  <a:t> : </a:t>
                </a:r>
                <a:r>
                  <a:rPr lang="en-US" dirty="0" err="1"/>
                  <a:t>exacte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591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29396-D17B-4139-FFB2-731B93C34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0507C-3A11-54A5-46DE-25BB48B4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F. Résultats</a:t>
            </a:r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56B2C77-283E-DF73-AD29-6A345270E2A1}"/>
              </a:ext>
            </a:extLst>
          </p:cNvPr>
          <p:cNvSpPr txBox="1"/>
          <p:nvPr/>
        </p:nvSpPr>
        <p:spPr>
          <a:xfrm>
            <a:off x="1140737" y="4934139"/>
            <a:ext cx="105201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À droite, pour le schéma à discrétisation avant, on obtient un ordre de convergence / pente d’environ 1 pour les trois erreurs. L’erreur commise est de l’ordre de 10</a:t>
            </a:r>
            <a:r>
              <a:rPr lang="fr-CA" baseline="30000" dirty="0"/>
              <a:t>-2</a:t>
            </a:r>
            <a:r>
              <a:rPr lang="fr-CA" dirty="0"/>
              <a:t> à 10</a:t>
            </a:r>
            <a:r>
              <a:rPr lang="fr-CA" baseline="30000" dirty="0"/>
              <a:t>0</a:t>
            </a:r>
            <a:r>
              <a:rPr lang="fr-CA" dirty="0"/>
              <a:t>.</a:t>
            </a:r>
          </a:p>
          <a:p>
            <a:r>
              <a:rPr lang="fr-CA" dirty="0"/>
              <a:t>     </a:t>
            </a:r>
          </a:p>
          <a:p>
            <a:r>
              <a:rPr lang="fr-CA" dirty="0"/>
              <a:t>À gauche, pour le schéma à discrétisation centrée, on obtient un ordre de convergence / pente non concluant, variant de -6.51 à -3.17. L’erreur observée est de 10</a:t>
            </a:r>
            <a:r>
              <a:rPr lang="fr-CA" baseline="30000" dirty="0"/>
              <a:t>-16</a:t>
            </a:r>
            <a:r>
              <a:rPr lang="fr-CA" dirty="0"/>
              <a:t> à 10</a:t>
            </a:r>
            <a:r>
              <a:rPr lang="fr-CA" baseline="30000" dirty="0"/>
              <a:t>-9</a:t>
            </a:r>
            <a:r>
              <a:rPr lang="fr-CA" dirty="0"/>
              <a:t>. On observe aussi que l’évolution de l’erreur n’est pas linéaire et fluctue énormément.         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8F9CC7-F47A-7242-E4B5-3C84090E8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-1570"/>
          <a:stretch>
            <a:fillRect/>
          </a:stretch>
        </p:blipFill>
        <p:spPr>
          <a:xfrm>
            <a:off x="1005508" y="1526573"/>
            <a:ext cx="5250438" cy="3326200"/>
          </a:xfrm>
          <a:prstGeom prst="rect">
            <a:avLst/>
          </a:pr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8F920ECE-FFB5-003E-9B53-D1888A93C2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13" r="-2" b="476"/>
          <a:stretch>
            <a:fillRect/>
          </a:stretch>
        </p:blipFill>
        <p:spPr>
          <a:xfrm>
            <a:off x="6178944" y="1554529"/>
            <a:ext cx="5079460" cy="317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06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F2412-9FE6-991F-1293-33C594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8EFB3-455E-A108-8886-D0C3A465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F. Analyse</a:t>
            </a:r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CE9F749-5C73-6D6C-CCA0-8C0119887380}"/>
              </a:ext>
            </a:extLst>
          </p:cNvPr>
          <p:cNvSpPr txBox="1"/>
          <p:nvPr/>
        </p:nvSpPr>
        <p:spPr>
          <a:xfrm>
            <a:off x="1140737" y="4934139"/>
            <a:ext cx="1052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À droite, on obtient un ordre de convergence / pente d’environ 1 pour les trois </a:t>
            </a:r>
            <a:r>
              <a:rPr lang="fr-CA" dirty="0" err="1"/>
              <a:t>erreures</a:t>
            </a:r>
            <a:r>
              <a:rPr lang="fr-CA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6968853-09EB-0CCE-5330-315623012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-1570"/>
          <a:stretch>
            <a:fillRect/>
          </a:stretch>
        </p:blipFill>
        <p:spPr>
          <a:xfrm>
            <a:off x="1005508" y="1526573"/>
            <a:ext cx="5250438" cy="3326200"/>
          </a:xfrm>
          <a:prstGeom prst="rect">
            <a:avLst/>
          </a:pr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FAE3C0AA-1646-B38F-CD2B-49E891125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13" r="-2" b="476"/>
          <a:stretch>
            <a:fillRect/>
          </a:stretch>
        </p:blipFill>
        <p:spPr>
          <a:xfrm>
            <a:off x="6178944" y="1554529"/>
            <a:ext cx="5079460" cy="317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836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1879</TotalTime>
  <Words>646</Words>
  <Application>Microsoft Office PowerPoint</Application>
  <PresentationFormat>Grand écran</PresentationFormat>
  <Paragraphs>54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Wingdings</vt:lpstr>
      <vt:lpstr>Thème Office</vt:lpstr>
      <vt:lpstr>MEC8211 – Devoir 1 </vt:lpstr>
      <vt:lpstr>A. Etablir le problème stationnaire </vt:lpstr>
      <vt:lpstr>A. Etablir le problème stationnaire </vt:lpstr>
      <vt:lpstr>Présentation PowerPoint</vt:lpstr>
      <vt:lpstr>C. Discrétisation</vt:lpstr>
      <vt:lpstr>C. Discrétisation</vt:lpstr>
      <vt:lpstr>E. Nouveaux schémas de différenciation </vt:lpstr>
      <vt:lpstr>F. Résultats</vt:lpstr>
      <vt:lpstr>F. Analyse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5</cp:revision>
  <dcterms:created xsi:type="dcterms:W3CDTF">2026-02-07T22:10:41Z</dcterms:created>
  <dcterms:modified xsi:type="dcterms:W3CDTF">2026-02-16T00:42:28Z</dcterms:modified>
</cp:coreProperties>
</file>