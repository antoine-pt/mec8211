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63" r:id="rId7"/>
    <p:sldId id="261" r:id="rId8"/>
    <p:sldId id="264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BF20FCA-9849-8D64-289F-FB7638BA93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6829620-5708-DEC4-9272-A41F0A6301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DB910B6-110F-28F4-BC47-9CD148E69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4678E1-FCC5-EC25-725D-328119EFF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E9387A6-A3E0-90B2-ED44-78CDF4F0D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390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97288E-ECBA-99C4-1444-DA21DAB4C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C74A79-D906-7648-DF71-F652B3D25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EB91EF-38F8-ABFB-87B4-57EDEDB9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7709078-3A53-6606-B2E6-3BB4741E3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A92B805-A639-F55C-CC2B-178CB8A38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68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241E8AB-8B3D-7D2B-454D-A3D812AFCB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706EE7-1B52-6EDA-23CD-EBDC9D983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30CC76-8BA5-D53B-5774-461AC3B17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DF6B1B4-70DA-80E0-6D01-F2E288534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9B155F-8FEC-FE08-D681-49F2C5AAC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1993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51296E-B96C-D9C9-2CF2-546C13B0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EA025F0-4010-871A-FE66-218C9A904A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64F2629-5962-80D6-CD5A-71A7AE333F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7F91979-03FE-8AD9-0EBF-A57A38040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B9C80A-4711-E7F6-E1DF-09CC03039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C0094B-8232-4889-218A-4184426EC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92460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F879185-61FB-F46B-A0E2-1E53FE8F8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E1E42A4-57AD-B6A7-45F6-E65565DD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C1CECC0-8806-8386-0361-52FF2978D3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357A7A8-EC71-9A58-7CA8-F66CE308BD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C404EC0-E68A-E4C9-B80D-BEEF06093E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991D710-9103-9DB2-5B2C-59600B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45A2E21-EC6F-BB4B-30CF-051112D61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1B0247-804A-34B5-9ABD-CF6115BF4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6585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37AC3B-D109-33CB-4224-A617247A7F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3F6FE45-B625-B3EB-8DE6-AE665E1143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F3647DC-4841-391E-4311-1CCF978C4D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564912E-487F-BB3C-29BD-B868B31CF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6578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86A390C-6CF6-6459-A357-00F3D73CB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E966711-8F45-F5F0-78CD-892DDBA2D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6C6A74F-9B43-9437-CA16-F699B0123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1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13010F-0A51-7184-A92A-FB55AE059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1D7753-D33B-ECA5-15CE-371E4C21E6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90C5936-CC3F-C564-027C-7A158FB379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B6D2F58-1DEC-05A4-9415-5505781E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1FDC0B-7A72-6AF2-D8F2-FD133D81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29BFA-2217-13B1-36D0-B45735FE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9263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44F5C3-4D43-F330-AB2E-93F7856CD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D9E71D8-C483-7218-914B-8C438B7BD3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C0105DA-F2A5-AE7D-D2C7-8E99794548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4FC808-FEB6-7DC6-E162-509C39E16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7C49D9E-6F71-6FFF-CC00-D84AF9932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86CB61D-9EC9-D900-993A-D90CFEFB4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4036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54F3AE0-0A4F-C73C-7312-C0332CB9B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93595E3-1731-DBA8-5D73-6FBC0173D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6B2046E-A47B-EEA8-B9CA-90559DF7B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A06073-8B5C-0924-EB9B-46644CC41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A3EE113-1D48-2091-06FD-0F833E574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2413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F4B14AC-D335-199A-8275-8FEAD60781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C344906-2881-CA33-2AED-6CE33B906A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BED21D-D702-70A0-6DFF-537C0E9E3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3B22F45-96A6-62D2-C024-4FBD1C07F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0799B19-4092-7649-21ED-884512586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7238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1ECCE51-4F19-67BD-9ACF-7D67A65B3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44C1EA9-4ED2-C33A-D018-C0313920CC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54EE32-0D00-5F0F-B543-C3A2D5CAAB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AFDA-D128-4B68-A211-269E2451E5DE}" type="datetimeFigureOut">
              <a:rPr lang="fr-FR" smtClean="0"/>
              <a:t>14/02/2026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304F246-AFA0-B777-83BA-CAECCDA95B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3044D50-2635-7742-456B-1A644C31FA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85B578-4E75-4E1C-9BE3-D5DCC0715B1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2704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C991BE-FE4B-ED26-E133-B404288321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MEC8211 – Devoir 1 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0AF6114-4134-51BE-88E4-DAEE360A6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0817"/>
            <a:ext cx="9144000" cy="1655762"/>
          </a:xfrm>
        </p:spPr>
        <p:txBody>
          <a:bodyPr/>
          <a:lstStyle/>
          <a:p>
            <a:r>
              <a:rPr lang="fr-FR" dirty="0"/>
              <a:t>Antoine Payette-Toupin (2090788)</a:t>
            </a:r>
          </a:p>
          <a:p>
            <a:r>
              <a:rPr lang="fr-FR" dirty="0"/>
              <a:t>Charlotte Sabrié (2485495)</a:t>
            </a:r>
          </a:p>
          <a:p>
            <a:r>
              <a:rPr lang="fr-FR" dirty="0"/>
              <a:t>Loïc Vignaud (2485146)</a:t>
            </a:r>
          </a:p>
        </p:txBody>
      </p:sp>
    </p:spTree>
    <p:extLst>
      <p:ext uri="{BB962C8B-B14F-4D97-AF65-F5344CB8AC3E}">
        <p14:creationId xmlns:p14="http://schemas.microsoft.com/office/powerpoint/2010/main" val="19183727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273917-48AA-BB75-2DCF-C2F32465E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E4B52A-E1C1-39D0-F09E-BC090C673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445" y="1249853"/>
            <a:ext cx="10888579" cy="4781300"/>
          </a:xfrm>
        </p:spPr>
        <p:txBody>
          <a:bodyPr/>
          <a:lstStyle/>
          <a:p>
            <a:r>
              <a:rPr lang="fr-FR" dirty="0"/>
              <a:t>Problème stationnaire :</a:t>
            </a:r>
          </a:p>
          <a:p>
            <a:r>
              <a:rPr lang="fr-FR" dirty="0"/>
              <a:t>Problème </a:t>
            </a:r>
            <a:r>
              <a:rPr lang="fr-FR" b="1" dirty="0"/>
              <a:t>elliptique </a:t>
            </a:r>
            <a:endParaRPr lang="fr-FR" dirty="0"/>
          </a:p>
          <a:p>
            <a:r>
              <a:rPr lang="fr-FR" dirty="0"/>
              <a:t>Coordonnées cylindriques (symétrie autour de l’axe du pilier) </a:t>
            </a:r>
          </a:p>
          <a:p>
            <a:r>
              <a:rPr lang="fr-FR" dirty="0"/>
              <a:t> Réduction de la dimensionalité du problème : </a:t>
            </a:r>
          </a:p>
          <a:p>
            <a:pPr lvl="1"/>
            <a:r>
              <a:rPr lang="fr-FR" dirty="0"/>
              <a:t>Invariance par translation le long de l’axe du pilier (considéré infini)</a:t>
            </a:r>
          </a:p>
          <a:p>
            <a:pPr lvl="1"/>
            <a:r>
              <a:rPr lang="fr-FR" dirty="0"/>
              <a:t>Invariance par rotation autour de l’axe du pilier</a:t>
            </a:r>
          </a:p>
          <a:p>
            <a:pPr lvl="1"/>
            <a:r>
              <a:rPr lang="fr-FR" dirty="0">
                <a:sym typeface="Wingdings" panose="05000000000000000000" pitchFamily="2" charset="2"/>
              </a:rPr>
              <a:t> La </a:t>
            </a:r>
            <a:r>
              <a:rPr lang="fr-FR" b="1" dirty="0">
                <a:sym typeface="Wingdings" panose="05000000000000000000" pitchFamily="2" charset="2"/>
              </a:rPr>
              <a:t>concentration ne dépend que de r</a:t>
            </a:r>
            <a:r>
              <a:rPr lang="fr-FR" dirty="0">
                <a:sym typeface="Wingdings" panose="05000000000000000000" pitchFamily="2" charset="2"/>
              </a:rPr>
              <a:t>,</a:t>
            </a:r>
          </a:p>
          <a:p>
            <a:pPr marL="457200" lvl="1" indent="0">
              <a:buNone/>
            </a:pPr>
            <a:r>
              <a:rPr lang="fr-FR" dirty="0">
                <a:sym typeface="Wingdings" panose="05000000000000000000" pitchFamily="2" charset="2"/>
              </a:rPr>
              <a:t>     la distance au centre du pilier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Le système est discrétisé à l’aide de cinq nœuds, 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fr-FR" dirty="0">
                <a:solidFill>
                  <a:prstClr val="black"/>
                </a:solidFill>
                <a:latin typeface="Aptos" panose="02110004020202020204"/>
              </a:rPr>
              <a:t>   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disposés tels que </a:t>
            </a:r>
            <a:r>
              <a:rPr kumimoji="0" lang="el-G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Δ</a:t>
            </a: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 = R/5 = 0,1m</a:t>
            </a:r>
          </a:p>
          <a:p>
            <a:pPr marL="457200" lvl="1" indent="0">
              <a:buNone/>
            </a:pPr>
            <a:endParaRPr lang="fr-FR" dirty="0">
              <a:sym typeface="Wingdings" panose="05000000000000000000" pitchFamily="2" charset="2"/>
            </a:endParaRPr>
          </a:p>
        </p:txBody>
      </p:sp>
      <p:pic>
        <p:nvPicPr>
          <p:cNvPr id="5" name="Image 4" descr="Une image contenant Police, blanc, typographie, calligraphie&#10;&#10;Le contenu généré par l’IA peut être incorrect.">
            <a:extLst>
              <a:ext uri="{FF2B5EF4-FFF2-40B4-BE49-F238E27FC236}">
                <a16:creationId xmlns:a16="http://schemas.microsoft.com/office/drawing/2014/main" id="{27D56F01-7022-CBE0-6E09-7F23518C5B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3682" y="1193659"/>
            <a:ext cx="2585010" cy="574446"/>
          </a:xfrm>
          <a:prstGeom prst="rect">
            <a:avLst/>
          </a:prstGeom>
        </p:spPr>
      </p:pic>
      <p:pic>
        <p:nvPicPr>
          <p:cNvPr id="7" name="Image 6" descr="Une image contenant cercle, texte, capture d’écran, diagramme&#10;&#10;Le contenu généré par l’IA peut être incorrect.">
            <a:extLst>
              <a:ext uri="{FF2B5EF4-FFF2-40B4-BE49-F238E27FC236}">
                <a16:creationId xmlns:a16="http://schemas.microsoft.com/office/drawing/2014/main" id="{E00351DC-A5B5-77A4-AA32-A3D8A8428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3319" y="3707905"/>
            <a:ext cx="3139712" cy="2636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887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ECC886-3C4C-03F7-F7FE-9717E3684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Conditions frontières : </a:t>
            </a:r>
          </a:p>
          <a:p>
            <a:pPr marL="0" indent="0">
              <a:buNone/>
            </a:pPr>
            <a:r>
              <a:rPr lang="fr-FR" dirty="0"/>
              <a:t>	Au nœud 5, par continuité, on a :</a:t>
            </a:r>
          </a:p>
          <a:p>
            <a:pPr marL="0" indent="0">
              <a:buNone/>
            </a:pPr>
            <a:r>
              <a:rPr lang="fr-FR" dirty="0"/>
              <a:t>	(conditions de Dirichlet)  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fr-F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Conditions initiales : sans objet puisque le problème est stationnaire 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Titre 1">
            <a:extLst>
              <a:ext uri="{FF2B5EF4-FFF2-40B4-BE49-F238E27FC236}">
                <a16:creationId xmlns:a16="http://schemas.microsoft.com/office/drawing/2014/main" id="{41994DCE-0655-49EB-76A8-F20E9240F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10515600" cy="1325563"/>
          </a:xfrm>
        </p:spPr>
        <p:txBody>
          <a:bodyPr/>
          <a:lstStyle/>
          <a:p>
            <a:r>
              <a:rPr lang="fr-FR" dirty="0"/>
              <a:t>A. Etablir le problème stationnaire </a:t>
            </a:r>
          </a:p>
        </p:txBody>
      </p:sp>
      <p:pic>
        <p:nvPicPr>
          <p:cNvPr id="6" name="Image 5" descr="Une image contenant Police, calligraphie, blanc, texte&#10;&#10;Le contenu généré par l’IA peut être incorrect.">
            <a:extLst>
              <a:ext uri="{FF2B5EF4-FFF2-40B4-BE49-F238E27FC236}">
                <a16:creationId xmlns:a16="http://schemas.microsoft.com/office/drawing/2014/main" id="{8DB6BF51-8879-AB0F-E39E-7E855B423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880" y="2218995"/>
            <a:ext cx="3924640" cy="65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2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</p:spPr>
            <p:txBody>
              <a:bodyPr bIns="91440">
                <a:norm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 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dr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f>
                                  <m:f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𝑑𝐶</m:t>
                                    </m:r>
                                  </m:num>
                                  <m:den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𝑑𝑟</m:t>
                                    </m:r>
                                  </m:den>
                                </m:f>
                              </m:e>
                            </m:d>
                          </m:e>
                        </m:nary>
                      </m:e>
                    </m:nary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                    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 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</m:oMath>
                </a14:m>
                <a:endParaRPr lang="fr-FR" dirty="0"/>
              </a:p>
              <a:p>
                <a:r>
                  <a:rPr lang="fr-FR" dirty="0"/>
                  <a:t>Or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    d’où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  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 0.</m:t>
                    </m:r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f>
                          <m:f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num>
                          <m:den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2⋅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𝑒𝑓𝑓</m:t>
                                </m:r>
                              </m:sub>
                            </m:sSub>
                          </m:den>
                        </m:f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𝑟𝑑𝑟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dC</m:t>
                            </m:r>
                          </m:e>
                        </m:nary>
                      </m:e>
                    </m:nary>
                  </m:oMath>
                </a14:m>
                <a:r>
                  <a:rPr lang="fr-FR" dirty="0"/>
                  <a:t>                     </a:t>
                </a:r>
                <a14:m>
                  <m:oMath xmlns:m="http://schemas.openxmlformats.org/officeDocument/2006/math"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𝐶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Or par continuité 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 =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4⋅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fr-FR" dirty="0"/>
                  <a:t>                     d’où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) 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p>
                                <m:r>
                                  <a:rPr lang="fr-FR" b="0" i="1" dirty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EAE4511-35CA-310B-04A1-89AAE17EF0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465006"/>
                <a:ext cx="10645878" cy="4807975"/>
              </a:xfrm>
              <a:blipFill>
                <a:blip r:embed="rId2"/>
                <a:stretch>
                  <a:fillRect l="-9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1">
            <a:extLst>
              <a:ext uri="{FF2B5EF4-FFF2-40B4-BE49-F238E27FC236}">
                <a16:creationId xmlns:a16="http://schemas.microsoft.com/office/drawing/2014/main" id="{CD5D4174-5671-2FDC-55EC-7EC6BA508FB7}"/>
              </a:ext>
            </a:extLst>
          </p:cNvPr>
          <p:cNvSpPr txBox="1">
            <a:spLocks/>
          </p:cNvSpPr>
          <p:nvPr/>
        </p:nvSpPr>
        <p:spPr>
          <a:xfrm>
            <a:off x="838199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B. Résolution analytique  </a:t>
            </a:r>
          </a:p>
        </p:txBody>
      </p:sp>
    </p:spTree>
    <p:extLst>
      <p:ext uri="{BB962C8B-B14F-4D97-AF65-F5344CB8AC3E}">
        <p14:creationId xmlns:p14="http://schemas.microsoft.com/office/powerpoint/2010/main" val="2541433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4B4F-5B0B-48FA-73A3-D5726809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I =1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fr-FR" dirty="0"/>
              </a:p>
              <a:p>
                <a:r>
                  <a:rPr lang="fr-FR" dirty="0"/>
                  <a:t>I = 2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0,01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3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fr-FR" dirty="0"/>
                  <a:t>I = 4 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S</m:t>
                        </m:r>
                      </m:num>
                      <m:den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7</m:t>
                        </m:r>
                        <m:sSub>
                          <m:sSub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0,0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en-US" dirty="0"/>
              </a:p>
              <a:p>
                <a:r>
                  <a:rPr lang="en-US" dirty="0"/>
                  <a:t>I = 5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F4EDC2E-B6C1-2724-2DD7-423FDD35D3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190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0AA5E-2B52-BD99-82C6-1C7850202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C. Discrétisation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𝑑𝑟</m:t>
                        </m:r>
                      </m:den>
                    </m:f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  <m:f>
                          <m:f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𝑑𝐶</m:t>
                            </m:r>
                          </m:num>
                          <m:den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𝑑𝑟</m:t>
                            </m:r>
                          </m:den>
                        </m:f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    </m:t>
                    </m:r>
                    <m:groupChr>
                      <m:groupChrPr>
                        <m:chr m:val="⇒"/>
                        <m:pos m:val="top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sty m:val="p"/>
                            <m:brk m:alnAt="1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ch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é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ma</m:t>
                        </m:r>
                      </m:e>
                    </m:groupChr>
                    <m:r>
                      <a:rPr lang="fr-FR" b="0" i="1" smtClean="0">
                        <a:latin typeface="Cambria Math" panose="02040503050406030204" pitchFamily="18" charset="0"/>
                      </a:rPr>
                      <m:t>   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Δr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Δr</m:t>
                        </m:r>
                      </m:den>
                    </m:f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i="1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1" smtClean="0">
                                <a:latin typeface="Cambria Math" panose="02040503050406030204" pitchFamily="18" charset="0"/>
                              </a:rPr>
                              <m:t>Δr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2!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fr-FR" b="0" i="1" dirty="0" smtClean="0">
                            <a:latin typeface="Cambria Math" panose="02040503050406030204" pitchFamily="18" charset="0"/>
                          </a:rPr>
                          <m:t>r</m:t>
                        </m:r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dirty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b="0" i="0" dirty="0" smtClean="0">
                        <a:latin typeface="Cambria Math" panose="02040503050406030204" pitchFamily="18" charset="0"/>
                      </a:rPr>
                      <m:t>Δ</m:t>
                    </m:r>
                    <m:sSup>
                      <m:sSup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dirty="0" smtClean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dirty="0" smtClean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:r>
                  <a:rPr lang="en-US" dirty="0" err="1">
                    <a:latin typeface="Cambria Math" panose="02040503050406030204" pitchFamily="18" charset="0"/>
                  </a:rPr>
                  <a:t>Erreur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>
                    <a:latin typeface="Cambria Math" panose="02040503050406030204" pitchFamily="18" charset="0"/>
                  </a:rPr>
                  <a:t>de</a:t>
                </a:r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dirty="0" err="1">
                    <a:latin typeface="Cambria Math" panose="02040503050406030204" pitchFamily="18" charset="0"/>
                  </a:rPr>
                  <a:t>troncature</a:t>
                </a:r>
                <a:r>
                  <a:rPr lang="en-US" dirty="0">
                    <a:latin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𝑟</m:t>
                        </m:r>
                      </m:den>
                    </m:f>
                    <m:f>
                      <m:f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𝜕</m:t>
                        </m:r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sSub>
                      <m:sSub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"/>
                            <m:endChr m:val="|"/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​</m:t>
                            </m:r>
                          </m:e>
                        </m:d>
                      </m:e>
                      <m:sub>
                        <m:r>
                          <a:rPr lang="fr-FR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m:rPr>
                        <m:sty m:val="p"/>
                      </m:rPr>
                      <a:rPr lang="fr-FR" dirty="0">
                        <a:latin typeface="Cambria Math" panose="02040503050406030204" pitchFamily="18" charset="0"/>
                      </a:rPr>
                      <m:t>Δ</m:t>
                    </m:r>
                    <m:r>
                      <m:rPr>
                        <m:sty m:val="p"/>
                      </m:rPr>
                      <a:rPr lang="fr-FR" b="0" i="1" dirty="0" smtClean="0">
                        <a:latin typeface="Cambria Math" panose="02040503050406030204" pitchFamily="18" charset="0"/>
                      </a:rPr>
                      <m:t>r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 dirty="0">
                        <a:latin typeface="Cambria Math" panose="02040503050406030204" pitchFamily="18" charset="0"/>
                      </a:rPr>
                      <m:t>𝑜</m:t>
                    </m:r>
                    <m:d>
                      <m:dPr>
                        <m:ctrlPr>
                          <a:rPr lang="fr-FR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dirty="0">
                            <a:latin typeface="Cambria Math" panose="02040503050406030204" pitchFamily="18" charset="0"/>
                          </a:rPr>
                          <m:t>Δ</m:t>
                        </m:r>
                        <m:sSup>
                          <m:sSupPr>
                            <m:ctrlPr>
                              <a:rPr lang="fr-FR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fr-FR" i="1" dirty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e>
                    </m:d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latin typeface="Cambria Math" panose="02040503050406030204" pitchFamily="18" charset="0"/>
                  </a:rPr>
                  <a:t>Ordre de precision </a:t>
                </a:r>
                <a:r>
                  <a:rPr lang="en-US" dirty="0" err="1">
                    <a:latin typeface="Cambria Math" panose="02040503050406030204" pitchFamily="18" charset="0"/>
                  </a:rPr>
                  <a:t>attendu</a:t>
                </a:r>
                <a:r>
                  <a:rPr lang="en-US" dirty="0">
                    <a:latin typeface="Cambria Math" panose="02040503050406030204" pitchFamily="18" charset="0"/>
                  </a:rPr>
                  <a:t> : 1 par rapport à 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EA6D01-0D26-9222-9929-8DBC84D3FF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74836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6639E-9501-8478-3EB4-8AFBCC750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E. Nouveaux schémas de différenciation	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Pas d’erreur de troncature </a:t>
                </a:r>
                <a14:m>
                  <m:oMath xmlns:m="http://schemas.openxmlformats.org/officeDocument/2006/math">
                    <m:groupChr>
                      <m:groupChrPr>
                        <m:chr m:val="⇒"/>
                        <m:pos m:val="top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precision </a:t>
                </a:r>
                <a:r>
                  <a:rPr lang="en-US" dirty="0" err="1"/>
                  <a:t>attendue</a:t>
                </a:r>
                <a:r>
                  <a:rPr lang="en-US" dirty="0"/>
                  <a:t> : </a:t>
                </a:r>
                <a:r>
                  <a:rPr lang="en-US" dirty="0" err="1"/>
                  <a:t>exacte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25C440B-7075-8DCF-D94D-6AE14F2C6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6591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22BDE4A-8A20-4A69-9C5A-581C82036A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27719C-8B22-0B87-A0FB-F0AB44CB7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684" y="170412"/>
            <a:ext cx="10178934" cy="132873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endParaRPr lang="en-US" sz="52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78F9CC7-F47A-7242-E4B5-3C84090E80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-1570"/>
          <a:stretch>
            <a:fillRect/>
          </a:stretch>
        </p:blipFill>
        <p:spPr>
          <a:xfrm>
            <a:off x="198744" y="1807475"/>
            <a:ext cx="6225293" cy="474219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3098739-1E94-5321-EA68-95FBEB9431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13" r="-2" b="476"/>
          <a:stretch>
            <a:fillRect/>
          </a:stretch>
        </p:blipFill>
        <p:spPr>
          <a:xfrm>
            <a:off x="6189933" y="1879600"/>
            <a:ext cx="5803323" cy="434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44138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351</Words>
  <Application>Microsoft Office PowerPoint</Application>
  <PresentationFormat>Widescreen</PresentationFormat>
  <Paragraphs>42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Wingdings</vt:lpstr>
      <vt:lpstr>Thème Office</vt:lpstr>
      <vt:lpstr>MEC8211 – Devoir 1 </vt:lpstr>
      <vt:lpstr>A. Etablir le problème stationnaire </vt:lpstr>
      <vt:lpstr>A. Etablir le problème stationnaire </vt:lpstr>
      <vt:lpstr>PowerPoint Presentation</vt:lpstr>
      <vt:lpstr>C. Discrétisation</vt:lpstr>
      <vt:lpstr>C. Discrétisation</vt:lpstr>
      <vt:lpstr>E. Nouveaux schémas de différenciation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Sabrié</dc:creator>
  <cp:lastModifiedBy>Loïc Vignaud</cp:lastModifiedBy>
  <cp:revision>3</cp:revision>
  <dcterms:created xsi:type="dcterms:W3CDTF">2026-02-07T22:10:41Z</dcterms:created>
  <dcterms:modified xsi:type="dcterms:W3CDTF">2026-02-15T20:11:41Z</dcterms:modified>
</cp:coreProperties>
</file>