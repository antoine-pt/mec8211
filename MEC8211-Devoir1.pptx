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63" r:id="rId7"/>
    <p:sldId id="261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12/02/2026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MEC8211 – Devoir 1 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60817"/>
            <a:ext cx="9144000" cy="1655762"/>
          </a:xfrm>
        </p:spPr>
        <p:txBody>
          <a:bodyPr/>
          <a:lstStyle/>
          <a:p>
            <a:r>
              <a:rPr lang="fr-FR" dirty="0"/>
              <a:t>Antoine Payette-Toupin (2090788)</a:t>
            </a:r>
          </a:p>
          <a:p>
            <a:r>
              <a:rPr lang="fr-FR" dirty="0"/>
              <a:t>Charlotte Sabrié (2485495)</a:t>
            </a:r>
          </a:p>
          <a:p>
            <a:r>
              <a:rPr lang="fr-FR" dirty="0"/>
              <a:t>Loïc Vignaud (2485146)</a:t>
            </a:r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273917-48AA-BB75-2DCF-C2F32465E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fr-FR" dirty="0"/>
              <a:t>A. Etablir le problème stationnaire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E4B52A-E1C1-39D0-F09E-BC090C673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445" y="1249853"/>
            <a:ext cx="10888579" cy="4781300"/>
          </a:xfrm>
        </p:spPr>
        <p:txBody>
          <a:bodyPr/>
          <a:lstStyle/>
          <a:p>
            <a:r>
              <a:rPr lang="fr-FR" dirty="0"/>
              <a:t>Problème stationnaire :</a:t>
            </a:r>
          </a:p>
          <a:p>
            <a:r>
              <a:rPr lang="fr-FR" dirty="0"/>
              <a:t>Problème </a:t>
            </a:r>
            <a:r>
              <a:rPr lang="fr-FR" b="1" dirty="0"/>
              <a:t>elliptique </a:t>
            </a:r>
            <a:endParaRPr lang="fr-FR" dirty="0"/>
          </a:p>
          <a:p>
            <a:r>
              <a:rPr lang="fr-FR" dirty="0"/>
              <a:t>Coordonnées cylindriques (symétrie autour de l’axe du pilier) </a:t>
            </a:r>
          </a:p>
          <a:p>
            <a:r>
              <a:rPr lang="fr-FR" dirty="0"/>
              <a:t> Réduction de la dimensionalité du problème : </a:t>
            </a:r>
          </a:p>
          <a:p>
            <a:pPr lvl="1"/>
            <a:r>
              <a:rPr lang="fr-FR" dirty="0"/>
              <a:t>Invariance par translation le long de l’axe du pilier (considéré infini)</a:t>
            </a:r>
          </a:p>
          <a:p>
            <a:pPr lvl="1"/>
            <a:r>
              <a:rPr lang="fr-FR" dirty="0"/>
              <a:t>Invariance par rotation autour de l’axe du pilier</a:t>
            </a:r>
          </a:p>
          <a:p>
            <a:pPr lvl="1"/>
            <a:r>
              <a:rPr lang="fr-FR" dirty="0">
                <a:sym typeface="Wingdings" panose="05000000000000000000" pitchFamily="2" charset="2"/>
              </a:rPr>
              <a:t> La </a:t>
            </a:r>
            <a:r>
              <a:rPr lang="fr-FR" b="1" dirty="0">
                <a:sym typeface="Wingdings" panose="05000000000000000000" pitchFamily="2" charset="2"/>
              </a:rPr>
              <a:t>concentration ne dépend que de r</a:t>
            </a:r>
            <a:r>
              <a:rPr lang="fr-FR" dirty="0">
                <a:sym typeface="Wingdings" panose="05000000000000000000" pitchFamily="2" charset="2"/>
              </a:rPr>
              <a:t>,</a:t>
            </a:r>
          </a:p>
          <a:p>
            <a:pPr marL="457200" lvl="1" indent="0">
              <a:buNone/>
            </a:pPr>
            <a:r>
              <a:rPr lang="fr-FR" dirty="0">
                <a:sym typeface="Wingdings" panose="05000000000000000000" pitchFamily="2" charset="2"/>
              </a:rPr>
              <a:t>     la distance au centre du pilier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dirty="0">
                <a:solidFill>
                  <a:prstClr val="black"/>
                </a:solidFill>
                <a:latin typeface="Aptos" panose="02110004020202020204"/>
              </a:rPr>
              <a:t>Le système est discrétisé à l’aide de cinq nœuds,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fr-FR" dirty="0">
                <a:solidFill>
                  <a:prstClr val="black"/>
                </a:solidFill>
                <a:latin typeface="Aptos" panose="02110004020202020204"/>
              </a:rPr>
              <a:t>   </a:t>
            </a:r>
            <a:r>
              <a:rPr kumimoji="0" lang="fr-F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disposés tels que </a:t>
            </a:r>
            <a:r>
              <a:rPr kumimoji="0" lang="el-G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Δ</a:t>
            </a:r>
            <a:r>
              <a:rPr kumimoji="0" lang="fr-F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 = R/5 = 0,1m</a:t>
            </a:r>
          </a:p>
          <a:p>
            <a:pPr marL="457200" lvl="1" indent="0">
              <a:buNone/>
            </a:pPr>
            <a:endParaRPr lang="fr-FR" dirty="0">
              <a:sym typeface="Wingdings" panose="05000000000000000000" pitchFamily="2" charset="2"/>
            </a:endParaRPr>
          </a:p>
        </p:txBody>
      </p:sp>
      <p:pic>
        <p:nvPicPr>
          <p:cNvPr id="5" name="Image 4" descr="Une image contenant Police, blanc, typographie, calligraphie&#10;&#10;Le contenu généré par l’IA peut être incorrect.">
            <a:extLst>
              <a:ext uri="{FF2B5EF4-FFF2-40B4-BE49-F238E27FC236}">
                <a16:creationId xmlns:a16="http://schemas.microsoft.com/office/drawing/2014/main" id="{27D56F01-7022-CBE0-6E09-7F23518C5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3682" y="1193659"/>
            <a:ext cx="2585010" cy="574446"/>
          </a:xfrm>
          <a:prstGeom prst="rect">
            <a:avLst/>
          </a:prstGeom>
        </p:spPr>
      </p:pic>
      <p:pic>
        <p:nvPicPr>
          <p:cNvPr id="7" name="Image 6" descr="Une image contenant cercle, texte, capture d’écran, diagramme&#10;&#10;Le contenu généré par l’IA peut être incorrect.">
            <a:extLst>
              <a:ext uri="{FF2B5EF4-FFF2-40B4-BE49-F238E27FC236}">
                <a16:creationId xmlns:a16="http://schemas.microsoft.com/office/drawing/2014/main" id="{E00351DC-A5B5-77A4-AA32-A3D8A8428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3319" y="3707905"/>
            <a:ext cx="3139712" cy="2636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887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ECC886-3C4C-03F7-F7FE-9717E3684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Conditions frontières : </a:t>
            </a:r>
          </a:p>
          <a:p>
            <a:pPr marL="0" indent="0">
              <a:buNone/>
            </a:pPr>
            <a:r>
              <a:rPr lang="fr-FR" dirty="0"/>
              <a:t>	Au nœud 5, par continuité, on a :</a:t>
            </a:r>
          </a:p>
          <a:p>
            <a:pPr marL="0" indent="0">
              <a:buNone/>
            </a:pPr>
            <a:r>
              <a:rPr lang="fr-FR" dirty="0"/>
              <a:t>	(conditions de Dirichlet)  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Conditions initiales : sans objet puisque le problème est stationnaire 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41994DCE-0655-49EB-76A8-F20E9240F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fr-FR" dirty="0"/>
              <a:t>A. Etablir le problème stationnaire </a:t>
            </a:r>
          </a:p>
        </p:txBody>
      </p:sp>
      <p:pic>
        <p:nvPicPr>
          <p:cNvPr id="6" name="Image 5" descr="Une image contenant Police, calligraphie, blanc, texte&#10;&#10;Le contenu généré par l’IA peut être incorrect.">
            <a:extLst>
              <a:ext uri="{FF2B5EF4-FFF2-40B4-BE49-F238E27FC236}">
                <a16:creationId xmlns:a16="http://schemas.microsoft.com/office/drawing/2014/main" id="{8DB6BF51-8879-AB0F-E39E-7E855B423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880" y="2218995"/>
            <a:ext cx="3924640" cy="65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2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EAE4511-35CA-310B-04A1-89AAE17EF0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465006"/>
                <a:ext cx="10645878" cy="4807975"/>
              </a:xfrm>
            </p:spPr>
            <p:txBody>
              <a:bodyPr bIns="91440">
                <a:norm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 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f>
                          <m:f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𝑑𝐶</m:t>
                            </m:r>
                          </m:num>
                          <m:den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𝑑𝑟</m:t>
                            </m:r>
                          </m:den>
                        </m:f>
                      </m:e>
                    </m: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 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r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dr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m:rPr>
                                <m:sty m:val="p"/>
                              </m:rPr>
                              <a:rPr lang="fr-FR" b="0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𝑑𝐶</m:t>
                                    </m:r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𝑑𝑟</m:t>
                                    </m:r>
                                  </m:den>
                                </m:f>
                              </m:e>
                            </m:d>
                          </m:e>
                        </m:nary>
                      </m:e>
                    </m:nary>
                    <m:r>
                      <a:rPr lang="fr-FR" b="0" i="1" smtClean="0">
                        <a:latin typeface="Cambria Math" panose="02040503050406030204" pitchFamily="18" charset="0"/>
                      </a:rPr>
                      <m:t>                         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 </m:t>
                        </m:r>
                      </m:den>
                    </m:f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𝑟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𝑑𝐶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</m:oMath>
                </a14:m>
                <a:endParaRPr lang="fr-FR" dirty="0"/>
              </a:p>
              <a:p>
                <a:r>
                  <a:rPr lang="fr-FR" dirty="0"/>
                  <a:t>Or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𝑑𝐶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dirty="0"/>
                  <a:t>     d’où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 0.</m:t>
                    </m:r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2⋅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𝑒𝑓𝑓</m:t>
                                </m:r>
                              </m:sub>
                            </m:sSub>
                          </m:den>
                        </m:f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𝑟𝑑𝑟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m:rPr>
                                <m:sty m:val="p"/>
                              </m:rPr>
                              <a:rPr lang="fr-FR" b="0" i="1" smtClean="0">
                                <a:latin typeface="Cambria Math" panose="02040503050406030204" pitchFamily="18" charset="0"/>
                              </a:rPr>
                              <m:t>dC</m:t>
                            </m:r>
                          </m:e>
                        </m:nary>
                      </m:e>
                    </m:nary>
                  </m:oMath>
                </a14:m>
                <a:r>
                  <a:rPr lang="fr-FR" dirty="0"/>
                  <a:t>                     </a:t>
                </a:r>
                <a14:m>
                  <m:oMath xmlns:m="http://schemas.openxmlformats.org/officeDocument/2006/math"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4⋅</m:t>
                        </m:r>
                        <m:sSub>
                          <m:sSub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fr-FR" dirty="0"/>
                  <a:t>Or par continuité  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 = 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4⋅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FR" dirty="0"/>
                  <a:t>                     d’où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dirty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b="0" i="1" dirty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) =</m:t>
                    </m:r>
                    <m:f>
                      <m:f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sSub>
                          <m:sSub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EAE4511-35CA-310B-04A1-89AAE17EF0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465006"/>
                <a:ext cx="10645878" cy="4807975"/>
              </a:xfrm>
              <a:blipFill>
                <a:blip r:embed="rId2"/>
                <a:stretch>
                  <a:fillRect l="-9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re 1">
            <a:extLst>
              <a:ext uri="{FF2B5EF4-FFF2-40B4-BE49-F238E27FC236}">
                <a16:creationId xmlns:a16="http://schemas.microsoft.com/office/drawing/2014/main" id="{CD5D4174-5671-2FDC-55EC-7EC6BA508FB7}"/>
              </a:ext>
            </a:extLst>
          </p:cNvPr>
          <p:cNvSpPr txBox="1">
            <a:spLocks/>
          </p:cNvSpPr>
          <p:nvPr/>
        </p:nvSpPr>
        <p:spPr>
          <a:xfrm>
            <a:off x="838199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B. Résolution analytique  </a:t>
            </a:r>
          </a:p>
        </p:txBody>
      </p:sp>
    </p:spTree>
    <p:extLst>
      <p:ext uri="{BB962C8B-B14F-4D97-AF65-F5344CB8AC3E}">
        <p14:creationId xmlns:p14="http://schemas.microsoft.com/office/powerpoint/2010/main" val="25414334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A4B4F-5B0B-48FA-73A3-D5726809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C. Discrétisation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4EDC2E-B6C1-2724-2DD7-423FDD35D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I =1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fr-FR" dirty="0"/>
                  <a:t>I = 2 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S</m:t>
                        </m:r>
                      </m:num>
                      <m:den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−3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0,01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fr-FR" dirty="0"/>
                  <a:t>I = 3 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</m:num>
                      <m:den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sSub>
                          <m:sSub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0,0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fr-FR" dirty="0"/>
                  <a:t>I = 4 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</m:num>
                      <m:den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7</m:t>
                        </m:r>
                        <m:sSub>
                          <m:sSub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0,0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I = 5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4EDC2E-B6C1-2724-2DD7-423FDD35D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4190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0AA5E-2B52-BD99-82C6-1C7850202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C. Discrétisation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EA6D01-0D26-9222-9929-8DBC84D3FF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𝑑𝐶</m:t>
                            </m:r>
                          </m:num>
                          <m:den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𝑑𝑟</m:t>
                            </m:r>
                          </m:den>
                        </m:f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r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 +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    </m:t>
                    </m:r>
                    <m:groupChr>
                      <m:groupChrPr>
                        <m:chr m:val="⇒"/>
                        <m:pos m:val="top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r>
                      <a:rPr lang="fr-FR" b="0" i="1" smtClean="0">
                        <a:latin typeface="Cambria Math" panose="02040503050406030204" pitchFamily="18" charset="0"/>
                      </a:rPr>
                      <m:t>  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Δr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Δr</m:t>
                        </m:r>
                      </m:den>
                    </m:f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d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b="0" i="1" smtClean="0">
                                <a:latin typeface="Cambria Math" panose="02040503050406030204" pitchFamily="18" charset="0"/>
                              </a:rPr>
                              <m:t>Δr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b="0" i="1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d>
                      <m:d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num>
                      <m:den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b="0" i="1" dirty="0" smtClean="0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b="0" i="1" dirty="0" smtClean="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sSub>
                      <m:sSub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fr-FR" b="0" i="0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num>
                      <m:den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fr-FR" b="0" i="0" dirty="0" smtClean="0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b="0" i="0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:r>
                  <a:rPr lang="en-US" dirty="0" err="1">
                    <a:latin typeface="Cambria Math" panose="02040503050406030204" pitchFamily="18" charset="0"/>
                  </a:rPr>
                  <a:t>Erreur</a:t>
                </a:r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latin typeface="Cambria Math" panose="02040503050406030204" pitchFamily="18" charset="0"/>
                  </a:rPr>
                  <a:t>de</a:t>
                </a:r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 err="1">
                    <a:latin typeface="Cambria Math" panose="02040503050406030204" pitchFamily="18" charset="0"/>
                  </a:rPr>
                  <a:t>troncature</a:t>
                </a:r>
                <a:r>
                  <a:rPr lang="en-US" dirty="0">
                    <a:latin typeface="Cambria Math" panose="02040503050406030204" pitchFamily="18" charset="0"/>
                  </a:rPr>
                  <a:t>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 dirty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 dirty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 dirty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i="1" dirty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fr-FR" dirty="0">
                        <a:latin typeface="Cambria Math" panose="02040503050406030204" pitchFamily="18" charset="0"/>
                      </a:rPr>
                      <m:t>Δ</m:t>
                    </m:r>
                    <m:r>
                      <m:rPr>
                        <m:sty m:val="p"/>
                      </m:rPr>
                      <a:rPr lang="fr-FR" b="0" i="1" dirty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 dirty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dirty="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</a:rPr>
                  <a:t>Ordre de precision </a:t>
                </a:r>
                <a:r>
                  <a:rPr lang="en-US" dirty="0" err="1">
                    <a:latin typeface="Cambria Math" panose="02040503050406030204" pitchFamily="18" charset="0"/>
                  </a:rPr>
                  <a:t>attendu</a:t>
                </a:r>
                <a:r>
                  <a:rPr lang="en-US" dirty="0">
                    <a:latin typeface="Cambria Math" panose="02040503050406030204" pitchFamily="18" charset="0"/>
                  </a:rPr>
                  <a:t> : 1 par rapport à r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EA6D01-0D26-9222-9929-8DBC84D3FF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74836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6639E-9501-8478-3EB4-8AFBCC750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E. Nouveaux schémas de différenciation	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5C440B-7075-8DCF-D94D-6AE14F2C6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Pas d’erreur de troncature </a:t>
                </a:r>
                <a14:m>
                  <m:oMath xmlns:m="http://schemas.openxmlformats.org/officeDocument/2006/math">
                    <m:groupChr>
                      <m:groupChrPr>
                        <m:chr m:val="⇒"/>
                        <m:pos m:val="top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</m:oMath>
                </a14:m>
                <a:r>
                  <a:rPr lang="en-US" dirty="0"/>
                  <a:t> precision </a:t>
                </a:r>
                <a:r>
                  <a:rPr lang="en-US" dirty="0" err="1"/>
                  <a:t>attendue</a:t>
                </a:r>
                <a:r>
                  <a:rPr lang="en-US" dirty="0"/>
                  <a:t> : </a:t>
                </a:r>
                <a:r>
                  <a:rPr lang="en-US" dirty="0" err="1"/>
                  <a:t>exacte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5C440B-7075-8DCF-D94D-6AE14F2C6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659188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</TotalTime>
  <Words>351</Words>
  <Application>Microsoft Office PowerPoint</Application>
  <PresentationFormat>Widescreen</PresentationFormat>
  <Paragraphs>42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Wingdings</vt:lpstr>
      <vt:lpstr>Thème Office</vt:lpstr>
      <vt:lpstr>MEC8211 – Devoir 1 </vt:lpstr>
      <vt:lpstr>A. Etablir le problème stationnaire </vt:lpstr>
      <vt:lpstr>A. Etablir le problème stationnaire </vt:lpstr>
      <vt:lpstr>PowerPoint Presentation</vt:lpstr>
      <vt:lpstr>C. Discrétisation</vt:lpstr>
      <vt:lpstr>C. Discrétisation</vt:lpstr>
      <vt:lpstr>E. Nouveaux schémas de différenciation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Loïc Vignaud</cp:lastModifiedBy>
  <cp:revision>2</cp:revision>
  <dcterms:created xsi:type="dcterms:W3CDTF">2026-02-07T22:10:41Z</dcterms:created>
  <dcterms:modified xsi:type="dcterms:W3CDTF">2026-02-12T14:40:45Z</dcterms:modified>
</cp:coreProperties>
</file>