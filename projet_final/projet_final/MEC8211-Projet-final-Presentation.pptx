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1"/>
  </p:notesMasterIdLst>
  <p:sldIdLst>
    <p:sldId id="256" r:id="rId2"/>
    <p:sldId id="280" r:id="rId3"/>
    <p:sldId id="281" r:id="rId4"/>
    <p:sldId id="258" r:id="rId5"/>
    <p:sldId id="282" r:id="rId6"/>
    <p:sldId id="257" r:id="rId7"/>
    <p:sldId id="264" r:id="rId8"/>
    <p:sldId id="259" r:id="rId9"/>
    <p:sldId id="263" r:id="rId10"/>
    <p:sldId id="283" r:id="rId11"/>
    <p:sldId id="269" r:id="rId12"/>
    <p:sldId id="260" r:id="rId13"/>
    <p:sldId id="262" r:id="rId14"/>
    <p:sldId id="284" r:id="rId15"/>
    <p:sldId id="261" r:id="rId16"/>
    <p:sldId id="265" r:id="rId17"/>
    <p:sldId id="266" r:id="rId18"/>
    <p:sldId id="267" r:id="rId19"/>
    <p:sldId id="268" r:id="rId20"/>
    <p:sldId id="285" r:id="rId21"/>
    <p:sldId id="272" r:id="rId22"/>
    <p:sldId id="270" r:id="rId23"/>
    <p:sldId id="271" r:id="rId24"/>
    <p:sldId id="278" r:id="rId25"/>
    <p:sldId id="273" r:id="rId26"/>
    <p:sldId id="276" r:id="rId27"/>
    <p:sldId id="277" r:id="rId28"/>
    <p:sldId id="274" r:id="rId29"/>
    <p:sldId id="279" r:id="rId30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B9BD5"/>
    <a:srgbClr val="6FAD46"/>
    <a:srgbClr val="FFBF00"/>
    <a:srgbClr val="EBE9E9"/>
    <a:srgbClr val="CBCBCB"/>
    <a:srgbClr val="F4EEEC"/>
    <a:srgbClr val="F7EFED"/>
    <a:srgbClr val="F8F0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2" autoAdjust="0"/>
    <p:restoredTop sz="94782" autoAdjust="0"/>
  </p:normalViewPr>
  <p:slideViewPr>
    <p:cSldViewPr snapToGrid="0">
      <p:cViewPr varScale="1">
        <p:scale>
          <a:sx n="106" d="100"/>
          <a:sy n="106" d="100"/>
        </p:scale>
        <p:origin x="810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B0B2023-C595-443A-8D8C-AB9DF5A28D48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6105186-0725-443C-BC59-E521425E81C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411661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105186-0725-443C-BC59-E521425E81CD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0982523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105186-0725-443C-BC59-E521425E81CD}" type="slidenum">
              <a:rPr lang="fr-FR" smtClean="0"/>
              <a:t>12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2407839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1A5BB4-E065-36E2-E641-90C9FFDD78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22410028-CE57-DC42-95CE-01AA00C9DE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CC76DD03-F160-73AB-38E7-83F367B7A5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636A260-3B6F-7D51-9372-EBA998234BA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105186-0725-443C-BC59-E521425E81CD}" type="slidenum">
              <a:rPr lang="fr-FR" smtClean="0"/>
              <a:t>13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9422738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BF20FCA-9849-8D64-289F-FB7638BA93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76829620-5708-DEC4-9272-A41F0A63016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DB910B6-110F-28F4-BC47-9CD148E697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44678E1-FCC5-EC25-725D-328119EFF8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E9387A6-A3E0-90B2-ED44-78CDF4F0D2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753902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C97288E-ECBA-99C4-1444-DA21DAB4C3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EC74A79-D906-7648-DF71-F652B3D257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4EB91EF-38F8-ABFB-87B4-57EDEDB999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7709078-3A53-6606-B2E6-3BB4741E36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A92B805-A639-F55C-CC2B-178CB8A386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39681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241E8AB-8B3D-7D2B-454D-A3D812AFCB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BD706EE7-1B52-6EDA-23CD-EBDC9D983B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630CC76-8BA5-D53B-5774-461AC3B172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DF6B1B4-70DA-80E0-6D01-F2E288534F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A9B155F-8FEC-FE08-D681-49F2C5AACB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319936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451296E-B96C-D9C9-2CF2-546C13B03D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EA025F0-4010-871A-FE66-218C9A904A5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464F2629-5962-80D6-CD5A-71A7AE333F6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97F91979-03FE-8AD9-0EBF-A57A380409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8B9C80A-4711-E7F6-E1DF-09CC03039C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E4C0094B-8232-4889-218A-4184426ECE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924606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F879185-61FB-F46B-A0E2-1E53FE8F8C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E1E42A4-57AD-B6A7-45F6-E65565DD1E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CC1CECC0-8806-8386-0361-52FF2978D3A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A357A7A8-EC71-9A58-7CA8-F66CE308BDD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EC404EC0-E68A-E4C9-B80D-BEEF06093E7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1991D710-9103-9DB2-5B2C-59600B0971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345A2E21-EC6F-BB4B-30CF-051112D61F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E91B0247-804A-34B5-9ABD-CF6115BF4A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065856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D37AC3B-D109-33CB-4224-A617247A7F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E3F6FE45-B625-B3EB-8DE6-AE665E1143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1F3647DC-4841-391E-4311-1CCF978C4D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564912E-487F-BB3C-29BD-B868B31CFA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66578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F86A390C-6CF6-6459-A357-00F3D73CB4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BE966711-8F45-F5F0-78CD-892DDBA2D5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06C6A74F-9B43-9437-CA16-F699B01232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871300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A13010F-0A51-7184-A92A-FB55AE059E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C1D7753-D33B-ECA5-15CE-371E4C21E6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C90C5936-CC3F-C564-027C-7A158FB3799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B6D2F58-1DEC-05A4-9415-5505781ED3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5B1FDC0B-7A72-6AF2-D8F2-FD133D818D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1A229BFA-2217-13B1-36D0-B45735FE3D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789263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D44F5C3-4D43-F330-AB2E-93F7856CD0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5D9E71D8-C483-7218-914B-8C438B7BD3F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EC0105DA-F2A5-AE7D-D2C7-8E99794548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B4FC808-FEB6-7DC6-E162-509C39E166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07C49D9E-6F71-6FFF-CC00-D84AF9932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186CB61D-9EC9-D900-993A-D90CFEFB42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40367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54F3AE0-0A4F-C73C-7312-C0332CB9B7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E93595E3-1731-DBA8-5D73-6FBC0173DE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6B2046E-A47B-EEA8-B9CA-90559DF7BC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EA06073-8B5C-0924-EB9B-46644CC416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A3EE113-1D48-2091-06FD-0F833E5744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124134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5F4B14AC-D335-199A-8275-8FEAD607815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8C344906-2881-CA33-2AED-6CE33B906A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1BED21D-D702-70A0-6DFF-537C0E9E30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3B22F45-96A6-62D2-C024-4FBD1C07F0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0799B19-4092-7649-21ED-884512586C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872383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BE9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F1ECCE51-4F19-67BD-9ACF-7D67A65B3A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44C1EA9-4ED2-C33A-D018-C0313920CC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B54EE32-0D00-5F0F-B543-C3A2D5CAAB0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51AFDA-D128-4B68-A211-269E2451E5DE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304F246-AFA0-B777-83BA-CAECCDA95B4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3044D50-2635-7742-456B-1A644C31FA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327042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antoine-pt/MEC6212.git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28.png"/><Relationship Id="rId7" Type="http://schemas.openxmlformats.org/officeDocument/2006/relationships/image" Target="../media/image32.png"/><Relationship Id="rId12" Type="http://schemas.openxmlformats.org/officeDocument/2006/relationships/image" Target="../media/image37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11" Type="http://schemas.openxmlformats.org/officeDocument/2006/relationships/image" Target="../media/image36.png"/><Relationship Id="rId5" Type="http://schemas.openxmlformats.org/officeDocument/2006/relationships/image" Target="../media/image30.png"/><Relationship Id="rId10" Type="http://schemas.openxmlformats.org/officeDocument/2006/relationships/image" Target="../media/image35.png"/><Relationship Id="rId4" Type="http://schemas.openxmlformats.org/officeDocument/2006/relationships/image" Target="../media/image29.png"/><Relationship Id="rId9" Type="http://schemas.openxmlformats.org/officeDocument/2006/relationships/image" Target="../media/image34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7" Type="http://schemas.openxmlformats.org/officeDocument/2006/relationships/image" Target="../media/image43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0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1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0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6C991BE-FE4B-ED26-E133-B404288321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003869"/>
            <a:ext cx="9144000" cy="1425131"/>
          </a:xfrm>
        </p:spPr>
        <p:txBody>
          <a:bodyPr>
            <a:normAutofit fontScale="90000"/>
          </a:bodyPr>
          <a:lstStyle/>
          <a:p>
            <a:r>
              <a:rPr lang="fr-FR" noProof="0" dirty="0"/>
              <a:t>MEC8211 – Projet final</a:t>
            </a:r>
            <a:br>
              <a:rPr lang="fr-FR" noProof="0" dirty="0"/>
            </a:br>
            <a:r>
              <a:rPr lang="fr-FR" sz="4400" noProof="0" dirty="0"/>
              <a:t>Vérification et Validation d’un solveur de différences finies réalisé dans le cadre du cours GCH2545 – Modélisation numérique en ingénierie</a:t>
            </a:r>
            <a:endParaRPr lang="fr-FR" noProof="0" dirty="0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C0AF6114-4134-51BE-88E4-DAEE360A66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06407"/>
            <a:ext cx="9144000" cy="1945747"/>
          </a:xfrm>
        </p:spPr>
        <p:txBody>
          <a:bodyPr>
            <a:normAutofit fontScale="92500" lnSpcReduction="10000"/>
          </a:bodyPr>
          <a:lstStyle/>
          <a:p>
            <a:r>
              <a:rPr lang="fr-FR" noProof="0" dirty="0"/>
              <a:t>Antoine Payette-Toupin (2090788)</a:t>
            </a:r>
          </a:p>
          <a:p>
            <a:r>
              <a:rPr lang="fr-FR" noProof="0" dirty="0"/>
              <a:t>Charlotte Sabrié (2485495)</a:t>
            </a:r>
          </a:p>
          <a:p>
            <a:r>
              <a:rPr lang="fr-FR" noProof="0" dirty="0"/>
              <a:t>Loïc Vignaud (2485146)</a:t>
            </a:r>
          </a:p>
          <a:p>
            <a:endParaRPr lang="fr-FR" dirty="0"/>
          </a:p>
          <a:p>
            <a:r>
              <a:rPr lang="fr-FR" sz="22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Répertoire </a:t>
            </a:r>
            <a:r>
              <a:rPr lang="fr-FR" sz="2200" dirty="0" err="1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</a:t>
            </a:r>
            <a:r>
              <a:rPr lang="fr-FR" sz="22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: </a:t>
            </a:r>
            <a:r>
              <a:rPr lang="fr-FR" sz="2200" u="sng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https://github.com/antoine-pt/MEC6212.git</a:t>
            </a:r>
            <a:endParaRPr lang="fr-FR" sz="2200" noProof="0" dirty="0"/>
          </a:p>
        </p:txBody>
      </p:sp>
    </p:spTree>
    <p:extLst>
      <p:ext uri="{BB962C8B-B14F-4D97-AF65-F5344CB8AC3E}">
        <p14:creationId xmlns:p14="http://schemas.microsoft.com/office/powerpoint/2010/main" val="19183727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D43741A-D670-05A1-AC08-A3CC97C8B7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Slide Background">
            <a:extLst>
              <a:ext uri="{FF2B5EF4-FFF2-40B4-BE49-F238E27FC236}">
                <a16:creationId xmlns:a16="http://schemas.microsoft.com/office/drawing/2014/main" id="{C0763A76-9F1C-4FC5-82B7-DD475DA461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-1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8522446" cy="2285999"/>
          </a:xfrm>
          <a:prstGeom prst="rect">
            <a:avLst/>
          </a:prstGeom>
          <a:ln>
            <a:noFill/>
          </a:ln>
          <a:effectLst>
            <a:outerShdw blurRad="596900" dist="304800" dir="7140000" sx="90000" sy="90000" algn="t" rotWithShape="0">
              <a:srgbClr val="000000">
                <a:alpha val="1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8A580AE8-1AA9-0663-5536-13AA633FDB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61803" y="350196"/>
            <a:ext cx="4646904" cy="162452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/>
            <a:r>
              <a:rPr lang="en-US" sz="4000" noProof="0"/>
              <a:t>Plan de la présentation</a:t>
            </a:r>
          </a:p>
        </p:txBody>
      </p:sp>
      <p:sp>
        <p:nvSpPr>
          <p:cNvPr id="4" name="Titre 1">
            <a:extLst>
              <a:ext uri="{FF2B5EF4-FFF2-40B4-BE49-F238E27FC236}">
                <a16:creationId xmlns:a16="http://schemas.microsoft.com/office/drawing/2014/main" id="{769EC833-0136-6D99-E575-107B4A54AF11}"/>
              </a:ext>
            </a:extLst>
          </p:cNvPr>
          <p:cNvSpPr txBox="1">
            <a:spLocks/>
          </p:cNvSpPr>
          <p:nvPr/>
        </p:nvSpPr>
        <p:spPr>
          <a:xfrm>
            <a:off x="761802" y="2743200"/>
            <a:ext cx="4646905" cy="36131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 err="1">
                <a:latin typeface="+mn-lt"/>
                <a:ea typeface="+mn-ea"/>
                <a:cs typeface="+mn-cs"/>
              </a:rPr>
              <a:t>Contexte</a:t>
            </a:r>
            <a:endParaRPr lang="en-US" sz="2000" dirty="0">
              <a:latin typeface="+mn-lt"/>
              <a:ea typeface="+mn-ea"/>
              <a:cs typeface="+mn-cs"/>
            </a:endParaRP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 err="1">
                <a:latin typeface="+mn-lt"/>
                <a:ea typeface="+mn-ea"/>
                <a:cs typeface="+mn-cs"/>
              </a:rPr>
              <a:t>Modélisation</a:t>
            </a:r>
            <a:r>
              <a:rPr lang="en-US" sz="2000" dirty="0">
                <a:latin typeface="+mn-lt"/>
                <a:ea typeface="+mn-ea"/>
                <a:cs typeface="+mn-cs"/>
              </a:rPr>
              <a:t> </a:t>
            </a:r>
            <a:r>
              <a:rPr lang="en-US" sz="2000" dirty="0" err="1">
                <a:latin typeface="+mn-lt"/>
                <a:ea typeface="+mn-ea"/>
                <a:cs typeface="+mn-cs"/>
              </a:rPr>
              <a:t>Mathématique</a:t>
            </a:r>
            <a:endParaRPr lang="en-US" sz="2000" dirty="0">
              <a:latin typeface="+mn-lt"/>
              <a:ea typeface="+mn-ea"/>
              <a:cs typeface="+mn-cs"/>
            </a:endParaRP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latin typeface="+mn-lt"/>
                <a:ea typeface="+mn-ea"/>
                <a:cs typeface="+mn-cs"/>
              </a:rPr>
              <a:t>Description du code</a:t>
            </a: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 err="1">
                <a:latin typeface="+mn-lt"/>
                <a:ea typeface="+mn-ea"/>
                <a:cs typeface="+mn-cs"/>
              </a:rPr>
              <a:t>Vérification</a:t>
            </a:r>
            <a:endParaRPr lang="en-US" sz="2000" dirty="0">
              <a:latin typeface="+mn-lt"/>
              <a:ea typeface="+mn-ea"/>
              <a:cs typeface="+mn-cs"/>
            </a:endParaRP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latin typeface="+mn-lt"/>
                <a:ea typeface="+mn-ea"/>
                <a:cs typeface="+mn-cs"/>
              </a:rPr>
              <a:t>Validation</a:t>
            </a: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dirty="0">
              <a:latin typeface="+mn-lt"/>
              <a:ea typeface="+mn-ea"/>
              <a:cs typeface="+mn-cs"/>
            </a:endParaRP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dirty="0">
              <a:latin typeface="+mn-lt"/>
              <a:ea typeface="+mn-ea"/>
              <a:cs typeface="+mn-cs"/>
            </a:endParaRP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dirty="0">
              <a:latin typeface="+mn-lt"/>
              <a:ea typeface="+mn-ea"/>
              <a:cs typeface="+mn-cs"/>
            </a:endParaRP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dirty="0">
              <a:latin typeface="+mn-lt"/>
              <a:ea typeface="+mn-ea"/>
              <a:cs typeface="+mn-cs"/>
            </a:endParaRPr>
          </a:p>
        </p:txBody>
      </p:sp>
      <p:pic>
        <p:nvPicPr>
          <p:cNvPr id="6" name="Picture 5" descr="Formules mathématiques complexes sur un tableau noir">
            <a:extLst>
              <a:ext uri="{FF2B5EF4-FFF2-40B4-BE49-F238E27FC236}">
                <a16:creationId xmlns:a16="http://schemas.microsoft.com/office/drawing/2014/main" id="{2A82AE03-F803-8375-47FB-094E58C9B57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4481" r="10557" b="-1"/>
          <a:stretch>
            <a:fillRect/>
          </a:stretch>
        </p:blipFill>
        <p:spPr>
          <a:xfrm>
            <a:off x="6096000" y="1"/>
            <a:ext cx="610282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70385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154A0F-0F40-D5BC-2927-F489832CA2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6C9E7FA-56C9-AE1D-8AB5-608B544D484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61803" y="350196"/>
            <a:ext cx="4646904" cy="162452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/>
            <a:r>
              <a:rPr lang="en-US" sz="4000" noProof="0"/>
              <a:t>Plan de la présentation</a:t>
            </a:r>
          </a:p>
        </p:txBody>
      </p:sp>
      <p:sp>
        <p:nvSpPr>
          <p:cNvPr id="4" name="Titre 1">
            <a:extLst>
              <a:ext uri="{FF2B5EF4-FFF2-40B4-BE49-F238E27FC236}">
                <a16:creationId xmlns:a16="http://schemas.microsoft.com/office/drawing/2014/main" id="{516DFF84-D54C-C36A-10BB-00EA092552D7}"/>
              </a:ext>
            </a:extLst>
          </p:cNvPr>
          <p:cNvSpPr txBox="1">
            <a:spLocks/>
          </p:cNvSpPr>
          <p:nvPr/>
        </p:nvSpPr>
        <p:spPr>
          <a:xfrm>
            <a:off x="761802" y="2743200"/>
            <a:ext cx="4646905" cy="36131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b="1" dirty="0" err="1">
                <a:latin typeface="+mn-lt"/>
                <a:ea typeface="+mn-ea"/>
                <a:cs typeface="+mn-cs"/>
              </a:rPr>
              <a:t>Contexte</a:t>
            </a:r>
            <a:endParaRPr lang="en-US" sz="2000" b="1" dirty="0">
              <a:latin typeface="+mn-lt"/>
              <a:ea typeface="+mn-ea"/>
              <a:cs typeface="+mn-cs"/>
            </a:endParaRP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 err="1">
                <a:latin typeface="+mn-lt"/>
                <a:ea typeface="+mn-ea"/>
                <a:cs typeface="+mn-cs"/>
              </a:rPr>
              <a:t>Modélisation</a:t>
            </a:r>
            <a:r>
              <a:rPr lang="en-US" sz="2000" dirty="0">
                <a:latin typeface="+mn-lt"/>
                <a:ea typeface="+mn-ea"/>
                <a:cs typeface="+mn-cs"/>
              </a:rPr>
              <a:t> </a:t>
            </a:r>
            <a:r>
              <a:rPr lang="en-US" sz="2000" dirty="0" err="1">
                <a:latin typeface="+mn-lt"/>
                <a:ea typeface="+mn-ea"/>
                <a:cs typeface="+mn-cs"/>
              </a:rPr>
              <a:t>Mathématique</a:t>
            </a:r>
            <a:endParaRPr lang="en-US" sz="2000" dirty="0">
              <a:latin typeface="+mn-lt"/>
              <a:ea typeface="+mn-ea"/>
              <a:cs typeface="+mn-cs"/>
            </a:endParaRP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latin typeface="+mn-lt"/>
                <a:ea typeface="+mn-ea"/>
                <a:cs typeface="+mn-cs"/>
              </a:rPr>
              <a:t>Description du code</a:t>
            </a: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 err="1">
                <a:latin typeface="+mn-lt"/>
                <a:ea typeface="+mn-ea"/>
                <a:cs typeface="+mn-cs"/>
              </a:rPr>
              <a:t>Vérification</a:t>
            </a:r>
            <a:endParaRPr lang="en-US" sz="2000" dirty="0">
              <a:latin typeface="+mn-lt"/>
              <a:ea typeface="+mn-ea"/>
              <a:cs typeface="+mn-cs"/>
            </a:endParaRP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latin typeface="+mn-lt"/>
                <a:ea typeface="+mn-ea"/>
                <a:cs typeface="+mn-cs"/>
              </a:rPr>
              <a:t>Validation</a:t>
            </a: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dirty="0">
              <a:latin typeface="+mn-lt"/>
              <a:ea typeface="+mn-ea"/>
              <a:cs typeface="+mn-cs"/>
            </a:endParaRP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dirty="0">
              <a:latin typeface="+mn-lt"/>
              <a:ea typeface="+mn-ea"/>
              <a:cs typeface="+mn-cs"/>
            </a:endParaRP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dirty="0">
              <a:latin typeface="+mn-lt"/>
              <a:ea typeface="+mn-ea"/>
              <a:cs typeface="+mn-cs"/>
            </a:endParaRP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dirty="0">
              <a:latin typeface="+mn-lt"/>
              <a:ea typeface="+mn-ea"/>
              <a:cs typeface="+mn-cs"/>
            </a:endParaRPr>
          </a:p>
        </p:txBody>
      </p:sp>
      <p:pic>
        <p:nvPicPr>
          <p:cNvPr id="6" name="Picture 5" descr="Formules mathématiques complexes sur un tableau noir">
            <a:extLst>
              <a:ext uri="{FF2B5EF4-FFF2-40B4-BE49-F238E27FC236}">
                <a16:creationId xmlns:a16="http://schemas.microsoft.com/office/drawing/2014/main" id="{56BA1E48-524F-C15A-3A1C-59CAC6CC0AA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4481" r="10557" b="-1"/>
          <a:stretch>
            <a:fillRect/>
          </a:stretch>
        </p:blipFill>
        <p:spPr>
          <a:xfrm>
            <a:off x="6096000" y="1"/>
            <a:ext cx="610282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2669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8CC2017-DAAB-E539-D03A-0EAF47A6CA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fr-FR" dirty="0"/>
              <a:t>Contexte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1B38F4B-B286-AB7C-64B1-7E3DB7D1D3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6992" y="1243584"/>
            <a:ext cx="5644896" cy="5248655"/>
          </a:xfrm>
        </p:spPr>
        <p:txBody>
          <a:bodyPr>
            <a:normAutofit lnSpcReduction="10000"/>
          </a:bodyPr>
          <a:lstStyle/>
          <a:p>
            <a:r>
              <a:rPr lang="fr-FR" dirty="0"/>
              <a:t>Vitesse de refroidissement influence les propriétés </a:t>
            </a:r>
          </a:p>
          <a:p>
            <a:pPr>
              <a:buFontTx/>
              <a:buChar char="-"/>
            </a:pPr>
            <a:r>
              <a:rPr lang="fr-FR" dirty="0"/>
              <a:t>Mécanique</a:t>
            </a:r>
          </a:p>
          <a:p>
            <a:pPr>
              <a:buFontTx/>
              <a:buChar char="-"/>
            </a:pPr>
            <a:r>
              <a:rPr lang="fr-FR" dirty="0"/>
              <a:t>Électrique</a:t>
            </a:r>
          </a:p>
          <a:p>
            <a:pPr>
              <a:buFontTx/>
              <a:buChar char="-"/>
            </a:pPr>
            <a:r>
              <a:rPr lang="fr-FR" dirty="0"/>
              <a:t>Thermique </a:t>
            </a:r>
          </a:p>
          <a:p>
            <a:pPr>
              <a:buFontTx/>
              <a:buChar char="-"/>
            </a:pPr>
            <a:endParaRPr lang="fr-FR" dirty="0"/>
          </a:p>
          <a:p>
            <a:r>
              <a:rPr lang="fr-FR" dirty="0"/>
              <a:t>Modéliser le refroidissement</a:t>
            </a:r>
          </a:p>
          <a:p>
            <a:pPr>
              <a:buFontTx/>
              <a:buChar char="-"/>
            </a:pPr>
            <a:r>
              <a:rPr lang="fr-FR" dirty="0"/>
              <a:t>Obtenir la vitesse de refroidissement</a:t>
            </a:r>
          </a:p>
          <a:p>
            <a:pPr>
              <a:buFontTx/>
              <a:buChar char="-"/>
            </a:pPr>
            <a:r>
              <a:rPr lang="fr-FR" dirty="0"/>
              <a:t>Connaître la composition du matériau final </a:t>
            </a:r>
          </a:p>
          <a:p>
            <a:pPr>
              <a:buFontTx/>
              <a:buChar char="-"/>
            </a:pPr>
            <a:r>
              <a:rPr lang="fr-FR" dirty="0"/>
              <a:t>Déduire ses propriétés 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A30176CA-BFB8-62B8-8124-3190FD696E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3096" y="883433"/>
            <a:ext cx="4839119" cy="5608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50268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94CA42-48D1-B6A9-E369-4768900366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90094CF-DF10-F5BA-E586-A30A3E25DCF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61803" y="350196"/>
            <a:ext cx="4646904" cy="162452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/>
            <a:r>
              <a:rPr lang="en-US" sz="4000" noProof="0"/>
              <a:t>Plan de la présentation</a:t>
            </a:r>
          </a:p>
        </p:txBody>
      </p:sp>
      <p:sp>
        <p:nvSpPr>
          <p:cNvPr id="4" name="Titre 1">
            <a:extLst>
              <a:ext uri="{FF2B5EF4-FFF2-40B4-BE49-F238E27FC236}">
                <a16:creationId xmlns:a16="http://schemas.microsoft.com/office/drawing/2014/main" id="{89A1A2BC-DF47-2146-7BC9-DFFEAC11E914}"/>
              </a:ext>
            </a:extLst>
          </p:cNvPr>
          <p:cNvSpPr txBox="1">
            <a:spLocks/>
          </p:cNvSpPr>
          <p:nvPr/>
        </p:nvSpPr>
        <p:spPr>
          <a:xfrm>
            <a:off x="761802" y="2743200"/>
            <a:ext cx="4646905" cy="36131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 err="1">
                <a:latin typeface="+mn-lt"/>
                <a:ea typeface="+mn-ea"/>
                <a:cs typeface="+mn-cs"/>
              </a:rPr>
              <a:t>Contexte</a:t>
            </a:r>
            <a:endParaRPr lang="en-US" sz="2000" dirty="0">
              <a:latin typeface="+mn-lt"/>
              <a:ea typeface="+mn-ea"/>
              <a:cs typeface="+mn-cs"/>
            </a:endParaRP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b="1" dirty="0" err="1">
                <a:latin typeface="+mn-lt"/>
                <a:ea typeface="+mn-ea"/>
                <a:cs typeface="+mn-cs"/>
              </a:rPr>
              <a:t>Modélisation</a:t>
            </a:r>
            <a:r>
              <a:rPr lang="en-US" sz="2000" b="1" dirty="0">
                <a:latin typeface="+mn-lt"/>
                <a:ea typeface="+mn-ea"/>
                <a:cs typeface="+mn-cs"/>
              </a:rPr>
              <a:t> </a:t>
            </a:r>
            <a:r>
              <a:rPr lang="en-US" sz="2000" b="1" dirty="0" err="1">
                <a:latin typeface="+mn-lt"/>
                <a:ea typeface="+mn-ea"/>
                <a:cs typeface="+mn-cs"/>
              </a:rPr>
              <a:t>Mathématique</a:t>
            </a:r>
            <a:endParaRPr lang="en-US" sz="2000" b="1" dirty="0">
              <a:latin typeface="+mn-lt"/>
              <a:ea typeface="+mn-ea"/>
              <a:cs typeface="+mn-cs"/>
            </a:endParaRP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latin typeface="+mn-lt"/>
                <a:ea typeface="+mn-ea"/>
                <a:cs typeface="+mn-cs"/>
              </a:rPr>
              <a:t>Description du code</a:t>
            </a: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 err="1">
                <a:latin typeface="+mn-lt"/>
                <a:ea typeface="+mn-ea"/>
                <a:cs typeface="+mn-cs"/>
              </a:rPr>
              <a:t>Vérification</a:t>
            </a:r>
            <a:endParaRPr lang="en-US" sz="2000" dirty="0">
              <a:latin typeface="+mn-lt"/>
              <a:ea typeface="+mn-ea"/>
              <a:cs typeface="+mn-cs"/>
            </a:endParaRP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latin typeface="+mn-lt"/>
                <a:ea typeface="+mn-ea"/>
                <a:cs typeface="+mn-cs"/>
              </a:rPr>
              <a:t>Validation</a:t>
            </a: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dirty="0">
              <a:latin typeface="+mn-lt"/>
              <a:ea typeface="+mn-ea"/>
              <a:cs typeface="+mn-cs"/>
            </a:endParaRP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dirty="0">
              <a:latin typeface="+mn-lt"/>
              <a:ea typeface="+mn-ea"/>
              <a:cs typeface="+mn-cs"/>
            </a:endParaRP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dirty="0">
              <a:latin typeface="+mn-lt"/>
              <a:ea typeface="+mn-ea"/>
              <a:cs typeface="+mn-cs"/>
            </a:endParaRP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dirty="0">
              <a:latin typeface="+mn-lt"/>
              <a:ea typeface="+mn-ea"/>
              <a:cs typeface="+mn-cs"/>
            </a:endParaRPr>
          </a:p>
        </p:txBody>
      </p:sp>
      <p:pic>
        <p:nvPicPr>
          <p:cNvPr id="6" name="Picture 5" descr="Formules mathématiques complexes sur un tableau noir">
            <a:extLst>
              <a:ext uri="{FF2B5EF4-FFF2-40B4-BE49-F238E27FC236}">
                <a16:creationId xmlns:a16="http://schemas.microsoft.com/office/drawing/2014/main" id="{A67FF553-B74C-97DD-6327-944F8FA436E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4481" r="10557" b="-1"/>
          <a:stretch>
            <a:fillRect/>
          </a:stretch>
        </p:blipFill>
        <p:spPr>
          <a:xfrm>
            <a:off x="6096000" y="1"/>
            <a:ext cx="610282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89130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37DC965-0D72-AE8E-8F68-A22FDD3D8C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fr-FR" dirty="0"/>
              <a:t>Modélisation mathématique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D0B43374-E0C7-ED3F-B765-703070E6A6F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55033"/>
                <a:ext cx="8177463" cy="5358062"/>
              </a:xfrm>
            </p:spPr>
            <p:txBody>
              <a:bodyPr>
                <a:normAutofit/>
              </a:bodyPr>
              <a:lstStyle/>
              <a:p>
                <a:pPr fontAlgn="base"/>
                <a:r>
                  <a:rPr lang="fr-FR" dirty="0"/>
                  <a:t>Refroidissement à l'air ambient d'un lingot métallique cylindrique </a:t>
                </a:r>
                <a:r>
                  <a:rPr lang="en-US" dirty="0"/>
                  <a:t>​</a:t>
                </a:r>
              </a:p>
              <a:p>
                <a:pPr fontAlgn="base"/>
                <a:r>
                  <a:rPr lang="fr-FR" dirty="0"/>
                  <a:t>Température initiale uniforme </a:t>
                </a:r>
                <a:r>
                  <a:rPr lang="en-US" dirty="0"/>
                  <a:t>​</a:t>
                </a:r>
              </a:p>
              <a:p>
                <a:pPr fontAlgn="base"/>
                <a:r>
                  <a:rPr lang="fr-FR" dirty="0"/>
                  <a:t>Modélisation mathématique :</a:t>
                </a:r>
              </a:p>
              <a:p>
                <a:pPr marL="0" indent="0" fontAlgn="base">
                  <a:spcBef>
                    <a:spcPts val="1800"/>
                  </a:spcBef>
                  <a:buNone/>
                </a:pPr>
                <a:r>
                  <a:rPr lang="fr-FR" dirty="0"/>
                  <a:t>Equation de la chaleur en 2D </a:t>
                </a:r>
                <a:endParaRPr lang="en-US" dirty="0"/>
              </a:p>
              <a:p>
                <a:pPr marL="0" indent="0">
                  <a:spcBef>
                    <a:spcPts val="18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i="1">
                          <a:latin typeface="Cambria Math" panose="02040503050406030204" pitchFamily="18" charset="0"/>
                        </a:rPr>
                        <m:t>ρ</m:t>
                      </m:r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𝑘</m:t>
                      </m:r>
                      <m:sSup>
                        <m:sSup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fr-FR" b="0" i="1" smtClean="0"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p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fr-FR" dirty="0"/>
              </a:p>
              <a:p>
                <a:pPr marL="0" indent="0">
                  <a:spcBef>
                    <a:spcPts val="1800"/>
                  </a:spcBef>
                  <a:buNone/>
                </a:pPr>
                <a:r>
                  <a:rPr lang="fr-FR" dirty="0"/>
                  <a:t>Perte thermique surfacique </a:t>
                </a:r>
              </a:p>
              <a:p>
                <a:pPr marL="0" indent="0" algn="ctr">
                  <a:spcBef>
                    <a:spcPts val="18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∇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h</m:t>
                      </m:r>
                      <m:d>
                        <m:d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∞</m:t>
                              </m:r>
                              <m:r>
                                <m:rPr>
                                  <m:nor/>
                                </m:rPr>
                                <a:rPr lang="fr-FR" dirty="0"/>
                                <m:t> </m:t>
                              </m:r>
                            </m:sub>
                          </m:sSub>
                        </m:e>
                      </m:d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ϵσ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p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p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−</m:t>
                      </m:r>
                      <m:sSubSup>
                        <m:sSubSup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∞</m:t>
                          </m:r>
                        </m:sub>
                        <m:sup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bSup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dirty="0"/>
              </a:p>
              <a:p>
                <a:pPr marL="228600" marR="0" lvl="0" indent="-228600" algn="l" defTabSz="914400" rtl="0" eaLnBrk="1" fontAlgn="base" latinLnBrk="0" hangingPunct="1">
                  <a:lnSpc>
                    <a:spcPct val="90000"/>
                  </a:lnSpc>
                  <a:spcBef>
                    <a:spcPts val="24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lang="fr-FR" dirty="0">
                    <a:solidFill>
                      <a:prstClr val="black"/>
                    </a:solidFill>
                    <a:latin typeface="Aptos" panose="02110004020202020204"/>
                  </a:rPr>
                  <a:t>Symétrie par rotation autour de l’axe central </a:t>
                </a:r>
              </a:p>
              <a:p>
                <a:pPr marL="0" marR="0" lvl="0" indent="0" algn="ctr" defTabSz="914400" rtl="0" eaLnBrk="1" fontAlgn="base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𝑇</m:t>
                      </m:r>
                      <m:d>
                        <m:dPr>
                          <m:ctrlP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𝑡</m:t>
                          </m:r>
                          <m: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,</m:t>
                          </m:r>
                          <m: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𝑅</m:t>
                          </m:r>
                          <m: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,</m:t>
                          </m:r>
                          <m: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𝑧</m:t>
                          </m:r>
                          <m: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θ</m:t>
                          </m:r>
                        </m:e>
                      </m:d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𝑇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(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𝑡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,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𝑅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,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𝑧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)</m:t>
                      </m:r>
                    </m:oMath>
                  </m:oMathPara>
                </a14:m>
                <a:endParaRPr kumimoji="0" lang="fr-FR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  <a:p>
                <a:pPr marL="0" marR="0" lvl="0" indent="0" algn="ctr" defTabSz="914400" rtl="0" eaLnBrk="1" fontAlgn="base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None/>
                  <a:tabLst/>
                  <a:defRPr/>
                </a:pPr>
                <a:endParaRPr kumimoji="0" 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  <a:p>
                <a:pPr marL="0" indent="0" algn="just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dirty="0"/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D0B43374-E0C7-ED3F-B765-703070E6A6F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55033"/>
                <a:ext cx="8177463" cy="5358062"/>
              </a:xfrm>
              <a:blipFill>
                <a:blip r:embed="rId2"/>
                <a:stretch>
                  <a:fillRect l="-1566" t="-1934" b="-796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Une image contenant croquis, dessin, conception, illustration&#10;&#10;Le contenu généré par l’IA peut être incorrect.">
            <a:extLst>
              <a:ext uri="{FF2B5EF4-FFF2-40B4-BE49-F238E27FC236}">
                <a16:creationId xmlns:a16="http://schemas.microsoft.com/office/drawing/2014/main" id="{315D7CC8-D87C-AF7A-933C-0B5D336491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19114" y="232980"/>
            <a:ext cx="2171199" cy="30219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44134258-3467-C98F-64B0-DF4243CE64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2852" y="3798791"/>
            <a:ext cx="3533376" cy="2233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28607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0694C9-7099-3A84-9A6D-5B2A0879BE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DEC12AB-5894-7E9F-0510-EB109BFCA9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fr-FR" dirty="0"/>
              <a:t>Modélisation mathématique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8073797C-3545-B398-B72A-5A621002005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55033"/>
                <a:ext cx="8177463" cy="5358062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 fontAlgn="base">
                  <a:spcBef>
                    <a:spcPts val="1800"/>
                  </a:spcBef>
                  <a:buNone/>
                </a:pPr>
                <a:r>
                  <a:rPr lang="fr-FR" dirty="0"/>
                  <a:t>Equation de la chaleur en 2D </a:t>
                </a:r>
                <a:endParaRPr lang="en-US" dirty="0"/>
              </a:p>
              <a:p>
                <a:pPr marL="0" indent="0">
                  <a:spcBef>
                    <a:spcPts val="18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i="1">
                          <a:latin typeface="Cambria Math" panose="02040503050406030204" pitchFamily="18" charset="0"/>
                        </a:rPr>
                        <m:t>ρ</m:t>
                      </m:r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𝑘</m:t>
                      </m:r>
                      <m:sSup>
                        <m:sSup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fr-FR" b="0" i="1" smtClean="0"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p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fr-FR" b="0" dirty="0"/>
              </a:p>
              <a:p>
                <a:pPr marL="0" indent="0">
                  <a:spcBef>
                    <a:spcPts val="1800"/>
                  </a:spcBef>
                  <a:buNone/>
                </a:pPr>
                <a:r>
                  <a:rPr lang="fr-FR" dirty="0"/>
                  <a:t>En cartésien, on a :</a:t>
                </a:r>
              </a:p>
              <a:p>
                <a:pPr marL="0" indent="0">
                  <a:spcBef>
                    <a:spcPts val="18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i="1">
                          <a:latin typeface="Cambria Math" panose="02040503050406030204" pitchFamily="18" charset="0"/>
                        </a:rPr>
                        <m:t>ρ</m:t>
                      </m:r>
                      <m:sSub>
                        <m:sSub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fr-FR" i="1">
                          <a:latin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CA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fr-FR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CA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b="0" dirty="0"/>
              </a:p>
              <a:p>
                <a:pPr marL="0" indent="0">
                  <a:spcBef>
                    <a:spcPts val="1800"/>
                  </a:spcBef>
                  <a:buNone/>
                </a:pPr>
                <a:r>
                  <a:rPr lang="fr-FR" dirty="0"/>
                  <a:t>En cylindrique, on retrouve :</a:t>
                </a:r>
              </a:p>
              <a:p>
                <a:pPr marL="0" indent="0">
                  <a:spcBef>
                    <a:spcPts val="18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fr-CA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fr-CA">
                          <a:latin typeface="Cambria Math" panose="02040503050406030204" pitchFamily="18" charset="0"/>
                        </a:rPr>
                        <m:t>r</m:t>
                      </m:r>
                      <m:func>
                        <m:funcPr>
                          <m:ctrlPr>
                            <a:rPr lang="fr-CA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CA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fr-CA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CA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e>
                      </m:func>
                      <m:r>
                        <a:rPr lang="fr-CA" i="1">
                          <a:latin typeface="Cambria Math" panose="02040503050406030204" pitchFamily="18" charset="0"/>
                        </a:rPr>
                        <m:t>𝑒𝑡</m:t>
                      </m:r>
                      <m:r>
                        <a:rPr lang="fr-CA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CA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fr-CA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fr-FR" dirty="0"/>
              </a:p>
              <a:p>
                <a:pPr marL="0" indent="0" algn="ctr">
                  <a:spcBef>
                    <a:spcPts val="1800"/>
                  </a:spcBef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∇</m:t>
                        </m:r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i="1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fr-FR" dirty="0"/>
                  <a:t>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CA" i="1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endParaRPr lang="fr-FR" dirty="0"/>
              </a:p>
              <a:p>
                <a:pPr marL="0" indent="0" algn="ctr">
                  <a:spcBef>
                    <a:spcPts val="1800"/>
                  </a:spcBef>
                  <a:buNone/>
                </a:pPr>
                <a:endParaRPr lang="fr-FR" dirty="0"/>
              </a:p>
              <a:p>
                <a:pPr marL="0" indent="0">
                  <a:spcBef>
                    <a:spcPts val="18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i="1">
                          <a:latin typeface="Cambria Math" panose="02040503050406030204" pitchFamily="18" charset="0"/>
                        </a:rPr>
                        <m:t>ρ</m:t>
                      </m:r>
                      <m:sSub>
                        <m:sSub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fr-FR" i="1">
                          <a:latin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CA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fr-FR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fr-CA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CA" i="1">
                              <a:latin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  <m:r>
                        <a:rPr lang="fr-FR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1800"/>
                  </a:spcBef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dirty="0"/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8073797C-3545-B398-B72A-5A621002005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55033"/>
                <a:ext cx="8177463" cy="5358062"/>
              </a:xfrm>
              <a:blipFill>
                <a:blip r:embed="rId2"/>
                <a:stretch>
                  <a:fillRect l="-1342" t="-2275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D8880BBA-A9C5-15DA-64A8-34FD76C6B27D}"/>
              </a:ext>
            </a:extLst>
          </p:cNvPr>
          <p:cNvSpPr/>
          <p:nvPr/>
        </p:nvSpPr>
        <p:spPr>
          <a:xfrm>
            <a:off x="2606040" y="5321808"/>
            <a:ext cx="4828032" cy="1325563"/>
          </a:xfrm>
          <a:prstGeom prst="rect">
            <a:avLst/>
          </a:prstGeom>
          <a:noFill/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ZoneTexte 5">
                <a:extLst>
                  <a:ext uri="{FF2B5EF4-FFF2-40B4-BE49-F238E27FC236}">
                    <a16:creationId xmlns:a16="http://schemas.microsoft.com/office/drawing/2014/main" id="{0D3DAD9B-F895-38F3-7E66-F7CE93598C25}"/>
                  </a:ext>
                </a:extLst>
              </p:cNvPr>
              <p:cNvSpPr txBox="1"/>
              <p:nvPr/>
            </p:nvSpPr>
            <p:spPr>
              <a:xfrm>
                <a:off x="8054501" y="1155033"/>
                <a:ext cx="3920247" cy="45243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CA" dirty="0"/>
                  <a:t>Schéma d’Euler Explicite :</a:t>
                </a:r>
              </a:p>
              <a:p>
                <a:endParaRPr lang="fr-CA" dirty="0"/>
              </a:p>
              <a:p>
                <a:r>
                  <a:rPr lang="fr-CA" dirty="0"/>
                  <a:t>On vient évaluer l’état d’un système à un temps </a:t>
                </a:r>
                <a14:m>
                  <m:oMath xmlns:m="http://schemas.openxmlformats.org/officeDocument/2006/math">
                    <m:r>
                      <a:rPr lang="fr-CA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+∆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fr-CA" dirty="0"/>
                  <a:t> à l’aide de l’état de ce système au temps </a:t>
                </a:r>
                <a14:m>
                  <m:oMath xmlns:m="http://schemas.openxmlformats.org/officeDocument/2006/math">
                    <m:r>
                      <a:rPr lang="fr-CA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fr-CA" dirty="0"/>
                  <a:t>.</a:t>
                </a:r>
              </a:p>
              <a:p>
                <a:endParaRPr lang="fr-CA" dirty="0"/>
              </a:p>
              <a:p>
                <a:r>
                  <a:rPr lang="fr-CA" dirty="0"/>
                  <a:t>Méthode directe (pas de système à résoudre) et peu coûteuse.</a:t>
                </a:r>
              </a:p>
              <a:p>
                <a:endParaRPr lang="fr-CA" dirty="0"/>
              </a:p>
              <a:p>
                <a:r>
                  <a:rPr lang="fr-CA" dirty="0"/>
                  <a:t>Problème de stabilité : la méthode d’Euler explicite nécessite de respecter un critère de stabilité entre la discrétisation en temps et en espace :</a:t>
                </a:r>
              </a:p>
              <a:p>
                <a:endParaRPr lang="fr-CA" dirty="0"/>
              </a:p>
              <a:p>
                <a:endParaRPr lang="fr-CA" dirty="0"/>
              </a:p>
            </p:txBody>
          </p:sp>
        </mc:Choice>
        <mc:Fallback xmlns="">
          <p:sp>
            <p:nvSpPr>
              <p:cNvPr id="6" name="ZoneTexte 5">
                <a:extLst>
                  <a:ext uri="{FF2B5EF4-FFF2-40B4-BE49-F238E27FC236}">
                    <a16:creationId xmlns:a16="http://schemas.microsoft.com/office/drawing/2014/main" id="{0D3DAD9B-F895-38F3-7E66-F7CE93598C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54501" y="1155033"/>
                <a:ext cx="3920247" cy="4524315"/>
              </a:xfrm>
              <a:prstGeom prst="rect">
                <a:avLst/>
              </a:prstGeom>
              <a:blipFill>
                <a:blip r:embed="rId3"/>
                <a:stretch>
                  <a:fillRect l="-1244" t="-538" r="-467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Image 7">
            <a:extLst>
              <a:ext uri="{FF2B5EF4-FFF2-40B4-BE49-F238E27FC236}">
                <a16:creationId xmlns:a16="http://schemas.microsoft.com/office/drawing/2014/main" id="{19BD9348-480B-8C6C-AE14-0653FA9994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6411" y="5073307"/>
            <a:ext cx="4258607" cy="9112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07430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4003BD6-209D-95E8-105B-EEC2D50173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0"/>
            <a:ext cx="11353800" cy="1325563"/>
          </a:xfrm>
        </p:spPr>
        <p:txBody>
          <a:bodyPr/>
          <a:lstStyle/>
          <a:p>
            <a:r>
              <a:rPr lang="fr-FR" dirty="0"/>
              <a:t>Discrétisation : Milieu – Schéma d’Euler Explicite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E439C4FB-5092-413C-C838-32069AD0E47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61257" y="1331495"/>
                <a:ext cx="11930743" cy="518160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fr-FR" dirty="0"/>
                  <a:t>Hors des frontières (r-1, r+1, z-1, z+1 sont définis)</a:t>
                </a:r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groupChr>
                      <m:groupChrPr>
                        <m:chr m:val="⇒"/>
                        <m:pos m:val="top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sty m:val="p"/>
                            <m:brk m:alnAt="1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s</m:t>
                        </m:r>
                        <m:r>
                          <m:rPr>
                            <m:sty m:val="p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ch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é</m:t>
                        </m:r>
                        <m:r>
                          <m:rPr>
                            <m:sty m:val="p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ma</m:t>
                        </m:r>
                      </m:e>
                    </m:groupCh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fr-FR">
                                <a:latin typeface="Cambria Math" panose="02040503050406030204" pitchFamily="18" charset="0"/>
                              </a:rPr>
                              <m:t>Δt</m:t>
                            </m:r>
                          </m:sup>
                        </m:sSub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Δt</m:t>
                        </m:r>
                        <m:r>
                          <m:rPr>
                            <m:nor/>
                          </m:rPr>
                          <a:rPr lang="fr-FR"/>
                          <m:t> </m:t>
                        </m:r>
                      </m:den>
                    </m:f>
                  </m:oMath>
                </a14:m>
                <a:r>
                  <a:rPr lang="fr-FR" dirty="0"/>
                  <a:t> , </a:t>
                </a:r>
                <a:r>
                  <a:rPr lang="fr-FR" sz="24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ordre 1 </a:t>
                </a:r>
                <a:endParaRPr lang="fr-FR" dirty="0">
                  <a:latin typeface="Cambria" panose="02040503050406030204" pitchFamily="18" charset="0"/>
                  <a:ea typeface="Cambria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  <m:groupChr>
                      <m:groupChrPr>
                        <m:chr m:val="⇒"/>
                        <m:pos m:val="top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sty m:val="p"/>
                            <m:brk m:alnAt="1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s</m:t>
                        </m:r>
                        <m:r>
                          <m:rPr>
                            <m:sty m:val="p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ch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é</m:t>
                        </m:r>
                        <m:r>
                          <m:rPr>
                            <m:sty m:val="p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ma</m:t>
                        </m:r>
                      </m:e>
                    </m:groupCh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i="1">
                            <a:latin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a:rPr lang="fr-FR" b="0" i="0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</m:oMath>
                </a14:m>
                <a:r>
                  <a:rPr lang="fr-FR" dirty="0"/>
                  <a:t>, </a:t>
                </a:r>
                <a:r>
                  <a:rPr lang="fr-FR" sz="24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ordre 2</a:t>
                </a:r>
                <a:endParaRPr lang="fr-FR" dirty="0"/>
              </a:p>
              <a:p>
                <a:endParaRPr lang="fr-FR" dirty="0"/>
              </a:p>
              <a:p>
                <a:pPr marL="0" indent="0">
                  <a:spcBef>
                    <a:spcPts val="18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sz="2400" i="1">
                          <a:latin typeface="Cambria Math" panose="02040503050406030204" pitchFamily="18" charset="0"/>
                        </a:rPr>
                        <m:t>ρ</m:t>
                      </m:r>
                      <m:sSub>
                        <m:sSub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fr-FR" sz="2400" i="1">
                          <a:latin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24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CA" sz="2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CA" sz="2400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fr-CA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CA" sz="2400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fr-FR" sz="24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fr-CA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CA" sz="2400" i="1">
                              <a:latin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  <m:r>
                        <a:rPr lang="fr-FR" sz="24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fr-CA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fr-FR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𝑧</m:t>
                          </m:r>
                        </m:sub>
                        <m: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fr-FR" sz="2400">
                              <a:latin typeface="Cambria Math" panose="02040503050406030204" pitchFamily="18" charset="0"/>
                            </a:rPr>
                            <m:t>Δt</m:t>
                          </m:r>
                        </m:sup>
                      </m:sSubSup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𝑧</m:t>
                          </m:r>
                        </m:sub>
                        <m: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bSup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l-GR" sz="2400" i="1">
                              <a:latin typeface="Cambria Math" panose="02040503050406030204" pitchFamily="18" charset="0"/>
                            </a:rPr>
                            <m:t>ρ</m:t>
                          </m:r>
                          <m:sSub>
                            <m:sSub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b>
                          </m:sSub>
                        </m:den>
                      </m:f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</m:num>
                        <m:den>
                          <m:r>
                            <m:rPr>
                              <m:sty m:val="p"/>
                            </m:rPr>
                            <a:rPr lang="fr-FR" sz="2400">
                              <a:latin typeface="Cambria Math" panose="02040503050406030204" pitchFamily="18" charset="0"/>
                            </a:rPr>
                            <m:t>Δ</m:t>
                          </m:r>
                          <m:sSup>
                            <m:s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fr-CA" sz="2400" b="0" i="0" smtClean="0">
                                  <a:latin typeface="Cambria Math" panose="02040503050406030204" pitchFamily="18" charset="0"/>
                                </a:rPr>
                                <m:t>r</m:t>
                              </m:r>
                            </m:e>
                            <m:sup>
                              <m:r>
                                <a:rPr lang="fr-FR" sz="24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m:rPr>
                              <m:nor/>
                            </m:rPr>
                            <a:rPr lang="fr-FR" sz="2400"/>
                            <m:t> </m:t>
                          </m:r>
                        </m:den>
                      </m:f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fr-CA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</m:num>
                        <m:den>
                          <m:r>
                            <a:rPr lang="fr-FR" sz="2400" b="0" i="0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fr-FR" sz="2400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fr-CA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</m:num>
                        <m:den>
                          <m:r>
                            <m:rPr>
                              <m:sty m:val="p"/>
                            </m:rPr>
                            <a:rPr lang="fr-FR" sz="2400">
                              <a:latin typeface="Cambria Math" panose="02040503050406030204" pitchFamily="18" charset="0"/>
                            </a:rPr>
                            <m:t>Δ</m:t>
                          </m:r>
                          <m:sSup>
                            <m:s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fr-FR" sz="240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p>
                              <m:r>
                                <a:rPr lang="fr-FR" sz="24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m:rPr>
                              <m:nor/>
                            </m:rPr>
                            <a:rPr lang="fr-FR" sz="2400"/>
                            <m:t> </m:t>
                          </m:r>
                        </m:den>
                      </m:f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2400" b="0" dirty="0"/>
              </a:p>
              <a:p>
                <a:pPr marL="0" indent="0">
                  <a:buNone/>
                </a:pPr>
                <a:endParaRPr lang="fr-FR" dirty="0"/>
              </a:p>
              <a:p>
                <a:pPr marL="0" indent="0">
                  <a:buNone/>
                </a:pPr>
                <a:endParaRPr lang="fr-FR" dirty="0"/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E439C4FB-5092-413C-C838-32069AD0E47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61257" y="1331495"/>
                <a:ext cx="11930743" cy="5181600"/>
              </a:xfrm>
              <a:blipFill>
                <a:blip r:embed="rId2"/>
                <a:stretch>
                  <a:fillRect l="-1073" t="-2000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ZoneTexte 4">
                <a:extLst>
                  <a:ext uri="{FF2B5EF4-FFF2-40B4-BE49-F238E27FC236}">
                    <a16:creationId xmlns:a16="http://schemas.microsoft.com/office/drawing/2014/main" id="{10518746-3A15-2C27-5A6F-6AB51FC276FA}"/>
                  </a:ext>
                </a:extLst>
              </p:cNvPr>
              <p:cNvSpPr txBox="1"/>
              <p:nvPr/>
            </p:nvSpPr>
            <p:spPr>
              <a:xfrm>
                <a:off x="4869617" y="1595314"/>
                <a:ext cx="5362519" cy="17326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endParaRPr lang="fr-FR" dirty="0"/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f>
                      <m:fPr>
                        <m:ctrlP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groupChr>
                      <m:groupChrPr>
                        <m:chr m:val="⇒"/>
                        <m:pos m:val="top"/>
                        <m:ctrlP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sty m:val="p"/>
                            <m:brk m:alnAt="1"/>
                          </m:rP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s</m:t>
                        </m:r>
                        <m:r>
                          <m:rPr>
                            <m:sty m:val="p"/>
                          </m:rP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ch</m:t>
                        </m:r>
                        <m: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é</m:t>
                        </m:r>
                        <m:r>
                          <m:rPr>
                            <m:sty m:val="p"/>
                          </m:rP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ma</m:t>
                        </m:r>
                      </m:e>
                    </m:groupChr>
                    <m:f>
                      <m:fPr>
                        <m:ctrlP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m:rPr>
                            <m:sty m:val="p"/>
                          </m:rPr>
                          <a:rPr lang="fr-FR" sz="26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fr-CA" sz="26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r</m:t>
                            </m:r>
                          </m:e>
                          <m:sup>
                            <m:r>
                              <a:rPr lang="fr-FR" sz="260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m:rPr>
                            <m:nor/>
                          </m:rPr>
                          <a:rPr lang="fr-FR" sz="2600">
                            <a:latin typeface="Cambria" panose="02040503050406030204" pitchFamily="18" charset="0"/>
                            <a:ea typeface="Cambria" panose="02040503050406030204" pitchFamily="18" charset="0"/>
                          </a:rPr>
                          <m:t> </m:t>
                        </m:r>
                      </m:den>
                    </m:f>
                  </m:oMath>
                </a14:m>
                <a:r>
                  <a:rPr lang="fr-FR" sz="26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, </a:t>
                </a:r>
                <a:r>
                  <a:rPr lang="fr-FR" sz="20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ordre 2</a:t>
                </a: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f>
                      <m:fPr>
                        <m:ctrlPr>
                          <a:rPr lang="fr-FR" sz="2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6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6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6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6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groupChr>
                      <m:groupChrPr>
                        <m:chr m:val="⇒"/>
                        <m:pos m:val="top"/>
                        <m:ctrlPr>
                          <a:rPr lang="fr-FR" sz="2600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sty m:val="p"/>
                            <m:brk m:alnAt="1"/>
                          </m:rPr>
                          <a:rPr lang="fr-FR" sz="2600" i="1">
                            <a:latin typeface="Cambria Math" panose="02040503050406030204" pitchFamily="18" charset="0"/>
                          </a:rPr>
                          <m:t>s</m:t>
                        </m:r>
                        <m:r>
                          <m:rPr>
                            <m:sty m:val="p"/>
                          </m:rPr>
                          <a:rPr lang="fr-FR" sz="2600" i="1">
                            <a:latin typeface="Cambria Math" panose="02040503050406030204" pitchFamily="18" charset="0"/>
                          </a:rPr>
                          <m:t>ch</m:t>
                        </m:r>
                        <m:r>
                          <a:rPr lang="fr-FR" sz="2600" i="1">
                            <a:latin typeface="Cambria Math" panose="02040503050406030204" pitchFamily="18" charset="0"/>
                          </a:rPr>
                          <m:t>é</m:t>
                        </m:r>
                        <m:r>
                          <m:rPr>
                            <m:sty m:val="p"/>
                          </m:rPr>
                          <a:rPr lang="fr-FR" sz="2600" i="1">
                            <a:latin typeface="Cambria Math" panose="02040503050406030204" pitchFamily="18" charset="0"/>
                          </a:rPr>
                          <m:t>ma</m:t>
                        </m:r>
                      </m:e>
                    </m:groupChr>
                    <m:f>
                      <m:fPr>
                        <m:ctrlPr>
                          <a:rPr lang="fr-FR" sz="2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sz="26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6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600" i="1">
                            <a:latin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sz="26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6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600" i="1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fr-FR" sz="26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6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m:rPr>
                            <m:sty m:val="p"/>
                          </m:rPr>
                          <a:rPr lang="fr-FR" sz="26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6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fr-FR" sz="260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p>
                            <m:r>
                              <a:rPr lang="fr-FR" sz="260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m:rPr>
                            <m:nor/>
                          </m:rPr>
                          <a:rPr lang="fr-FR" sz="2600"/>
                          <m:t> </m:t>
                        </m:r>
                      </m:den>
                    </m:f>
                  </m:oMath>
                </a14:m>
                <a:r>
                  <a:rPr lang="fr-FR" sz="2600" dirty="0"/>
                  <a:t>, </a:t>
                </a:r>
                <a:r>
                  <a:rPr lang="fr-FR" sz="20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ordre 2</a:t>
                </a:r>
              </a:p>
            </p:txBody>
          </p:sp>
        </mc:Choice>
        <mc:Fallback xmlns="">
          <p:sp>
            <p:nvSpPr>
              <p:cNvPr id="5" name="ZoneTexte 4">
                <a:extLst>
                  <a:ext uri="{FF2B5EF4-FFF2-40B4-BE49-F238E27FC236}">
                    <a16:creationId xmlns:a16="http://schemas.microsoft.com/office/drawing/2014/main" id="{10518746-3A15-2C27-5A6F-6AB51FC276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69617" y="1595314"/>
                <a:ext cx="5362519" cy="1732654"/>
              </a:xfrm>
              <a:prstGeom prst="rect">
                <a:avLst/>
              </a:prstGeom>
              <a:blipFill>
                <a:blip r:embed="rId3"/>
                <a:stretch>
                  <a:fillRect b="-2113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Arc 5">
            <a:extLst>
              <a:ext uri="{FF2B5EF4-FFF2-40B4-BE49-F238E27FC236}">
                <a16:creationId xmlns:a16="http://schemas.microsoft.com/office/drawing/2014/main" id="{669E06E8-CC02-FA18-F417-BCEB210B1102}"/>
              </a:ext>
            </a:extLst>
          </p:cNvPr>
          <p:cNvSpPr/>
          <p:nvPr/>
        </p:nvSpPr>
        <p:spPr>
          <a:xfrm rot="241833" flipH="1">
            <a:off x="2857585" y="4094814"/>
            <a:ext cx="2152095" cy="1509192"/>
          </a:xfrm>
          <a:prstGeom prst="arc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1284967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9C5C6ED-CEB0-DF95-C2D4-5220839D03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0876" y="-30897"/>
            <a:ext cx="11945112" cy="1325563"/>
          </a:xfrm>
        </p:spPr>
        <p:txBody>
          <a:bodyPr/>
          <a:lstStyle/>
          <a:p>
            <a:r>
              <a:rPr lang="fr-FR" dirty="0"/>
              <a:t>Discrétisation : frontières - Schéma d’Euler Explicite </a:t>
            </a:r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4595270A-CFC5-DE88-BDE0-18625C38E14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16619" y="4270193"/>
            <a:ext cx="4204606" cy="248797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ZoneTexte 5">
                <a:extLst>
                  <a:ext uri="{FF2B5EF4-FFF2-40B4-BE49-F238E27FC236}">
                    <a16:creationId xmlns:a16="http://schemas.microsoft.com/office/drawing/2014/main" id="{F5871682-0B46-824A-AEFF-E8E2BCE778AB}"/>
                  </a:ext>
                </a:extLst>
              </p:cNvPr>
              <p:cNvSpPr txBox="1"/>
              <p:nvPr/>
            </p:nvSpPr>
            <p:spPr>
              <a:xfrm>
                <a:off x="667512" y="1343818"/>
                <a:ext cx="5897880" cy="12886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CA" dirty="0">
                    <a:solidFill>
                      <a:schemeClr val="accent2"/>
                    </a:solidFill>
                  </a:rPr>
                  <a:t>Condition de symétrie (Neumann) :</a:t>
                </a:r>
              </a:p>
              <a:p>
                <a:pPr algn="ctr"/>
                <a:r>
                  <a:rPr lang="fr-CA" dirty="0">
                    <a:solidFill>
                      <a:schemeClr val="accent2"/>
                    </a:solidFill>
                  </a:rPr>
                  <a:t>	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CA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CA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𝑑𝑇</m:t>
                        </m:r>
                      </m:num>
                      <m:den>
                        <m:r>
                          <a:rPr lang="fr-CA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𝑑𝑧</m:t>
                        </m:r>
                      </m:den>
                    </m:f>
                    <m:r>
                      <a:rPr lang="fr-CA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fr-CA" b="0" i="1" dirty="0">
                  <a:solidFill>
                    <a:schemeClr val="accent2"/>
                  </a:solidFill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sub>
                        <m:sup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+∆</m:t>
                          </m:r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p>
                      </m:sSubSup>
                      <m:r>
                        <a:rPr lang="fr-CA" b="0" i="0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CA" b="0" i="0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num>
                        <m:den>
                          <m:r>
                            <a:rPr lang="fr-CA" b="0" i="0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sSubSup>
                        <m:sSubSupPr>
                          <m:ctrlP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+2</m:t>
                          </m:r>
                        </m:sub>
                        <m:sup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bSup>
                      <m:r>
                        <a:rPr lang="fr-CA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</m:t>
                          </m:r>
                        </m:num>
                        <m:den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sSubSup>
                        <m:sSubSupPr>
                          <m:ctrlP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  <m:sup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bSup>
                    </m:oMath>
                  </m:oMathPara>
                </a14:m>
                <a:endParaRPr lang="fr-CA" dirty="0">
                  <a:solidFill>
                    <a:schemeClr val="accent2"/>
                  </a:solidFill>
                </a:endParaRPr>
              </a:p>
            </p:txBody>
          </p:sp>
        </mc:Choice>
        <mc:Fallback xmlns="">
          <p:sp>
            <p:nvSpPr>
              <p:cNvPr id="6" name="ZoneTexte 5">
                <a:extLst>
                  <a:ext uri="{FF2B5EF4-FFF2-40B4-BE49-F238E27FC236}">
                    <a16:creationId xmlns:a16="http://schemas.microsoft.com/office/drawing/2014/main" id="{F5871682-0B46-824A-AEFF-E8E2BCE778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7512" y="1343818"/>
                <a:ext cx="5897880" cy="1288686"/>
              </a:xfrm>
              <a:prstGeom prst="rect">
                <a:avLst/>
              </a:prstGeom>
              <a:blipFill>
                <a:blip r:embed="rId3"/>
                <a:stretch>
                  <a:fillRect l="-931" t="-1887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ZoneTexte 6">
                <a:extLst>
                  <a:ext uri="{FF2B5EF4-FFF2-40B4-BE49-F238E27FC236}">
                    <a16:creationId xmlns:a16="http://schemas.microsoft.com/office/drawing/2014/main" id="{35B26447-C369-915B-101D-E4FC7C5D7482}"/>
                  </a:ext>
                </a:extLst>
              </p:cNvPr>
              <p:cNvSpPr txBox="1"/>
              <p:nvPr/>
            </p:nvSpPr>
            <p:spPr>
              <a:xfrm>
                <a:off x="582168" y="2784657"/>
                <a:ext cx="5897880" cy="12886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CA" dirty="0">
                    <a:solidFill>
                      <a:srgbClr val="FFBF00"/>
                    </a:solidFill>
                  </a:rPr>
                  <a:t>Condition de symétrie (Neumann) :</a:t>
                </a:r>
              </a:p>
              <a:p>
                <a:pPr algn="ctr"/>
                <a:r>
                  <a:rPr lang="fr-CA" dirty="0">
                    <a:solidFill>
                      <a:srgbClr val="FFBF00"/>
                    </a:solidFill>
                  </a:rPr>
                  <a:t>	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CA" b="0" i="1" smtClean="0">
                            <a:solidFill>
                              <a:srgbClr val="FFBF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CA" b="0" i="1" smtClean="0">
                            <a:solidFill>
                              <a:srgbClr val="FFBF00"/>
                            </a:solidFill>
                            <a:latin typeface="Cambria Math" panose="02040503050406030204" pitchFamily="18" charset="0"/>
                          </a:rPr>
                          <m:t>𝑑𝑇</m:t>
                        </m:r>
                      </m:num>
                      <m:den>
                        <m:r>
                          <a:rPr lang="fr-CA" b="0" i="1" smtClean="0">
                            <a:solidFill>
                              <a:srgbClr val="FFBF00"/>
                            </a:solidFill>
                            <a:latin typeface="Cambria Math" panose="02040503050406030204" pitchFamily="18" charset="0"/>
                          </a:rPr>
                          <m:t>𝑑𝑧</m:t>
                        </m:r>
                      </m:den>
                    </m:f>
                    <m:r>
                      <a:rPr lang="fr-CA" b="0" i="1" smtClean="0">
                        <a:solidFill>
                          <a:srgbClr val="FFBF00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fr-CA" b="0" i="1" dirty="0">
                  <a:solidFill>
                    <a:srgbClr val="FFBF00"/>
                  </a:solidFill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sub>
                        <m:sup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+∆</m:t>
                          </m:r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p>
                      </m:sSubSup>
                      <m:r>
                        <a:rPr lang="fr-CA" b="0" i="0" smtClean="0">
                          <a:solidFill>
                            <a:srgbClr val="FFBF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CA" b="0" i="0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num>
                        <m:den>
                          <m:r>
                            <a:rPr lang="fr-CA" b="0" i="0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sSubSup>
                        <m:sSubSupPr>
                          <m:ctrlP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+2</m:t>
                          </m:r>
                        </m:sub>
                        <m:sup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bSup>
                      <m:r>
                        <a:rPr lang="fr-CA" b="0" i="1" smtClean="0">
                          <a:solidFill>
                            <a:srgbClr val="FFBF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</m:t>
                          </m:r>
                        </m:num>
                        <m:den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sSubSup>
                        <m:sSubSupPr>
                          <m:ctrlP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  <m:sup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bSup>
                    </m:oMath>
                  </m:oMathPara>
                </a14:m>
                <a:endParaRPr lang="fr-CA" dirty="0">
                  <a:solidFill>
                    <a:srgbClr val="FFBF00"/>
                  </a:solidFill>
                </a:endParaRPr>
              </a:p>
            </p:txBody>
          </p:sp>
        </mc:Choice>
        <mc:Fallback xmlns="">
          <p:sp>
            <p:nvSpPr>
              <p:cNvPr id="7" name="ZoneTexte 6">
                <a:extLst>
                  <a:ext uri="{FF2B5EF4-FFF2-40B4-BE49-F238E27FC236}">
                    <a16:creationId xmlns:a16="http://schemas.microsoft.com/office/drawing/2014/main" id="{35B26447-C369-915B-101D-E4FC7C5D74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168" y="2784657"/>
                <a:ext cx="5897880" cy="1288686"/>
              </a:xfrm>
              <a:prstGeom prst="rect">
                <a:avLst/>
              </a:prstGeom>
              <a:blipFill>
                <a:blip r:embed="rId4"/>
                <a:stretch>
                  <a:fillRect l="-931" t="-2370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ZoneTexte 7">
                <a:extLst>
                  <a:ext uri="{FF2B5EF4-FFF2-40B4-BE49-F238E27FC236}">
                    <a16:creationId xmlns:a16="http://schemas.microsoft.com/office/drawing/2014/main" id="{B81FF01E-407B-CE8F-80F4-CFC728E6CA10}"/>
                  </a:ext>
                </a:extLst>
              </p:cNvPr>
              <p:cNvSpPr txBox="1"/>
              <p:nvPr/>
            </p:nvSpPr>
            <p:spPr>
              <a:xfrm>
                <a:off x="5803392" y="1268922"/>
                <a:ext cx="6141720" cy="18696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CA" dirty="0">
                    <a:solidFill>
                      <a:srgbClr val="5B9BD5"/>
                    </a:solidFill>
                  </a:rPr>
                  <a:t>Condition de robin, convection-radiation :</a:t>
                </a:r>
              </a:p>
              <a:p>
                <a:pPr algn="ctr">
                  <a:spcBef>
                    <a:spcPts val="1800"/>
                  </a:spcBef>
                </a:pPr>
                <a:r>
                  <a:rPr lang="fr-CA" dirty="0">
                    <a:solidFill>
                      <a:srgbClr val="5B9BD5"/>
                    </a:solidFill>
                  </a:rPr>
                  <a:t>	</a:t>
                </a:r>
                <a14:m>
                  <m:oMath xmlns:m="http://schemas.openxmlformats.org/officeDocument/2006/math">
                    <m:r>
                      <a:rPr lang="fr-FR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fr-FR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m:rPr>
                        <m:sty m:val="p"/>
                      </m:rPr>
                      <a:rPr lang="fr-FR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∇</m:t>
                    </m:r>
                    <m:r>
                      <a:rPr lang="fr-FR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fr-FR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.</m:t>
                    </m:r>
                    <m:acc>
                      <m:accPr>
                        <m:chr m:val="⃗"/>
                        <m:ctrlPr>
                          <a:rPr lang="fr-FR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acc>
                    <m:r>
                      <a:rPr lang="fr-FR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fr-FR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FR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∞</m:t>
                            </m:r>
                            <m:r>
                              <m:rPr>
                                <m:nor/>
                              </m:rPr>
                              <a:rPr lang="fr-FR" dirty="0">
                                <a:solidFill>
                                  <a:srgbClr val="5B9BD5"/>
                                </a:solidFill>
                              </a:rPr>
                              <m:t> </m:t>
                            </m:r>
                          </m:sub>
                        </m:sSub>
                      </m:e>
                    </m:d>
                    <m: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ϵσ</m:t>
                    </m:r>
                    <m: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Sup>
                      <m:sSubSupPr>
                        <m:ctrlP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</m:sub>
                      <m:sup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bSup>
                    <m: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dirty="0">
                  <a:solidFill>
                    <a:srgbClr val="5B9BD5"/>
                  </a:solidFill>
                </a:endParaRPr>
              </a:p>
              <a:p>
                <a:pPr algn="ctr"/>
                <a14:m>
                  <m:oMath xmlns:m="http://schemas.openxmlformats.org/officeDocument/2006/math">
                    <m:sSubSup>
                      <m:sSubSupPr>
                        <m:ctrlP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  <m:sup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+∆</m:t>
                        </m:r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</m:sSubSup>
                    <m:r>
                      <a:rPr lang="fr-CA" b="0" i="0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=[</m:t>
                    </m:r>
                    <m:d>
                      <m:dPr>
                        <m:ctrlP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fr-CA" b="0" i="1" smtClean="0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CA" b="0" i="0" smtClean="0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−2</m:t>
                            </m:r>
                            <m:r>
                              <a:rPr lang="fr-CA" b="0" i="1" smtClean="0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∆</m:t>
                            </m:r>
                            <m:r>
                              <m:rPr>
                                <m:sty m:val="p"/>
                              </m:rPr>
                              <a:rPr lang="fr-CA" b="0" i="0" smtClean="0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z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fr-CA" b="0" i="0" smtClean="0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k</m:t>
                            </m:r>
                          </m:den>
                        </m:f>
                      </m:e>
                    </m:d>
                    <m:r>
                      <a:rPr lang="fr-CA" b="0" i="0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∗(</m:t>
                    </m:r>
                    <m:r>
                      <m:rPr>
                        <m:sty m:val="p"/>
                      </m:rPr>
                      <a:rPr lang="fr-CA" b="0" i="0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h</m:t>
                    </m:r>
                    <m:r>
                      <a:rPr lang="fr-CA" b="0" i="0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bSup>
                      <m:sSubSupPr>
                        <m:ctrlP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  <m:sup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bSup>
                  </m:oMath>
                </a14:m>
                <a:r>
                  <a:rPr lang="fr-CA" dirty="0">
                    <a:solidFill>
                      <a:srgbClr val="5B9BD5"/>
                    </a:solidFill>
                  </a:rPr>
                  <a:t>-</a:t>
                </a:r>
                <a:r>
                  <a:rPr lang="fr-FR" dirty="0">
                    <a:solidFill>
                      <a:srgbClr val="5B9BD5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  <m:r>
                          <m:rPr>
                            <m:nor/>
                          </m:rPr>
                          <a:rPr lang="fr-FR" dirty="0">
                            <a:solidFill>
                              <a:srgbClr val="5B9BD5"/>
                            </a:solidFill>
                          </a:rPr>
                          <m:t> </m:t>
                        </m:r>
                      </m:sub>
                    </m:sSub>
                    <m:r>
                      <a:rPr lang="fr-CA" b="0" i="1" dirty="0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fr-CA" dirty="0">
                    <a:solidFill>
                      <a:srgbClr val="5B9BD5"/>
                    </a:solidFill>
                  </a:rPr>
                  <a:t> +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ϵσ</m:t>
                    </m:r>
                    <m: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bSup>
                          <m:sSubSupPr>
                            <m:ctrlPr>
                              <a:rPr lang="fr-CA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CA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CA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CA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CA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e>
                      <m:sup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Sup>
                      <m:sSubSupPr>
                        <m:ctrlP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</m:sub>
                      <m:sup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bSup>
                    <m: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)</m:t>
                    </m:r>
                    <m:r>
                      <a:rPr lang="fr-CA" b="0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) −</m:t>
                    </m:r>
                    <m:sSubSup>
                      <m:sSubSupPr>
                        <m:ctrlP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−2</m:t>
                        </m:r>
                      </m:sub>
                      <m:sup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bSup>
                    <m:r>
                      <a:rPr lang="fr-CA" b="0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+4</m:t>
                    </m:r>
                    <m:sSubSup>
                      <m:sSubSupPr>
                        <m:ctrlP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  <m:sup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bSup>
                    <m:r>
                      <a:rPr lang="fr-CA" b="0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)]÷3</m:t>
                    </m:r>
                  </m:oMath>
                </a14:m>
                <a:r>
                  <a:rPr lang="fr-CA" dirty="0">
                    <a:solidFill>
                      <a:srgbClr val="5B9BD5"/>
                    </a:solidFill>
                  </a:rPr>
                  <a:t> 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i="1">
                              <a:solidFill>
                                <a:srgbClr val="5B9BD5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CA" i="1">
                              <a:solidFill>
                                <a:srgbClr val="5B9BD5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acc>
                      <m:r>
                        <a:rPr lang="fr-CA" b="0" i="1" smtClean="0">
                          <a:solidFill>
                            <a:srgbClr val="5B9BD5"/>
                          </a:solidFill>
                          <a:latin typeface="Cambria Math" panose="02040503050406030204" pitchFamily="18" charset="0"/>
                        </a:rPr>
                        <m:t>=(0,1)</m:t>
                      </m:r>
                    </m:oMath>
                  </m:oMathPara>
                </a14:m>
                <a:endParaRPr lang="fr-CA" dirty="0">
                  <a:solidFill>
                    <a:srgbClr val="5B9BD5"/>
                  </a:solidFill>
                </a:endParaRPr>
              </a:p>
            </p:txBody>
          </p:sp>
        </mc:Choice>
        <mc:Fallback xmlns="">
          <p:sp>
            <p:nvSpPr>
              <p:cNvPr id="8" name="ZoneTexte 7">
                <a:extLst>
                  <a:ext uri="{FF2B5EF4-FFF2-40B4-BE49-F238E27FC236}">
                    <a16:creationId xmlns:a16="http://schemas.microsoft.com/office/drawing/2014/main" id="{B81FF01E-407B-CE8F-80F4-CFC728E6CA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03392" y="1268922"/>
                <a:ext cx="6141720" cy="1869614"/>
              </a:xfrm>
              <a:prstGeom prst="rect">
                <a:avLst/>
              </a:prstGeom>
              <a:blipFill>
                <a:blip r:embed="rId5"/>
                <a:stretch>
                  <a:fillRect l="-794" t="-1303" b="-1954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ZoneTexte 8">
                <a:extLst>
                  <a:ext uri="{FF2B5EF4-FFF2-40B4-BE49-F238E27FC236}">
                    <a16:creationId xmlns:a16="http://schemas.microsoft.com/office/drawing/2014/main" id="{A0DEE587-681A-1A82-80C1-940949F38F5B}"/>
                  </a:ext>
                </a:extLst>
              </p:cNvPr>
              <p:cNvSpPr txBox="1"/>
              <p:nvPr/>
            </p:nvSpPr>
            <p:spPr>
              <a:xfrm>
                <a:off x="5903976" y="3023260"/>
                <a:ext cx="6288024" cy="18696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CA" dirty="0">
                    <a:solidFill>
                      <a:srgbClr val="6FAD46"/>
                    </a:solidFill>
                  </a:rPr>
                  <a:t>Condition de robin, convection-radiation :</a:t>
                </a:r>
              </a:p>
              <a:p>
                <a:pPr algn="ctr">
                  <a:spcBef>
                    <a:spcPts val="1800"/>
                  </a:spcBef>
                </a:pPr>
                <a:r>
                  <a:rPr lang="fr-CA" dirty="0">
                    <a:solidFill>
                      <a:srgbClr val="6FAD46"/>
                    </a:solidFill>
                  </a:rPr>
                  <a:t>	</a:t>
                </a:r>
                <a14:m>
                  <m:oMath xmlns:m="http://schemas.openxmlformats.org/officeDocument/2006/math">
                    <m:r>
                      <a:rPr lang="fr-FR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fr-FR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m:rPr>
                        <m:sty m:val="p"/>
                      </m:rPr>
                      <a:rPr lang="fr-FR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∇</m:t>
                    </m:r>
                    <m:r>
                      <a:rPr lang="fr-FR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fr-FR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.</m:t>
                    </m:r>
                    <m:acc>
                      <m:accPr>
                        <m:chr m:val="⃗"/>
                        <m:ctrlPr>
                          <a:rPr lang="fr-FR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acc>
                    <m:r>
                      <a:rPr lang="fr-FR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fr-FR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FR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∞</m:t>
                            </m:r>
                            <m:r>
                              <m:rPr>
                                <m:nor/>
                              </m:rPr>
                              <a:rPr lang="fr-FR" dirty="0">
                                <a:solidFill>
                                  <a:srgbClr val="6FAD46"/>
                                </a:solidFill>
                              </a:rPr>
                              <m:t> </m:t>
                            </m:r>
                          </m:sub>
                        </m:sSub>
                      </m:e>
                    </m:d>
                    <m: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ϵσ</m:t>
                    </m:r>
                    <m: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Sup>
                      <m:sSubSupPr>
                        <m:ctrlP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</m:sub>
                      <m:sup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bSup>
                    <m: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dirty="0">
                  <a:solidFill>
                    <a:srgbClr val="6FAD46"/>
                  </a:solidFill>
                </a:endParaRPr>
              </a:p>
              <a:p>
                <a:pPr algn="ctr"/>
                <a14:m>
                  <m:oMath xmlns:m="http://schemas.openxmlformats.org/officeDocument/2006/math">
                    <m:sSubSup>
                      <m:sSubSupPr>
                        <m:ctrlP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  <m:sup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+∆</m:t>
                        </m:r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</m:sSubSup>
                    <m:r>
                      <a:rPr lang="fr-CA" b="0" i="0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=[</m:t>
                    </m:r>
                    <m:d>
                      <m:dPr>
                        <m:ctrlP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fr-CA" b="0" i="1" smtClean="0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CA" b="0" i="0" smtClean="0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−2</m:t>
                            </m:r>
                            <m:r>
                              <a:rPr lang="fr-CA" b="0" i="1" smtClean="0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∆</m:t>
                            </m:r>
                            <m:r>
                              <m:rPr>
                                <m:sty m:val="p"/>
                              </m:rPr>
                              <a:rPr lang="fr-CA" b="0" i="0" smtClean="0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r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fr-CA" b="0" i="0" smtClean="0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k</m:t>
                            </m:r>
                          </m:den>
                        </m:f>
                      </m:e>
                    </m:d>
                    <m:r>
                      <a:rPr lang="fr-CA" b="0" i="0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∗(</m:t>
                    </m:r>
                    <m:r>
                      <m:rPr>
                        <m:sty m:val="p"/>
                      </m:rPr>
                      <a:rPr lang="fr-CA" b="0" i="0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h</m:t>
                    </m:r>
                    <m:r>
                      <a:rPr lang="fr-CA" b="0" i="0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bSup>
                      <m:sSubSupPr>
                        <m:ctrlP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  <m:sup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bSup>
                  </m:oMath>
                </a14:m>
                <a:r>
                  <a:rPr lang="fr-CA" dirty="0">
                    <a:solidFill>
                      <a:srgbClr val="6FAD46"/>
                    </a:solidFill>
                  </a:rPr>
                  <a:t>-</a:t>
                </a:r>
                <a:r>
                  <a:rPr lang="fr-FR" dirty="0">
                    <a:solidFill>
                      <a:srgbClr val="6FAD46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  <m:r>
                          <m:rPr>
                            <m:nor/>
                          </m:rPr>
                          <a:rPr lang="fr-FR" dirty="0">
                            <a:solidFill>
                              <a:srgbClr val="6FAD46"/>
                            </a:solidFill>
                          </a:rPr>
                          <m:t> </m:t>
                        </m:r>
                      </m:sub>
                    </m:sSub>
                    <m:r>
                      <a:rPr lang="fr-CA" b="0" i="1" dirty="0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fr-CA" dirty="0">
                    <a:solidFill>
                      <a:srgbClr val="6FAD46"/>
                    </a:solidFill>
                  </a:rPr>
                  <a:t> +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ϵσ</m:t>
                    </m:r>
                    <m: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bSup>
                          <m:sSubSupPr>
                            <m:ctrlPr>
                              <a:rPr lang="fr-CA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CA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CA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CA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CA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e>
                      <m:sup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Sup>
                      <m:sSubSupPr>
                        <m:ctrlP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</m:sub>
                      <m:sup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bSup>
                    <m: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)</m:t>
                    </m:r>
                    <m:r>
                      <a:rPr lang="fr-CA" b="0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) −</m:t>
                    </m:r>
                    <m:sSubSup>
                      <m:sSubSupPr>
                        <m:ctrlP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+2</m:t>
                        </m:r>
                      </m:sub>
                      <m:sup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bSup>
                    <m:r>
                      <a:rPr lang="fr-CA" b="0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+4</m:t>
                    </m:r>
                    <m:sSubSup>
                      <m:sSubSupPr>
                        <m:ctrlP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  <m:sup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bSup>
                    <m:r>
                      <a:rPr lang="fr-CA" b="0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)]÷3</m:t>
                    </m:r>
                  </m:oMath>
                </a14:m>
                <a:r>
                  <a:rPr lang="fr-CA" dirty="0">
                    <a:solidFill>
                      <a:srgbClr val="6FAD46"/>
                    </a:solidFill>
                  </a:rPr>
                  <a:t> 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i="1">
                              <a:solidFill>
                                <a:srgbClr val="6FAD46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CA" i="1">
                              <a:solidFill>
                                <a:srgbClr val="6FAD46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acc>
                      <m:r>
                        <a:rPr lang="fr-CA" b="0" i="1" smtClean="0">
                          <a:solidFill>
                            <a:srgbClr val="6FAD46"/>
                          </a:solidFill>
                          <a:latin typeface="Cambria Math" panose="02040503050406030204" pitchFamily="18" charset="0"/>
                        </a:rPr>
                        <m:t>=(1,0)</m:t>
                      </m:r>
                    </m:oMath>
                  </m:oMathPara>
                </a14:m>
                <a:endParaRPr lang="fr-CA" dirty="0">
                  <a:solidFill>
                    <a:srgbClr val="6FAD46"/>
                  </a:solidFill>
                </a:endParaRPr>
              </a:p>
            </p:txBody>
          </p:sp>
        </mc:Choice>
        <mc:Fallback xmlns="">
          <p:sp>
            <p:nvSpPr>
              <p:cNvPr id="9" name="ZoneTexte 8">
                <a:extLst>
                  <a:ext uri="{FF2B5EF4-FFF2-40B4-BE49-F238E27FC236}">
                    <a16:creationId xmlns:a16="http://schemas.microsoft.com/office/drawing/2014/main" id="{A0DEE587-681A-1A82-80C1-940949F38F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03976" y="3023260"/>
                <a:ext cx="6288024" cy="1869614"/>
              </a:xfrm>
              <a:prstGeom prst="rect">
                <a:avLst/>
              </a:prstGeom>
              <a:blipFill>
                <a:blip r:embed="rId6"/>
                <a:stretch>
                  <a:fillRect l="-873" t="-1629" b="-1629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ZoneTexte 9">
            <a:extLst>
              <a:ext uri="{FF2B5EF4-FFF2-40B4-BE49-F238E27FC236}">
                <a16:creationId xmlns:a16="http://schemas.microsoft.com/office/drawing/2014/main" id="{841669E0-8634-2A94-9DF2-325DD99B02AA}"/>
              </a:ext>
            </a:extLst>
          </p:cNvPr>
          <p:cNvSpPr txBox="1"/>
          <p:nvPr/>
        </p:nvSpPr>
        <p:spPr>
          <a:xfrm>
            <a:off x="5999988" y="5008150"/>
            <a:ext cx="6096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dirty="0" err="1"/>
              <a:t>Dicrétisations</a:t>
            </a:r>
            <a:r>
              <a:rPr lang="fr-CA" dirty="0"/>
              <a:t> réalisées à l’aide des méthodes de </a:t>
            </a:r>
            <a:r>
              <a:rPr lang="fr-CA" dirty="0" err="1"/>
              <a:t>Gear</a:t>
            </a:r>
            <a:r>
              <a:rPr lang="fr-CA" dirty="0"/>
              <a:t>, d’ordre 2 :</a:t>
            </a:r>
          </a:p>
        </p:txBody>
      </p:sp>
      <p:pic>
        <p:nvPicPr>
          <p:cNvPr id="12" name="Image 11">
            <a:extLst>
              <a:ext uri="{FF2B5EF4-FFF2-40B4-BE49-F238E27FC236}">
                <a16:creationId xmlns:a16="http://schemas.microsoft.com/office/drawing/2014/main" id="{32A8A863-AC5E-8C31-7C35-11133CCD283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03976" y="5752785"/>
            <a:ext cx="6096000" cy="975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08825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4535B5-651D-9B06-9176-0DA06E65F9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FE204E9-4A70-CDBF-124E-4FBA9AC2545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61803" y="350196"/>
            <a:ext cx="4646904" cy="162452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/>
            <a:r>
              <a:rPr lang="en-US" sz="4000" noProof="0"/>
              <a:t>Plan de la présentation</a:t>
            </a:r>
          </a:p>
        </p:txBody>
      </p:sp>
      <p:sp>
        <p:nvSpPr>
          <p:cNvPr id="4" name="Titre 1">
            <a:extLst>
              <a:ext uri="{FF2B5EF4-FFF2-40B4-BE49-F238E27FC236}">
                <a16:creationId xmlns:a16="http://schemas.microsoft.com/office/drawing/2014/main" id="{03132560-6350-FA72-0E9E-0AF1C049E118}"/>
              </a:ext>
            </a:extLst>
          </p:cNvPr>
          <p:cNvSpPr txBox="1">
            <a:spLocks/>
          </p:cNvSpPr>
          <p:nvPr/>
        </p:nvSpPr>
        <p:spPr>
          <a:xfrm>
            <a:off x="761802" y="2743200"/>
            <a:ext cx="4646905" cy="36131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 err="1">
                <a:latin typeface="+mn-lt"/>
                <a:ea typeface="+mn-ea"/>
                <a:cs typeface="+mn-cs"/>
              </a:rPr>
              <a:t>Contexte</a:t>
            </a:r>
            <a:endParaRPr lang="en-US" sz="2000" dirty="0">
              <a:latin typeface="+mn-lt"/>
              <a:ea typeface="+mn-ea"/>
              <a:cs typeface="+mn-cs"/>
            </a:endParaRP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 err="1">
                <a:latin typeface="+mn-lt"/>
                <a:ea typeface="+mn-ea"/>
                <a:cs typeface="+mn-cs"/>
              </a:rPr>
              <a:t>Modélisation</a:t>
            </a:r>
            <a:r>
              <a:rPr lang="en-US" sz="2000" dirty="0">
                <a:latin typeface="+mn-lt"/>
                <a:ea typeface="+mn-ea"/>
                <a:cs typeface="+mn-cs"/>
              </a:rPr>
              <a:t> </a:t>
            </a:r>
            <a:r>
              <a:rPr lang="en-US" sz="2000" dirty="0" err="1">
                <a:latin typeface="+mn-lt"/>
                <a:ea typeface="+mn-ea"/>
                <a:cs typeface="+mn-cs"/>
              </a:rPr>
              <a:t>Mathématique</a:t>
            </a:r>
            <a:endParaRPr lang="en-US" sz="2000" dirty="0">
              <a:latin typeface="+mn-lt"/>
              <a:ea typeface="+mn-ea"/>
              <a:cs typeface="+mn-cs"/>
            </a:endParaRP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b="1" dirty="0">
                <a:latin typeface="+mn-lt"/>
                <a:ea typeface="+mn-ea"/>
                <a:cs typeface="+mn-cs"/>
              </a:rPr>
              <a:t>Description du code</a:t>
            </a: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 err="1">
                <a:latin typeface="+mn-lt"/>
                <a:ea typeface="+mn-ea"/>
                <a:cs typeface="+mn-cs"/>
              </a:rPr>
              <a:t>Vérification</a:t>
            </a:r>
            <a:endParaRPr lang="en-US" sz="2000" dirty="0">
              <a:latin typeface="+mn-lt"/>
              <a:ea typeface="+mn-ea"/>
              <a:cs typeface="+mn-cs"/>
            </a:endParaRP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latin typeface="+mn-lt"/>
                <a:ea typeface="+mn-ea"/>
                <a:cs typeface="+mn-cs"/>
              </a:rPr>
              <a:t>Validation</a:t>
            </a: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dirty="0">
              <a:latin typeface="+mn-lt"/>
              <a:ea typeface="+mn-ea"/>
              <a:cs typeface="+mn-cs"/>
            </a:endParaRP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dirty="0">
              <a:latin typeface="+mn-lt"/>
              <a:ea typeface="+mn-ea"/>
              <a:cs typeface="+mn-cs"/>
            </a:endParaRP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dirty="0">
              <a:latin typeface="+mn-lt"/>
              <a:ea typeface="+mn-ea"/>
              <a:cs typeface="+mn-cs"/>
            </a:endParaRP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dirty="0">
              <a:latin typeface="+mn-lt"/>
              <a:ea typeface="+mn-ea"/>
              <a:cs typeface="+mn-cs"/>
            </a:endParaRPr>
          </a:p>
        </p:txBody>
      </p:sp>
      <p:pic>
        <p:nvPicPr>
          <p:cNvPr id="6" name="Picture 5" descr="Formules mathématiques complexes sur un tableau noir">
            <a:extLst>
              <a:ext uri="{FF2B5EF4-FFF2-40B4-BE49-F238E27FC236}">
                <a16:creationId xmlns:a16="http://schemas.microsoft.com/office/drawing/2014/main" id="{765C5B42-8A9D-D2A6-FE9A-C76EDA50EB5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4481" r="10557" b="-1"/>
          <a:stretch>
            <a:fillRect/>
          </a:stretch>
        </p:blipFill>
        <p:spPr>
          <a:xfrm>
            <a:off x="6096000" y="1"/>
            <a:ext cx="610282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275757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8D2072-1734-D724-EA81-E925334F5F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4BB688C-D97C-481D-A291-13AA5890C4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>
            <a:normAutofit/>
          </a:bodyPr>
          <a:lstStyle/>
          <a:p>
            <a:r>
              <a:rPr lang="fr-FR" dirty="0"/>
              <a:t>Description du code 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B4B15E8C-4AC7-7351-4AC9-E6164AE5CE0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61258" y="1331494"/>
                <a:ext cx="11930742" cy="5526505"/>
              </a:xfrm>
            </p:spPr>
            <p:txBody>
              <a:bodyPr>
                <a:normAutofit fontScale="92500" lnSpcReduction="10000"/>
              </a:bodyPr>
              <a:lstStyle/>
              <a:p>
                <a:r>
                  <a:rPr lang="fr-FR" dirty="0"/>
                  <a:t>main.py : fichier permettant d’exécuter le solveur pour une configuration prédéterminée.</a:t>
                </a:r>
              </a:p>
              <a:p>
                <a:r>
                  <a:rPr lang="fr-FR" dirty="0"/>
                  <a:t>fonctions.py : le cœur du code</a:t>
                </a:r>
              </a:p>
              <a:p>
                <a:pPr lvl="1"/>
                <a:r>
                  <a:rPr lang="fr-FR" dirty="0"/>
                  <a:t>Classe Paramètres : classe contenant la configuration du problème.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𝑚𝑎𝑥</m:t>
                        </m:r>
                      </m:sub>
                    </m:sSub>
                    <m:r>
                      <a:rPr lang="fr-CA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fr-CA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𝑛𝑟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𝑛𝑧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𝑑𝑟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𝑑𝑧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𝑑𝑡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b>
                    </m:sSub>
                    <m:r>
                      <a:rPr lang="fr-CA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𝑝𝑜𝑠𝑖𝑡𝑖𝑜𝑛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𝑀𝑀𝑆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𝑒𝑡𝑐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fr-CA" b="0" i="1" dirty="0">
                  <a:latin typeface="Cambria Math" panose="02040503050406030204" pitchFamily="18" charset="0"/>
                </a:endParaRPr>
              </a:p>
              <a:p>
                <a:pPr lvl="1"/>
                <a:r>
                  <a:rPr lang="fr-CA" b="0" dirty="0"/>
                  <a:t>Fonction Position : permet de générer les matrices de position des points du domaine </a:t>
                </a:r>
                <a:r>
                  <a:rPr lang="fr-CA" dirty="0"/>
                  <a:t>(</a:t>
                </a:r>
                <a:r>
                  <a:rPr lang="fr-CA" b="1" dirty="0"/>
                  <a:t>R </a:t>
                </a:r>
                <a:r>
                  <a:rPr lang="fr-CA" dirty="0"/>
                  <a:t>et </a:t>
                </a:r>
                <a:r>
                  <a:rPr lang="fr-CA" b="1" dirty="0"/>
                  <a:t>M</a:t>
                </a:r>
                <a:r>
                  <a:rPr lang="fr-CA" dirty="0"/>
                  <a:t>).</a:t>
                </a:r>
                <a14:m>
                  <m:oMath xmlns:m="http://schemas.openxmlformats.org/officeDocument/2006/math">
                    <m:r>
                      <a:rPr lang="fr-CA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fr-CA" b="0" dirty="0"/>
              </a:p>
              <a:p>
                <a:pPr lvl="1"/>
                <a:r>
                  <a:rPr lang="fr-CA" dirty="0"/>
                  <a:t>Fonction Température : calcul l’état de la température au pas de temps suivant.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fr-CA" b="0" dirty="0"/>
                  <a:t>Génère un état intermédiaire composé de l’état au temps </a:t>
                </a:r>
                <a:r>
                  <a:rPr lang="fr-CA" b="0" i="1" dirty="0"/>
                  <a:t>t</a:t>
                </a:r>
                <a:r>
                  <a:rPr lang="fr-CA" b="0" dirty="0"/>
                  <a:t> au milieu et l’état au temps </a:t>
                </a:r>
                <a14:m>
                  <m:oMath xmlns:m="http://schemas.openxmlformats.org/officeDocument/2006/math">
                    <m:r>
                      <a:rPr lang="fr-CA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+∆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fr-CA" b="0" dirty="0"/>
                  <a:t> aux frontières.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fr-CA" dirty="0"/>
                  <a:t>Appelle la fonction Milieu.</a:t>
                </a:r>
                <a:endParaRPr lang="fr-CA" b="0" dirty="0"/>
              </a:p>
              <a:p>
                <a:pPr lvl="1"/>
                <a:r>
                  <a:rPr lang="fr-FR" dirty="0"/>
                  <a:t>Fonction Milieu : permet de calculer l’état de la température au pas de temps suivant à l’aide de l’état intermédiaire fourni par la fonction Température.</a:t>
                </a:r>
              </a:p>
              <a:p>
                <a:pPr lvl="1"/>
                <a:endParaRPr lang="fr-FR" dirty="0"/>
              </a:p>
              <a:p>
                <a:pPr marL="0" indent="0">
                  <a:buNone/>
                </a:pPr>
                <a:r>
                  <a:rPr lang="fr-FR" dirty="0"/>
                  <a:t>Résolution du système : on itère sur le temps en appelant la fonction Température, jusqu’à ce qu’on ait atteint le temps final.</a:t>
                </a:r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B4B15E8C-4AC7-7351-4AC9-E6164AE5CE0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61258" y="1331494"/>
                <a:ext cx="11930742" cy="5526505"/>
              </a:xfrm>
              <a:blipFill>
                <a:blip r:embed="rId2"/>
                <a:stretch>
                  <a:fillRect l="-920" t="-2205" r="-664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974559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9B0DE8D-01F9-F51A-DBBD-3867112623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fr-FR" dirty="0"/>
              <a:t>Calcul de l’ordre de convergence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3369A214-4D5D-715B-6640-CC12B4B650A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70411" y="1605124"/>
                <a:ext cx="10515600" cy="5504688"/>
              </a:xfrm>
            </p:spPr>
            <p:txBody>
              <a:bodyPr>
                <a:normAutofit/>
              </a:bodyPr>
              <a:lstStyle/>
              <a:p>
                <a:r>
                  <a:rPr lang="fr-FR" dirty="0"/>
                  <a:t>Développement de Taylor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i</m:t>
                        </m:r>
                        <m:r>
                          <a:rPr lang="fr-FR" b="0" i="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fr-FR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fr-FR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𝑥</m:t>
                        </m:r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a:rPr lang="fr-FR"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2!</m:t>
                        </m:r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3!</m:t>
                        </m:r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4!</m:t>
                        </m:r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>
                        <a:latin typeface="Cambria Math" panose="02040503050406030204" pitchFamily="18" charset="0"/>
                      </a:rPr>
                      <m:t>Δ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fr-F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i</m:t>
                        </m:r>
                        <m:r>
                          <a:rPr lang="fr-FR" b="0" i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fr-FR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fr-FR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𝑥</m:t>
                        </m:r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a:rPr lang="fr-FR"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2!</m:t>
                        </m:r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3!</m:t>
                        </m:r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4!</m:t>
                        </m:r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>
                        <a:latin typeface="Cambria Math" panose="02040503050406030204" pitchFamily="18" charset="0"/>
                      </a:rPr>
                      <m:t>Δ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fr-F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fr-FR" b="0" i="0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fr-FR" b="0" i="0" dirty="0">
                    <a:latin typeface="Cambria Math" panose="02040503050406030204" pitchFamily="18" charset="0"/>
                  </a:rPr>
                  <a:t>Ordre 1 en temps :</a:t>
                </a:r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fr-FR">
                                <a:latin typeface="Cambria Math" panose="02040503050406030204" pitchFamily="18" charset="0"/>
                              </a:rPr>
                              <m:t>Δt</m:t>
                            </m:r>
                          </m:sup>
                        </m:sSubSup>
                        <m:r>
                          <a:rPr lang="fr-FR" i="1">
                            <a:latin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Δt</m:t>
                        </m:r>
                        <m:r>
                          <m:rPr>
                            <m:nor/>
                          </m:rPr>
                          <a:rPr lang="fr-FR"/>
                          <m:t> </m:t>
                        </m:r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sSub>
                      <m:sSubPr>
                        <m:ctrlPr>
                          <a:rPr lang="fr-F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m:rPr>
                        <m:sty m:val="p"/>
                      </m:rPr>
                      <a:rPr lang="fr-FR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2!</m:t>
                        </m:r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>
                        <a:latin typeface="Cambria Math" panose="02040503050406030204" pitchFamily="18" charset="0"/>
                      </a:rPr>
                      <m:t>Δ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b="0" i="1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fr-FR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fr-FR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fr-FR" b="0" i="0" dirty="0">
                    <a:latin typeface="Cambria Math" panose="02040503050406030204" pitchFamily="18" charset="0"/>
                  </a:rPr>
                  <a:t>)</a:t>
                </a:r>
                <a:r>
                  <a:rPr lang="fr-FR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</m:oMath>
                </a14:m>
                <a:endParaRPr lang="fr-FR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fr-FR" b="0" dirty="0"/>
                  <a:t>	          </a:t>
                </a:r>
                <a14:m>
                  <m:oMath xmlns:m="http://schemas.openxmlformats.org/officeDocument/2006/math">
                    <m:r>
                      <a:rPr lang="fr-FR" b="0" i="0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fr-FR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fr-FR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2!</m:t>
                        </m:r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b="0" i="0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dirty="0"/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3369A214-4D5D-715B-6640-CC12B4B650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70411" y="1605124"/>
                <a:ext cx="10515600" cy="5504688"/>
              </a:xfrm>
              <a:blipFill>
                <a:blip r:embed="rId3"/>
                <a:stretch>
                  <a:fillRect l="-1217" t="-1883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160243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4C4141-85F8-8321-5A47-F7279370D5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F7B92C8-7E5E-8CDA-7607-D5BFCF6EAD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fr-FR" dirty="0"/>
              <a:t>Calcul de l’ordre de convergence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A145214A-2ADA-193F-B05A-48501377A83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29768" y="1335057"/>
                <a:ext cx="11676888" cy="550468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fr-FR" sz="2400" b="0" i="0" dirty="0">
                    <a:latin typeface="Cambria Math" panose="02040503050406030204" pitchFamily="18" charset="0"/>
                  </a:rPr>
                  <a:t>Ordre 2 en espace (r et z) :</a:t>
                </a:r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+1,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24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f>
                          <m:f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fr-FR" sz="2400" b="0" i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m:rPr>
                                <m:sty m:val="p"/>
                              </m:rPr>
                              <a:rPr lang="fr-FR" sz="2400">
                                <a:latin typeface="Cambria Math" panose="02040503050406030204" pitchFamily="18" charset="0"/>
                              </a:rPr>
                              <m:t>Δ</m:t>
                            </m:r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den>
                        </m:f>
                        <m:r>
                          <a:rPr lang="fr-FR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sz="24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fr-FR" sz="2400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  <m:sSub>
                      <m:sSubPr>
                        <m:ctrlPr>
                          <a:rPr lang="fr-FR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m:rPr>
                        <m:sty m:val="p"/>
                      </m:rPr>
                      <a:rPr lang="fr-FR" sz="2400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fr-CA" sz="24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fr-FR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2!</m:t>
                        </m:r>
                      </m:den>
                    </m:f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3!</m:t>
                        </m:r>
                      </m:den>
                    </m:f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𝑜</m:t>
                    </m:r>
                    <m:d>
                      <m:dPr>
                        <m:ctrlPr>
                          <a:rPr lang="fr-FR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e>
                    </m:d>
                  </m:oMath>
                </a14:m>
                <a:endParaRPr lang="fr-FR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fr-FR" sz="2400" b="0" dirty="0">
                    <a:solidFill>
                      <a:srgbClr val="FF0000"/>
                    </a:solidFill>
                  </a:rPr>
                  <a:t>		           </a:t>
                </a:r>
                <a14:m>
                  <m:oMath xmlns:m="http://schemas.openxmlformats.org/officeDocument/2006/math">
                    <m:r>
                      <a:rPr lang="fr-FR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fr-FR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fr-FR" sz="2400" dirty="0"/>
                  <a:t> </a:t>
                </a:r>
                <a14:m>
                  <m:oMath xmlns:m="http://schemas.openxmlformats.org/officeDocument/2006/math">
                    <m:r>
                      <a:rPr lang="fr-FR" sz="2400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  <m:sSub>
                      <m:sSubPr>
                        <m:ctrlPr>
                          <a:rPr lang="fr-FR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m:rPr>
                        <m:sty m:val="p"/>
                      </m:rPr>
                      <a:rPr lang="fr-FR" sz="2400">
                        <a:latin typeface="Cambria Math" panose="02040503050406030204" pitchFamily="18" charset="0"/>
                      </a:rPr>
                      <m:t>Δ</m:t>
                    </m:r>
                    <m:r>
                      <a:rPr lang="fr-CA" sz="24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fr-FR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2!</m:t>
                        </m:r>
                      </m:den>
                    </m:f>
                  </m:oMath>
                </a14:m>
                <a:r>
                  <a:rPr lang="fr-FR" sz="2400" dirty="0">
                    <a:solidFill>
                      <a:srgbClr val="FF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fr-FR" sz="2400" dirty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3!</m:t>
                        </m:r>
                      </m:den>
                    </m:f>
                    <m:r>
                      <a:rPr lang="fr-FR" sz="24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2400" i="1">
                        <a:latin typeface="Cambria Math" panose="02040503050406030204" pitchFamily="18" charset="0"/>
                      </a:rPr>
                      <m:t>𝑜</m:t>
                    </m:r>
                    <m:d>
                      <m:d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e>
                    </m:d>
                  </m:oMath>
                </a14:m>
                <a:r>
                  <a:rPr lang="fr-FR" sz="2400" b="0" i="0" dirty="0">
                    <a:latin typeface="Cambria Math" panose="02040503050406030204" pitchFamily="18" charset="0"/>
                  </a:rPr>
                  <a:t>)</a:t>
                </a:r>
                <a:endParaRPr lang="fr-FR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fr-FR" sz="2400" b="0" dirty="0"/>
                  <a:t>	          	   </a:t>
                </a:r>
                <a14:m>
                  <m:oMath xmlns:m="http://schemas.openxmlformats.org/officeDocument/2006/math">
                    <m:r>
                      <a:rPr lang="fr-FR" sz="2400" b="0" i="0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fr-FR" sz="2400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!</m:t>
                        </m:r>
                      </m:den>
                    </m:f>
                    <m:r>
                      <a:rPr lang="fr-FR" sz="24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2400" i="1"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FR" sz="2400" i="1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 sz="240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Δ</m:t>
                    </m:r>
                    <m:sSup>
                      <m:sSupPr>
                        <m:ctrlPr>
                          <a:rPr lang="fr-FR" sz="24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CA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p>
                        <m:r>
                          <a:rPr lang="fr-FR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sz="2400" b="0" i="0" dirty="0">
                  <a:latin typeface="Cambria Math" panose="02040503050406030204" pitchFamily="18" charset="0"/>
                </a:endParaRPr>
              </a:p>
              <a:p>
                <a:endParaRPr lang="fr-FR" sz="240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fr-FR" sz="240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p>
                            <m:r>
                              <a:rPr lang="fr-FR" sz="240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m:rPr>
                            <m:nor/>
                          </m:rPr>
                          <a:rPr lang="fr-FR" sz="2400"/>
                          <m:t> </m:t>
                        </m:r>
                      </m:den>
                    </m:f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f>
                          <m:fPr>
                            <m:ctrlPr>
                              <a:rPr lang="fr-FR" sz="240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fr-FR" sz="2400">
                                <a:latin typeface="Cambria Math" panose="02040503050406030204" pitchFamily="18" charset="0"/>
                              </a:rPr>
                              <m:t>Δ</m:t>
                            </m:r>
                            <m:sSup>
                              <m:sSupPr>
                                <m:ctrlPr>
                                  <a:rPr lang="fr-FR" sz="24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fr-FR" sz="2400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</m:e>
                              <m:sup>
                                <m:r>
                                  <a:rPr lang="fr-FR" sz="240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fr-FR" sz="240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den>
                    </m:f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m:rPr>
                        <m:sty m:val="p"/>
                      </m:rPr>
                      <a:rPr lang="fr-FR" sz="240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fr-FR" sz="2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2!</m:t>
                        </m:r>
                      </m:den>
                    </m:f>
                    <m:r>
                      <a:rPr lang="fr-FR" sz="240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3!</m:t>
                        </m:r>
                      </m:den>
                    </m:f>
                    <m:r>
                      <a:rPr lang="fr-FR" sz="2400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4!</m:t>
                        </m:r>
                      </m:den>
                    </m:f>
                  </m:oMath>
                </a14:m>
                <a:endParaRPr lang="fr-FR" sz="2400" dirty="0"/>
              </a:p>
              <a:p>
                <a:pPr marL="0" indent="0">
                  <a:buNone/>
                </a:pPr>
                <a:r>
                  <a:rPr lang="fr-FR" sz="2400" b="0" dirty="0"/>
                  <a:t> 			</a:t>
                </a:r>
                <a:r>
                  <a:rPr lang="fr-FR" sz="2400" dirty="0"/>
                  <a:t> </a:t>
                </a:r>
                <a14:m>
                  <m:oMath xmlns:m="http://schemas.openxmlformats.org/officeDocument/2006/math">
                    <m:r>
                      <a:rPr lang="fr-FR" sz="2400" b="0" i="0" smtClean="0">
                        <a:latin typeface="Cambria Math" panose="02040503050406030204" pitchFamily="18" charset="0"/>
                      </a:rPr>
                      <m:t>    </m:t>
                    </m:r>
                    <m:r>
                      <a:rPr lang="fr-FR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fr-FR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fr-FR" sz="24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den>
                    </m:f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m:rPr>
                        <m:sty m:val="p"/>
                      </m:rPr>
                      <a:rPr lang="fr-FR" sz="240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sz="24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fr-FR" sz="2400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2!</m:t>
                        </m:r>
                      </m:den>
                    </m:f>
                    <m:r>
                      <a:rPr lang="fr-FR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3!</m:t>
                        </m:r>
                      </m:den>
                    </m:f>
                    <m:r>
                      <a:rPr lang="fr-FR" sz="2400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4!</m:t>
                        </m:r>
                      </m:den>
                    </m:f>
                  </m:oMath>
                </a14:m>
                <a:endParaRPr lang="fr-FR" sz="2000" b="0" dirty="0"/>
              </a:p>
              <a:p>
                <a:pPr marL="0" indent="0">
                  <a:buNone/>
                </a:pPr>
                <a:r>
                  <a:rPr lang="fr-FR" sz="2000" dirty="0"/>
                  <a:t>			      </a:t>
                </a:r>
                <a14:m>
                  <m:oMath xmlns:m="http://schemas.openxmlformats.org/officeDocument/2006/math">
                    <m:r>
                      <a:rPr lang="fr-FR" sz="20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 </m:t>
                    </m:r>
                    <m:r>
                      <a:rPr lang="fr-FR" sz="2400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2</m:t>
                    </m:r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fr-FR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FR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 sz="2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Δ</m:t>
                    </m:r>
                    <m:sSup>
                      <m:sSupPr>
                        <m:ctrlP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fr-FR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fr-FR" sz="2400" b="0" dirty="0">
                    <a:solidFill>
                      <a:schemeClr val="tx1"/>
                    </a:solidFill>
                  </a:rPr>
                  <a:t>)</a:t>
                </a:r>
              </a:p>
              <a:p>
                <a:pPr marL="0" indent="0">
                  <a:buNone/>
                </a:pPr>
                <a:r>
                  <a:rPr lang="fr-FR" sz="2400" dirty="0"/>
                  <a:t>			 </a:t>
                </a:r>
                <a14:m>
                  <m:oMath xmlns:m="http://schemas.openxmlformats.org/officeDocument/2006/math">
                    <m:r>
                      <a:rPr lang="fr-FR" sz="2000" b="0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   </m:t>
                    </m:r>
                    <m:r>
                      <a:rPr lang="fr-FR" sz="20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20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a:rPr lang="fr-FR" sz="2400" b="0" i="0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2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4!</m:t>
                        </m:r>
                      </m:den>
                    </m:f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2400" i="1"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FR" sz="2400" i="1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 sz="240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Δ</m:t>
                    </m:r>
                    <m:sSup>
                      <m:sSupPr>
                        <m:ctrlPr>
                          <a:rPr lang="fr-FR" sz="24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sz="24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fr-FR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sz="2400" b="0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:endParaRPr lang="fr-FR" dirty="0"/>
              </a:p>
            </p:txBody>
          </p:sp>
        </mc:Choice>
        <mc:Fallback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A145214A-2ADA-193F-B05A-48501377A83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29768" y="1335057"/>
                <a:ext cx="11676888" cy="5504688"/>
              </a:xfrm>
              <a:blipFill>
                <a:blip r:embed="rId3"/>
                <a:stretch>
                  <a:fillRect l="-836" t="-1550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ZoneTexte 3">
            <a:extLst>
              <a:ext uri="{FF2B5EF4-FFF2-40B4-BE49-F238E27FC236}">
                <a16:creationId xmlns:a16="http://schemas.microsoft.com/office/drawing/2014/main" id="{E6A5FF14-066D-C8AE-EF4F-5F0D2C183AC9}"/>
              </a:ext>
            </a:extLst>
          </p:cNvPr>
          <p:cNvSpPr txBox="1"/>
          <p:nvPr/>
        </p:nvSpPr>
        <p:spPr>
          <a:xfrm>
            <a:off x="838200" y="2634557"/>
            <a:ext cx="141234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dirty="0"/>
              <a:t>Dérivée Première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C20C234A-069E-22E5-E6B1-F2E536A584B4}"/>
              </a:ext>
            </a:extLst>
          </p:cNvPr>
          <p:cNvSpPr txBox="1"/>
          <p:nvPr/>
        </p:nvSpPr>
        <p:spPr>
          <a:xfrm>
            <a:off x="838199" y="4977896"/>
            <a:ext cx="141234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dirty="0"/>
              <a:t>Dérivées Seconde</a:t>
            </a:r>
          </a:p>
        </p:txBody>
      </p:sp>
    </p:spTree>
    <p:extLst>
      <p:ext uri="{BB962C8B-B14F-4D97-AF65-F5344CB8AC3E}">
        <p14:creationId xmlns:p14="http://schemas.microsoft.com/office/powerpoint/2010/main" val="290129054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BE82E6-A328-18C3-0563-368C11781A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0E94123-6345-195A-AC9E-67E6AAC6CE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61803" y="350196"/>
            <a:ext cx="4646904" cy="162452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/>
            <a:r>
              <a:rPr lang="en-US" sz="4000" noProof="0"/>
              <a:t>Plan de la présentation</a:t>
            </a:r>
          </a:p>
        </p:txBody>
      </p:sp>
      <p:sp>
        <p:nvSpPr>
          <p:cNvPr id="4" name="Titre 1">
            <a:extLst>
              <a:ext uri="{FF2B5EF4-FFF2-40B4-BE49-F238E27FC236}">
                <a16:creationId xmlns:a16="http://schemas.microsoft.com/office/drawing/2014/main" id="{5E125C11-3A07-1F9D-5E22-B8FF6311F047}"/>
              </a:ext>
            </a:extLst>
          </p:cNvPr>
          <p:cNvSpPr txBox="1">
            <a:spLocks/>
          </p:cNvSpPr>
          <p:nvPr/>
        </p:nvSpPr>
        <p:spPr>
          <a:xfrm>
            <a:off x="761802" y="2743200"/>
            <a:ext cx="4646905" cy="36131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 err="1">
                <a:latin typeface="+mn-lt"/>
                <a:ea typeface="+mn-ea"/>
                <a:cs typeface="+mn-cs"/>
              </a:rPr>
              <a:t>Contexte</a:t>
            </a:r>
            <a:endParaRPr lang="en-US" sz="2000" dirty="0">
              <a:latin typeface="+mn-lt"/>
              <a:ea typeface="+mn-ea"/>
              <a:cs typeface="+mn-cs"/>
            </a:endParaRP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 err="1">
                <a:latin typeface="+mn-lt"/>
                <a:ea typeface="+mn-ea"/>
                <a:cs typeface="+mn-cs"/>
              </a:rPr>
              <a:t>Modélisation</a:t>
            </a:r>
            <a:r>
              <a:rPr lang="en-US" sz="2000" dirty="0">
                <a:latin typeface="+mn-lt"/>
                <a:ea typeface="+mn-ea"/>
                <a:cs typeface="+mn-cs"/>
              </a:rPr>
              <a:t> </a:t>
            </a:r>
            <a:r>
              <a:rPr lang="en-US" sz="2000" dirty="0" err="1">
                <a:latin typeface="+mn-lt"/>
                <a:ea typeface="+mn-ea"/>
                <a:cs typeface="+mn-cs"/>
              </a:rPr>
              <a:t>Mathématique</a:t>
            </a:r>
            <a:endParaRPr lang="en-US" sz="2000" dirty="0">
              <a:latin typeface="+mn-lt"/>
              <a:ea typeface="+mn-ea"/>
              <a:cs typeface="+mn-cs"/>
            </a:endParaRP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latin typeface="+mn-lt"/>
                <a:ea typeface="+mn-ea"/>
                <a:cs typeface="+mn-cs"/>
              </a:rPr>
              <a:t>Description du code</a:t>
            </a: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b="1" dirty="0" err="1">
                <a:latin typeface="+mn-lt"/>
                <a:ea typeface="+mn-ea"/>
                <a:cs typeface="+mn-cs"/>
              </a:rPr>
              <a:t>Vérification</a:t>
            </a:r>
            <a:endParaRPr lang="en-US" sz="2000" b="1" dirty="0">
              <a:latin typeface="+mn-lt"/>
              <a:ea typeface="+mn-ea"/>
              <a:cs typeface="+mn-cs"/>
            </a:endParaRP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latin typeface="+mn-lt"/>
                <a:ea typeface="+mn-ea"/>
                <a:cs typeface="+mn-cs"/>
              </a:rPr>
              <a:t>Validation</a:t>
            </a: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dirty="0">
              <a:latin typeface="+mn-lt"/>
              <a:ea typeface="+mn-ea"/>
              <a:cs typeface="+mn-cs"/>
            </a:endParaRP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dirty="0">
              <a:latin typeface="+mn-lt"/>
              <a:ea typeface="+mn-ea"/>
              <a:cs typeface="+mn-cs"/>
            </a:endParaRP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dirty="0">
              <a:latin typeface="+mn-lt"/>
              <a:ea typeface="+mn-ea"/>
              <a:cs typeface="+mn-cs"/>
            </a:endParaRP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dirty="0">
              <a:latin typeface="+mn-lt"/>
              <a:ea typeface="+mn-ea"/>
              <a:cs typeface="+mn-cs"/>
            </a:endParaRPr>
          </a:p>
        </p:txBody>
      </p:sp>
      <p:pic>
        <p:nvPicPr>
          <p:cNvPr id="6" name="Picture 5" descr="Formules mathématiques complexes sur un tableau noir">
            <a:extLst>
              <a:ext uri="{FF2B5EF4-FFF2-40B4-BE49-F238E27FC236}">
                <a16:creationId xmlns:a16="http://schemas.microsoft.com/office/drawing/2014/main" id="{D70EEC34-2062-C6F8-8879-BA29F78A94A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4481" r="10557" b="-1"/>
          <a:stretch>
            <a:fillRect/>
          </a:stretch>
        </p:blipFill>
        <p:spPr>
          <a:xfrm>
            <a:off x="6096000" y="1"/>
            <a:ext cx="610282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216163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30210F2-DE1D-E808-58AF-DFA01EAAB4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Vérification de code - Méthodologie 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4013CAEC-1AC4-C17B-EAFA-EC1AB7DBA27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628376" cy="4351338"/>
              </a:xfrm>
            </p:spPr>
            <p:txBody>
              <a:bodyPr>
                <a:normAutofit fontScale="77500" lnSpcReduction="20000"/>
              </a:bodyPr>
              <a:lstStyle/>
              <a:p>
                <a:pPr>
                  <a:lnSpc>
                    <a:spcPct val="124000"/>
                  </a:lnSpc>
                </a:pPr>
                <a:r>
                  <a:rPr lang="fr-FR" dirty="0"/>
                  <a:t>Implémentation de divers tests avec le module </a:t>
                </a:r>
                <a:r>
                  <a:rPr lang="fr-FR" i="1" dirty="0" err="1"/>
                  <a:t>unittest</a:t>
                </a:r>
                <a:r>
                  <a:rPr lang="fr-FR" dirty="0"/>
                  <a:t> de python :</a:t>
                </a:r>
              </a:p>
              <a:p>
                <a:pPr lvl="1">
                  <a:lnSpc>
                    <a:spcPct val="124000"/>
                  </a:lnSpc>
                </a:pPr>
                <a:r>
                  <a:rPr lang="fr-FR" b="1" dirty="0"/>
                  <a:t>Tests unitaires </a:t>
                </a:r>
                <a:r>
                  <a:rPr lang="fr-FR" dirty="0"/>
                  <a:t>pour les différentes fonctions du code implémentés :</a:t>
                </a:r>
              </a:p>
              <a:p>
                <a:pPr lvl="2">
                  <a:lnSpc>
                    <a:spcPct val="124000"/>
                  </a:lnSpc>
                  <a:buFont typeface="Courier New" panose="02070309020205020404" pitchFamily="49" charset="0"/>
                  <a:buChar char="o"/>
                </a:pPr>
                <a:r>
                  <a:rPr lang="fr-FR" b="1" dirty="0" err="1"/>
                  <a:t>testPosition</a:t>
                </a:r>
                <a:r>
                  <a:rPr lang="fr-FR" dirty="0"/>
                  <a:t> : </a:t>
                </a:r>
                <a:r>
                  <a:rPr lang="fr-CA" dirty="0"/>
                  <a:t>Test la fonction Position avec des valeurs connues.</a:t>
                </a:r>
              </a:p>
              <a:p>
                <a:pPr lvl="2">
                  <a:lnSpc>
                    <a:spcPct val="124000"/>
                  </a:lnSpc>
                  <a:buFont typeface="Courier New" panose="02070309020205020404" pitchFamily="49" charset="0"/>
                  <a:buChar char="o"/>
                </a:pPr>
                <a:r>
                  <a:rPr lang="fr-CA" b="1" dirty="0" err="1"/>
                  <a:t>testMilieu</a:t>
                </a:r>
                <a:r>
                  <a:rPr lang="fr-CA" dirty="0"/>
                  <a:t> : Test la fonction Milieu avec des valeurs connues.</a:t>
                </a:r>
              </a:p>
              <a:p>
                <a:pPr lvl="2">
                  <a:lnSpc>
                    <a:spcPct val="124000"/>
                  </a:lnSpc>
                  <a:buFont typeface="Courier New" panose="02070309020205020404" pitchFamily="49" charset="0"/>
                  <a:buChar char="o"/>
                </a:pPr>
                <a:r>
                  <a:rPr lang="fr-CA" b="1" dirty="0" err="1"/>
                  <a:t>testTemperature</a:t>
                </a:r>
                <a:r>
                  <a:rPr lang="fr-CA" dirty="0"/>
                  <a:t> : Test la fonction </a:t>
                </a:r>
                <a:r>
                  <a:rPr lang="fr-CA" dirty="0" err="1"/>
                  <a:t>Temperature</a:t>
                </a:r>
                <a:r>
                  <a:rPr lang="fr-CA" dirty="0"/>
                  <a:t> avec des valeurs connues.</a:t>
                </a:r>
              </a:p>
              <a:p>
                <a:pPr lvl="1">
                  <a:lnSpc>
                    <a:spcPct val="124000"/>
                  </a:lnSpc>
                </a:pPr>
                <a:r>
                  <a:rPr lang="fr-CA" b="1" dirty="0"/>
                  <a:t>Tests de vérification de code </a:t>
                </a:r>
                <a:r>
                  <a:rPr lang="fr-CA" dirty="0"/>
                  <a:t>implémentés :</a:t>
                </a:r>
              </a:p>
              <a:p>
                <a:pPr lvl="2">
                  <a:lnSpc>
                    <a:spcPct val="124000"/>
                  </a:lnSpc>
                  <a:buFont typeface="Courier New" panose="02070309020205020404" pitchFamily="49" charset="0"/>
                  <a:buChar char="o"/>
                </a:pPr>
                <a:r>
                  <a:rPr lang="fr-CA" b="1" dirty="0" err="1"/>
                  <a:t>testSymetrie</a:t>
                </a:r>
                <a:r>
                  <a:rPr lang="fr-CA" dirty="0"/>
                  <a:t> : Test la simplification de la condition de symétrie en comparant le résultat symétrique au résultat du domaine complet.</a:t>
                </a:r>
              </a:p>
              <a:p>
                <a:pPr lvl="2">
                  <a:lnSpc>
                    <a:spcPct val="124000"/>
                  </a:lnSpc>
                  <a:buFont typeface="Courier New" panose="02070309020205020404" pitchFamily="49" charset="0"/>
                  <a:buChar char="o"/>
                </a:pPr>
                <a:r>
                  <a:rPr lang="fr-CA" b="1" dirty="0" err="1"/>
                  <a:t>testConservationEnergie</a:t>
                </a:r>
                <a:r>
                  <a:rPr lang="fr-CA" dirty="0"/>
                  <a:t> : Test la conservation de l'énergie du solveur en effectuant un bilan </a:t>
                </a:r>
                <a:r>
                  <a:rPr lang="fr-CA" dirty="0" err="1"/>
                  <a:t>énegérique</a:t>
                </a:r>
                <a:r>
                  <a:rPr lang="fr-CA" dirty="0"/>
                  <a:t> à l'intérieur du domaine et sur la frontière. On cherche :</a:t>
                </a:r>
                <a:br>
                  <a:rPr lang="fr-CA" dirty="0"/>
                </a:b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fr-CA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CA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𝑖𝑛𝑡</m:t>
                            </m:r>
                          </m:sub>
                        </m:sSub>
                      </m:e>
                    </m:acc>
                    <m:r>
                      <a:rPr lang="fr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acc>
                      <m:accPr>
                        <m:chr m:val="̇"/>
                        <m:ctrlPr>
                          <a:rPr lang="fr-CA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CA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CA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fr-CA" i="1">
                                <a:latin typeface="Cambria Math" panose="02040503050406030204" pitchFamily="18" charset="0"/>
                              </a:rPr>
                              <m:t>𝑓𝑟𝑜𝑛𝑡</m:t>
                            </m:r>
                          </m:sub>
                        </m:sSub>
                      </m:e>
                    </m:acc>
                  </m:oMath>
                </a14:m>
                <a:endParaRPr lang="fr-CA" dirty="0"/>
              </a:p>
              <a:p>
                <a:pPr lvl="2">
                  <a:lnSpc>
                    <a:spcPct val="124000"/>
                  </a:lnSpc>
                  <a:buFont typeface="Courier New" panose="02070309020205020404" pitchFamily="49" charset="0"/>
                  <a:buChar char="o"/>
                </a:pPr>
                <a:r>
                  <a:rPr lang="fr-CA" b="1" dirty="0" err="1"/>
                  <a:t>testInvarianceGalileenne</a:t>
                </a:r>
                <a:r>
                  <a:rPr lang="fr-CA" dirty="0"/>
                  <a:t> : Test l’invariance galiléenne du solveur par translation des coordonnées.</a:t>
                </a:r>
              </a:p>
              <a:p>
                <a:pPr lvl="1">
                  <a:lnSpc>
                    <a:spcPct val="124000"/>
                  </a:lnSpc>
                </a:pPr>
                <a:r>
                  <a:rPr lang="fr-CA" dirty="0"/>
                  <a:t>Implémentation de la </a:t>
                </a:r>
                <a:r>
                  <a:rPr lang="fr-CA" b="1" dirty="0"/>
                  <a:t>MMS</a:t>
                </a:r>
                <a:r>
                  <a:rPr lang="fr-CA" dirty="0"/>
                  <a:t> pour évaluer l’ordre de convergence du solveur.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endParaRPr lang="fr-CA" dirty="0"/>
              </a:p>
              <a:p>
                <a:pPr lvl="2">
                  <a:buFont typeface="Courier New" panose="02070309020205020404" pitchFamily="49" charset="0"/>
                  <a:buChar char="o"/>
                </a:pPr>
                <a:endParaRPr lang="fr-FR" dirty="0"/>
              </a:p>
              <a:p>
                <a:pPr lvl="2"/>
                <a:endParaRPr lang="fr-FR" dirty="0"/>
              </a:p>
              <a:p>
                <a:pPr lvl="2"/>
                <a:endParaRPr lang="fr-FR" dirty="0"/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4013CAEC-1AC4-C17B-EAFA-EC1AB7DBA27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628376" cy="4351338"/>
              </a:xfrm>
              <a:blipFill>
                <a:blip r:embed="rId2"/>
                <a:stretch>
                  <a:fillRect l="-688" t="-700" r="-574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787051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28461F-0ADA-F2B0-A6E7-097DBD1227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0CE1403-3D16-B3B5-E3F3-9368B31950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Vérification de code - Résultats :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699FE2D-5448-2AC8-260C-B0D0A05011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3101" y="1690688"/>
            <a:ext cx="11185187" cy="4915643"/>
          </a:xfrm>
        </p:spPr>
        <p:txBody>
          <a:bodyPr>
            <a:normAutofit fontScale="70000" lnSpcReduction="20000"/>
          </a:bodyPr>
          <a:lstStyle/>
          <a:p>
            <a:pPr>
              <a:lnSpc>
                <a:spcPct val="134000"/>
              </a:lnSpc>
            </a:pPr>
            <a:r>
              <a:rPr lang="fr-FR" dirty="0"/>
              <a:t>Tests unitaires : rien de surprenant, objectif de conserver une pérennité et une stabilité du code malgré des changements.</a:t>
            </a:r>
          </a:p>
          <a:p>
            <a:pPr>
              <a:lnSpc>
                <a:spcPct val="134000"/>
              </a:lnSpc>
            </a:pPr>
            <a:r>
              <a:rPr lang="fr-FR" dirty="0"/>
              <a:t>Tests de vérification de code :</a:t>
            </a:r>
          </a:p>
          <a:p>
            <a:pPr lvl="1">
              <a:lnSpc>
                <a:spcPct val="134000"/>
              </a:lnSpc>
              <a:buFont typeface="Courier New" panose="02070309020205020404" pitchFamily="49" charset="0"/>
              <a:buChar char="o"/>
            </a:pPr>
            <a:r>
              <a:rPr lang="fr-FR" b="1" dirty="0" err="1"/>
              <a:t>testSymmetrie</a:t>
            </a:r>
            <a:r>
              <a:rPr lang="fr-FR" dirty="0"/>
              <a:t> :</a:t>
            </a:r>
          </a:p>
          <a:p>
            <a:pPr lvl="2">
              <a:lnSpc>
                <a:spcPct val="134000"/>
              </a:lnSpc>
              <a:buFont typeface="Courier New" panose="02070309020205020404" pitchFamily="49" charset="0"/>
              <a:buChar char="o"/>
            </a:pPr>
            <a:r>
              <a:rPr lang="fr-FR" dirty="0"/>
              <a:t> A révélé un </a:t>
            </a:r>
            <a:r>
              <a:rPr lang="fr-FR" i="1" dirty="0"/>
              <a:t>champ de mine</a:t>
            </a:r>
            <a:r>
              <a:rPr lang="fr-FR" dirty="0"/>
              <a:t> de </a:t>
            </a:r>
            <a:r>
              <a:rPr lang="fr-FR" b="1" dirty="0"/>
              <a:t>bugs</a:t>
            </a:r>
            <a:r>
              <a:rPr lang="fr-FR" dirty="0"/>
              <a:t> au sein du code.</a:t>
            </a:r>
          </a:p>
          <a:p>
            <a:pPr lvl="2">
              <a:lnSpc>
                <a:spcPct val="134000"/>
              </a:lnSpc>
              <a:buFont typeface="Courier New" panose="02070309020205020404" pitchFamily="49" charset="0"/>
              <a:buChar char="o"/>
            </a:pPr>
            <a:r>
              <a:rPr lang="fr-FR" dirty="0"/>
              <a:t>A permis de revisiter et de réécrire correctement les </a:t>
            </a:r>
            <a:r>
              <a:rPr lang="fr-FR" b="1" dirty="0"/>
              <a:t>équations de discrétisation </a:t>
            </a:r>
            <a:r>
              <a:rPr lang="fr-FR" dirty="0"/>
              <a:t>(que nous croyions déjà bonne).</a:t>
            </a:r>
          </a:p>
          <a:p>
            <a:pPr lvl="2">
              <a:lnSpc>
                <a:spcPct val="134000"/>
              </a:lnSpc>
              <a:buFont typeface="Courier New" panose="02070309020205020404" pitchFamily="49" charset="0"/>
              <a:buChar char="o"/>
            </a:pPr>
            <a:r>
              <a:rPr lang="fr-FR" dirty="0"/>
              <a:t>Problèmes </a:t>
            </a:r>
            <a:r>
              <a:rPr lang="fr-FR" b="1" dirty="0"/>
              <a:t>d’indexation des points</a:t>
            </a:r>
            <a:r>
              <a:rPr lang="fr-FR" dirty="0"/>
              <a:t>, notamment pour les conditions frontières aux </a:t>
            </a:r>
            <a:r>
              <a:rPr lang="fr-FR" i="1" dirty="0"/>
              <a:t>coins</a:t>
            </a:r>
            <a:r>
              <a:rPr lang="fr-FR" dirty="0"/>
              <a:t> du domaine.</a:t>
            </a:r>
          </a:p>
          <a:p>
            <a:pPr lvl="1">
              <a:lnSpc>
                <a:spcPct val="134000"/>
              </a:lnSpc>
              <a:buFont typeface="Courier New" panose="02070309020205020404" pitchFamily="49" charset="0"/>
              <a:buChar char="o"/>
            </a:pPr>
            <a:r>
              <a:rPr lang="fr-FR" b="1" dirty="0" err="1"/>
              <a:t>testInvarianceGaliléenne</a:t>
            </a:r>
            <a:r>
              <a:rPr lang="fr-FR" dirty="0"/>
              <a:t> :</a:t>
            </a:r>
          </a:p>
          <a:p>
            <a:pPr lvl="2">
              <a:lnSpc>
                <a:spcPct val="134000"/>
              </a:lnSpc>
              <a:buFont typeface="Courier New" panose="02070309020205020404" pitchFamily="49" charset="0"/>
              <a:buChar char="o"/>
            </a:pPr>
            <a:r>
              <a:rPr lang="fr-FR" dirty="0"/>
              <a:t>A révélé quelques subtilités du code qui on permis de l’améliorer, notamment la manière dont est calculé le rayon et la manière dont sont initialisés les paramètres.</a:t>
            </a:r>
          </a:p>
          <a:p>
            <a:pPr lvl="1">
              <a:lnSpc>
                <a:spcPct val="134000"/>
              </a:lnSpc>
              <a:buFont typeface="Courier New" panose="02070309020205020404" pitchFamily="49" charset="0"/>
              <a:buChar char="o"/>
            </a:pPr>
            <a:r>
              <a:rPr lang="fr-FR" b="1" dirty="0" err="1"/>
              <a:t>testConservationEnergie</a:t>
            </a:r>
            <a:r>
              <a:rPr lang="fr-FR" dirty="0"/>
              <a:t> :</a:t>
            </a:r>
          </a:p>
          <a:p>
            <a:pPr lvl="2">
              <a:lnSpc>
                <a:spcPct val="134000"/>
              </a:lnSpc>
              <a:buFont typeface="Courier New" panose="02070309020205020404" pitchFamily="49" charset="0"/>
              <a:buChar char="o"/>
            </a:pPr>
            <a:r>
              <a:rPr lang="fr-FR" dirty="0"/>
              <a:t>Un peu complexe à mettre en place. </a:t>
            </a:r>
          </a:p>
          <a:p>
            <a:pPr lvl="2">
              <a:lnSpc>
                <a:spcPct val="134000"/>
              </a:lnSpc>
              <a:buFont typeface="Courier New" panose="02070309020205020404" pitchFamily="49" charset="0"/>
              <a:buChar char="o"/>
            </a:pPr>
            <a:r>
              <a:rPr lang="fr-FR" dirty="0"/>
              <a:t>Flux de chaleur conservé de manière satisfaisante, au millième près.</a:t>
            </a:r>
          </a:p>
        </p:txBody>
      </p:sp>
    </p:spTree>
    <p:extLst>
      <p:ext uri="{BB962C8B-B14F-4D97-AF65-F5344CB8AC3E}">
        <p14:creationId xmlns:p14="http://schemas.microsoft.com/office/powerpoint/2010/main" val="84583320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58B92D-CCAF-B970-4FDC-1318950469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217134A-892B-0D3A-608A-3FB298A462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Vérification de code – MMS – Méthodologie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26B832D3-1AFE-0930-0EA6-79DF70C198F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90688"/>
                <a:ext cx="10971179" cy="4964281"/>
              </a:xfrm>
            </p:spPr>
            <p:txBody>
              <a:bodyPr>
                <a:normAutofit fontScale="70000" lnSpcReduction="20000"/>
              </a:bodyPr>
              <a:lstStyle/>
              <a:p>
                <a:pPr>
                  <a:lnSpc>
                    <a:spcPct val="134000"/>
                  </a:lnSpc>
                </a:pPr>
                <a:r>
                  <a:rPr lang="fr-FR" dirty="0"/>
                  <a:t>Implémentation de la méthode des solutions manufacturés. </a:t>
                </a:r>
              </a:p>
              <a:p>
                <a:pPr>
                  <a:lnSpc>
                    <a:spcPct val="134000"/>
                  </a:lnSpc>
                </a:pPr>
                <a:r>
                  <a:rPr lang="fr-FR" dirty="0"/>
                  <a:t>Changements nécessaires :</a:t>
                </a:r>
              </a:p>
              <a:p>
                <a:pPr lvl="1">
                  <a:lnSpc>
                    <a:spcPct val="134000"/>
                  </a:lnSpc>
                </a:pPr>
                <a:r>
                  <a:rPr lang="fr-FR" dirty="0"/>
                  <a:t>Implémentation de conditions de Dirichlet aux </a:t>
                </a:r>
                <a:r>
                  <a:rPr lang="fr-FR" b="1" dirty="0"/>
                  <a:t>frontières extérieures</a:t>
                </a:r>
                <a:r>
                  <a:rPr lang="fr-FR" dirty="0"/>
                  <a:t>:</a:t>
                </a:r>
                <a:br>
                  <a:rPr lang="fr-FR" dirty="0"/>
                </a:br>
                <a14:m>
                  <m:oMath xmlns:m="http://schemas.openxmlformats.org/officeDocument/2006/math">
                    <m:sSubSup>
                      <m:sSubSup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  <m:sup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+∆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bSup>
                    <m:r>
                      <a:rPr lang="fr-CA" b="0" i="1" smtClean="0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sSub>
                          <m:sSubPr>
                            <m:ctrlPr>
                              <a:rPr lang="fr-CA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𝑀𝑀𝑆</m:t>
                            </m:r>
                          </m:sub>
                        </m:sSub>
                      </m:e>
                      <m:sub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  <m:sup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+∆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bSup>
                  </m:oMath>
                </a14:m>
                <a:endParaRPr lang="fr-FR" dirty="0"/>
              </a:p>
              <a:p>
                <a:pPr lvl="1">
                  <a:lnSpc>
                    <a:spcPct val="134000"/>
                  </a:lnSpc>
                </a:pPr>
                <a:r>
                  <a:rPr lang="fr-FR" dirty="0"/>
                  <a:t>Implémentation d’un terme source dans l’équation du milieu du domaine.</a:t>
                </a:r>
              </a:p>
              <a:p>
                <a:pPr lvl="1">
                  <a:lnSpc>
                    <a:spcPct val="134000"/>
                  </a:lnSpc>
                </a:pPr>
                <a:r>
                  <a:rPr lang="fr-FR" dirty="0"/>
                  <a:t>Repenser la classe </a:t>
                </a:r>
                <a:r>
                  <a:rPr lang="fr-FR" i="1" dirty="0"/>
                  <a:t>Paramètres</a:t>
                </a:r>
                <a:r>
                  <a:rPr lang="fr-FR" dirty="0"/>
                  <a:t> pour intégrer le tout et permettre à un utilisateur d’imposer une </a:t>
                </a:r>
                <a:r>
                  <a:rPr lang="fr-FR" i="1" dirty="0"/>
                  <a:t>MMS</a:t>
                </a:r>
                <a:r>
                  <a:rPr lang="fr-FR" dirty="0"/>
                  <a:t>, ou non.</a:t>
                </a:r>
              </a:p>
              <a:p>
                <a:pPr>
                  <a:lnSpc>
                    <a:spcPct val="134000"/>
                  </a:lnSpc>
                </a:pPr>
                <a:r>
                  <a:rPr lang="fr-FR" dirty="0"/>
                  <a:t>Équation choisie :</a:t>
                </a:r>
                <a:br>
                  <a:rPr lang="fr-FR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𝑀𝑀𝑆</m:t>
                        </m:r>
                      </m:sub>
                    </m:sSub>
                    <m:r>
                      <a:rPr lang="fr-CA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𝑟𝑒𝑓</m:t>
                        </m:r>
                      </m:sub>
                    </m:sSub>
                    <m:r>
                      <a:rPr lang="fr-CA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𝐴</m:t>
                    </m:r>
                    <m:sSup>
                      <m:sSup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(−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/</m:t>
                        </m:r>
                        <m:sSub>
                          <m:sSubPr>
                            <m:ctrlPr>
                              <a:rPr lang="fr-CA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𝑓𝑖𝑛𝑎𝑙</m:t>
                            </m:r>
                          </m:sub>
                        </m:sSub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  <m:func>
                      <m:func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fr-CA" b="0" i="0" smtClean="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d>
                          <m:dPr>
                            <m:ctrlPr>
                              <a:rPr lang="fr-CA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fr-CA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fr-CA" b="0" i="1" smtClean="0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  <m:r>
                                  <a:rPr lang="fr-CA" b="0" i="1" smtClean="0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num>
                              <m:den>
                                <m:r>
                                  <a:rPr lang="fr-CA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den>
                            </m:f>
                          </m:e>
                        </m:d>
                      </m:e>
                    </m:func>
                    <m:r>
                      <m:rPr>
                        <m:sty m:val="p"/>
                      </m:rPr>
                      <a:rPr lang="fr-CA" b="0" i="0" smtClean="0">
                        <a:latin typeface="Cambria Math" panose="02040503050406030204" pitchFamily="18" charset="0"/>
                      </a:rPr>
                      <m:t>cos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⁡(</m:t>
                    </m:r>
                    <m:f>
                      <m:f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num>
                      <m:den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den>
                    </m:f>
                    <m:r>
                      <a:rPr lang="fr-CA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dirty="0"/>
              </a:p>
              <a:p>
                <a:pPr marL="914400" lvl="2" indent="0" algn="ctr">
                  <a:lnSpc>
                    <a:spcPct val="134000"/>
                  </a:lnSpc>
                  <a:buNone/>
                </a:pPr>
                <a:r>
                  <a:rPr lang="fr-FR" dirty="0"/>
                  <a:t>Ici, on choisit 2 cosinus de manière à forcer l’équation a être symétrique aux frontières r=0, z=0.</a:t>
                </a:r>
              </a:p>
              <a:p>
                <a:pPr>
                  <a:lnSpc>
                    <a:spcPct val="134000"/>
                  </a:lnSpc>
                </a:pPr>
                <a:r>
                  <a:rPr lang="fr-FR" dirty="0"/>
                  <a:t>Le calcul du terme source est fait à l’aide de la librairie </a:t>
                </a:r>
                <a:r>
                  <a:rPr lang="fr-FR" i="1" dirty="0" err="1"/>
                  <a:t>sympy</a:t>
                </a:r>
                <a:r>
                  <a:rPr lang="fr-FR" dirty="0"/>
                  <a:t> dans Python. Les développements ne seront donc pas présentés.</a:t>
                </a:r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26B832D3-1AFE-0930-0EA6-79DF70C198F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90688"/>
                <a:ext cx="10971179" cy="4964281"/>
              </a:xfrm>
              <a:blipFill>
                <a:blip r:embed="rId2"/>
                <a:stretch>
                  <a:fillRect l="-500" r="-445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0803252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10F47C-EA86-426C-9E31-441BF44D6D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5732BA4-6A05-72B7-DA5A-7F788E2CAD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Vérification de code – MMS – Résultats :</a:t>
            </a:r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C16CC2A3-774C-4A0E-8885-22E49233D89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2354" y="1690688"/>
            <a:ext cx="8387292" cy="5032375"/>
          </a:xfrm>
          <a:prstGeom prst="rect">
            <a:avLst/>
          </a:prstGeom>
        </p:spPr>
      </p:pic>
      <p:grpSp>
        <p:nvGrpSpPr>
          <p:cNvPr id="10" name="Groupe 9">
            <a:extLst>
              <a:ext uri="{FF2B5EF4-FFF2-40B4-BE49-F238E27FC236}">
                <a16:creationId xmlns:a16="http://schemas.microsoft.com/office/drawing/2014/main" id="{0733C7CD-F52D-5C54-C2B4-44406B95C157}"/>
              </a:ext>
            </a:extLst>
          </p:cNvPr>
          <p:cNvGrpSpPr/>
          <p:nvPr/>
        </p:nvGrpSpPr>
        <p:grpSpPr>
          <a:xfrm>
            <a:off x="311285" y="5077838"/>
            <a:ext cx="3385226" cy="1448624"/>
            <a:chOff x="311285" y="5077838"/>
            <a:chExt cx="3385226" cy="1448624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D6CB769F-2C76-74CB-5981-7343AE429DE5}"/>
                </a:ext>
              </a:extLst>
            </p:cNvPr>
            <p:cNvSpPr/>
            <p:nvPr/>
          </p:nvSpPr>
          <p:spPr>
            <a:xfrm>
              <a:off x="2373549" y="5077838"/>
              <a:ext cx="1322962" cy="398834"/>
            </a:xfrm>
            <a:prstGeom prst="rect">
              <a:avLst/>
            </a:prstGeom>
            <a:noFill/>
            <a:ln w="57150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cxnSp>
          <p:nvCxnSpPr>
            <p:cNvPr id="8" name="Connecteur droit avec flèche 7">
              <a:extLst>
                <a:ext uri="{FF2B5EF4-FFF2-40B4-BE49-F238E27FC236}">
                  <a16:creationId xmlns:a16="http://schemas.microsoft.com/office/drawing/2014/main" id="{CEEDC86A-29FF-1B82-1333-62836274B581}"/>
                </a:ext>
              </a:extLst>
            </p:cNvPr>
            <p:cNvCxnSpPr>
              <a:stCxn id="6" idx="1"/>
            </p:cNvCxnSpPr>
            <p:nvPr/>
          </p:nvCxnSpPr>
          <p:spPr>
            <a:xfrm flipH="1">
              <a:off x="1322962" y="5277255"/>
              <a:ext cx="1050587" cy="32587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3AD781C3-D9E5-9A25-B650-D4D2A98A52FC}"/>
                </a:ext>
              </a:extLst>
            </p:cNvPr>
            <p:cNvSpPr txBox="1"/>
            <p:nvPr/>
          </p:nvSpPr>
          <p:spPr>
            <a:xfrm>
              <a:off x="311285" y="5603132"/>
              <a:ext cx="1741251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CA" dirty="0"/>
                <a:t>Discrétisation spatiale prend le dessus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691476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14F719-4F8B-B0BF-A652-91D4A8E1C2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F6CDAA5-638A-B4E8-6AFE-7C186CA43D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Vérification de code – MMS – Résultats :</a:t>
            </a:r>
          </a:p>
        </p:txBody>
      </p:sp>
      <p:pic>
        <p:nvPicPr>
          <p:cNvPr id="7" name="Espace réservé du contenu 6">
            <a:extLst>
              <a:ext uri="{FF2B5EF4-FFF2-40B4-BE49-F238E27FC236}">
                <a16:creationId xmlns:a16="http://schemas.microsoft.com/office/drawing/2014/main" id="{6B8E9D59-8E3B-8479-E1C7-62F3A39A5D2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2000" y="1690688"/>
            <a:ext cx="8388000" cy="5032800"/>
          </a:xfrm>
          <a:prstGeom prst="rect">
            <a:avLst/>
          </a:prstGeom>
        </p:spPr>
      </p:pic>
      <p:grpSp>
        <p:nvGrpSpPr>
          <p:cNvPr id="8" name="Groupe 7">
            <a:extLst>
              <a:ext uri="{FF2B5EF4-FFF2-40B4-BE49-F238E27FC236}">
                <a16:creationId xmlns:a16="http://schemas.microsoft.com/office/drawing/2014/main" id="{4C4CFFBA-3429-F2F4-7F11-D968906589E4}"/>
              </a:ext>
            </a:extLst>
          </p:cNvPr>
          <p:cNvGrpSpPr/>
          <p:nvPr/>
        </p:nvGrpSpPr>
        <p:grpSpPr>
          <a:xfrm>
            <a:off x="209387" y="3016251"/>
            <a:ext cx="3385226" cy="1725623"/>
            <a:chOff x="311285" y="5077838"/>
            <a:chExt cx="3385226" cy="1725623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B57A2EE6-1A05-1DB3-5DAA-1C28E8D82F63}"/>
                </a:ext>
              </a:extLst>
            </p:cNvPr>
            <p:cNvSpPr/>
            <p:nvPr/>
          </p:nvSpPr>
          <p:spPr>
            <a:xfrm>
              <a:off x="2373549" y="5077838"/>
              <a:ext cx="1322962" cy="398834"/>
            </a:xfrm>
            <a:prstGeom prst="rect">
              <a:avLst/>
            </a:prstGeom>
            <a:noFill/>
            <a:ln w="57150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cxnSp>
          <p:nvCxnSpPr>
            <p:cNvPr id="10" name="Connecteur droit avec flèche 9">
              <a:extLst>
                <a:ext uri="{FF2B5EF4-FFF2-40B4-BE49-F238E27FC236}">
                  <a16:creationId xmlns:a16="http://schemas.microsoft.com/office/drawing/2014/main" id="{EE0D9918-4259-5FE5-2239-A38236148190}"/>
                </a:ext>
              </a:extLst>
            </p:cNvPr>
            <p:cNvCxnSpPr>
              <a:stCxn id="9" idx="1"/>
            </p:cNvCxnSpPr>
            <p:nvPr/>
          </p:nvCxnSpPr>
          <p:spPr>
            <a:xfrm flipH="1">
              <a:off x="1322962" y="5277255"/>
              <a:ext cx="1050587" cy="32587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ZoneTexte 10">
              <a:extLst>
                <a:ext uri="{FF2B5EF4-FFF2-40B4-BE49-F238E27FC236}">
                  <a16:creationId xmlns:a16="http://schemas.microsoft.com/office/drawing/2014/main" id="{FD1FA1AC-0CBB-05F3-2DE3-6DE994D15BDB}"/>
                </a:ext>
              </a:extLst>
            </p:cNvPr>
            <p:cNvSpPr txBox="1"/>
            <p:nvPr/>
          </p:nvSpPr>
          <p:spPr>
            <a:xfrm>
              <a:off x="311285" y="5603132"/>
              <a:ext cx="1741251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CA" dirty="0"/>
                <a:t>Discrétisation temporelle prend le dessus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635572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757E25-CA72-4BE6-FF0F-7A14AD071B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38D45DE-51F7-9718-BF32-A0EB4238BB4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61803" y="350196"/>
            <a:ext cx="4646904" cy="162452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/>
            <a:r>
              <a:rPr lang="en-US" sz="4000" noProof="0"/>
              <a:t>Plan de la présentation</a:t>
            </a:r>
          </a:p>
        </p:txBody>
      </p:sp>
      <p:sp>
        <p:nvSpPr>
          <p:cNvPr id="4" name="Titre 1">
            <a:extLst>
              <a:ext uri="{FF2B5EF4-FFF2-40B4-BE49-F238E27FC236}">
                <a16:creationId xmlns:a16="http://schemas.microsoft.com/office/drawing/2014/main" id="{6302326F-3D3F-CE69-7513-14841B5F8E2D}"/>
              </a:ext>
            </a:extLst>
          </p:cNvPr>
          <p:cNvSpPr txBox="1">
            <a:spLocks/>
          </p:cNvSpPr>
          <p:nvPr/>
        </p:nvSpPr>
        <p:spPr>
          <a:xfrm>
            <a:off x="761802" y="2743200"/>
            <a:ext cx="4646905" cy="36131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 err="1">
                <a:latin typeface="+mn-lt"/>
                <a:ea typeface="+mn-ea"/>
                <a:cs typeface="+mn-cs"/>
              </a:rPr>
              <a:t>Contexte</a:t>
            </a:r>
            <a:endParaRPr lang="en-US" sz="2000" dirty="0">
              <a:latin typeface="+mn-lt"/>
              <a:ea typeface="+mn-ea"/>
              <a:cs typeface="+mn-cs"/>
            </a:endParaRP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 err="1">
                <a:latin typeface="+mn-lt"/>
                <a:ea typeface="+mn-ea"/>
                <a:cs typeface="+mn-cs"/>
              </a:rPr>
              <a:t>Modélisation</a:t>
            </a:r>
            <a:r>
              <a:rPr lang="en-US" sz="2000" dirty="0">
                <a:latin typeface="+mn-lt"/>
                <a:ea typeface="+mn-ea"/>
                <a:cs typeface="+mn-cs"/>
              </a:rPr>
              <a:t> </a:t>
            </a:r>
            <a:r>
              <a:rPr lang="en-US" sz="2000" dirty="0" err="1">
                <a:latin typeface="+mn-lt"/>
                <a:ea typeface="+mn-ea"/>
                <a:cs typeface="+mn-cs"/>
              </a:rPr>
              <a:t>Mathématique</a:t>
            </a:r>
            <a:endParaRPr lang="en-US" sz="2000" dirty="0">
              <a:latin typeface="+mn-lt"/>
              <a:ea typeface="+mn-ea"/>
              <a:cs typeface="+mn-cs"/>
            </a:endParaRP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latin typeface="+mn-lt"/>
                <a:ea typeface="+mn-ea"/>
                <a:cs typeface="+mn-cs"/>
              </a:rPr>
              <a:t>Description du code</a:t>
            </a: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 err="1">
                <a:latin typeface="+mn-lt"/>
                <a:ea typeface="+mn-ea"/>
                <a:cs typeface="+mn-cs"/>
              </a:rPr>
              <a:t>Vérification</a:t>
            </a:r>
            <a:endParaRPr lang="en-US" sz="2000" dirty="0">
              <a:latin typeface="+mn-lt"/>
              <a:ea typeface="+mn-ea"/>
              <a:cs typeface="+mn-cs"/>
            </a:endParaRP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b="1" dirty="0">
                <a:latin typeface="+mn-lt"/>
                <a:ea typeface="+mn-ea"/>
                <a:cs typeface="+mn-cs"/>
              </a:rPr>
              <a:t>Validation</a:t>
            </a: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dirty="0">
              <a:latin typeface="+mn-lt"/>
              <a:ea typeface="+mn-ea"/>
              <a:cs typeface="+mn-cs"/>
            </a:endParaRP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dirty="0">
              <a:latin typeface="+mn-lt"/>
              <a:ea typeface="+mn-ea"/>
              <a:cs typeface="+mn-cs"/>
            </a:endParaRP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dirty="0">
              <a:latin typeface="+mn-lt"/>
              <a:ea typeface="+mn-ea"/>
              <a:cs typeface="+mn-cs"/>
            </a:endParaRP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dirty="0">
              <a:latin typeface="+mn-lt"/>
              <a:ea typeface="+mn-ea"/>
              <a:cs typeface="+mn-cs"/>
            </a:endParaRPr>
          </a:p>
        </p:txBody>
      </p:sp>
      <p:pic>
        <p:nvPicPr>
          <p:cNvPr id="6" name="Picture 5" descr="Formules mathématiques complexes sur un tableau noir">
            <a:extLst>
              <a:ext uri="{FF2B5EF4-FFF2-40B4-BE49-F238E27FC236}">
                <a16:creationId xmlns:a16="http://schemas.microsoft.com/office/drawing/2014/main" id="{362BCFBF-4E6C-0E38-3E48-B5B9BF75CFA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4481" r="10557" b="-1"/>
          <a:stretch>
            <a:fillRect/>
          </a:stretch>
        </p:blipFill>
        <p:spPr>
          <a:xfrm>
            <a:off x="6096000" y="1"/>
            <a:ext cx="610282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362971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2C32232-D971-F63A-4322-D27F6CDB07D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91491" y="1417145"/>
                <a:ext cx="7486650" cy="2103952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sz="2000" b="0" i="1" smtClean="0">
                          <a:latin typeface="Cambria Math" panose="02040503050406030204" pitchFamily="18" charset="0"/>
                        </a:rPr>
                        <m:t>E</m:t>
                      </m:r>
                      <m:r>
                        <a:rPr lang="fr-FR" sz="2000" b="0" i="1" smtClean="0">
                          <a:latin typeface="Cambria Math" panose="02040503050406030204" pitchFamily="18" charset="0"/>
                        </a:rPr>
                        <m:t>̃</m:t>
                      </m:r>
                      <m:r>
                        <a:rPr lang="fr-FR" sz="2000" b="0" i="1" smtClean="0">
                          <a:latin typeface="Cambria Math" panose="02040503050406030204" pitchFamily="18" charset="0"/>
                        </a:rPr>
                        <m:t> =  </m:t>
                      </m:r>
                      <m:r>
                        <m:rPr>
                          <m:sty m:val="p"/>
                        </m:rPr>
                        <a:rPr lang="fr-FR" sz="2000" b="0" i="1" smtClean="0">
                          <a:latin typeface="Cambria Math" panose="02040503050406030204" pitchFamily="18" charset="0"/>
                        </a:rPr>
                        <m:t>ym</m:t>
                      </m:r>
                      <m:r>
                        <a:rPr lang="fr-FR" sz="2000" b="0" i="1" smtClean="0">
                          <a:latin typeface="Cambria Math" panose="02040503050406030204" pitchFamily="18" charset="0"/>
                        </a:rPr>
                        <m:t> − </m:t>
                      </m:r>
                      <m:r>
                        <m:rPr>
                          <m:sty m:val="p"/>
                        </m:rPr>
                        <a:rPr lang="fr-FR" sz="2000" b="0" i="1" smtClean="0">
                          <a:latin typeface="Cambria Math" panose="02040503050406030204" pitchFamily="18" charset="0"/>
                        </a:rPr>
                        <m:t>ye</m:t>
                      </m:r>
                    </m:oMath>
                  </m:oMathPara>
                </a14:m>
                <a:endParaRPr lang="fr-FR" sz="2000" baseline="-25000" dirty="0"/>
              </a:p>
              <a:p>
                <a:r>
                  <a:rPr lang="fr-FR" sz="2000" dirty="0"/>
                  <a:t>Problème : pas de valeur expérimentale (manque de précision dans la littérature)</a:t>
                </a:r>
              </a:p>
              <a:p>
                <a:r>
                  <a:rPr lang="fr-FR" sz="2000" dirty="0">
                    <a:sym typeface="Wingdings" panose="05000000000000000000" pitchFamily="2" charset="2"/>
                  </a:rPr>
                  <a:t>Solution : passage par un code commercial</a:t>
                </a:r>
              </a:p>
              <a:p>
                <a:r>
                  <a:rPr lang="fr-FR" sz="2000" dirty="0">
                    <a:sym typeface="Wingdings" panose="05000000000000000000" pitchFamily="2" charset="2"/>
                  </a:rPr>
                  <a:t>Modélisation du problème sous SolidWorks pour un métal AISI 4340</a:t>
                </a:r>
                <a:endParaRPr lang="en-US" sz="2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2C32232-D971-F63A-4322-D27F6CDB07D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91491" y="1417145"/>
                <a:ext cx="7486650" cy="2103952"/>
              </a:xfrm>
              <a:blipFill>
                <a:blip r:embed="rId2"/>
                <a:stretch>
                  <a:fillRect l="-7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32592D05-AA83-1726-AA8E-76EA7CE4302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25531" y="521767"/>
            <a:ext cx="3566469" cy="234716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100F7ED-BB1D-A4E9-64F3-B26EE6B577C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77336" y="3704045"/>
            <a:ext cx="2997683" cy="299768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5B50BF5-90A1-6B98-D3FC-7350FE4FB61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02846" y="3704044"/>
            <a:ext cx="3003714" cy="299768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9A009A9-8BFC-1B9B-F910-FCE3DE41CCF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732" y="4148806"/>
            <a:ext cx="3848433" cy="2552921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A6A5E198-79E3-ED9B-9BBD-110FAE83354B}"/>
              </a:ext>
            </a:extLst>
          </p:cNvPr>
          <p:cNvSpPr txBox="1"/>
          <p:nvPr/>
        </p:nvSpPr>
        <p:spPr>
          <a:xfrm>
            <a:off x="1144371" y="3874770"/>
            <a:ext cx="21531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Température initiale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4FE961D-8228-C8D9-8233-FE31E59D1AC9}"/>
              </a:ext>
            </a:extLst>
          </p:cNvPr>
          <p:cNvSpPr txBox="1"/>
          <p:nvPr/>
        </p:nvSpPr>
        <p:spPr>
          <a:xfrm>
            <a:off x="5955189" y="3427905"/>
            <a:ext cx="22990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Radiation : émissivité</a:t>
            </a:r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1AC3AD7-E755-29F6-BDA8-03CAC197225B}"/>
              </a:ext>
            </a:extLst>
          </p:cNvPr>
          <p:cNvSpPr txBox="1"/>
          <p:nvPr/>
        </p:nvSpPr>
        <p:spPr>
          <a:xfrm>
            <a:off x="9912373" y="3427905"/>
            <a:ext cx="13276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Convection</a:t>
            </a:r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25446CCA-7537-8071-3E29-39F463004E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fr-FR" dirty="0"/>
              <a:t>Validation - erreur simulation :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864731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8D1F89-F778-6C72-5829-94790C9295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Validation - erreur simulation :</a:t>
            </a:r>
            <a:endParaRPr lang="en-US" dirty="0"/>
          </a:p>
        </p:txBody>
      </p:sp>
      <p:pic>
        <p:nvPicPr>
          <p:cNvPr id="35" name="Content Placeholder 34">
            <a:extLst>
              <a:ext uri="{FF2B5EF4-FFF2-40B4-BE49-F238E27FC236}">
                <a16:creationId xmlns:a16="http://schemas.microsoft.com/office/drawing/2014/main" id="{B470CD96-A82E-E0EB-A3EC-1334F9C20B6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3670" y="4864715"/>
            <a:ext cx="764723" cy="1531620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BD5C8037-549E-B941-FE25-FC8B83B3AE8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481" y="4864715"/>
            <a:ext cx="770186" cy="1531620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D4695AF5-14C8-8B55-5D76-A5D9F788F65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1287" y="4864715"/>
            <a:ext cx="775642" cy="1531620"/>
          </a:xfrm>
          <a:prstGeom prst="rect">
            <a:avLst/>
          </a:prstGeom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AE5FD986-C902-A6A4-CE75-3F189ADA9EED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321" y="4864715"/>
            <a:ext cx="771257" cy="1531620"/>
          </a:xfrm>
          <a:prstGeom prst="rect">
            <a:avLst/>
          </a:prstGeom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E4EFAB5C-E687-B58A-EE9E-79B9093375A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01810" y="4864715"/>
            <a:ext cx="764717" cy="1531620"/>
          </a:xfrm>
          <a:prstGeom prst="rect">
            <a:avLst/>
          </a:prstGeom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F72B7175-DEBB-3BDD-18D7-21B44DE17A6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4095" y="4864715"/>
            <a:ext cx="752530" cy="153162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CFEAD094-7ADB-7B93-230A-513191FA86A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09543" y="4864715"/>
            <a:ext cx="773458" cy="1531620"/>
          </a:xfrm>
          <a:prstGeom prst="rect">
            <a:avLst/>
          </a:prstGeom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E0245B62-8CC7-E885-49A0-9C13DA3242F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33093" y="4864715"/>
            <a:ext cx="774537" cy="1531620"/>
          </a:xfrm>
          <a:prstGeom prst="rect">
            <a:avLst/>
          </a:prstGeom>
        </p:spPr>
      </p:pic>
      <p:pic>
        <p:nvPicPr>
          <p:cNvPr id="52" name="Picture 51">
            <a:extLst>
              <a:ext uri="{FF2B5EF4-FFF2-40B4-BE49-F238E27FC236}">
                <a16:creationId xmlns:a16="http://schemas.microsoft.com/office/drawing/2014/main" id="{51A5B0D7-2859-21E8-101F-3B1B9D12534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6258" y="4864715"/>
            <a:ext cx="770161" cy="1531620"/>
          </a:xfrm>
          <a:prstGeom prst="rect">
            <a:avLst/>
          </a:prstGeom>
        </p:spPr>
      </p:pic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7DC9A4AC-38ED-A0E8-3543-95C8B64B1948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160020" y="6533495"/>
            <a:ext cx="733806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0CEAB3DF-E113-A48A-4976-5362A80A08F7}"/>
                  </a:ext>
                </a:extLst>
              </p:cNvPr>
              <p:cNvSpPr txBox="1"/>
              <p:nvPr/>
            </p:nvSpPr>
            <p:spPr>
              <a:xfrm>
                <a:off x="560860" y="1690688"/>
                <a:ext cx="10651970" cy="298645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dirty="0"/>
                  <a:t>S’assurer de la qualité des résultats de SolidWorks </a:t>
                </a:r>
                <a:r>
                  <a:rPr lang="fr-FR" dirty="0">
                    <a:sym typeface="Wingdings" panose="05000000000000000000" pitchFamily="2" charset="2"/>
                  </a:rPr>
                  <a:t> analyse de convergence (temps et espace)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r</m:t>
                    </m:r>
                    <m: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=</m:t>
                    </m:r>
                    <m:f>
                      <m:fPr>
                        <m:ctrlPr>
                          <a:rPr lang="pt-BR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i="1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Δt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fr-FR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Te</m:t>
                        </m:r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 </m:t>
                    </m:r>
                  </m:oMath>
                </a14:m>
                <a:r>
                  <a:rPr lang="fr-FR" dirty="0">
                    <a:sym typeface="Wingdings" panose="05000000000000000000" pitchFamily="2" charset="2"/>
                  </a:rPr>
                  <a:t> où Te désigne la taille des éléments (cm) et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i="1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Δt</m:t>
                    </m:r>
                  </m:oMath>
                </a14:m>
                <a:r>
                  <a:rPr lang="fr-FR" dirty="0">
                    <a:sym typeface="Wingdings" panose="05000000000000000000" pitchFamily="2" charset="2"/>
                  </a:rPr>
                  <a:t> le pas de temps (s)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dirty="0">
                    <a:sym typeface="Wingdings" panose="05000000000000000000" pitchFamily="2" charset="2"/>
                  </a:rPr>
                  <a:t>Analyse de convergence réalisé avec les paramètres : 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t</m:t>
                    </m:r>
                    <m:r>
                      <m:rPr>
                        <m:sty m:val="p"/>
                      </m:rPr>
                      <a:rPr lang="fr-FR" b="0" i="1" baseline="-25000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fin</m:t>
                    </m:r>
                    <m: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 = 100</m:t>
                    </m:r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s</m:t>
                    </m:r>
                    <m: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 , </m:t>
                    </m:r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r</m:t>
                    </m:r>
                    <m: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=2</m:t>
                    </m:r>
                  </m:oMath>
                </a14:m>
                <a:endParaRPr lang="fr-FR" dirty="0">
                  <a:sym typeface="Wingdings" panose="05000000000000000000" pitchFamily="2" charset="2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fr-FR" dirty="0">
                  <a:sym typeface="Wingdings" panose="05000000000000000000" pitchFamily="2" charset="2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dirty="0">
                    <a:sym typeface="Wingdings" panose="05000000000000000000" pitchFamily="2" charset="2"/>
                  </a:rPr>
                  <a:t>Condition : obtenir convergence des valeurs finales + symétrie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fr-FR" dirty="0">
                  <a:sym typeface="Wingdings" panose="05000000000000000000" pitchFamily="2" charset="2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dirty="0">
                    <a:sym typeface="Wingdings" panose="05000000000000000000" pitchFamily="2" charset="2"/>
                  </a:rPr>
                  <a:t>Obtention de résultat fiable pour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i="1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Δt</m:t>
                    </m:r>
                    <m: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= 0.6</m:t>
                    </m:r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s</m:t>
                    </m:r>
                  </m:oMath>
                </a14:m>
                <a:r>
                  <a:rPr lang="fr-FR" dirty="0">
                    <a:sym typeface="Wingdings" panose="05000000000000000000" pitchFamily="2" charset="2"/>
                  </a:rPr>
                  <a:t>  et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i="1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Te</m:t>
                    </m:r>
                    <m: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 = 0.3</m:t>
                    </m:r>
                  </m:oMath>
                </a14:m>
                <a:endParaRPr lang="fr-FR" dirty="0">
                  <a:sym typeface="Wingdings" panose="05000000000000000000" pitchFamily="2" charset="2"/>
                </a:endParaRPr>
              </a:p>
              <a:p>
                <a:endParaRPr lang="fr-FR" dirty="0">
                  <a:sym typeface="Wingdings" panose="05000000000000000000" pitchFamily="2" charset="2"/>
                </a:endParaRPr>
              </a:p>
              <a:p>
                <a:endParaRPr lang="fr-FR" dirty="0">
                  <a:sym typeface="Wingdings" panose="05000000000000000000" pitchFamily="2" charset="2"/>
                </a:endParaRPr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0CEAB3DF-E113-A48A-4976-5362A80A08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0860" y="1690688"/>
                <a:ext cx="10651970" cy="2986459"/>
              </a:xfrm>
              <a:prstGeom prst="rect">
                <a:avLst/>
              </a:prstGeom>
              <a:blipFill>
                <a:blip r:embed="rId11"/>
                <a:stretch>
                  <a:fillRect l="-343" t="-12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9" name="TextBox 58">
            <a:extLst>
              <a:ext uri="{FF2B5EF4-FFF2-40B4-BE49-F238E27FC236}">
                <a16:creationId xmlns:a16="http://schemas.microsoft.com/office/drawing/2014/main" id="{D1B8D06E-603C-C267-3757-24818DA12201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498081" y="6396335"/>
            <a:ext cx="77125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dirty="0"/>
              <a:t>Te (cm)</a:t>
            </a:r>
            <a:endParaRPr lang="en-US" sz="1400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377C65A6-DFDD-665B-F68B-741DFE06640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25608" y="6550223"/>
            <a:ext cx="28084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dirty="0"/>
              <a:t>1</a:t>
            </a:r>
            <a:endParaRPr lang="en-US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8D5B6F5-F7F2-D061-02CE-DBF9E04F5741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838695" y="6550223"/>
            <a:ext cx="42832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dirty="0"/>
              <a:t>0.2</a:t>
            </a:r>
            <a:endParaRPr lang="en-US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C2BD58C-6402-B763-16DB-A732584E4F56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555159" y="6550223"/>
            <a:ext cx="42832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dirty="0"/>
              <a:t>0.6</a:t>
            </a:r>
            <a:endParaRPr lang="en-US" dirty="0"/>
          </a:p>
        </p:txBody>
      </p:sp>
      <p:pic>
        <p:nvPicPr>
          <p:cNvPr id="64" name="Picture 63">
            <a:extLst>
              <a:ext uri="{FF2B5EF4-FFF2-40B4-BE49-F238E27FC236}">
                <a16:creationId xmlns:a16="http://schemas.microsoft.com/office/drawing/2014/main" id="{63B385C4-FDC5-27BD-D21F-1496ACB0F442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22504" y="3146976"/>
            <a:ext cx="4330546" cy="32479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650264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A98810-4DBB-A150-02D8-A72B03EB7E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Validation - erreur simulation :</a:t>
            </a: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BB7CBB9-6184-B33E-4584-B7B75F69100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36454" y="365125"/>
            <a:ext cx="4060801" cy="304560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B13BC59-1CF5-FBB2-63DD-9DDC99704668}"/>
                  </a:ext>
                </a:extLst>
              </p:cNvPr>
              <p:cNvSpPr txBox="1"/>
              <p:nvPr/>
            </p:nvSpPr>
            <p:spPr>
              <a:xfrm>
                <a:off x="463497" y="1690688"/>
                <a:ext cx="4512524" cy="365285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2400" dirty="0"/>
                  <a:t>Comparaison des champs de température pour </a:t>
                </a:r>
                <a:r>
                  <a:rPr lang="fr-FR" sz="2400" dirty="0" err="1"/>
                  <a:t>t</a:t>
                </a:r>
                <a:r>
                  <a:rPr lang="fr-FR" sz="2400" baseline="-25000" dirty="0" err="1"/>
                  <a:t>fin</a:t>
                </a:r>
                <a:r>
                  <a:rPr lang="fr-FR" sz="2400" baseline="-25000" dirty="0"/>
                  <a:t> </a:t>
                </a:r>
                <a:r>
                  <a:rPr lang="fr-FR" sz="2400" dirty="0"/>
                  <a:t>= 600s</a:t>
                </a:r>
              </a:p>
              <a:p>
                <a:endParaRPr lang="fr-FR" sz="2400" dirty="0"/>
              </a:p>
              <a:p>
                <a:endParaRPr lang="fr-FR" sz="24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sSub>
                            <m:sSubPr>
                              <m:ctrlPr>
                                <a:rPr lang="fr-FR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0" i="1" smtClean="0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fr-FR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sub>
                      </m:sSub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fr-FR" sz="2400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m:rPr>
                                  <m:sty m:val="p"/>
                                </m:rPr>
                                <a:rPr lang="fr-FR" sz="2400" i="1"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den>
                          </m:f>
                          <m:nary>
                            <m:naryPr>
                              <m:chr m:val="∑"/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fr-FR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fr-F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fr-FR" sz="2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fr-FR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fr-FR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𝑚</m:t>
                                          </m:r>
                                          <m:r>
                                            <a:rPr lang="fr-FR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fr-FR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fr-FR" sz="2400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fr-F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fr-FR" sz="2400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fr-FR" sz="2400" i="1">
                                              <a:latin typeface="Cambria Math" panose="02040503050406030204" pitchFamily="18" charset="0"/>
                                            </a:rPr>
                                            <m:t>𝑒</m:t>
                                          </m:r>
                                          <m:r>
                                            <a:rPr lang="fr-FR" sz="2400" i="1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fr-FR" sz="24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fr-FR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rad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= 11.8 </m:t>
                      </m:r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∗</m:t>
                      </m:r>
                    </m:oMath>
                  </m:oMathPara>
                </a14:m>
                <a:endParaRPr lang="fr-FR" sz="2400" dirty="0"/>
              </a:p>
              <a:p>
                <a:endParaRPr lang="fr-FR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B13BC59-1CF5-FBB2-63DD-9DDC997046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3497" y="1690688"/>
                <a:ext cx="4512524" cy="3652859"/>
              </a:xfrm>
              <a:prstGeom prst="rect">
                <a:avLst/>
              </a:prstGeom>
              <a:blipFill>
                <a:blip r:embed="rId3"/>
                <a:stretch>
                  <a:fillRect l="-2027" t="-1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27367D0-BA41-060B-521D-6283AD7D3C1F}"/>
                  </a:ext>
                </a:extLst>
              </p:cNvPr>
              <p:cNvSpPr txBox="1"/>
              <p:nvPr/>
            </p:nvSpPr>
            <p:spPr>
              <a:xfrm>
                <a:off x="5350724" y="1396545"/>
                <a:ext cx="2496875" cy="23083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b="0" dirty="0">
                    <a:latin typeface="Cambria Math" panose="02040503050406030204" pitchFamily="18" charset="0"/>
                  </a:rPr>
                  <a:t>Paramètres utilisés : </a:t>
                </a:r>
              </a:p>
              <a:p>
                <a:endParaRPr lang="fr-FR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=7850 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𝑘𝑔</m:t>
                    </m:r>
                    <m:r>
                      <m:rPr>
                        <m:lit/>
                      </m:rPr>
                      <a:rPr lang="fr-FR" b="0" i="1" smtClean="0">
                        <a:latin typeface="Cambria Math" panose="02040503050406030204" pitchFamily="18" charset="0"/>
                      </a:rPr>
                      <m:t>/</m:t>
                    </m:r>
                    <m:sSup>
                      <m:sSup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r>
                  <a:rPr lang="fr-FR" b="0" dirty="0"/>
                  <a:t> </a:t>
                </a:r>
              </a:p>
              <a:p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𝜀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=0.525 </m:t>
                    </m:r>
                  </m:oMath>
                </a14:m>
                <a:r>
                  <a:rPr lang="fr-FR" b="0" dirty="0"/>
                  <a:t> </a:t>
                </a:r>
              </a:p>
              <a:p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=10</m:t>
                    </m:r>
                    <m:r>
                      <m:rPr>
                        <m:nor/>
                      </m:rPr>
                      <a:rPr lang="fr-FR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en-US"/>
                      <m:t>W</m:t>
                    </m:r>
                    <m:r>
                      <m:rPr>
                        <m:nor/>
                      </m:rPr>
                      <a:rPr lang="en-US"/>
                      <m:t>/</m:t>
                    </m:r>
                    <m:sSup>
                      <m:sSup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b="0" i="1" smtClean="0">
                        <a:latin typeface="Cambria Math" panose="02040503050406030204" pitchFamily="18" charset="0"/>
                      </a:rPr>
                      <m:t>⋅</m:t>
                    </m:r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</a:rPr>
                      <m:t>K</m:t>
                    </m:r>
                  </m:oMath>
                </a14:m>
                <a:r>
                  <a:rPr lang="en-US" dirty="0"/>
                  <a:t>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𝑖𝑛𝑖𝑡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=1118.15 </m:t>
                    </m:r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</a:rPr>
                      <m:t>K</m:t>
                    </m:r>
                  </m:oMath>
                </a14:m>
                <a:r>
                  <a:rPr lang="en-US" dirty="0"/>
                  <a:t>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𝑎𝑚𝑏𝑖𝑎𝑛𝑡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=298.15 </m:t>
                    </m:r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</a:rPr>
                      <m:t>K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 </a:t>
                </a:r>
              </a:p>
              <a:p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=44.5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𝑊</m:t>
                    </m:r>
                    <m:r>
                      <m:rPr>
                        <m:lit/>
                      </m:rPr>
                      <a:rPr lang="fr-FR" b="0" i="1" smtClean="0">
                        <a:latin typeface="Cambria Math" panose="02040503050406030204" pitchFamily="18" charset="0"/>
                      </a:rPr>
                      <m:t>/</m:t>
                    </m:r>
                    <m:d>
                      <m:d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⋅</m:t>
                        </m:r>
                        <m:r>
                          <m:rPr>
                            <m:sty m:val="p"/>
                          </m:rPr>
                          <a:rPr lang="fr-FR" b="0" i="1" smtClean="0">
                            <a:latin typeface="Cambria Math" panose="02040503050406030204" pitchFamily="18" charset="0"/>
                          </a:rPr>
                          <m:t>K</m:t>
                        </m:r>
                      </m:e>
                    </m:d>
                  </m:oMath>
                </a14:m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27367D0-BA41-060B-521D-6283AD7D3C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0724" y="1396545"/>
                <a:ext cx="2496875" cy="2308324"/>
              </a:xfrm>
              <a:prstGeom prst="rect">
                <a:avLst/>
              </a:prstGeom>
              <a:blipFill>
                <a:blip r:embed="rId4"/>
                <a:stretch>
                  <a:fillRect l="-2200" t="-1583" b="-34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Picture 11">
            <a:extLst>
              <a:ext uri="{FF2B5EF4-FFF2-40B4-BE49-F238E27FC236}">
                <a16:creationId xmlns:a16="http://schemas.microsoft.com/office/drawing/2014/main" id="{044402B3-46AF-8558-B0C5-725A3070DC8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98017" y="3971427"/>
            <a:ext cx="899238" cy="274343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816710B-426E-2FF9-80BD-3E520DDC9AF1}"/>
                  </a:ext>
                </a:extLst>
              </p:cNvPr>
              <p:cNvSpPr txBox="1"/>
              <p:nvPr/>
            </p:nvSpPr>
            <p:spPr>
              <a:xfrm>
                <a:off x="5350724" y="4441575"/>
                <a:ext cx="1920240" cy="175432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b="0" i="0" dirty="0">
                    <a:latin typeface="Cambria Math" panose="02040503050406030204" pitchFamily="18" charset="0"/>
                  </a:rPr>
                  <a:t>Modèle python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𝑛𝑟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𝑛𝑧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= 20</m:t>
                      </m:r>
                    </m:oMath>
                  </m:oMathPara>
                </a14:m>
                <a:endParaRPr lang="fr-FR" b="0" i="0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dt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= 0.025 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s</m:t>
                      </m:r>
                    </m:oMath>
                  </m:oMathPara>
                </a14:m>
                <a:endParaRPr lang="fr-FR" b="0" i="0" dirty="0">
                  <a:latin typeface="Cambria Math" panose="02040503050406030204" pitchFamily="18" charset="0"/>
                </a:endParaRPr>
              </a:p>
              <a:p>
                <a:r>
                  <a:rPr lang="fr-FR" b="0" i="0" dirty="0">
                    <a:latin typeface="Cambria Math" panose="02040503050406030204" pitchFamily="18" charset="0"/>
                  </a:rPr>
                  <a:t>Simulation pour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b="0" i="0" smtClean="0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=0.6 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fr-FR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Te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= 0.3 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cm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816710B-426E-2FF9-80BD-3E520DDC9A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0724" y="4441575"/>
                <a:ext cx="1920240" cy="1754326"/>
              </a:xfrm>
              <a:prstGeom prst="rect">
                <a:avLst/>
              </a:prstGeom>
              <a:blipFill>
                <a:blip r:embed="rId6"/>
                <a:stretch>
                  <a:fillRect l="-2857" t="-2439" r="-254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4" name="Picture 13">
            <a:extLst>
              <a:ext uri="{FF2B5EF4-FFF2-40B4-BE49-F238E27FC236}">
                <a16:creationId xmlns:a16="http://schemas.microsoft.com/office/drawing/2014/main" id="{766F6BA7-FB40-F5A0-46A1-686F83E0644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36454" y="3971427"/>
            <a:ext cx="3035833" cy="269462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48753BC-C2A4-D20F-34BD-5542121EF1D7}"/>
              </a:ext>
            </a:extLst>
          </p:cNvPr>
          <p:cNvSpPr txBox="1"/>
          <p:nvPr/>
        </p:nvSpPr>
        <p:spPr>
          <a:xfrm>
            <a:off x="94745" y="5996226"/>
            <a:ext cx="4881276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*</a:t>
            </a:r>
            <a:r>
              <a:rPr lang="en-US" sz="1600" dirty="0" err="1"/>
              <a:t>Calculé</a:t>
            </a:r>
            <a:r>
              <a:rPr lang="en-US" sz="1600" dirty="0"/>
              <a:t> pour 4 </a:t>
            </a:r>
            <a:r>
              <a:rPr lang="en-US" sz="1600" dirty="0" err="1"/>
              <a:t>valeurs</a:t>
            </a:r>
            <a:r>
              <a:rPr lang="en-US" sz="1600" dirty="0"/>
              <a:t> de temperatures et pour </a:t>
            </a:r>
            <a:r>
              <a:rPr lang="en-US" sz="1600" dirty="0" err="1"/>
              <a:t>une</a:t>
            </a:r>
            <a:r>
              <a:rPr lang="en-US" sz="1600" dirty="0"/>
              <a:t> </a:t>
            </a:r>
            <a:r>
              <a:rPr lang="en-US" sz="1600" dirty="0" err="1"/>
              <a:t>seule</a:t>
            </a:r>
            <a:r>
              <a:rPr lang="en-US" sz="1600" dirty="0"/>
              <a:t> “</a:t>
            </a:r>
            <a:r>
              <a:rPr lang="en-US" sz="1600" dirty="0" err="1"/>
              <a:t>expérience</a:t>
            </a:r>
            <a:r>
              <a:rPr lang="en-US" sz="1600" dirty="0"/>
              <a:t>”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251467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9FF1174-F757-BC98-CD45-EA7CDE51F4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Validation – Incertitude numérique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343FA7A9-6CDD-34AF-AA96-4080445750A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28587" y="1990217"/>
                <a:ext cx="5858417" cy="4044823"/>
              </a:xfrm>
            </p:spPr>
            <p:txBody>
              <a:bodyPr>
                <a:normAutofit fontScale="92500" lnSpcReduction="10000"/>
              </a:bodyPr>
              <a:lstStyle/>
              <a:p>
                <a:r>
                  <a:rPr lang="fr-FR" dirty="0"/>
                  <a:t>Discrétisation selon 3 dimensions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𝑛𝑢𝑚</m:t>
                        </m:r>
                      </m:sub>
                    </m:sSub>
                    <m:r>
                      <a:rPr lang="fr-FR" i="1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𝐺𝐶</m:t>
                                    </m:r>
                                    <m:sSub>
                                      <m:sSubPr>
                                        <m:ctrlP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  <m:t>𝐼</m:t>
                                        </m:r>
                                      </m:e>
                                      <m:sub>
                                        <m: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  <m:t>𝑟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</m:d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𝐺𝐶</m:t>
                                    </m:r>
                                    <m:sSub>
                                      <m:sSubPr>
                                        <m:ctrlP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  <m:t>𝐼</m:t>
                                        </m:r>
                                      </m:e>
                                      <m:sub>
                                        <m: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  <m:t>𝑧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</m:d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𝐺𝐶</m:t>
                                    </m:r>
                                    <m:sSub>
                                      <m:sSubPr>
                                        <m:ctrlP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  <m:t>𝐼</m:t>
                                        </m:r>
                                      </m:e>
                                      <m:sub>
                                        <m: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</m:d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rad>
                  </m:oMath>
                </a14:m>
                <a:endParaRPr lang="fr-FR" dirty="0"/>
              </a:p>
              <a:p>
                <a14:m>
                  <m:oMath xmlns:m="http://schemas.openxmlformats.org/officeDocument/2006/math">
                    <m:r>
                      <a:rPr lang="fr-FR" i="1">
                        <a:latin typeface="Cambria Math" panose="02040503050406030204" pitchFamily="18" charset="0"/>
                      </a:rPr>
                      <m:t>𝐺𝐶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fr-FR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b>
                        </m:sSub>
                      </m:num>
                      <m:den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−1</m:t>
                        </m:r>
                      </m:den>
                    </m:f>
                    <m:d>
                      <m:dPr>
                        <m:begChr m:val="|"/>
                        <m:endChr m:val="|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fr-FR" i="1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</m:oMath>
                </a14:m>
                <a:endParaRPr lang="fr-FR" dirty="0"/>
              </a:p>
              <a:p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acc>
                              <m:accPr>
                                <m:chr m:val="̂"/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</m:acc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</m:sub>
                            </m:sSub>
                          </m:den>
                        </m:f>
                      </m:e>
                    </m:d>
                    <m:r>
                      <a:rPr lang="fr-FR">
                        <a:latin typeface="Cambria Math" panose="02040503050406030204" pitchFamily="18" charset="0"/>
                      </a:rPr>
                      <m:t>≤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0.1</m:t>
                    </m:r>
                  </m:oMath>
                </a14:m>
                <a:r>
                  <a:rPr lang="fr-FR" dirty="0"/>
                  <a:t> </a:t>
                </a:r>
                <a:r>
                  <a:rPr lang="fr-FR" dirty="0">
                    <a:sym typeface="Wingdings" panose="05000000000000000000" pitchFamily="2" charset="2"/>
                  </a:rPr>
                  <a:t>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fr-FR" i="1">
                        <a:latin typeface="Cambria Math" panose="02040503050406030204" pitchFamily="18" charset="0"/>
                      </a:rPr>
                      <m:t>=1.25</m:t>
                    </m:r>
                  </m:oMath>
                </a14:m>
                <a:r>
                  <a:rPr lang="fr-FR" dirty="0"/>
                  <a:t> et </a:t>
                </a:r>
                <a14:m>
                  <m:oMath xmlns:m="http://schemas.openxmlformats.org/officeDocument/2006/math">
                    <m:r>
                      <a:rPr lang="fr-FR" i="1">
                        <a:latin typeface="Cambria Math" panose="02040503050406030204" pitchFamily="18" charset="0"/>
                      </a:rPr>
                      <m:t>𝑝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</m:oMath>
                </a14:m>
                <a:endParaRPr lang="fr-FR" dirty="0"/>
              </a:p>
              <a:p>
                <a:r>
                  <a:rPr lang="fr-FR" dirty="0"/>
                  <a:t>SRQ : valeurs de température à t=2h</a:t>
                </a:r>
              </a:p>
              <a:p>
                <a:endParaRPr lang="fr-FR" dirty="0"/>
              </a:p>
              <a:p>
                <a:pPr>
                  <a:buFont typeface="Wingdings" panose="05000000000000000000" pitchFamily="2" charset="2"/>
                  <a:buChar char="à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 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𝑢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𝑛𝑢𝑚</m:t>
                        </m:r>
                      </m:sub>
                    </m:sSub>
                    <m:r>
                      <a:rPr lang="fr-FR" i="1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=</m:t>
                    </m:r>
                    <m:sSup>
                      <m:sSupPr>
                        <m:ctrlPr>
                          <a:rPr lang="fr-FR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</m:ctrlPr>
                      </m:sSupPr>
                      <m:e>
                        <m:r>
                          <a:rPr lang="fr-FR" i="1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1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,</m:t>
                        </m:r>
                        <m:r>
                          <a:rPr lang="fr-FR" i="1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1097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×10</m:t>
                        </m:r>
                      </m:e>
                      <m:sup>
                        <m:r>
                          <a:rPr lang="fr-FR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−3</m:t>
                        </m:r>
                      </m:sup>
                    </m:sSup>
                    <m: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𝐾</m:t>
                    </m:r>
                  </m:oMath>
                </a14:m>
                <a:endParaRPr lang="fr-FR" b="0" dirty="0">
                  <a:sym typeface="Wingdings" panose="05000000000000000000" pitchFamily="2" charset="2"/>
                </a:endParaRPr>
              </a:p>
              <a:p>
                <a:pPr>
                  <a:buFont typeface="Wingdings" panose="05000000000000000000" pitchFamily="2" charset="2"/>
                  <a:buChar char="à"/>
                </a:pPr>
                <a:endParaRPr lang="fr-FR" b="0" dirty="0">
                  <a:sym typeface="Wingdings" panose="05000000000000000000" pitchFamily="2" charset="2"/>
                </a:endParaRPr>
              </a:p>
              <a:p>
                <a:pPr>
                  <a:buFont typeface="Wingdings" panose="05000000000000000000" pitchFamily="2" charset="2"/>
                  <a:buChar char="à"/>
                </a:pPr>
                <a:endParaRPr lang="fr-FR" dirty="0"/>
              </a:p>
              <a:p>
                <a:pPr marL="0" indent="0">
                  <a:buNone/>
                </a:pPr>
                <a:endParaRPr lang="fr-FR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fr-FR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fr-FR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343FA7A9-6CDD-34AF-AA96-4080445750A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28587" y="1990217"/>
                <a:ext cx="5858417" cy="4044823"/>
              </a:xfrm>
              <a:blipFill>
                <a:blip r:embed="rId2"/>
                <a:stretch>
                  <a:fillRect l="-1665" t="-301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age 4">
            <a:extLst>
              <a:ext uri="{FF2B5EF4-FFF2-40B4-BE49-F238E27FC236}">
                <a16:creationId xmlns:a16="http://schemas.microsoft.com/office/drawing/2014/main" id="{873271AC-9B6F-EBC6-6CB6-88C22C8417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3447" y="2068513"/>
            <a:ext cx="4649965" cy="161156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au 3">
                <a:extLst>
                  <a:ext uri="{FF2B5EF4-FFF2-40B4-BE49-F238E27FC236}">
                    <a16:creationId xmlns:a16="http://schemas.microsoft.com/office/drawing/2014/main" id="{0F466935-667E-0FF9-8028-45C7C5445289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7013448" y="4057902"/>
              <a:ext cx="4649965" cy="15290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757285">
                      <a:extLst>
                        <a:ext uri="{9D8B030D-6E8A-4147-A177-3AD203B41FA5}">
                          <a16:colId xmlns:a16="http://schemas.microsoft.com/office/drawing/2014/main" val="2504244554"/>
                        </a:ext>
                      </a:extLst>
                    </a:gridCol>
                    <a:gridCol w="2892680">
                      <a:extLst>
                        <a:ext uri="{9D8B030D-6E8A-4147-A177-3AD203B41FA5}">
                          <a16:colId xmlns:a16="http://schemas.microsoft.com/office/drawing/2014/main" val="1599906085"/>
                        </a:ext>
                      </a:extLst>
                    </a:gridCol>
                  </a:tblGrid>
                  <a:tr h="38227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Dimension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GCI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61847506"/>
                      </a:ext>
                    </a:extLst>
                  </a:tr>
                  <a:tr h="38227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4,9684</a:t>
                          </a: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fr-FR" dirty="0" smtClean="0">
                                      <a:latin typeface="Cambria Math" panose="02040503050406030204" pitchFamily="18" charset="0"/>
                                    </a:rPr>
                                    <m:t>.</m:t>
                                  </m:r>
                                  <m: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e>
                                <m:sup>
                                  <m: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  <m:t>−4</m:t>
                                  </m:r>
                                </m:sup>
                              </m:sSup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oMath>
                          </a14:m>
                          <a:endParaRPr lang="fr-FR" b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92151411"/>
                      </a:ext>
                    </a:extLst>
                  </a:tr>
                  <a:tr h="38227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z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7,8557</a:t>
                          </a: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fr-FR" dirty="0" smtClean="0">
                                      <a:latin typeface="Cambria Math" panose="02040503050406030204" pitchFamily="18" charset="0"/>
                                    </a:rPr>
                                    <m:t>.</m:t>
                                  </m:r>
                                  <m: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e>
                                <m:sup>
                                  <m: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  <m:t>−4</m:t>
                                  </m:r>
                                </m:sup>
                              </m:sSup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oMath>
                          </a14:m>
                          <a:endParaRPr lang="fr-FR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2332539"/>
                      </a:ext>
                    </a:extLst>
                  </a:tr>
                  <a:tr h="38227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2,0155</a:t>
                          </a: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fr-FR" dirty="0" smtClean="0">
                                      <a:latin typeface="Cambria Math" panose="02040503050406030204" pitchFamily="18" charset="0"/>
                                    </a:rPr>
                                    <m:t>.</m:t>
                                  </m:r>
                                  <m: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e>
                                <m:sup>
                                  <m: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  <m:t>−3</m:t>
                                  </m:r>
                                </m:sup>
                              </m:sSup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oMath>
                          </a14:m>
                          <a:endParaRPr lang="fr-FR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4121845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au 3">
                <a:extLst>
                  <a:ext uri="{FF2B5EF4-FFF2-40B4-BE49-F238E27FC236}">
                    <a16:creationId xmlns:a16="http://schemas.microsoft.com/office/drawing/2014/main" id="{0F466935-667E-0FF9-8028-45C7C544528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481105640"/>
                  </p:ext>
                </p:extLst>
              </p:nvPr>
            </p:nvGraphicFramePr>
            <p:xfrm>
              <a:off x="7013448" y="4057902"/>
              <a:ext cx="4649965" cy="15290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757285">
                      <a:extLst>
                        <a:ext uri="{9D8B030D-6E8A-4147-A177-3AD203B41FA5}">
                          <a16:colId xmlns:a16="http://schemas.microsoft.com/office/drawing/2014/main" val="2504244554"/>
                        </a:ext>
                      </a:extLst>
                    </a:gridCol>
                    <a:gridCol w="2892680">
                      <a:extLst>
                        <a:ext uri="{9D8B030D-6E8A-4147-A177-3AD203B41FA5}">
                          <a16:colId xmlns:a16="http://schemas.microsoft.com/office/drawing/2014/main" val="1599906085"/>
                        </a:ext>
                      </a:extLst>
                    </a:gridCol>
                  </a:tblGrid>
                  <a:tr h="38227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Dimension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GCI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61847506"/>
                      </a:ext>
                    </a:extLst>
                  </a:tr>
                  <a:tr h="38227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>
                        <a:blipFill>
                          <a:blip r:embed="rId4"/>
                          <a:stretch>
                            <a:fillRect l="-61053" t="-106349" r="-842" b="-22222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2151411"/>
                      </a:ext>
                    </a:extLst>
                  </a:tr>
                  <a:tr h="38227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z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>
                        <a:blipFill>
                          <a:blip r:embed="rId4"/>
                          <a:stretch>
                            <a:fillRect l="-61053" t="-206349" r="-842" b="-12222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2332539"/>
                      </a:ext>
                    </a:extLst>
                  </a:tr>
                  <a:tr h="38227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>
                        <a:blipFill>
                          <a:blip r:embed="rId4"/>
                          <a:stretch>
                            <a:fillRect l="-61053" t="-306349" r="-842" b="-2222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64121845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80922363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C6439F-29E7-5985-9D89-DC076CF917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Validation – incertitude expérimentale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0659431-7107-A76B-E208-96EAABE1F90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3134995"/>
              </a:xfrm>
            </p:spPr>
            <p:txBody>
              <a:bodyPr>
                <a:normAutofit fontScale="85000" lnSpcReduction="20000"/>
              </a:bodyPr>
              <a:lstStyle/>
              <a:p>
                <a:pPr marL="0" indent="0">
                  <a:buNone/>
                </a:pPr>
                <a:r>
                  <a:rPr lang="fr-FR" dirty="0"/>
                  <a:t>Erreur épistémique d’un thermocouple classique : ±1.5°C*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</a:rPr>
                      <m:t>σ</m:t>
                    </m:r>
                    <m:r>
                      <m:rPr>
                        <m:sty m:val="p"/>
                      </m:rPr>
                      <a:rPr lang="fr-FR" b="0" i="1" baseline="-25000" smtClean="0">
                        <a:latin typeface="Cambria Math" panose="02040503050406030204" pitchFamily="18" charset="0"/>
                      </a:rPr>
                      <m:t>tc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1.5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</m:rad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</a:rPr>
                      <m:t> = 0.87 °</m:t>
                    </m:r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</a:rPr>
                      <m:t>C</m:t>
                    </m:r>
                  </m:oMath>
                </a14:m>
                <a:r>
                  <a:rPr lang="fr-FR" dirty="0"/>
                  <a:t> </a:t>
                </a:r>
              </a:p>
              <a:p>
                <a:pPr marL="0" indent="0">
                  <a:buNone/>
                </a:pPr>
                <a:r>
                  <a:rPr lang="fr-FR" dirty="0"/>
                  <a:t> car distribution uniforme dans l’intervalle [-1.5,1.5]°C.</a:t>
                </a:r>
              </a:p>
              <a:p>
                <a:pPr marL="0" indent="0">
                  <a:buNone/>
                </a:pPr>
                <a:endParaRPr lang="fr-FR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u</m:t>
                      </m:r>
                      <m:r>
                        <m:rPr>
                          <m:sty m:val="p"/>
                        </m:rPr>
                        <a:rPr lang="fr-FR" b="0" i="1" baseline="-25000" smtClean="0">
                          <a:latin typeface="Cambria Math" panose="02040503050406030204" pitchFamily="18" charset="0"/>
                        </a:rPr>
                        <m:t>D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= </m:t>
                      </m:r>
                      <m:rad>
                        <m:radPr>
                          <m:degHide m:val="on"/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m:rPr>
                              <m:sty m:val="p"/>
                            </m:rPr>
                            <a:rPr lang="fr-FR" b="0" i="1" smtClean="0">
                              <a:latin typeface="Cambria Math" panose="02040503050406030204" pitchFamily="18" charset="0"/>
                            </a:rPr>
                            <m:t>σ</m:t>
                          </m:r>
                          <m:r>
                            <m:rPr>
                              <m:sty m:val="p"/>
                            </m:rPr>
                            <a:rPr lang="fr-FR" b="0" i="1" baseline="-25000" smtClean="0">
                              <a:latin typeface="Cambria Math" panose="02040503050406030204" pitchFamily="18" charset="0"/>
                            </a:rPr>
                            <m:t>tc</m:t>
                          </m:r>
                          <m:r>
                            <a:rPr lang="fr-FR" b="0" i="1" baseline="30000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 +</m:t>
                          </m:r>
                          <m:r>
                            <a:rPr lang="fr-FR" b="0" i="1" smtClean="0">
                              <a:highlight>
                                <a:srgbClr val="5B9BD5"/>
                              </a:highlight>
                              <a:latin typeface="Cambria Math" panose="02040503050406030204" pitchFamily="18" charset="0"/>
                            </a:rPr>
                            <m:t> 0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²</m:t>
                          </m:r>
                          <m:r>
                            <a:rPr lang="fr-FR" b="0" i="1" smtClean="0">
                              <a:highlight>
                                <a:srgbClr val="5B9BD5"/>
                              </a:highlight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rad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fr-FR" i="1">
                          <a:latin typeface="Cambria Math" panose="02040503050406030204" pitchFamily="18" charset="0"/>
                        </a:rPr>
                        <m:t>σ</m:t>
                      </m:r>
                      <m:r>
                        <m:rPr>
                          <m:sty m:val="p"/>
                        </m:rPr>
                        <a:rPr lang="fr-FR" i="1" baseline="-25000">
                          <a:latin typeface="Cambria Math" panose="02040503050406030204" pitchFamily="18" charset="0"/>
                        </a:rPr>
                        <m:t>tc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=0.87°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C</m:t>
                      </m:r>
                    </m:oMath>
                  </m:oMathPara>
                </a14:m>
                <a:endParaRPr lang="fr-FR" dirty="0"/>
              </a:p>
              <a:p>
                <a:pPr marL="0" indent="0">
                  <a:buNone/>
                </a:pPr>
                <a:endParaRPr lang="fr-FR" dirty="0"/>
              </a:p>
              <a:p>
                <a:pPr marL="0" indent="0">
                  <a:buNone/>
                </a:pPr>
                <a:r>
                  <a:rPr lang="fr-FR" dirty="0">
                    <a:highlight>
                      <a:srgbClr val="5B9BD5"/>
                    </a:highlight>
                  </a:rPr>
                  <a:t>On considère une incertitude sur la distribution des mesures par manque d’informations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0659431-7107-A76B-E208-96EAABE1F90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3134995"/>
              </a:xfrm>
              <a:blipFill>
                <a:blip r:embed="rId2"/>
                <a:stretch>
                  <a:fillRect l="-928" t="-4272" b="-27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2CF3D44E-FDBD-44F9-D894-E056CB9F80B0}"/>
              </a:ext>
            </a:extLst>
          </p:cNvPr>
          <p:cNvSpPr txBox="1"/>
          <p:nvPr/>
        </p:nvSpPr>
        <p:spPr>
          <a:xfrm>
            <a:off x="838200" y="6126480"/>
            <a:ext cx="112318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*Source : tcsa.fr/thermocouple/type-k-thermocouple.html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398667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5F4ABDAC-1290-62BE-A747-49C13C124D1C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fr-FR" dirty="0"/>
                  <a:t>Validation – incertitude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𝑖𝑛𝑝𝑢𝑡</m:t>
                        </m:r>
                      </m:sub>
                    </m:sSub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5F4ABDAC-1290-62BE-A747-49C13C124D1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F3B03C2-BC51-3422-84F2-F0391762AC5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512507"/>
                <a:ext cx="10515600" cy="1902313"/>
              </a:xfrm>
            </p:spPr>
            <p:txBody>
              <a:bodyPr>
                <a:normAutofit fontScale="77500" lnSpcReduction="20000"/>
              </a:bodyPr>
              <a:lstStyle/>
              <a:p>
                <a:r>
                  <a:rPr lang="fr-FR" dirty="0"/>
                  <a:t>Conductivité thermique suit une loi normale</a:t>
                </a:r>
              </a:p>
              <a:p>
                <a:pPr marL="0" indent="0" algn="ctr">
                  <a:buNone/>
                </a:pPr>
                <a:r>
                  <a:rPr lang="fr-FR" dirty="0"/>
                  <a:t> </a:t>
                </a:r>
                <a14:m>
                  <m:oMath xmlns:m="http://schemas.openxmlformats.org/officeDocument/2006/math">
                    <m:r>
                      <a:rPr lang="fr-FR" b="0" i="0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 ∼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𝒩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(42.5,3.75) 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𝑊</m:t>
                    </m:r>
                    <m:r>
                      <m:rPr>
                        <m:lit/>
                      </m:rPr>
                      <a:rPr lang="fr-FR" b="0" i="1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⋅</m:t>
                    </m:r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</a:rPr>
                      <m:t>K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r>
                  <a:rPr lang="en-US" dirty="0" err="1"/>
                  <a:t>Emissivité</a:t>
                </a:r>
                <a:r>
                  <a:rPr lang="en-US" dirty="0"/>
                  <a:t> suit </a:t>
                </a:r>
                <a:r>
                  <a:rPr lang="en-US" dirty="0" err="1"/>
                  <a:t>une</a:t>
                </a:r>
                <a:r>
                  <a:rPr lang="en-US" dirty="0"/>
                  <a:t> </a:t>
                </a:r>
                <a:r>
                  <a:rPr lang="en-US" dirty="0" err="1"/>
                  <a:t>loi</a:t>
                </a:r>
                <a:r>
                  <a:rPr lang="en-US" dirty="0"/>
                  <a:t> </a:t>
                </a:r>
                <a:r>
                  <a:rPr lang="en-US" dirty="0" err="1"/>
                  <a:t>normale</a:t>
                </a:r>
                <a:r>
                  <a:rPr lang="en-US" dirty="0"/>
                  <a:t> 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𝜀</m:t>
                      </m:r>
                      <m:r>
                        <a:rPr lang="fr-FR" i="1">
                          <a:latin typeface="Cambria Math" panose="02040503050406030204" pitchFamily="18" charset="0"/>
                        </a:rPr>
                        <m:t>∼</m:t>
                      </m:r>
                      <m:r>
                        <a:rPr lang="fr-FR" i="1">
                          <a:latin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0.525,0.19</m:t>
                          </m:r>
                        </m:e>
                      </m:d>
                    </m:oMath>
                  </m:oMathPara>
                </a14:m>
                <a:endParaRPr lang="fr-FR" b="0" dirty="0"/>
              </a:p>
              <a:p>
                <a:pPr marL="0" indent="0">
                  <a:buNone/>
                </a:pPr>
                <a:r>
                  <a:rPr lang="fr-FR" dirty="0"/>
                  <a:t>Par la méthode de Monte Carlo en travaillant sur la température moyenne de surface :</a:t>
                </a:r>
                <a:endParaRPr lang="fr-FR" b="0" dirty="0"/>
              </a:p>
              <a:p>
                <a:pPr marL="0" indent="0" algn="ctr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F3B03C2-BC51-3422-84F2-F0391762AC5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512507"/>
                <a:ext cx="10515600" cy="1902313"/>
              </a:xfrm>
              <a:blipFill>
                <a:blip r:embed="rId3"/>
                <a:stretch>
                  <a:fillRect l="-754" t="-64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DED20CE4-3C39-9D44-374C-AC20D7FBAB8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7245"/>
          <a:stretch>
            <a:fillRect/>
          </a:stretch>
        </p:blipFill>
        <p:spPr>
          <a:xfrm>
            <a:off x="667378" y="3242213"/>
            <a:ext cx="3522785" cy="349418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5311083-8219-5CC9-7AD5-1BA45AE6D7E6}"/>
                  </a:ext>
                </a:extLst>
              </p:cNvPr>
              <p:cNvSpPr txBox="1"/>
              <p:nvPr/>
            </p:nvSpPr>
            <p:spPr>
              <a:xfrm>
                <a:off x="5556738" y="3320871"/>
                <a:ext cx="5967884" cy="7955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sz="2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200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fr-FR" sz="2200" b="0" i="1" smtClean="0">
                            <a:latin typeface="Cambria Math" panose="02040503050406030204" pitchFamily="18" charset="0"/>
                          </a:rPr>
                          <m:t>𝑖𝑛𝑝𝑢𝑡</m:t>
                        </m:r>
                      </m:sub>
                    </m:sSub>
                    <m:r>
                      <a:rPr lang="fr-FR" sz="2200" b="0" i="1" smtClean="0">
                        <a:latin typeface="Cambria Math" panose="02040503050406030204" pitchFamily="18" charset="0"/>
                      </a:rPr>
                      <m:t>=44.91 </m:t>
                    </m:r>
                    <m:r>
                      <m:rPr>
                        <m:sty m:val="p"/>
                      </m:rPr>
                      <a:rPr lang="fr-FR" sz="2200" b="0" i="0" smtClean="0">
                        <a:latin typeface="Cambria Math" panose="02040503050406030204" pitchFamily="18" charset="0"/>
                      </a:rPr>
                      <m:t>K</m:t>
                    </m:r>
                  </m:oMath>
                </a14:m>
                <a:r>
                  <a:rPr lang="en-US" sz="2200" dirty="0"/>
                  <a:t> </a:t>
                </a:r>
              </a:p>
              <a:p>
                <a:r>
                  <a:rPr lang="en-US" sz="2200" dirty="0"/>
                  <a:t>Effort à faire sur </a:t>
                </a:r>
                <a:r>
                  <a:rPr lang="en-US" sz="2200" dirty="0" err="1"/>
                  <a:t>l’incertitude</a:t>
                </a:r>
                <a:r>
                  <a:rPr lang="en-US" sz="2200" dirty="0"/>
                  <a:t> de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2200" b="0" i="1" smtClean="0">
                        <a:latin typeface="Cambria Math" panose="02040503050406030204" pitchFamily="18" charset="0"/>
                      </a:rPr>
                      <m:t>ε</m:t>
                    </m:r>
                  </m:oMath>
                </a14:m>
                <a:r>
                  <a:rPr lang="en-US" sz="2200" dirty="0"/>
                  <a:t> 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5311083-8219-5CC9-7AD5-1BA45AE6D7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56738" y="3320871"/>
                <a:ext cx="5967884" cy="795539"/>
              </a:xfrm>
              <a:prstGeom prst="rect">
                <a:avLst/>
              </a:prstGeom>
              <a:blipFill>
                <a:blip r:embed="rId5"/>
                <a:stretch>
                  <a:fillRect l="-1328" t="-3846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Content Placeholder 4">
            <a:extLst>
              <a:ext uri="{FF2B5EF4-FFF2-40B4-BE49-F238E27FC236}">
                <a16:creationId xmlns:a16="http://schemas.microsoft.com/office/drawing/2014/main" id="{E6568F1A-BFDC-4D6C-F765-41894815852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515" t="8282"/>
          <a:stretch>
            <a:fillRect/>
          </a:stretch>
        </p:blipFill>
        <p:spPr>
          <a:xfrm>
            <a:off x="5652467" y="4400835"/>
            <a:ext cx="5120148" cy="22608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095789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F15578-24AA-1A1D-99B9-0FD28C04FF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Validation – erreur du modèle 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1DABA39-902C-A6ED-B4EF-7E3705D6672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55122"/>
                <a:ext cx="10515600" cy="4351338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fr-FR" i="1">
                        <a:latin typeface="Cambria Math" panose="02040503050406030204" pitchFamily="18" charset="0"/>
                      </a:rPr>
                      <m:t>𝐸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𝑘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𝑣𝑎𝑙</m:t>
                        </m:r>
                      </m:sub>
                    </m:sSub>
                    <m:r>
                      <a:rPr lang="fr-FR" i="1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𝑚𝑜𝑑𝑒𝑙</m:t>
                        </m:r>
                      </m:sub>
                    </m:sSub>
                    <m:r>
                      <a:rPr lang="fr-FR" i="1">
                        <a:latin typeface="Cambria Math" panose="02040503050406030204" pitchFamily="18" charset="0"/>
                      </a:rPr>
                      <m:t>≤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𝐸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𝑘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𝑣𝑎𝑙</m:t>
                        </m:r>
                      </m:sub>
                    </m:sSub>
                  </m:oMath>
                </a14:m>
                <a:endParaRPr lang="fr-FR" dirty="0"/>
              </a:p>
              <a:p>
                <a:r>
                  <a:rPr lang="en-US" dirty="0" err="1"/>
                  <a:t>Où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𝑣𝑎𝑙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= </m:t>
                    </m:r>
                    <m:rad>
                      <m:radPr>
                        <m:degHide m:val="on"/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p>
                          <m:sSup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0.87</m:t>
                            </m:r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44.91</m:t>
                            </m:r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  <a:sym typeface="Wingdings" panose="05000000000000000000" pitchFamily="2" charset="2"/>
                              </a:rPr>
                            </m:ctrlPr>
                          </m:sSup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  <a:sym typeface="Wingdings" panose="05000000000000000000" pitchFamily="2" charset="2"/>
                              </a:rPr>
                              <m:t>(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  <a:sym typeface="Wingdings" panose="05000000000000000000" pitchFamily="2" charset="2"/>
                              </a:rPr>
                              <m:t>1,1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  <a:sym typeface="Wingdings" panose="05000000000000000000" pitchFamily="2" charset="2"/>
                              </a:rPr>
                              <m:t>1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  <a:sym typeface="Wingdings" panose="05000000000000000000" pitchFamily="2" charset="2"/>
                              </a:rPr>
                              <m:t>×10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  <a:sym typeface="Wingdings" panose="05000000000000000000" pitchFamily="2" charset="2"/>
                              </a:rPr>
                              <m:t>−3</m:t>
                            </m:r>
                          </m:sup>
                        </m:sSup>
                        <m:r>
                          <a:rPr lang="fr-FR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)²</m:t>
                        </m:r>
                      </m:e>
                    </m:rad>
                    <m:r>
                      <a:rPr lang="fr-FR" b="0" i="1" smtClean="0">
                        <a:latin typeface="Cambria Math" panose="02040503050406030204" pitchFamily="18" charset="0"/>
                      </a:rPr>
                      <m:t>= 44.92 </m:t>
                    </m:r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</a:rPr>
                      <m:t>K</m:t>
                    </m:r>
                  </m:oMath>
                </a14:m>
                <a:r>
                  <a:rPr lang="en-US" dirty="0"/>
                  <a:t>   </a:t>
                </a:r>
              </a:p>
              <a:p>
                <a:r>
                  <a:rPr lang="en-US" dirty="0"/>
                  <a:t>k =2 pour 95.4% de </a:t>
                </a:r>
                <a:r>
                  <a:rPr lang="en-US" dirty="0" err="1"/>
                  <a:t>confiance</a:t>
                </a:r>
                <a:r>
                  <a:rPr lang="en-US" dirty="0"/>
                  <a:t> 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fr-FR" b="1" i="0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fr-FR" b="1" i="0" smtClean="0">
                        <a:latin typeface="Cambria Math" panose="02040503050406030204" pitchFamily="18" charset="0"/>
                      </a:rPr>
                      <m:t>𝟕𝟖</m:t>
                    </m:r>
                    <m:r>
                      <a:rPr lang="fr-FR" b="1" i="0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fr-FR" b="1" i="0" smtClean="0">
                        <a:latin typeface="Cambria Math" panose="02040503050406030204" pitchFamily="18" charset="0"/>
                      </a:rPr>
                      <m:t>𝟎𝟒</m:t>
                    </m:r>
                    <m:r>
                      <a:rPr lang="fr-FR" b="1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fr-FR" b="1" i="0" smtClean="0">
                        <a:latin typeface="Cambria Math" panose="02040503050406030204" pitchFamily="18" charset="0"/>
                      </a:rPr>
                      <m:t>𝐊</m:t>
                    </m:r>
                    <m:r>
                      <a:rPr lang="fr-FR" b="1" i="0" smtClean="0">
                        <a:latin typeface="Cambria Math" panose="02040503050406030204" pitchFamily="18" charset="0"/>
                      </a:rPr>
                      <m:t>&lt;</m:t>
                    </m:r>
                    <m:sSub>
                      <m:sSubPr>
                        <m:ctrlPr>
                          <a:rPr lang="fr-FR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1" i="0">
                            <a:latin typeface="Cambria Math" panose="02040503050406030204" pitchFamily="18" charset="0"/>
                          </a:rPr>
                          <m:t>𝛅</m:t>
                        </m:r>
                      </m:e>
                      <m:sub>
                        <m:r>
                          <a:rPr lang="fr-FR" b="1" i="0">
                            <a:latin typeface="Cambria Math" panose="02040503050406030204" pitchFamily="18" charset="0"/>
                          </a:rPr>
                          <m:t>𝐦𝐨𝐝𝐞𝐥</m:t>
                        </m:r>
                      </m:sub>
                    </m:sSub>
                    <m:r>
                      <a:rPr lang="fr-FR" b="1" i="0" smtClean="0">
                        <a:latin typeface="Cambria Math" panose="02040503050406030204" pitchFamily="18" charset="0"/>
                      </a:rPr>
                      <m:t> &lt;</m:t>
                    </m:r>
                    <m:r>
                      <a:rPr lang="fr-FR" b="1" i="0" smtClean="0">
                        <a:latin typeface="Cambria Math" panose="02040503050406030204" pitchFamily="18" charset="0"/>
                      </a:rPr>
                      <m:t>𝟏𝟎𝟏</m:t>
                    </m:r>
                    <m:r>
                      <a:rPr lang="fr-FR" b="1" i="0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fr-FR" b="1" i="0" smtClean="0">
                        <a:latin typeface="Cambria Math" panose="02040503050406030204" pitchFamily="18" charset="0"/>
                      </a:rPr>
                      <m:t>𝟔𝟒</m:t>
                    </m:r>
                    <m:r>
                      <a:rPr lang="fr-FR" b="1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fr-FR" b="1" i="0" smtClean="0">
                        <a:latin typeface="Cambria Math" panose="02040503050406030204" pitchFamily="18" charset="0"/>
                      </a:rPr>
                      <m:t>𝐊</m:t>
                    </m:r>
                  </m:oMath>
                </a14:m>
                <a:r>
                  <a:rPr lang="en-US" b="1" dirty="0"/>
                  <a:t> </a:t>
                </a:r>
              </a:p>
              <a:p>
                <a:pPr marL="0" indent="0">
                  <a:buNone/>
                </a:pPr>
                <a:endParaRPr lang="en-US" b="1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⇒</m:t>
                    </m:r>
                    <m:r>
                      <a:rPr lang="fr-FR" b="1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b="1" dirty="0" err="1"/>
                  <a:t>Amélioration</a:t>
                </a:r>
                <a:r>
                  <a:rPr lang="en-US" b="1" dirty="0"/>
                  <a:t> sur </a:t>
                </a:r>
                <a:r>
                  <a:rPr lang="en-US" b="1" dirty="0" err="1"/>
                  <a:t>l’incertitude</a:t>
                </a:r>
                <a:r>
                  <a:rPr lang="en-US" b="1" dirty="0"/>
                  <a:t> de </a:t>
                </a:r>
                <a:r>
                  <a:rPr lang="en-US" b="1" dirty="0" err="1"/>
                  <a:t>l’émissivité</a:t>
                </a:r>
                <a:r>
                  <a:rPr lang="en-US" b="1" dirty="0"/>
                  <a:t> </a:t>
                </a:r>
                <a:r>
                  <a:rPr lang="en-US" b="1" dirty="0" err="1"/>
                  <a:t>nécessaire</a:t>
                </a:r>
                <a:endParaRPr lang="en-US" b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1DABA39-902C-A6ED-B4EF-7E3705D6672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55122"/>
                <a:ext cx="10515600" cy="4351338"/>
              </a:xfrm>
              <a:blipFill>
                <a:blip r:embed="rId2"/>
                <a:stretch>
                  <a:fillRect l="-1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806A440F-4525-4755-9716-F3DDCC775AB6}"/>
              </a:ext>
            </a:extLst>
          </p:cNvPr>
          <p:cNvSpPr/>
          <p:nvPr/>
        </p:nvSpPr>
        <p:spPr>
          <a:xfrm>
            <a:off x="838200" y="3932141"/>
            <a:ext cx="5312780" cy="48822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fr-FR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A00158C-C960-342C-B0C7-9E64CB5F528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0238" b="2376"/>
          <a:stretch>
            <a:fillRect/>
          </a:stretch>
        </p:blipFill>
        <p:spPr>
          <a:xfrm>
            <a:off x="6351639" y="3893193"/>
            <a:ext cx="5002161" cy="5661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103319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71FAF8-D45E-B846-39C4-A2BDDFE609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Amélioration possible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F9282C8-F6FB-A0A2-B31D-09362B254F0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fr-FR" dirty="0"/>
                  <a:t>Rajouter une erreur d’expérimentation à partir de la littérature d’une expérience similaire</a:t>
                </a:r>
                <a:r>
                  <a:rPr lang="fr-FR" dirty="0">
                    <a:sym typeface="Wingdings" panose="05000000000000000000" pitchFamily="2" charset="2"/>
                  </a:rPr>
                  <a:t> estimation plus concrète de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i="1">
                        <a:latin typeface="Cambria Math" panose="02040503050406030204" pitchFamily="18" charset="0"/>
                      </a:rPr>
                      <m:t>u</m:t>
                    </m:r>
                    <m:r>
                      <m:rPr>
                        <m:sty m:val="p"/>
                      </m:rPr>
                      <a:rPr lang="fr-FR" i="1" baseline="-25000">
                        <a:latin typeface="Cambria Math" panose="02040503050406030204" pitchFamily="18" charset="0"/>
                      </a:rPr>
                      <m:t>D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fr-FR" dirty="0"/>
              </a:p>
              <a:p>
                <a:r>
                  <a:rPr lang="fr-FR" dirty="0"/>
                  <a:t>Affiner le pas de temps et d’espace pour la simulation SolidWorks</a:t>
                </a:r>
                <a:r>
                  <a:rPr lang="fr-FR" dirty="0">
                    <a:sym typeface="Wingdings" panose="05000000000000000000" pitchFamily="2" charset="2"/>
                  </a:rPr>
                  <a:t> précision accrue sur l’erreur de simulation</a:t>
                </a:r>
              </a:p>
              <a:p>
                <a:r>
                  <a:rPr lang="fr-FR" dirty="0">
                    <a:sym typeface="Wingdings" panose="05000000000000000000" pitchFamily="2" charset="2"/>
                  </a:rPr>
                  <a:t>Calcul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𝐸</m:t>
                        </m:r>
                      </m:e>
                      <m:sub>
                        <m:sSub>
                          <m:sSubPr>
                            <m:ctrlPr>
                              <a:rPr lang="fr-FR" b="0" i="1" smtClean="0">
                                <a:latin typeface="Cambria Math" panose="02040503050406030204" pitchFamily="18" charset="0"/>
                                <a:sym typeface="Wingdings" panose="05000000000000000000" pitchFamily="2" charset="2"/>
                              </a:rPr>
                            </m:ctrlPr>
                          </m:sSub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  <a:sym typeface="Wingdings" panose="05000000000000000000" pitchFamily="2" charset="2"/>
                              </a:rPr>
                              <m:t>𝐿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  <a:sym typeface="Wingdings" panose="05000000000000000000" pitchFamily="2" charset="2"/>
                              </a:rPr>
                              <m:t>2</m:t>
                            </m:r>
                          </m:sub>
                        </m:sSub>
                      </m:sub>
                    </m:sSub>
                  </m:oMath>
                </a14:m>
                <a:r>
                  <a:rPr lang="en-US" dirty="0"/>
                  <a:t> avec plus de points et </a:t>
                </a:r>
                <a:r>
                  <a:rPr lang="en-US" dirty="0" err="1"/>
                  <a:t>plusieurs</a:t>
                </a:r>
                <a:r>
                  <a:rPr lang="en-US" dirty="0"/>
                  <a:t> experiences pour </a:t>
                </a:r>
                <a:r>
                  <a:rPr lang="en-US" dirty="0" err="1"/>
                  <a:t>avoir</a:t>
                </a:r>
                <a:r>
                  <a:rPr lang="en-US" dirty="0"/>
                  <a:t> un </a:t>
                </a:r>
                <a:r>
                  <a:rPr lang="en-US" dirty="0" err="1"/>
                  <a:t>intervalle</a:t>
                </a:r>
                <a:r>
                  <a:rPr lang="en-US" dirty="0"/>
                  <a:t> de </a:t>
                </a:r>
                <a:r>
                  <a:rPr lang="en-US" dirty="0" err="1"/>
                  <a:t>confiance</a:t>
                </a:r>
                <a:r>
                  <a:rPr lang="en-US" dirty="0"/>
                  <a:t> sur E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F9282C8-F6FB-A0A2-B31D-09362B254F0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2660869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AFCC7F-3AF3-6D33-FB0F-E15C4FAC0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Annexe</a:t>
            </a: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FD8984B-B992-0FD9-B126-55C7737C1E8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690688"/>
            <a:ext cx="10515600" cy="341637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0E9DB5F-EBD0-D834-D4ED-493307BE600E}"/>
                  </a:ext>
                </a:extLst>
              </p:cNvPr>
              <p:cNvSpPr txBox="1"/>
              <p:nvPr/>
            </p:nvSpPr>
            <p:spPr>
              <a:xfrm>
                <a:off x="954593" y="5456255"/>
                <a:ext cx="10279464" cy="39074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𝑖𝑛𝑝𝑢𝑡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=9.71 </m:t>
                    </m:r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</a:rPr>
                      <m:t>K</m:t>
                    </m:r>
                  </m:oMath>
                </a14:m>
                <a:r>
                  <a:rPr lang="en-US" dirty="0"/>
                  <a:t> pour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𝜀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=0.05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⇒</m:t>
                    </m:r>
                    <m:sSub>
                      <m:sSubPr>
                        <m:ctrlPr>
                          <a:rPr lang="fr-FR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1" i="1" smtClean="0">
                            <a:latin typeface="Cambria Math" panose="02040503050406030204" pitchFamily="18" charset="0"/>
                          </a:rPr>
                          <m:t>𝒖</m:t>
                        </m:r>
                      </m:e>
                      <m:sub>
                        <m:r>
                          <a:rPr lang="fr-FR" b="1" i="1" smtClean="0">
                            <a:latin typeface="Cambria Math" panose="02040503050406030204" pitchFamily="18" charset="0"/>
                          </a:rPr>
                          <m:t>𝒗𝒂𝒍</m:t>
                        </m:r>
                      </m:sub>
                    </m:sSub>
                    <m:r>
                      <a:rPr lang="fr-FR" b="1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b="1" i="1" smtClean="0">
                        <a:latin typeface="Cambria Math" panose="02040503050406030204" pitchFamily="18" charset="0"/>
                      </a:rPr>
                      <m:t>𝟗</m:t>
                    </m:r>
                    <m:r>
                      <a:rPr lang="fr-FR" b="1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fr-FR" b="1" i="1" smtClean="0">
                        <a:latin typeface="Cambria Math" panose="02040503050406030204" pitchFamily="18" charset="0"/>
                      </a:rPr>
                      <m:t>𝟕𝟓</m:t>
                    </m:r>
                    <m:r>
                      <a:rPr lang="fr-FR" b="1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fr-FR" b="1" i="1" smtClean="0">
                        <a:latin typeface="Cambria Math" panose="02040503050406030204" pitchFamily="18" charset="0"/>
                      </a:rPr>
                      <m:t>𝑲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⇒</m:t>
                    </m:r>
                    <m:r>
                      <m:rPr>
                        <m:nor/>
                      </m:rPr>
                      <a:rPr lang="en-US" dirty="0"/>
                      <m:t>−7.70 </m:t>
                    </m:r>
                    <m:r>
                      <m:rPr>
                        <m:nor/>
                      </m:rPr>
                      <a:rPr lang="en-US" dirty="0"/>
                      <m:t>K</m:t>
                    </m:r>
                    <m:r>
                      <m:rPr>
                        <m:nor/>
                      </m:rPr>
                      <a:rPr lang="en-US" dirty="0"/>
                      <m:t> &lt;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fr-FR" b="0" i="1">
                            <a:latin typeface="Cambria Math" panose="02040503050406030204" pitchFamily="18" charset="0"/>
                          </a:rPr>
                          <m:t>δ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 b="0" i="1">
                            <a:latin typeface="Cambria Math" panose="02040503050406030204" pitchFamily="18" charset="0"/>
                          </a:rPr>
                          <m:t>model</m:t>
                        </m:r>
                      </m:sub>
                    </m:sSub>
                    <m:r>
                      <a:rPr lang="fr-FR" b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fr-FR" b="0" i="0" smtClean="0">
                        <a:latin typeface="Cambria Math" panose="02040503050406030204" pitchFamily="18" charset="0"/>
                      </a:rPr>
                      <m:t>31.30</m:t>
                    </m:r>
                    <m:r>
                      <m:rPr>
                        <m:sty m:val="p"/>
                      </m:rPr>
                      <a:rPr lang="fr-FR" b="0" i="1">
                        <a:latin typeface="Cambria Math" panose="02040503050406030204" pitchFamily="18" charset="0"/>
                      </a:rPr>
                      <m:t>K</m:t>
                    </m:r>
                  </m:oMath>
                </a14:m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0E9DB5F-EBD0-D834-D4ED-493307BE60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4593" y="5456255"/>
                <a:ext cx="10279464" cy="390748"/>
              </a:xfrm>
              <a:prstGeom prst="rect">
                <a:avLst/>
              </a:prstGeom>
              <a:blipFill>
                <a:blip r:embed="rId3"/>
                <a:stretch>
                  <a:fillRect t="-4688" b="-218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32396356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3211</TotalTime>
  <Words>1985</Words>
  <Application>Microsoft Office PowerPoint</Application>
  <PresentationFormat>Grand écran</PresentationFormat>
  <Paragraphs>303</Paragraphs>
  <Slides>29</Slides>
  <Notes>3</Notes>
  <HiddenSlides>0</HiddenSlides>
  <MMClips>0</MMClips>
  <ScaleCrop>false</ScaleCrop>
  <HeadingPairs>
    <vt:vector size="6" baseType="variant">
      <vt:variant>
        <vt:lpstr>Polices utilisées</vt:lpstr>
      </vt:variant>
      <vt:variant>
        <vt:i4>7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29</vt:i4>
      </vt:variant>
    </vt:vector>
  </HeadingPairs>
  <TitlesOfParts>
    <vt:vector size="37" baseType="lpstr">
      <vt:lpstr>Aptos</vt:lpstr>
      <vt:lpstr>Aptos Display</vt:lpstr>
      <vt:lpstr>Arial</vt:lpstr>
      <vt:lpstr>Cambria</vt:lpstr>
      <vt:lpstr>Cambria Math</vt:lpstr>
      <vt:lpstr>Courier New</vt:lpstr>
      <vt:lpstr>Wingdings</vt:lpstr>
      <vt:lpstr>Thème Office</vt:lpstr>
      <vt:lpstr>MEC8211 – Projet final Vérification et Validation d’un solveur de différences finies réalisé dans le cadre du cours GCH2545 – Modélisation numérique en ingénierie</vt:lpstr>
      <vt:lpstr>Plan de la présentation</vt:lpstr>
      <vt:lpstr>Plan de la présentation</vt:lpstr>
      <vt:lpstr>Contexte</vt:lpstr>
      <vt:lpstr>Plan de la présentation</vt:lpstr>
      <vt:lpstr>Modélisation mathématique</vt:lpstr>
      <vt:lpstr>Modélisation mathématique</vt:lpstr>
      <vt:lpstr>Discrétisation : Milieu – Schéma d’Euler Explicite </vt:lpstr>
      <vt:lpstr>Discrétisation : frontières - Schéma d’Euler Explicite </vt:lpstr>
      <vt:lpstr>Plan de la présentation</vt:lpstr>
      <vt:lpstr>Description du code :</vt:lpstr>
      <vt:lpstr>Calcul de l’ordre de convergence </vt:lpstr>
      <vt:lpstr>Calcul de l’ordre de convergence </vt:lpstr>
      <vt:lpstr>Plan de la présentation</vt:lpstr>
      <vt:lpstr>Vérification de code - Méthodologie :</vt:lpstr>
      <vt:lpstr>Vérification de code - Résultats :</vt:lpstr>
      <vt:lpstr>Vérification de code – MMS – Méthodologie </vt:lpstr>
      <vt:lpstr>Vérification de code – MMS – Résultats :</vt:lpstr>
      <vt:lpstr>Vérification de code – MMS – Résultats :</vt:lpstr>
      <vt:lpstr>Plan de la présentation</vt:lpstr>
      <vt:lpstr>Validation - erreur simulation :</vt:lpstr>
      <vt:lpstr>Validation - erreur simulation :</vt:lpstr>
      <vt:lpstr>Validation - erreur simulation :</vt:lpstr>
      <vt:lpstr>Validation – Incertitude numérique </vt:lpstr>
      <vt:lpstr>Validation – incertitude expérimentale</vt:lpstr>
      <vt:lpstr>Validation – incertitude u_input</vt:lpstr>
      <vt:lpstr>Validation – erreur du modèle </vt:lpstr>
      <vt:lpstr>Amélioration possible</vt:lpstr>
      <vt:lpstr>Annexe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Charlotte Sabrié</dc:creator>
  <cp:lastModifiedBy>Antoine Payette-Toupin</cp:lastModifiedBy>
  <cp:revision>63</cp:revision>
  <dcterms:created xsi:type="dcterms:W3CDTF">2026-02-07T22:10:41Z</dcterms:created>
  <dcterms:modified xsi:type="dcterms:W3CDTF">2026-04-13T00:53:05Z</dcterms:modified>
</cp:coreProperties>
</file>