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280" r:id="rId3"/>
    <p:sldId id="281" r:id="rId4"/>
    <p:sldId id="258" r:id="rId5"/>
    <p:sldId id="282" r:id="rId6"/>
    <p:sldId id="257" r:id="rId7"/>
    <p:sldId id="264" r:id="rId8"/>
    <p:sldId id="259" r:id="rId9"/>
    <p:sldId id="263" r:id="rId10"/>
    <p:sldId id="260" r:id="rId11"/>
    <p:sldId id="262" r:id="rId12"/>
    <p:sldId id="283" r:id="rId13"/>
    <p:sldId id="269" r:id="rId14"/>
    <p:sldId id="286" r:id="rId15"/>
    <p:sldId id="284" r:id="rId16"/>
    <p:sldId id="261" r:id="rId17"/>
    <p:sldId id="265" r:id="rId18"/>
    <p:sldId id="266" r:id="rId19"/>
    <p:sldId id="267" r:id="rId20"/>
    <p:sldId id="268" r:id="rId21"/>
    <p:sldId id="285" r:id="rId22"/>
    <p:sldId id="272" r:id="rId23"/>
    <p:sldId id="270" r:id="rId24"/>
    <p:sldId id="287" r:id="rId25"/>
    <p:sldId id="271" r:id="rId26"/>
    <p:sldId id="278" r:id="rId27"/>
    <p:sldId id="273" r:id="rId28"/>
    <p:sldId id="276" r:id="rId29"/>
    <p:sldId id="288" r:id="rId30"/>
    <p:sldId id="277" r:id="rId31"/>
    <p:sldId id="289" r:id="rId32"/>
    <p:sldId id="274" r:id="rId33"/>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B9BD5"/>
    <a:srgbClr val="6FAD46"/>
    <a:srgbClr val="FFBF00"/>
    <a:srgbClr val="EBE9E9"/>
    <a:srgbClr val="CBCBCB"/>
    <a:srgbClr val="F4EEEC"/>
    <a:srgbClr val="F7EFED"/>
    <a:srgbClr val="F8F0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02" autoAdjust="0"/>
    <p:restoredTop sz="94782" autoAdjust="0"/>
  </p:normalViewPr>
  <p:slideViewPr>
    <p:cSldViewPr snapToGrid="0">
      <p:cViewPr varScale="1">
        <p:scale>
          <a:sx n="78" d="100"/>
          <a:sy n="78" d="100"/>
        </p:scale>
        <p:origin x="893"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B2023-C595-443A-8D8C-AB9DF5A28D48}" type="datetimeFigureOut">
              <a:rPr lang="fr-FR" smtClean="0"/>
              <a:t>18/04/2026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05186-0725-443C-BC59-E521425E81CD}" type="slidenum">
              <a:rPr lang="fr-FR" smtClean="0"/>
              <a:t>‹#›</a:t>
            </a:fld>
            <a:endParaRPr lang="fr-FR"/>
          </a:p>
        </p:txBody>
      </p:sp>
    </p:spTree>
    <p:extLst>
      <p:ext uri="{BB962C8B-B14F-4D97-AF65-F5344CB8AC3E}">
        <p14:creationId xmlns:p14="http://schemas.microsoft.com/office/powerpoint/2010/main" val="2841166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4</a:t>
            </a:fld>
            <a:endParaRPr lang="fr-FR"/>
          </a:p>
        </p:txBody>
      </p:sp>
    </p:spTree>
    <p:extLst>
      <p:ext uri="{BB962C8B-B14F-4D97-AF65-F5344CB8AC3E}">
        <p14:creationId xmlns:p14="http://schemas.microsoft.com/office/powerpoint/2010/main" val="1309825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10</a:t>
            </a:fld>
            <a:endParaRPr lang="fr-FR"/>
          </a:p>
        </p:txBody>
      </p:sp>
    </p:spTree>
    <p:extLst>
      <p:ext uri="{BB962C8B-B14F-4D97-AF65-F5344CB8AC3E}">
        <p14:creationId xmlns:p14="http://schemas.microsoft.com/office/powerpoint/2010/main" val="3124078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A5BB4-E065-36E2-E641-90C9FFDD783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2410028-CE57-DC42-95CE-01AA00C9DE1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76DD03-F160-73AB-38E7-83F367B7A56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636A260-3B6F-7D51-9372-EBA998234BA9}"/>
              </a:ext>
            </a:extLst>
          </p:cNvPr>
          <p:cNvSpPr>
            <a:spLocks noGrp="1"/>
          </p:cNvSpPr>
          <p:nvPr>
            <p:ph type="sldNum" sz="quarter" idx="5"/>
          </p:nvPr>
        </p:nvSpPr>
        <p:spPr/>
        <p:txBody>
          <a:bodyPr/>
          <a:lstStyle/>
          <a:p>
            <a:fld id="{F6105186-0725-443C-BC59-E521425E81CD}" type="slidenum">
              <a:rPr lang="fr-FR" smtClean="0"/>
              <a:t>11</a:t>
            </a:fld>
            <a:endParaRPr lang="fr-FR"/>
          </a:p>
        </p:txBody>
      </p:sp>
    </p:spTree>
    <p:extLst>
      <p:ext uri="{BB962C8B-B14F-4D97-AF65-F5344CB8AC3E}">
        <p14:creationId xmlns:p14="http://schemas.microsoft.com/office/powerpoint/2010/main" val="11942273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E29E3EF2-BB98-40F8-97FA-C4A3F82A773E}" type="datetime1">
              <a:rPr lang="fr-FR" smtClean="0"/>
              <a:t>18/04/2026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A212A586-A44F-4832-86AD-F3953D03CDFD}" type="datetime1">
              <a:rPr lang="fr-FR" smtClean="0"/>
              <a:t>18/04/2026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5F8470F2-053A-49C8-975F-D66A9D98776B}" type="datetime1">
              <a:rPr lang="fr-FR" smtClean="0"/>
              <a:t>18/04/2026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E16153F4-9539-487A-AAD9-7CDB222E0065}" type="datetime1">
              <a:rPr lang="fr-FR" smtClean="0"/>
              <a:t>18/04/2026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336F1CD1-F040-4758-8097-CF709F1D3BD2}" type="datetime1">
              <a:rPr lang="fr-FR" smtClean="0"/>
              <a:t>18/04/2026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3757EA93-3E66-43EA-9968-19C091DEE6B2}" type="datetime1">
              <a:rPr lang="fr-FR" smtClean="0"/>
              <a:t>18/04/2026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780D0892-96A3-401F-9540-0D0F4005E0BA}" type="datetime1">
              <a:rPr lang="fr-FR" smtClean="0"/>
              <a:t>18/04/2026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D2E4351D-395D-4EA4-B21E-7BFE1F4E205E}" type="datetime1">
              <a:rPr lang="fr-FR" smtClean="0"/>
              <a:t>18/04/2026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EADED27B-925F-4DEA-AB38-A034A10A1BE9}" type="datetime1">
              <a:rPr lang="fr-FR" smtClean="0"/>
              <a:t>18/04/2026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7A3D4F6E-E469-42CC-A5EB-D2CD9317FE9F}" type="datetime1">
              <a:rPr lang="fr-FR" smtClean="0"/>
              <a:t>18/04/2026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22E65B0F-6D1C-4B44-AEC8-DA6E37704C0A}" type="datetime1">
              <a:rPr lang="fr-FR" smtClean="0"/>
              <a:t>18/04/2026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BE9E9"/>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A6CD994-6CF5-4070-B12A-5121E0D5A99F}" type="datetime1">
              <a:rPr lang="fr-FR" smtClean="0"/>
              <a:t>18/04/2026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10.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3" Type="http://schemas.openxmlformats.org/officeDocument/2006/relationships/image" Target="../media/image390.png"/><Relationship Id="rId7"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20.png"/><Relationship Id="rId5" Type="http://schemas.openxmlformats.org/officeDocument/2006/relationships/image" Target="../media/image43.png"/><Relationship Id="rId4" Type="http://schemas.openxmlformats.org/officeDocument/2006/relationships/image" Target="../media/image400.png"/></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2.png"/><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27.xml.rels><?xml version="1.0" encoding="UTF-8" standalone="yes"?>
<Relationships xmlns="http://schemas.openxmlformats.org/package/2006/relationships"><Relationship Id="rId2" Type="http://schemas.openxmlformats.org/officeDocument/2006/relationships/image" Target="../media/image44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0.png"/><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5.jp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2003869"/>
            <a:ext cx="9144000" cy="1425131"/>
          </a:xfrm>
        </p:spPr>
        <p:txBody>
          <a:bodyPr>
            <a:normAutofit fontScale="90000"/>
          </a:bodyPr>
          <a:lstStyle/>
          <a:p>
            <a:r>
              <a:rPr lang="fr-FR" noProof="0" dirty="0"/>
              <a:t>MEC8211 – Projet final</a:t>
            </a:r>
            <a:br>
              <a:rPr lang="fr-FR" noProof="0" dirty="0"/>
            </a:br>
            <a:r>
              <a:rPr lang="fr-FR" sz="4400" noProof="0" dirty="0"/>
              <a:t>Vérification et Validation d’un solveur de différences finies réalisé dans le cadre du cours GCH2545 – Modélisation numérique en ingénierie</a:t>
            </a:r>
            <a:endParaRPr lang="fr-FR" noProof="0" dirty="0"/>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
        <p:nvSpPr>
          <p:cNvPr id="4" name="Slide Number Placeholder 3">
            <a:extLst>
              <a:ext uri="{FF2B5EF4-FFF2-40B4-BE49-F238E27FC236}">
                <a16:creationId xmlns:a16="http://schemas.microsoft.com/office/drawing/2014/main" id="{2248DCB1-A052-E9CC-ABC2-98BFD46A6AA7}"/>
              </a:ext>
            </a:extLst>
          </p:cNvPr>
          <p:cNvSpPr>
            <a:spLocks noGrp="1"/>
          </p:cNvSpPr>
          <p:nvPr>
            <p:ph type="sldNum" sz="quarter" idx="12"/>
          </p:nvPr>
        </p:nvSpPr>
        <p:spPr/>
        <p:txBody>
          <a:bodyPr/>
          <a:lstStyle/>
          <a:p>
            <a:fld id="{FD85B578-4E75-4E1C-9BE3-D5DCC0715B13}" type="slidenum">
              <a:rPr lang="fr-FR" smtClean="0"/>
              <a:t>1</a:t>
            </a:fld>
            <a:endParaRPr lang="fr-F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43741A-D670-05A1-AC08-A3CC97C8B7FC}"/>
            </a:ext>
          </a:extLst>
        </p:cNvPr>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8A580AE8-1AA9-0663-5536-13AA633FDB5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769EC833-0136-6D99-E575-107B4A54AF11}"/>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2A82AE03-F803-8375-47FB-094E58C9B57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D28731A7-2B3F-2A40-1FA2-C7FEA7F115ED}"/>
              </a:ext>
            </a:extLst>
          </p:cNvPr>
          <p:cNvSpPr>
            <a:spLocks noGrp="1"/>
          </p:cNvSpPr>
          <p:nvPr>
            <p:ph type="sldNum" sz="quarter" idx="12"/>
          </p:nvPr>
        </p:nvSpPr>
        <p:spPr/>
        <p:txBody>
          <a:bodyPr/>
          <a:lstStyle/>
          <a:p>
            <a:fld id="{FD85B578-4E75-4E1C-9BE3-D5DCC0715B13}" type="slidenum">
              <a:rPr lang="fr-FR" smtClean="0"/>
              <a:t>2</a:t>
            </a:fld>
            <a:endParaRPr lang="fr-FR"/>
          </a:p>
        </p:txBody>
      </p:sp>
    </p:spTree>
    <p:extLst>
      <p:ext uri="{BB962C8B-B14F-4D97-AF65-F5344CB8AC3E}">
        <p14:creationId xmlns:p14="http://schemas.microsoft.com/office/powerpoint/2010/main" val="34770385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4A0F-0F40-D5BC-2927-F489832CA25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6C9E7FA-56C9-AE1D-8AB5-608B544D484C}"/>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16DFF84-D54C-C36A-10BB-00EA092552D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b="1" dirty="0" err="1">
                <a:latin typeface="+mn-lt"/>
                <a:ea typeface="+mn-ea"/>
                <a:cs typeface="+mn-cs"/>
              </a:rPr>
              <a:t>Contexte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56BA1E48-524F-C15A-3A1C-59CAC6CC0AA7}"/>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CA5019B5-B3A0-A3EC-7A9C-1755EEA56886}"/>
              </a:ext>
            </a:extLst>
          </p:cNvPr>
          <p:cNvSpPr>
            <a:spLocks noGrp="1"/>
          </p:cNvSpPr>
          <p:nvPr>
            <p:ph type="sldNum" sz="quarter" idx="12"/>
          </p:nvPr>
        </p:nvSpPr>
        <p:spPr/>
        <p:txBody>
          <a:bodyPr/>
          <a:lstStyle/>
          <a:p>
            <a:fld id="{FD85B578-4E75-4E1C-9BE3-D5DCC0715B13}" type="slidenum">
              <a:rPr lang="fr-FR" smtClean="0"/>
              <a:t>3</a:t>
            </a:fld>
            <a:endParaRPr lang="fr-FR"/>
          </a:p>
        </p:txBody>
      </p:sp>
    </p:spTree>
    <p:extLst>
      <p:ext uri="{BB962C8B-B14F-4D97-AF65-F5344CB8AC3E}">
        <p14:creationId xmlns:p14="http://schemas.microsoft.com/office/powerpoint/2010/main" val="3722669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8CC2017-DAAB-E539-D03A-0EAF47A6CAA9}"/>
              </a:ext>
            </a:extLst>
          </p:cNvPr>
          <p:cNvSpPr>
            <a:spLocks noGrp="1"/>
          </p:cNvSpPr>
          <p:nvPr>
            <p:ph type="title"/>
          </p:nvPr>
        </p:nvSpPr>
        <p:spPr>
          <a:xfrm>
            <a:off x="838200" y="18255"/>
            <a:ext cx="10515600" cy="1325563"/>
          </a:xfrm>
        </p:spPr>
        <p:txBody>
          <a:bodyPr/>
          <a:lstStyle/>
          <a:p>
            <a:r>
              <a:rPr lang="fr-FR" dirty="0"/>
              <a:t>Contexte</a:t>
            </a:r>
          </a:p>
        </p:txBody>
      </p:sp>
      <p:sp>
        <p:nvSpPr>
          <p:cNvPr id="3" name="Espace réservé du contenu 2">
            <a:extLst>
              <a:ext uri="{FF2B5EF4-FFF2-40B4-BE49-F238E27FC236}">
                <a16:creationId xmlns:a16="http://schemas.microsoft.com/office/drawing/2014/main" id="{31B38F4B-B286-AB7C-64B1-7E3DB7D1D346}"/>
              </a:ext>
            </a:extLst>
          </p:cNvPr>
          <p:cNvSpPr>
            <a:spLocks noGrp="1"/>
          </p:cNvSpPr>
          <p:nvPr>
            <p:ph idx="1"/>
          </p:nvPr>
        </p:nvSpPr>
        <p:spPr>
          <a:xfrm>
            <a:off x="316992" y="1243584"/>
            <a:ext cx="5644896" cy="5248655"/>
          </a:xfrm>
        </p:spPr>
        <p:txBody>
          <a:bodyPr>
            <a:normAutofit lnSpcReduction="10000"/>
          </a:bodyPr>
          <a:lstStyle/>
          <a:p>
            <a:r>
              <a:rPr lang="fr-FR" dirty="0"/>
              <a:t>Vitesse de refroidissement influence les propriétés </a:t>
            </a:r>
          </a:p>
          <a:p>
            <a:pPr>
              <a:buFontTx/>
              <a:buChar char="-"/>
            </a:pPr>
            <a:r>
              <a:rPr lang="fr-FR" dirty="0"/>
              <a:t>Mécanique</a:t>
            </a:r>
          </a:p>
          <a:p>
            <a:pPr>
              <a:buFontTx/>
              <a:buChar char="-"/>
            </a:pPr>
            <a:r>
              <a:rPr lang="fr-FR" dirty="0"/>
              <a:t>Électrique</a:t>
            </a:r>
          </a:p>
          <a:p>
            <a:pPr>
              <a:buFontTx/>
              <a:buChar char="-"/>
            </a:pPr>
            <a:r>
              <a:rPr lang="fr-FR" dirty="0"/>
              <a:t>Thermique </a:t>
            </a:r>
          </a:p>
          <a:p>
            <a:pPr>
              <a:buFontTx/>
              <a:buChar char="-"/>
            </a:pPr>
            <a:endParaRPr lang="fr-FR" dirty="0"/>
          </a:p>
          <a:p>
            <a:r>
              <a:rPr lang="fr-FR" dirty="0"/>
              <a:t>Modéliser le refroidissement</a:t>
            </a:r>
          </a:p>
          <a:p>
            <a:pPr>
              <a:buFontTx/>
              <a:buChar char="-"/>
            </a:pPr>
            <a:r>
              <a:rPr lang="fr-FR" dirty="0"/>
              <a:t>Obtenir la vitesse de refroidissement</a:t>
            </a:r>
          </a:p>
          <a:p>
            <a:pPr>
              <a:buFontTx/>
              <a:buChar char="-"/>
            </a:pPr>
            <a:r>
              <a:rPr lang="fr-FR" dirty="0"/>
              <a:t>Connaître la composition du matériau final </a:t>
            </a:r>
          </a:p>
          <a:p>
            <a:pPr>
              <a:buFontTx/>
              <a:buChar char="-"/>
            </a:pPr>
            <a:r>
              <a:rPr lang="fr-FR" dirty="0"/>
              <a:t>Déduire ses propriétés </a:t>
            </a:r>
          </a:p>
        </p:txBody>
      </p:sp>
      <p:pic>
        <p:nvPicPr>
          <p:cNvPr id="5" name="Image 4">
            <a:extLst>
              <a:ext uri="{FF2B5EF4-FFF2-40B4-BE49-F238E27FC236}">
                <a16:creationId xmlns:a16="http://schemas.microsoft.com/office/drawing/2014/main" id="{A30176CA-BFB8-62B8-8124-3190FD696E28}"/>
              </a:ext>
            </a:extLst>
          </p:cNvPr>
          <p:cNvPicPr>
            <a:picLocks noChangeAspect="1"/>
          </p:cNvPicPr>
          <p:nvPr/>
        </p:nvPicPr>
        <p:blipFill>
          <a:blip r:embed="rId3"/>
          <a:stretch>
            <a:fillRect/>
          </a:stretch>
        </p:blipFill>
        <p:spPr>
          <a:xfrm>
            <a:off x="6483096" y="883433"/>
            <a:ext cx="4839119" cy="5608806"/>
          </a:xfrm>
          <a:prstGeom prst="rect">
            <a:avLst/>
          </a:prstGeom>
        </p:spPr>
      </p:pic>
      <p:sp>
        <p:nvSpPr>
          <p:cNvPr id="4" name="Slide Number Placeholder 3">
            <a:extLst>
              <a:ext uri="{FF2B5EF4-FFF2-40B4-BE49-F238E27FC236}">
                <a16:creationId xmlns:a16="http://schemas.microsoft.com/office/drawing/2014/main" id="{2769009E-BDF1-3202-1C66-42A44C6CCB2C}"/>
              </a:ext>
            </a:extLst>
          </p:cNvPr>
          <p:cNvSpPr>
            <a:spLocks noGrp="1"/>
          </p:cNvSpPr>
          <p:nvPr>
            <p:ph type="sldNum" sz="quarter" idx="12"/>
          </p:nvPr>
        </p:nvSpPr>
        <p:spPr/>
        <p:txBody>
          <a:bodyPr/>
          <a:lstStyle/>
          <a:p>
            <a:fld id="{FD85B578-4E75-4E1C-9BE3-D5DCC0715B13}" type="slidenum">
              <a:rPr lang="fr-FR" smtClean="0"/>
              <a:t>4</a:t>
            </a:fld>
            <a:endParaRPr lang="fr-FR"/>
          </a:p>
        </p:txBody>
      </p:sp>
    </p:spTree>
    <p:extLst>
      <p:ext uri="{BB962C8B-B14F-4D97-AF65-F5344CB8AC3E}">
        <p14:creationId xmlns:p14="http://schemas.microsoft.com/office/powerpoint/2010/main" val="63502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4CA42-48D1-B6A9-E369-4768900366B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0094CF-DF10-F5BA-E586-A30A3E25DCF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89A1A2BC-DF47-2146-7BC9-DFFEAC11E914}"/>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err="1">
                <a:latin typeface="+mn-lt"/>
                <a:ea typeface="+mn-ea"/>
                <a:cs typeface="+mn-cs"/>
              </a:rPr>
              <a:t>Modélisation</a:t>
            </a:r>
            <a:r>
              <a:rPr lang="en-US" sz="2000" b="1" dirty="0">
                <a:latin typeface="+mn-lt"/>
                <a:ea typeface="+mn-ea"/>
                <a:cs typeface="+mn-cs"/>
              </a:rPr>
              <a:t> </a:t>
            </a:r>
            <a:r>
              <a:rPr lang="en-US" sz="2000" b="1" dirty="0" err="1">
                <a:latin typeface="+mn-lt"/>
                <a:ea typeface="+mn-ea"/>
                <a:cs typeface="+mn-cs"/>
              </a:rPr>
              <a:t>Mathématique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A67FF553-B74C-97DD-6327-944F8FA436E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0C19C76F-D2CD-F37B-0BA6-4D40F6D23259}"/>
              </a:ext>
            </a:extLst>
          </p:cNvPr>
          <p:cNvSpPr>
            <a:spLocks noGrp="1"/>
          </p:cNvSpPr>
          <p:nvPr>
            <p:ph type="sldNum" sz="quarter" idx="12"/>
          </p:nvPr>
        </p:nvSpPr>
        <p:spPr/>
        <p:txBody>
          <a:bodyPr/>
          <a:lstStyle/>
          <a:p>
            <a:fld id="{FD85B578-4E75-4E1C-9BE3-D5DCC0715B13}" type="slidenum">
              <a:rPr lang="fr-FR" smtClean="0"/>
              <a:t>5</a:t>
            </a:fld>
            <a:endParaRPr lang="fr-FR"/>
          </a:p>
        </p:txBody>
      </p:sp>
    </p:spTree>
    <p:extLst>
      <p:ext uri="{BB962C8B-B14F-4D97-AF65-F5344CB8AC3E}">
        <p14:creationId xmlns:p14="http://schemas.microsoft.com/office/powerpoint/2010/main" val="2668913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37DC965-0D72-AE8E-8F68-A22FDD3D8CDE}"/>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D0B43374-E0C7-ED3F-B765-703070E6A6FC}"/>
                  </a:ext>
                </a:extLst>
              </p:cNvPr>
              <p:cNvSpPr>
                <a:spLocks noGrp="1"/>
              </p:cNvSpPr>
              <p:nvPr>
                <p:ph idx="1"/>
              </p:nvPr>
            </p:nvSpPr>
            <p:spPr>
              <a:xfrm>
                <a:off x="838200" y="1155033"/>
                <a:ext cx="8177463" cy="5358062"/>
              </a:xfrm>
            </p:spPr>
            <p:txBody>
              <a:bodyPr>
                <a:normAutofit/>
              </a:bodyPr>
              <a:lstStyle/>
              <a:p>
                <a:pPr fontAlgn="base"/>
                <a:r>
                  <a:rPr lang="fr-FR" dirty="0"/>
                  <a:t>Refroidissement à l'air ambient d'un lingot métallique cylindrique </a:t>
                </a:r>
                <a:r>
                  <a:rPr lang="en-US" dirty="0"/>
                  <a:t>​</a:t>
                </a:r>
              </a:p>
              <a:p>
                <a:pPr fontAlgn="base"/>
                <a:r>
                  <a:rPr lang="fr-FR" dirty="0"/>
                  <a:t>Température initiale uniforme </a:t>
                </a:r>
                <a:r>
                  <a:rPr lang="en-US" dirty="0"/>
                  <a:t>​</a:t>
                </a:r>
              </a:p>
              <a:p>
                <a:pPr fontAlgn="base"/>
                <a:r>
                  <a:rPr lang="fr-FR" dirty="0"/>
                  <a:t>Modélisation mathématique :</a:t>
                </a:r>
              </a:p>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dirty="0"/>
              </a:p>
              <a:p>
                <a:pPr marL="0" indent="0">
                  <a:spcBef>
                    <a:spcPts val="1800"/>
                  </a:spcBef>
                  <a:buNone/>
                </a:pPr>
                <a:r>
                  <a:rPr lang="fr-FR" dirty="0"/>
                  <a:t>Perte thermique surfacique </a:t>
                </a:r>
              </a:p>
              <a:p>
                <a:pPr marL="0" indent="0" algn="ctr">
                  <a:spcBef>
                    <a:spcPts val="1800"/>
                  </a:spcBef>
                  <a:buNone/>
                </a:pPr>
                <a14:m>
                  <m:oMathPara xmlns:m="http://schemas.openxmlformats.org/officeDocument/2006/math">
                    <m:oMathParaPr>
                      <m:jc m:val="centerGroup"/>
                    </m:oMathParaPr>
                    <m:oMath xmlns:m="http://schemas.openxmlformats.org/officeDocument/2006/math">
                      <m:r>
                        <a:rPr lang="fr-FR" b="0" i="1" smtClean="0">
                          <a:latin typeface="Cambria Math" panose="02040503050406030204" pitchFamily="18" charset="0"/>
                        </a:rPr>
                        <m:t>−</m:t>
                      </m:r>
                      <m:r>
                        <a:rPr lang="fr-FR" b="0" i="1" smtClean="0">
                          <a:latin typeface="Cambria Math" panose="02040503050406030204" pitchFamily="18" charset="0"/>
                        </a:rPr>
                        <m:t>𝑘</m:t>
                      </m:r>
                      <m:r>
                        <m:rPr>
                          <m:sty m:val="p"/>
                        </m:rPr>
                        <a:rPr lang="fr-FR" b="0" i="1" smtClean="0">
                          <a:latin typeface="Cambria Math" panose="02040503050406030204" pitchFamily="18" charset="0"/>
                        </a:rPr>
                        <m:t>∇</m:t>
                      </m:r>
                      <m:r>
                        <a:rPr lang="fr-FR" b="0" i="1" smtClean="0">
                          <a:latin typeface="Cambria Math" panose="02040503050406030204" pitchFamily="18" charset="0"/>
                        </a:rPr>
                        <m:t>𝑇</m:t>
                      </m:r>
                      <m:r>
                        <a:rPr lang="fr-FR" b="0" i="1" smtClean="0">
                          <a:latin typeface="Cambria Math" panose="02040503050406030204" pitchFamily="18" charset="0"/>
                        </a:rPr>
                        <m:t>.</m:t>
                      </m:r>
                      <m:r>
                        <a:rPr lang="fr-FR" b="0" i="1" smtClean="0">
                          <a:latin typeface="Cambria Math" panose="02040503050406030204" pitchFamily="18" charset="0"/>
                        </a:rPr>
                        <m:t>𝑛</m:t>
                      </m:r>
                      <m:r>
                        <a:rPr lang="fr-FR" b="0" i="1" smtClean="0">
                          <a:latin typeface="Cambria Math" panose="02040503050406030204" pitchFamily="18" charset="0"/>
                        </a:rPr>
                        <m:t>=</m:t>
                      </m:r>
                      <m:r>
                        <a:rPr lang="fr-FR" b="0" i="1" smtClean="0">
                          <a:latin typeface="Cambria Math" panose="02040503050406030204" pitchFamily="18" charset="0"/>
                        </a:rPr>
                        <m:t>h</m:t>
                      </m:r>
                      <m:d>
                        <m:dPr>
                          <m:ctrlPr>
                            <a:rPr lang="fr-FR" b="0" i="1" smtClean="0">
                              <a:latin typeface="Cambria Math" panose="02040503050406030204" pitchFamily="18" charset="0"/>
                            </a:rPr>
                          </m:ctrlPr>
                        </m:dPr>
                        <m:e>
                          <m:r>
                            <a:rPr lang="fr-FR" b="0" i="1" smtClean="0">
                              <a:latin typeface="Cambria Math" panose="02040503050406030204" pitchFamily="18" charset="0"/>
                            </a:rPr>
                            <m:t>𝑇</m:t>
                          </m:r>
                          <m:r>
                            <a:rPr lang="fr-FR" b="0" i="1" smtClean="0">
                              <a:latin typeface="Cambria Math" panose="02040503050406030204" pitchFamily="18" charset="0"/>
                            </a:rPr>
                            <m:t>−</m:t>
                          </m:r>
                          <m:sSub>
                            <m:sSubPr>
                              <m:ctrlPr>
                                <a:rPr lang="fr-FR" i="1">
                                  <a:latin typeface="Cambria Math" panose="02040503050406030204" pitchFamily="18" charset="0"/>
                                </a:rPr>
                              </m:ctrlPr>
                            </m:sSubPr>
                            <m:e>
                              <m:r>
                                <a:rPr lang="fr-FR" b="0" i="1" smtClean="0">
                                  <a:latin typeface="Cambria Math" panose="02040503050406030204" pitchFamily="18" charset="0"/>
                                </a:rPr>
                                <m:t>𝑇</m:t>
                              </m:r>
                            </m:e>
                            <m:sub>
                              <m:r>
                                <a:rPr lang="fr-FR" i="1">
                                  <a:latin typeface="Cambria Math" panose="02040503050406030204" pitchFamily="18" charset="0"/>
                                </a:rPr>
                                <m:t>∞</m:t>
                              </m:r>
                              <m:r>
                                <m:rPr>
                                  <m:nor/>
                                </m:rPr>
                                <a:rPr lang="fr-FR" dirty="0"/>
                                <m:t> </m:t>
                              </m:r>
                            </m:sub>
                          </m:sSub>
                        </m:e>
                      </m:d>
                      <m:r>
                        <a:rPr lang="fr-FR" b="0" i="1" smtClean="0">
                          <a:latin typeface="Cambria Math" panose="02040503050406030204" pitchFamily="18" charset="0"/>
                        </a:rPr>
                        <m:t>+</m:t>
                      </m:r>
                      <m:r>
                        <m:rPr>
                          <m:sty m:val="p"/>
                        </m:rPr>
                        <a:rPr lang="fr-FR" b="0" i="1" smtClean="0">
                          <a:latin typeface="Cambria Math" panose="02040503050406030204" pitchFamily="18" charset="0"/>
                        </a:rPr>
                        <m:t>ϵσ</m:t>
                      </m:r>
                      <m:r>
                        <a:rPr lang="fr-FR" b="0" i="1" smtClean="0">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𝑇</m:t>
                          </m:r>
                        </m:e>
                        <m:sup>
                          <m:r>
                            <a:rPr lang="fr-FR" b="0" i="1" smtClean="0">
                              <a:latin typeface="Cambria Math" panose="02040503050406030204" pitchFamily="18" charset="0"/>
                            </a:rPr>
                            <m:t>4</m:t>
                          </m:r>
                        </m:sup>
                      </m:s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FR" i="1">
                              <a:latin typeface="Cambria Math" panose="02040503050406030204" pitchFamily="18" charset="0"/>
                            </a:rPr>
                            <m:t>∞</m:t>
                          </m:r>
                        </m:sub>
                        <m:sup>
                          <m:r>
                            <a:rPr lang="fr-FR" i="1">
                              <a:latin typeface="Cambria Math" panose="02040503050406030204" pitchFamily="18" charset="0"/>
                            </a:rPr>
                            <m:t>4</m:t>
                          </m:r>
                        </m:sup>
                      </m:sSubSup>
                      <m:r>
                        <a:rPr lang="fr-FR" b="0" i="1" smtClean="0">
                          <a:latin typeface="Cambria Math" panose="02040503050406030204" pitchFamily="18" charset="0"/>
                        </a:rPr>
                        <m:t>)</m:t>
                      </m:r>
                    </m:oMath>
                  </m:oMathPara>
                </a14:m>
                <a:endParaRPr lang="fr-FR" dirty="0"/>
              </a:p>
              <a:p>
                <a:pPr marL="228600" marR="0" lvl="0" indent="-228600" algn="l" defTabSz="914400" rtl="0" eaLnBrk="1" fontAlgn="base" latinLnBrk="0" hangingPunct="1">
                  <a:lnSpc>
                    <a:spcPct val="90000"/>
                  </a:lnSpc>
                  <a:spcBef>
                    <a:spcPts val="2400"/>
                  </a:spcBef>
                  <a:spcAft>
                    <a:spcPts val="0"/>
                  </a:spcAft>
                  <a:buClrTx/>
                  <a:buSzTx/>
                  <a:buFont typeface="Arial" panose="020B0604020202020204" pitchFamily="34" charset="0"/>
                  <a:buChar char="•"/>
                  <a:tabLst/>
                  <a:defRPr/>
                </a:pPr>
                <a:r>
                  <a:rPr lang="fr-FR" dirty="0">
                    <a:solidFill>
                      <a:prstClr val="black"/>
                    </a:solidFill>
                    <a:latin typeface="Aptos" panose="02110004020202020204"/>
                  </a:rPr>
                  <a:t>Symétrie par rotation autour de l’axe central </a:t>
                </a:r>
              </a:p>
              <a:p>
                <a:pPr marL="0" marR="0" lvl="0" indent="0" algn="ctr" defTabSz="914400" rtl="0" eaLnBrk="1" fontAlgn="base" latinLnBrk="0" hangingPunct="1">
                  <a:lnSpc>
                    <a:spcPct val="90000"/>
                  </a:lnSpc>
                  <a:spcBef>
                    <a:spcPts val="1000"/>
                  </a:spcBef>
                  <a:spcAft>
                    <a:spcPts val="0"/>
                  </a:spcAft>
                  <a:buClrTx/>
                  <a:buSzTx/>
                  <a:buNone/>
                  <a:tabLst/>
                  <a:defRPr/>
                </a:pPr>
                <a14:m>
                  <m:oMathPara xmlns:m="http://schemas.openxmlformats.org/officeDocument/2006/math">
                    <m:oMathParaPr>
                      <m:jc m:val="centerGroup"/>
                    </m:oMathParaPr>
                    <m:oMath xmlns:m="http://schemas.openxmlformats.org/officeDocument/2006/math">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d>
                        <m:dPr>
                          <m:ctrl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m:rPr>
                              <m:sty m:val="p"/>
                            </m:r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θ</m:t>
                          </m:r>
                        </m:e>
                      </m:d>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oMath>
                  </m:oMathPara>
                </a14:m>
                <a:endPar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rtl="0" eaLnBrk="1" fontAlgn="base" latinLnBrk="0" hangingPunct="1">
                  <a:lnSpc>
                    <a:spcPct val="90000"/>
                  </a:lnSpc>
                  <a:spcBef>
                    <a:spcPts val="1000"/>
                  </a:spcBef>
                  <a:spcAft>
                    <a:spcPts val="0"/>
                  </a:spcAft>
                  <a:buClrTx/>
                  <a:buSzTx/>
                  <a:buNone/>
                  <a:tabLst/>
                  <a:defRPr/>
                </a:pP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indent="0" algn="just">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D0B43374-E0C7-ED3F-B765-703070E6A6FC}"/>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566" t="-1934" b="-796"/>
                </a:stretch>
              </a:blipFill>
            </p:spPr>
            <p:txBody>
              <a:bodyPr/>
              <a:lstStyle/>
              <a:p>
                <a:r>
                  <a:rPr lang="fr-CA">
                    <a:noFill/>
                  </a:rPr>
                  <a:t> </a:t>
                </a:r>
              </a:p>
            </p:txBody>
          </p:sp>
        </mc:Fallback>
      </mc:AlternateContent>
      <p:pic>
        <p:nvPicPr>
          <p:cNvPr id="1026" name="Picture 2" descr="Une image contenant croquis, dessin, conception, illustration&#10;&#10;Le contenu généré par l’IA peut être incorrect.">
            <a:extLst>
              <a:ext uri="{FF2B5EF4-FFF2-40B4-BE49-F238E27FC236}">
                <a16:creationId xmlns:a16="http://schemas.microsoft.com/office/drawing/2014/main" id="{315D7CC8-D87C-AF7A-933C-0B5D336491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19114" y="232980"/>
            <a:ext cx="2171199" cy="3021902"/>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a:extLst>
              <a:ext uri="{FF2B5EF4-FFF2-40B4-BE49-F238E27FC236}">
                <a16:creationId xmlns:a16="http://schemas.microsoft.com/office/drawing/2014/main" id="{44134258-3467-C98F-64B0-DF4243CE64E0}"/>
              </a:ext>
            </a:extLst>
          </p:cNvPr>
          <p:cNvPicPr>
            <a:picLocks noChangeAspect="1"/>
          </p:cNvPicPr>
          <p:nvPr/>
        </p:nvPicPr>
        <p:blipFill>
          <a:blip r:embed="rId4"/>
          <a:stretch>
            <a:fillRect/>
          </a:stretch>
        </p:blipFill>
        <p:spPr>
          <a:xfrm>
            <a:off x="8372852" y="3798791"/>
            <a:ext cx="3533376" cy="2233360"/>
          </a:xfrm>
          <a:prstGeom prst="rect">
            <a:avLst/>
          </a:prstGeom>
        </p:spPr>
      </p:pic>
      <p:sp>
        <p:nvSpPr>
          <p:cNvPr id="4" name="Slide Number Placeholder 3">
            <a:extLst>
              <a:ext uri="{FF2B5EF4-FFF2-40B4-BE49-F238E27FC236}">
                <a16:creationId xmlns:a16="http://schemas.microsoft.com/office/drawing/2014/main" id="{0729C1A6-27F8-6BFF-4EEE-C72E36B60348}"/>
              </a:ext>
            </a:extLst>
          </p:cNvPr>
          <p:cNvSpPr>
            <a:spLocks noGrp="1"/>
          </p:cNvSpPr>
          <p:nvPr>
            <p:ph type="sldNum" sz="quarter" idx="12"/>
          </p:nvPr>
        </p:nvSpPr>
        <p:spPr/>
        <p:txBody>
          <a:bodyPr/>
          <a:lstStyle/>
          <a:p>
            <a:fld id="{FD85B578-4E75-4E1C-9BE3-D5DCC0715B13}" type="slidenum">
              <a:rPr lang="fr-FR" smtClean="0"/>
              <a:t>6</a:t>
            </a:fld>
            <a:endParaRPr lang="fr-FR"/>
          </a:p>
        </p:txBody>
      </p:sp>
    </p:spTree>
    <p:extLst>
      <p:ext uri="{BB962C8B-B14F-4D97-AF65-F5344CB8AC3E}">
        <p14:creationId xmlns:p14="http://schemas.microsoft.com/office/powerpoint/2010/main" val="28628607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694C9-7099-3A84-9A6D-5B2A0879BE8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DEC12AB-5894-7E9F-0510-EB109BFCA985}"/>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073797C-3545-B398-B72A-5A621002005D}"/>
                  </a:ext>
                </a:extLst>
              </p:cNvPr>
              <p:cNvSpPr>
                <a:spLocks noGrp="1"/>
              </p:cNvSpPr>
              <p:nvPr>
                <p:ph idx="1"/>
              </p:nvPr>
            </p:nvSpPr>
            <p:spPr>
              <a:xfrm>
                <a:off x="838200" y="1155033"/>
                <a:ext cx="8177463" cy="5358062"/>
              </a:xfrm>
            </p:spPr>
            <p:txBody>
              <a:bodyPr>
                <a:normAutofit fontScale="92500" lnSpcReduction="10000"/>
              </a:bodyPr>
              <a:lstStyle/>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b="0" dirty="0"/>
              </a:p>
              <a:p>
                <a:pPr marL="0" indent="0">
                  <a:spcBef>
                    <a:spcPts val="1800"/>
                  </a:spcBef>
                  <a:buNone/>
                </a:pPr>
                <a:r>
                  <a:rPr lang="fr-FR" dirty="0"/>
                  <a:t>En cartésien, on a :</a:t>
                </a:r>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𝑥</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𝑦</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b="0" dirty="0"/>
              </a:p>
              <a:p>
                <a:pPr marL="0" indent="0">
                  <a:spcBef>
                    <a:spcPts val="1800"/>
                  </a:spcBef>
                  <a:buNone/>
                </a:pPr>
                <a:r>
                  <a:rPr lang="fr-FR" dirty="0"/>
                  <a:t>En cylindrique, on retrouve :</a:t>
                </a:r>
              </a:p>
              <a:p>
                <a:pPr marL="0" indent="0">
                  <a:spcBef>
                    <a:spcPts val="1800"/>
                  </a:spcBef>
                  <a:buNone/>
                </a:pPr>
                <a14:m>
                  <m:oMathPara xmlns:m="http://schemas.openxmlformats.org/officeDocument/2006/math">
                    <m:oMathParaPr>
                      <m:jc m:val="centerGroup"/>
                    </m:oMathParaPr>
                    <m:oMath xmlns:m="http://schemas.openxmlformats.org/officeDocument/2006/math">
                      <m:r>
                        <a:rPr lang="fr-CA" b="0" i="1" smtClean="0">
                          <a:latin typeface="Cambria Math" panose="02040503050406030204" pitchFamily="18" charset="0"/>
                        </a:rPr>
                        <m:t>𝑥</m:t>
                      </m:r>
                      <m:r>
                        <a:rPr lang="fr-CA" i="1">
                          <a:latin typeface="Cambria Math" panose="02040503050406030204" pitchFamily="18" charset="0"/>
                        </a:rPr>
                        <m:t>=</m:t>
                      </m:r>
                      <m:r>
                        <m:rPr>
                          <m:sty m:val="p"/>
                        </m:rPr>
                        <a:rPr lang="fr-CA">
                          <a:latin typeface="Cambria Math" panose="02040503050406030204" pitchFamily="18" charset="0"/>
                        </a:rPr>
                        <m:t>r</m:t>
                      </m:r>
                      <m:func>
                        <m:funcPr>
                          <m:ctrlPr>
                            <a:rPr lang="fr-CA" i="1">
                              <a:latin typeface="Cambria Math" panose="02040503050406030204" pitchFamily="18" charset="0"/>
                            </a:rPr>
                          </m:ctrlPr>
                        </m:funcPr>
                        <m:fName>
                          <m:r>
                            <m:rPr>
                              <m:sty m:val="p"/>
                            </m:rPr>
                            <a:rPr lang="fr-CA">
                              <a:latin typeface="Cambria Math" panose="02040503050406030204" pitchFamily="18" charset="0"/>
                            </a:rPr>
                            <m:t>cos</m:t>
                          </m:r>
                        </m:fName>
                        <m:e>
                          <m:d>
                            <m:dPr>
                              <m:ctrlPr>
                                <a:rPr lang="fr-CA" i="1">
                                  <a:latin typeface="Cambria Math" panose="02040503050406030204" pitchFamily="18" charset="0"/>
                                </a:rPr>
                              </m:ctrlPr>
                            </m:dPr>
                            <m:e>
                              <m:r>
                                <a:rPr lang="fr-CA" i="1">
                                  <a:latin typeface="Cambria Math" panose="02040503050406030204" pitchFamily="18" charset="0"/>
                                </a:rPr>
                                <m:t>𝜃</m:t>
                              </m:r>
                            </m:e>
                          </m:d>
                        </m:e>
                      </m:func>
                      <m:r>
                        <a:rPr lang="fr-CA" i="1">
                          <a:latin typeface="Cambria Math" panose="02040503050406030204" pitchFamily="18" charset="0"/>
                        </a:rPr>
                        <m:t>𝑒𝑡</m:t>
                      </m:r>
                      <m:r>
                        <a:rPr lang="fr-CA" i="1">
                          <a:latin typeface="Cambria Math" panose="02040503050406030204" pitchFamily="18" charset="0"/>
                        </a:rPr>
                        <m:t> </m:t>
                      </m:r>
                      <m:r>
                        <a:rPr lang="fr-CA" i="1">
                          <a:latin typeface="Cambria Math" panose="02040503050406030204" pitchFamily="18" charset="0"/>
                        </a:rPr>
                        <m:t>𝑦</m:t>
                      </m:r>
                      <m:r>
                        <a:rPr lang="fr-CA" i="1">
                          <a:latin typeface="Cambria Math" panose="02040503050406030204" pitchFamily="18" charset="0"/>
                        </a:rPr>
                        <m:t>=</m:t>
                      </m:r>
                      <m:r>
                        <a:rPr lang="fr-CA" b="0" i="1" smtClean="0">
                          <a:latin typeface="Cambria Math" panose="02040503050406030204" pitchFamily="18" charset="0"/>
                        </a:rPr>
                        <m:t>𝑧</m:t>
                      </m:r>
                      <m:r>
                        <a:rPr lang="fr-CA" b="0" i="1" smtClean="0">
                          <a:latin typeface="Cambria Math" panose="02040503050406030204" pitchFamily="18" charset="0"/>
                        </a:rPr>
                        <m:t>, </m:t>
                      </m:r>
                      <m:r>
                        <a:rPr lang="fr-CA" b="0" i="1" smtClean="0">
                          <a:latin typeface="Cambria Math" panose="02040503050406030204" pitchFamily="18" charset="0"/>
                        </a:rPr>
                        <m:t>𝜃</m:t>
                      </m:r>
                      <m:r>
                        <a:rPr lang="fr-CA" b="0" i="1" smtClean="0">
                          <a:latin typeface="Cambria Math" panose="02040503050406030204" pitchFamily="18" charset="0"/>
                        </a:rPr>
                        <m:t>=0</m:t>
                      </m:r>
                    </m:oMath>
                  </m:oMathPara>
                </a14:m>
                <a:endParaRPr lang="fr-FR" dirty="0"/>
              </a:p>
              <a:p>
                <a:pPr marL="0" indent="0" algn="ctr">
                  <a:spcBef>
                    <a:spcPts val="1800"/>
                  </a:spcBef>
                  <a:buNone/>
                </a:pPr>
                <a14:m>
                  <m:oMath xmlns:m="http://schemas.openxmlformats.org/officeDocument/2006/math">
                    <m:sSup>
                      <m:sSupPr>
                        <m:ctrlPr>
                          <a:rPr lang="fr-FR" i="1">
                            <a:latin typeface="Cambria Math" panose="02040503050406030204" pitchFamily="18" charset="0"/>
                          </a:rPr>
                        </m:ctrlPr>
                      </m:sSupPr>
                      <m:e>
                        <m:r>
                          <m:rPr>
                            <m:sty m:val="p"/>
                          </m:rP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oMath>
                </a14:m>
                <a:r>
                  <a:rPr lang="fr-FR" dirty="0"/>
                  <a:t> = </a:t>
                </a:r>
                <a14:m>
                  <m:oMath xmlns:m="http://schemas.openxmlformats.org/officeDocument/2006/math">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oMath>
                </a14:m>
                <a:endParaRPr lang="fr-FR" dirty="0"/>
              </a:p>
              <a:p>
                <a:pPr marL="0" indent="0" algn="ctr">
                  <a:spcBef>
                    <a:spcPts val="1800"/>
                  </a:spcBef>
                  <a:buNone/>
                </a:pPr>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FR" i="1">
                          <a:latin typeface="Cambria Math" panose="02040503050406030204" pitchFamily="18" charset="0"/>
                        </a:rPr>
                        <m:t> </m:t>
                      </m:r>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i="1" dirty="0">
                  <a:latin typeface="Cambria Math" panose="02040503050406030204" pitchFamily="18" charset="0"/>
                </a:endParaRPr>
              </a:p>
              <a:p>
                <a:pPr marL="0" indent="0">
                  <a:spcBef>
                    <a:spcPts val="1800"/>
                  </a:spcBef>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073797C-3545-B398-B72A-5A621002005D}"/>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342" t="-2275"/>
                </a:stretch>
              </a:blipFill>
            </p:spPr>
            <p:txBody>
              <a:bodyPr/>
              <a:lstStyle/>
              <a:p>
                <a:r>
                  <a:rPr lang="fr-CA">
                    <a:noFill/>
                  </a:rPr>
                  <a:t> </a:t>
                </a:r>
              </a:p>
            </p:txBody>
          </p:sp>
        </mc:Fallback>
      </mc:AlternateContent>
      <p:sp>
        <p:nvSpPr>
          <p:cNvPr id="4" name="Rectangle 3">
            <a:extLst>
              <a:ext uri="{FF2B5EF4-FFF2-40B4-BE49-F238E27FC236}">
                <a16:creationId xmlns:a16="http://schemas.microsoft.com/office/drawing/2014/main" id="{D8880BBA-A9C5-15DA-64A8-34FD76C6B27D}"/>
              </a:ext>
            </a:extLst>
          </p:cNvPr>
          <p:cNvSpPr/>
          <p:nvPr/>
        </p:nvSpPr>
        <p:spPr>
          <a:xfrm>
            <a:off x="2606040" y="5321808"/>
            <a:ext cx="4828032" cy="1325563"/>
          </a:xfrm>
          <a:prstGeom prst="rect">
            <a:avLst/>
          </a:prstGeom>
          <a:noFill/>
          <a:ln>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0D3DAD9B-F895-38F3-7E66-F7CE93598C25}"/>
                  </a:ext>
                </a:extLst>
              </p:cNvPr>
              <p:cNvSpPr txBox="1"/>
              <p:nvPr/>
            </p:nvSpPr>
            <p:spPr>
              <a:xfrm>
                <a:off x="8054501" y="1155033"/>
                <a:ext cx="3920247" cy="4524315"/>
              </a:xfrm>
              <a:prstGeom prst="rect">
                <a:avLst/>
              </a:prstGeom>
              <a:noFill/>
            </p:spPr>
            <p:txBody>
              <a:bodyPr wrap="square" rtlCol="0">
                <a:spAutoFit/>
              </a:bodyPr>
              <a:lstStyle/>
              <a:p>
                <a:r>
                  <a:rPr lang="fr-CA" dirty="0"/>
                  <a:t>Schéma d’Euler Explicite :</a:t>
                </a:r>
              </a:p>
              <a:p>
                <a:endParaRPr lang="fr-CA" dirty="0"/>
              </a:p>
              <a:p>
                <a:r>
                  <a:rPr lang="fr-CA" dirty="0"/>
                  <a:t>On vient évaluer l’état d’un système à un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CA" dirty="0"/>
                  <a:t> à l’aide de l’état de ce système au temps </a:t>
                </a:r>
                <a14:m>
                  <m:oMath xmlns:m="http://schemas.openxmlformats.org/officeDocument/2006/math">
                    <m:r>
                      <a:rPr lang="fr-CA" b="0" i="1" smtClean="0">
                        <a:latin typeface="Cambria Math" panose="02040503050406030204" pitchFamily="18" charset="0"/>
                      </a:rPr>
                      <m:t>𝑡</m:t>
                    </m:r>
                  </m:oMath>
                </a14:m>
                <a:r>
                  <a:rPr lang="fr-CA" dirty="0"/>
                  <a:t>.</a:t>
                </a:r>
              </a:p>
              <a:p>
                <a:endParaRPr lang="fr-CA" dirty="0"/>
              </a:p>
              <a:p>
                <a:r>
                  <a:rPr lang="fr-CA" dirty="0"/>
                  <a:t>Méthode directe (pas de système à résoudre) et peu coûteuse.</a:t>
                </a:r>
              </a:p>
              <a:p>
                <a:endParaRPr lang="fr-CA" dirty="0"/>
              </a:p>
              <a:p>
                <a:r>
                  <a:rPr lang="fr-CA" dirty="0"/>
                  <a:t>Problème de stabilité : la méthode d’Euler explicite nécessite de respecter un critère de stabilité entre la discrétisation en temps et en espace :</a:t>
                </a:r>
              </a:p>
              <a:p>
                <a:endParaRPr lang="fr-CA" dirty="0"/>
              </a:p>
              <a:p>
                <a:endParaRPr lang="fr-CA" dirty="0"/>
              </a:p>
            </p:txBody>
          </p:sp>
        </mc:Choice>
        <mc:Fallback xmlns="">
          <p:sp>
            <p:nvSpPr>
              <p:cNvPr id="6" name="ZoneTexte 5">
                <a:extLst>
                  <a:ext uri="{FF2B5EF4-FFF2-40B4-BE49-F238E27FC236}">
                    <a16:creationId xmlns:a16="http://schemas.microsoft.com/office/drawing/2014/main" id="{0D3DAD9B-F895-38F3-7E66-F7CE93598C25}"/>
                  </a:ext>
                </a:extLst>
              </p:cNvPr>
              <p:cNvSpPr txBox="1">
                <a:spLocks noRot="1" noChangeAspect="1" noMove="1" noResize="1" noEditPoints="1" noAdjustHandles="1" noChangeArrowheads="1" noChangeShapeType="1" noTextEdit="1"/>
              </p:cNvSpPr>
              <p:nvPr/>
            </p:nvSpPr>
            <p:spPr>
              <a:xfrm>
                <a:off x="8054501" y="1155033"/>
                <a:ext cx="3920247" cy="4524315"/>
              </a:xfrm>
              <a:prstGeom prst="rect">
                <a:avLst/>
              </a:prstGeom>
              <a:blipFill>
                <a:blip r:embed="rId3"/>
                <a:stretch>
                  <a:fillRect l="-1244" t="-538" r="-467"/>
                </a:stretch>
              </a:blipFill>
            </p:spPr>
            <p:txBody>
              <a:bodyPr/>
              <a:lstStyle/>
              <a:p>
                <a:r>
                  <a:rPr lang="fr-CA">
                    <a:noFill/>
                  </a:rPr>
                  <a:t> </a:t>
                </a:r>
              </a:p>
            </p:txBody>
          </p:sp>
        </mc:Fallback>
      </mc:AlternateContent>
      <p:pic>
        <p:nvPicPr>
          <p:cNvPr id="8" name="Image 7">
            <a:extLst>
              <a:ext uri="{FF2B5EF4-FFF2-40B4-BE49-F238E27FC236}">
                <a16:creationId xmlns:a16="http://schemas.microsoft.com/office/drawing/2014/main" id="{19BD9348-480B-8C6C-AE14-0653FA999484}"/>
              </a:ext>
            </a:extLst>
          </p:cNvPr>
          <p:cNvPicPr>
            <a:picLocks noChangeAspect="1"/>
          </p:cNvPicPr>
          <p:nvPr/>
        </p:nvPicPr>
        <p:blipFill>
          <a:blip r:embed="rId4"/>
          <a:stretch>
            <a:fillRect/>
          </a:stretch>
        </p:blipFill>
        <p:spPr>
          <a:xfrm>
            <a:off x="7846411" y="5073307"/>
            <a:ext cx="4258607" cy="911282"/>
          </a:xfrm>
          <a:prstGeom prst="rect">
            <a:avLst/>
          </a:prstGeom>
        </p:spPr>
      </p:pic>
      <p:sp>
        <p:nvSpPr>
          <p:cNvPr id="5" name="Slide Number Placeholder 4">
            <a:extLst>
              <a:ext uri="{FF2B5EF4-FFF2-40B4-BE49-F238E27FC236}">
                <a16:creationId xmlns:a16="http://schemas.microsoft.com/office/drawing/2014/main" id="{E0DE6FBB-2566-B96F-4BE2-49B684EDFBCD}"/>
              </a:ext>
            </a:extLst>
          </p:cNvPr>
          <p:cNvSpPr>
            <a:spLocks noGrp="1"/>
          </p:cNvSpPr>
          <p:nvPr>
            <p:ph type="sldNum" sz="quarter" idx="12"/>
          </p:nvPr>
        </p:nvSpPr>
        <p:spPr/>
        <p:txBody>
          <a:bodyPr/>
          <a:lstStyle/>
          <a:p>
            <a:fld id="{FD85B578-4E75-4E1C-9BE3-D5DCC0715B13}" type="slidenum">
              <a:rPr lang="fr-FR" smtClean="0"/>
              <a:t>7</a:t>
            </a:fld>
            <a:endParaRPr lang="fr-FR"/>
          </a:p>
        </p:txBody>
      </p:sp>
    </p:spTree>
    <p:extLst>
      <p:ext uri="{BB962C8B-B14F-4D97-AF65-F5344CB8AC3E}">
        <p14:creationId xmlns:p14="http://schemas.microsoft.com/office/powerpoint/2010/main" val="980743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003BD6-209D-95E8-105B-EEC2D5017383}"/>
              </a:ext>
            </a:extLst>
          </p:cNvPr>
          <p:cNvSpPr>
            <a:spLocks noGrp="1"/>
          </p:cNvSpPr>
          <p:nvPr>
            <p:ph type="title"/>
          </p:nvPr>
        </p:nvSpPr>
        <p:spPr>
          <a:xfrm>
            <a:off x="419100" y="0"/>
            <a:ext cx="11353800" cy="1325563"/>
          </a:xfrm>
        </p:spPr>
        <p:txBody>
          <a:bodyPr/>
          <a:lstStyle/>
          <a:p>
            <a:r>
              <a:rPr lang="fr-FR" dirty="0"/>
              <a:t>Discrétisation : Milieu – Schéma d’Euler Explicite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E439C4FB-5092-413C-C838-32069AD0E474}"/>
                  </a:ext>
                </a:extLst>
              </p:cNvPr>
              <p:cNvSpPr>
                <a:spLocks noGrp="1"/>
              </p:cNvSpPr>
              <p:nvPr>
                <p:ph idx="1"/>
              </p:nvPr>
            </p:nvSpPr>
            <p:spPr>
              <a:xfrm>
                <a:off x="261257" y="1331495"/>
                <a:ext cx="11930743" cy="5181600"/>
              </a:xfrm>
            </p:spPr>
            <p:txBody>
              <a:bodyPr>
                <a:normAutofit/>
              </a:bodyPr>
              <a:lstStyle/>
              <a:p>
                <a:pPr marL="0" indent="0">
                  <a:buNone/>
                </a:pPr>
                <a:r>
                  <a:rPr lang="fr-FR" dirty="0"/>
                  <a:t>Hors des frontières (r-1, r+1, z-1, z+1 sont définis)</a:t>
                </a: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r>
                              <a:rPr lang="fr-FR" b="0" i="1" smtClean="0">
                                <a:latin typeface="Cambria Math" panose="02040503050406030204" pitchFamily="18" charset="0"/>
                              </a:rPr>
                              <m:t>+</m:t>
                            </m:r>
                            <m:r>
                              <m:rPr>
                                <m:sty m:val="p"/>
                              </m:rPr>
                              <a:rPr lang="fr-FR">
                                <a:latin typeface="Cambria Math" panose="02040503050406030204" pitchFamily="18" charset="0"/>
                              </a:rPr>
                              <m:t>Δt</m:t>
                            </m:r>
                          </m:sup>
                        </m:sSub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oMath>
                </a14:m>
                <a:r>
                  <a:rPr lang="fr-FR" dirty="0"/>
                  <a:t> , </a:t>
                </a:r>
                <a:r>
                  <a:rPr lang="fr-FR" sz="2400" dirty="0">
                    <a:latin typeface="Cambria" panose="02040503050406030204" pitchFamily="18" charset="0"/>
                    <a:ea typeface="Cambria" panose="02040503050406030204" pitchFamily="18" charset="0"/>
                  </a:rPr>
                  <a:t>ordre 1 </a:t>
                </a:r>
                <a:endParaRPr lang="fr-FR" dirty="0">
                  <a:latin typeface="Cambria" panose="02040503050406030204" pitchFamily="18" charset="0"/>
                  <a:ea typeface="Cambria" panose="02040503050406030204" pitchFamily="18" charset="0"/>
                </a:endParaRP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b="0" i="1" smtClean="0">
                            <a:latin typeface="Cambria Math" panose="02040503050406030204" pitchFamily="18" charset="0"/>
                          </a:rPr>
                          <m:t>𝑟</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a:rPr lang="fr-FR" b="0" i="0" smtClean="0">
                            <a:latin typeface="Cambria Math" panose="02040503050406030204" pitchFamily="18" charset="0"/>
                          </a:rPr>
                          <m:t>2</m:t>
                        </m:r>
                        <m:r>
                          <m:rPr>
                            <m:sty m:val="p"/>
                          </m:rPr>
                          <a:rPr lang="fr-FR">
                            <a:latin typeface="Cambria Math" panose="02040503050406030204" pitchFamily="18" charset="0"/>
                          </a:rPr>
                          <m:t>Δ</m:t>
                        </m:r>
                        <m:r>
                          <a:rPr lang="fr-CA" b="0" i="1" smtClean="0">
                            <a:latin typeface="Cambria Math" panose="02040503050406030204" pitchFamily="18" charset="0"/>
                          </a:rPr>
                          <m:t>𝑟</m:t>
                        </m:r>
                      </m:den>
                    </m:f>
                  </m:oMath>
                </a14:m>
                <a:r>
                  <a:rPr lang="fr-FR" dirty="0"/>
                  <a:t>, </a:t>
                </a:r>
                <a:r>
                  <a:rPr lang="fr-FR" sz="2400" dirty="0">
                    <a:latin typeface="Cambria" panose="02040503050406030204" pitchFamily="18" charset="0"/>
                    <a:ea typeface="Cambria" panose="02040503050406030204" pitchFamily="18" charset="0"/>
                  </a:rPr>
                  <a:t>ordre 2</a:t>
                </a:r>
                <a:endParaRPr lang="fr-FR" dirty="0"/>
              </a:p>
              <a:p>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r>
                        <a:rPr lang="fr-FR" sz="2400" i="1">
                          <a:latin typeface="Cambria Math" panose="02040503050406030204" pitchFamily="18" charset="0"/>
                        </a:rPr>
                        <m:t> </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r>
                        <a:rPr lang="fr-FR" sz="2400" i="1">
                          <a:latin typeface="Cambria Math" panose="02040503050406030204" pitchFamily="18" charset="0"/>
                        </a:rPr>
                        <m:t> </m:t>
                      </m:r>
                      <m:r>
                        <a:rPr lang="fr-CA" sz="2400" i="1">
                          <a:latin typeface="Cambria Math" panose="02040503050406030204" pitchFamily="18" charset="0"/>
                        </a:rPr>
                        <m:t>=</m:t>
                      </m:r>
                      <m:r>
                        <a:rPr lang="fr-CA" sz="2400" b="0" i="1" smtClean="0">
                          <a:latin typeface="Cambria Math" panose="02040503050406030204" pitchFamily="18" charset="0"/>
                        </a:rPr>
                        <m:t>𝑘</m:t>
                      </m:r>
                      <m:r>
                        <a:rPr lang="fr-CA"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i="1">
                                  <a:latin typeface="Cambria Math" panose="02040503050406030204" pitchFamily="18" charset="0"/>
                                </a:rPr>
                                <m:t>𝑟</m:t>
                              </m:r>
                            </m:e>
                            <m:sup>
                              <m:r>
                                <a:rPr lang="fr-FR" sz="2400" i="1">
                                  <a:latin typeface="Cambria Math" panose="02040503050406030204" pitchFamily="18" charset="0"/>
                                </a:rPr>
                                <m:t>2</m:t>
                              </m:r>
                            </m:sup>
                          </m:sSup>
                        </m:den>
                      </m:f>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i="1">
                              <a:latin typeface="Cambria Math" panose="02040503050406030204" pitchFamily="18" charset="0"/>
                            </a:rPr>
                            <m:t>𝑟</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r>
                        <a:rPr lang="fr-CA" sz="2400" b="0" i="1" smtClean="0">
                          <a:latin typeface="Cambria Math" panose="02040503050406030204" pitchFamily="18" charset="0"/>
                        </a:rPr>
                        <m:t>)</m:t>
                      </m:r>
                    </m:oMath>
                  </m:oMathPara>
                </a14:m>
                <a:endParaRPr lang="fr-FR" sz="2400" i="1" dirty="0">
                  <a:latin typeface="Cambria Math" panose="02040503050406030204" pitchFamily="18" charset="0"/>
                </a:endParaRPr>
              </a:p>
              <a:p>
                <a:pPr marL="0" indent="0">
                  <a:buNone/>
                </a:pPr>
                <a:endParaRPr lang="fr-F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r>
                            <a:rPr lang="fr-FR" sz="2400" i="1">
                              <a:latin typeface="Cambria Math" panose="02040503050406030204" pitchFamily="18" charset="0"/>
                            </a:rPr>
                            <m:t>+</m:t>
                          </m:r>
                          <m:r>
                            <m:rPr>
                              <m:sty m:val="p"/>
                            </m:rPr>
                            <a:rPr lang="fr-FR" sz="2400">
                              <a:latin typeface="Cambria Math" panose="02040503050406030204" pitchFamily="18" charset="0"/>
                            </a:rPr>
                            <m:t>Δt</m:t>
                          </m:r>
                        </m:sup>
                      </m:sSubSup>
                      <m:r>
                        <a:rPr lang="fr-FR" sz="2400" b="0" i="1" smtClean="0">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b="0" i="1" smtClean="0">
                              <a:latin typeface="Cambria Math" panose="02040503050406030204" pitchFamily="18" charset="0"/>
                            </a:rPr>
                            <m:t>𝑘</m:t>
                          </m:r>
                        </m:num>
                        <m:den>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CA" sz="2400" b="0" i="0" smtClean="0">
                                  <a:latin typeface="Cambria Math" panose="02040503050406030204" pitchFamily="18" charset="0"/>
                                </a:rPr>
                                <m:t>r</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oMath>
                  </m:oMathPara>
                </a14:m>
                <a:endParaRPr lang="fr-FR" sz="2400" b="0" dirty="0"/>
              </a:p>
              <a:p>
                <a:pPr marL="0" indent="0">
                  <a:buNone/>
                </a:pPr>
                <a:endParaRPr lang="fr-FR"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E439C4FB-5092-413C-C838-32069AD0E474}"/>
                  </a:ext>
                </a:extLst>
              </p:cNvPr>
              <p:cNvSpPr>
                <a:spLocks noGrp="1" noRot="1" noChangeAspect="1" noMove="1" noResize="1" noEditPoints="1" noAdjustHandles="1" noChangeArrowheads="1" noChangeShapeType="1" noTextEdit="1"/>
              </p:cNvSpPr>
              <p:nvPr>
                <p:ph idx="1"/>
              </p:nvPr>
            </p:nvSpPr>
            <p:spPr>
              <a:xfrm>
                <a:off x="261257" y="1331495"/>
                <a:ext cx="11930743" cy="5181600"/>
              </a:xfrm>
              <a:blipFill>
                <a:blip r:embed="rId2"/>
                <a:stretch>
                  <a:fillRect l="-1073" t="-200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10518746-3A15-2C27-5A6F-6AB51FC276FA}"/>
                  </a:ext>
                </a:extLst>
              </p:cNvPr>
              <p:cNvSpPr txBox="1"/>
              <p:nvPr/>
            </p:nvSpPr>
            <p:spPr>
              <a:xfrm>
                <a:off x="4869617" y="1595314"/>
                <a:ext cx="5362519" cy="1732654"/>
              </a:xfrm>
              <a:prstGeom prst="rect">
                <a:avLst/>
              </a:prstGeom>
              <a:noFill/>
            </p:spPr>
            <p:txBody>
              <a:bodyPr wrap="square" rtlCol="0">
                <a:spAutoFit/>
              </a:bodyPr>
              <a:lstStyle/>
              <a:p>
                <a:endParaRPr lang="fr-FR" dirty="0"/>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ea typeface="Cambria Math" panose="02040503050406030204" pitchFamily="18" charset="0"/>
                          </a:rPr>
                        </m:ctrlPr>
                      </m:fPr>
                      <m:num>
                        <m:sSup>
                          <m:sSupPr>
                            <m:ctrlPr>
                              <a:rPr lang="fr-FR" sz="2600" i="1">
                                <a:latin typeface="Cambria Math" panose="02040503050406030204" pitchFamily="18" charset="0"/>
                                <a:ea typeface="Cambria Math" panose="02040503050406030204" pitchFamily="18" charset="0"/>
                              </a:rPr>
                            </m:ctrlPr>
                          </m:sSupPr>
                          <m:e>
                            <m:r>
                              <a:rPr lang="fr-FR" sz="2600" i="1">
                                <a:latin typeface="Cambria Math" panose="02040503050406030204" pitchFamily="18" charset="0"/>
                                <a:ea typeface="Cambria Math" panose="02040503050406030204" pitchFamily="18" charset="0"/>
                              </a:rPr>
                              <m:t>𝜕</m:t>
                            </m:r>
                          </m:e>
                          <m:sup>
                            <m:r>
                              <a:rPr lang="fr-FR" sz="2600" i="1">
                                <a:latin typeface="Cambria Math" panose="02040503050406030204" pitchFamily="18" charset="0"/>
                                <a:ea typeface="Cambria Math" panose="02040503050406030204" pitchFamily="18" charset="0"/>
                              </a:rPr>
                              <m:t>2</m:t>
                            </m:r>
                          </m:sup>
                        </m:sSup>
                        <m:r>
                          <a:rPr lang="fr-FR" sz="2600" i="1">
                            <a:latin typeface="Cambria Math" panose="02040503050406030204" pitchFamily="18" charset="0"/>
                            <a:ea typeface="Cambria Math" panose="02040503050406030204" pitchFamily="18" charset="0"/>
                          </a:rPr>
                          <m:t>𝑇</m:t>
                        </m:r>
                      </m:num>
                      <m:den>
                        <m:r>
                          <a:rPr lang="fr-FR" sz="2600" i="1">
                            <a:latin typeface="Cambria Math" panose="02040503050406030204" pitchFamily="18" charset="0"/>
                            <a:ea typeface="Cambria Math" panose="02040503050406030204" pitchFamily="18" charset="0"/>
                          </a:rPr>
                          <m:t>𝜕</m:t>
                        </m:r>
                        <m:sSup>
                          <m:sSupPr>
                            <m:ctrlPr>
                              <a:rPr lang="fr-FR" sz="2600" i="1">
                                <a:latin typeface="Cambria Math" panose="02040503050406030204" pitchFamily="18" charset="0"/>
                                <a:ea typeface="Cambria Math" panose="02040503050406030204" pitchFamily="18" charset="0"/>
                              </a:rPr>
                            </m:ctrlPr>
                          </m:sSupPr>
                          <m:e>
                            <m:r>
                              <a:rPr lang="fr-CA" sz="2600" b="0" i="1" smtClean="0">
                                <a:latin typeface="Cambria Math" panose="02040503050406030204" pitchFamily="18" charset="0"/>
                                <a:ea typeface="Cambria Math" panose="02040503050406030204" pitchFamily="18" charset="0"/>
                              </a:rPr>
                              <m:t>𝑟</m:t>
                            </m:r>
                          </m:e>
                          <m:sup>
                            <m:r>
                              <a:rPr lang="fr-FR" sz="2600" i="1">
                                <a:latin typeface="Cambria Math" panose="02040503050406030204" pitchFamily="18" charset="0"/>
                                <a:ea typeface="Cambria Math" panose="02040503050406030204" pitchFamily="18" charset="0"/>
                              </a:rPr>
                              <m:t>2</m:t>
                            </m:r>
                          </m:sup>
                        </m:sSup>
                      </m:den>
                    </m:f>
                    <m:groupChr>
                      <m:groupChrPr>
                        <m:chr m:val="⇒"/>
                        <m:pos m:val="top"/>
                        <m:ctrlPr>
                          <a:rPr lang="fr-FR" sz="2600" i="1">
                            <a:latin typeface="Cambria Math" panose="02040503050406030204" pitchFamily="18" charset="0"/>
                            <a:ea typeface="Cambria Math" panose="02040503050406030204" pitchFamily="18" charset="0"/>
                          </a:rPr>
                        </m:ctrlPr>
                      </m:groupChrPr>
                      <m:e>
                        <m:r>
                          <m:rPr>
                            <m:sty m:val="p"/>
                            <m:brk m:alnAt="1"/>
                          </m:rPr>
                          <a:rPr lang="fr-FR" sz="2600" i="1">
                            <a:latin typeface="Cambria Math" panose="02040503050406030204" pitchFamily="18" charset="0"/>
                            <a:ea typeface="Cambria Math" panose="02040503050406030204" pitchFamily="18" charset="0"/>
                          </a:rPr>
                          <m:t>s</m:t>
                        </m:r>
                        <m:r>
                          <m:rPr>
                            <m:sty m:val="p"/>
                          </m:rPr>
                          <a:rPr lang="fr-FR" sz="2600" i="1">
                            <a:latin typeface="Cambria Math" panose="02040503050406030204" pitchFamily="18" charset="0"/>
                            <a:ea typeface="Cambria Math" panose="02040503050406030204" pitchFamily="18" charset="0"/>
                          </a:rPr>
                          <m:t>ch</m:t>
                        </m:r>
                        <m:r>
                          <a:rPr lang="fr-FR" sz="2600" i="1">
                            <a:latin typeface="Cambria Math" panose="02040503050406030204" pitchFamily="18" charset="0"/>
                            <a:ea typeface="Cambria Math" panose="02040503050406030204" pitchFamily="18" charset="0"/>
                          </a:rPr>
                          <m:t>é</m:t>
                        </m:r>
                        <m:r>
                          <m:rPr>
                            <m:sty m:val="p"/>
                          </m:rPr>
                          <a:rPr lang="fr-FR" sz="2600" i="1">
                            <a:latin typeface="Cambria Math" panose="02040503050406030204" pitchFamily="18" charset="0"/>
                            <a:ea typeface="Cambria Math" panose="02040503050406030204" pitchFamily="18" charset="0"/>
                          </a:rPr>
                          <m:t>ma</m:t>
                        </m:r>
                      </m:e>
                    </m:groupChr>
                    <m:f>
                      <m:fPr>
                        <m:ctrlPr>
                          <a:rPr lang="fr-FR" sz="2600" i="1">
                            <a:latin typeface="Cambria Math" panose="02040503050406030204" pitchFamily="18" charset="0"/>
                            <a:ea typeface="Cambria Math" panose="02040503050406030204" pitchFamily="18" charset="0"/>
                          </a:rPr>
                        </m:ctrlPr>
                      </m:fPr>
                      <m:num>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2</m:t>
                            </m:r>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num>
                      <m:den>
                        <m:r>
                          <m:rPr>
                            <m:sty m:val="p"/>
                          </m:rPr>
                          <a:rPr lang="fr-FR" sz="2600">
                            <a:latin typeface="Cambria Math" panose="02040503050406030204" pitchFamily="18" charset="0"/>
                            <a:ea typeface="Cambria Math" panose="02040503050406030204" pitchFamily="18" charset="0"/>
                          </a:rPr>
                          <m:t>Δ</m:t>
                        </m:r>
                        <m:sSup>
                          <m:sSupPr>
                            <m:ctrlPr>
                              <a:rPr lang="fr-FR" sz="2600" i="1">
                                <a:latin typeface="Cambria Math" panose="02040503050406030204" pitchFamily="18" charset="0"/>
                                <a:ea typeface="Cambria Math" panose="02040503050406030204" pitchFamily="18" charset="0"/>
                              </a:rPr>
                            </m:ctrlPr>
                          </m:sSupPr>
                          <m:e>
                            <m:r>
                              <m:rPr>
                                <m:sty m:val="p"/>
                              </m:rPr>
                              <a:rPr lang="fr-CA" sz="2600" b="0" i="0" smtClean="0">
                                <a:latin typeface="Cambria Math" panose="02040503050406030204" pitchFamily="18" charset="0"/>
                                <a:ea typeface="Cambria Math" panose="02040503050406030204" pitchFamily="18" charset="0"/>
                              </a:rPr>
                              <m:t>r</m:t>
                            </m:r>
                          </m:e>
                          <m:sup>
                            <m:r>
                              <a:rPr lang="fr-FR" sz="2600">
                                <a:latin typeface="Cambria Math" panose="02040503050406030204" pitchFamily="18" charset="0"/>
                                <a:ea typeface="Cambria Math" panose="02040503050406030204" pitchFamily="18" charset="0"/>
                              </a:rPr>
                              <m:t>2</m:t>
                            </m:r>
                          </m:sup>
                        </m:sSup>
                        <m:r>
                          <m:rPr>
                            <m:nor/>
                          </m:rPr>
                          <a:rPr lang="fr-FR" sz="2600">
                            <a:latin typeface="Cambria" panose="02040503050406030204" pitchFamily="18" charset="0"/>
                            <a:ea typeface="Cambria" panose="02040503050406030204" pitchFamily="18" charset="0"/>
                          </a:rPr>
                          <m:t> </m:t>
                        </m:r>
                      </m:den>
                    </m:f>
                  </m:oMath>
                </a14:m>
                <a:r>
                  <a:rPr lang="fr-FR" sz="2600" dirty="0">
                    <a:latin typeface="Cambria" panose="02040503050406030204" pitchFamily="18" charset="0"/>
                    <a:ea typeface="Cambria" panose="02040503050406030204" pitchFamily="18" charset="0"/>
                  </a:rPr>
                  <a:t>, </a:t>
                </a:r>
                <a:r>
                  <a:rPr lang="fr-FR" sz="2000" dirty="0">
                    <a:latin typeface="Cambria" panose="02040503050406030204" pitchFamily="18" charset="0"/>
                    <a:ea typeface="Cambria" panose="02040503050406030204" pitchFamily="18" charset="0"/>
                  </a:rPr>
                  <a:t>ordre 2</a:t>
                </a:r>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rPr>
                        </m:ctrlPr>
                      </m:fPr>
                      <m:num>
                        <m:sSup>
                          <m:sSupPr>
                            <m:ctrlPr>
                              <a:rPr lang="fr-FR" sz="2600" i="1">
                                <a:latin typeface="Cambria Math" panose="02040503050406030204" pitchFamily="18" charset="0"/>
                              </a:rPr>
                            </m:ctrlPr>
                          </m:sSupPr>
                          <m:e>
                            <m:r>
                              <a:rPr lang="fr-FR" sz="2600" i="1">
                                <a:latin typeface="Cambria Math" panose="02040503050406030204" pitchFamily="18" charset="0"/>
                              </a:rPr>
                              <m:t>𝜕</m:t>
                            </m:r>
                          </m:e>
                          <m:sup>
                            <m:r>
                              <a:rPr lang="fr-FR" sz="2600" i="1">
                                <a:latin typeface="Cambria Math" panose="02040503050406030204" pitchFamily="18" charset="0"/>
                              </a:rPr>
                              <m:t>2</m:t>
                            </m:r>
                          </m:sup>
                        </m:sSup>
                        <m:r>
                          <a:rPr lang="fr-FR" sz="2600" i="1">
                            <a:latin typeface="Cambria Math" panose="02040503050406030204" pitchFamily="18" charset="0"/>
                          </a:rPr>
                          <m:t>𝑇</m:t>
                        </m:r>
                      </m:num>
                      <m:den>
                        <m:r>
                          <a:rPr lang="fr-FR" sz="2600" i="1">
                            <a:latin typeface="Cambria Math" panose="02040503050406030204" pitchFamily="18" charset="0"/>
                          </a:rPr>
                          <m:t>𝜕</m:t>
                        </m:r>
                        <m:sSup>
                          <m:sSupPr>
                            <m:ctrlPr>
                              <a:rPr lang="fr-FR" sz="2600" i="1">
                                <a:latin typeface="Cambria Math" panose="02040503050406030204" pitchFamily="18" charset="0"/>
                              </a:rPr>
                            </m:ctrlPr>
                          </m:sSupPr>
                          <m:e>
                            <m:r>
                              <a:rPr lang="fr-FR" sz="2600" i="1">
                                <a:latin typeface="Cambria Math" panose="02040503050406030204" pitchFamily="18" charset="0"/>
                              </a:rPr>
                              <m:t>𝑧</m:t>
                            </m:r>
                          </m:e>
                          <m:sup>
                            <m:r>
                              <a:rPr lang="fr-FR" sz="2600" i="1">
                                <a:latin typeface="Cambria Math" panose="02040503050406030204" pitchFamily="18" charset="0"/>
                              </a:rPr>
                              <m:t>2</m:t>
                            </m:r>
                          </m:sup>
                        </m:sSup>
                      </m:den>
                    </m:f>
                    <m:groupChr>
                      <m:groupChrPr>
                        <m:chr m:val="⇒"/>
                        <m:pos m:val="top"/>
                        <m:ctrlPr>
                          <a:rPr lang="fr-FR" sz="2600" i="1">
                            <a:latin typeface="Cambria Math" panose="02040503050406030204" pitchFamily="18" charset="0"/>
                          </a:rPr>
                        </m:ctrlPr>
                      </m:groupChrPr>
                      <m:e>
                        <m:r>
                          <m:rPr>
                            <m:sty m:val="p"/>
                            <m:brk m:alnAt="1"/>
                          </m:rPr>
                          <a:rPr lang="fr-FR" sz="2600" i="1">
                            <a:latin typeface="Cambria Math" panose="02040503050406030204" pitchFamily="18" charset="0"/>
                          </a:rPr>
                          <m:t>s</m:t>
                        </m:r>
                        <m:r>
                          <m:rPr>
                            <m:sty m:val="p"/>
                          </m:rPr>
                          <a:rPr lang="fr-FR" sz="2600" i="1">
                            <a:latin typeface="Cambria Math" panose="02040503050406030204" pitchFamily="18" charset="0"/>
                          </a:rPr>
                          <m:t>ch</m:t>
                        </m:r>
                        <m:r>
                          <a:rPr lang="fr-FR" sz="2600" i="1">
                            <a:latin typeface="Cambria Math" panose="02040503050406030204" pitchFamily="18" charset="0"/>
                          </a:rPr>
                          <m:t>é</m:t>
                        </m:r>
                        <m:r>
                          <m:rPr>
                            <m:sty m:val="p"/>
                          </m:rPr>
                          <a:rPr lang="fr-FR" sz="2600" i="1">
                            <a:latin typeface="Cambria Math" panose="02040503050406030204" pitchFamily="18" charset="0"/>
                          </a:rPr>
                          <m:t>ma</m:t>
                        </m:r>
                      </m:e>
                    </m:groupChr>
                    <m:f>
                      <m:fPr>
                        <m:ctrlPr>
                          <a:rPr lang="fr-FR" sz="2600" i="1">
                            <a:latin typeface="Cambria Math" panose="02040503050406030204" pitchFamily="18" charset="0"/>
                          </a:rPr>
                        </m:ctrlPr>
                      </m:fPr>
                      <m:num>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+1</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2</m:t>
                            </m:r>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−1</m:t>
                            </m:r>
                          </m:sub>
                          <m:sup>
                            <m:r>
                              <a:rPr lang="fr-FR" sz="2600" i="1">
                                <a:latin typeface="Cambria Math" panose="02040503050406030204" pitchFamily="18" charset="0"/>
                              </a:rPr>
                              <m:t>𝑡</m:t>
                            </m:r>
                          </m:sup>
                        </m:sSubSup>
                      </m:num>
                      <m:den>
                        <m:r>
                          <m:rPr>
                            <m:sty m:val="p"/>
                          </m:rPr>
                          <a:rPr lang="fr-FR" sz="2600">
                            <a:latin typeface="Cambria Math" panose="02040503050406030204" pitchFamily="18" charset="0"/>
                          </a:rPr>
                          <m:t>Δ</m:t>
                        </m:r>
                        <m:sSup>
                          <m:sSupPr>
                            <m:ctrlPr>
                              <a:rPr lang="fr-FR" sz="2600" i="1">
                                <a:latin typeface="Cambria Math" panose="02040503050406030204" pitchFamily="18" charset="0"/>
                              </a:rPr>
                            </m:ctrlPr>
                          </m:sSupPr>
                          <m:e>
                            <m:r>
                              <m:rPr>
                                <m:sty m:val="p"/>
                              </m:rPr>
                              <a:rPr lang="fr-FR" sz="2600">
                                <a:latin typeface="Cambria Math" panose="02040503050406030204" pitchFamily="18" charset="0"/>
                              </a:rPr>
                              <m:t>z</m:t>
                            </m:r>
                          </m:e>
                          <m:sup>
                            <m:r>
                              <a:rPr lang="fr-FR" sz="2600">
                                <a:latin typeface="Cambria Math" panose="02040503050406030204" pitchFamily="18" charset="0"/>
                              </a:rPr>
                              <m:t>2</m:t>
                            </m:r>
                          </m:sup>
                        </m:sSup>
                        <m:r>
                          <m:rPr>
                            <m:nor/>
                          </m:rPr>
                          <a:rPr lang="fr-FR" sz="2600"/>
                          <m:t> </m:t>
                        </m:r>
                      </m:den>
                    </m:f>
                  </m:oMath>
                </a14:m>
                <a:r>
                  <a:rPr lang="fr-FR" sz="2600" dirty="0"/>
                  <a:t>, </a:t>
                </a:r>
                <a:r>
                  <a:rPr lang="fr-FR" sz="2000" dirty="0">
                    <a:latin typeface="Cambria" panose="02040503050406030204" pitchFamily="18" charset="0"/>
                    <a:ea typeface="Cambria" panose="02040503050406030204" pitchFamily="18" charset="0"/>
                  </a:rPr>
                  <a:t>ordre 2</a:t>
                </a:r>
              </a:p>
            </p:txBody>
          </p:sp>
        </mc:Choice>
        <mc:Fallback xmlns="">
          <p:sp>
            <p:nvSpPr>
              <p:cNvPr id="5" name="ZoneTexte 4">
                <a:extLst>
                  <a:ext uri="{FF2B5EF4-FFF2-40B4-BE49-F238E27FC236}">
                    <a16:creationId xmlns:a16="http://schemas.microsoft.com/office/drawing/2014/main" id="{10518746-3A15-2C27-5A6F-6AB51FC276FA}"/>
                  </a:ext>
                </a:extLst>
              </p:cNvPr>
              <p:cNvSpPr txBox="1">
                <a:spLocks noRot="1" noChangeAspect="1" noMove="1" noResize="1" noEditPoints="1" noAdjustHandles="1" noChangeArrowheads="1" noChangeShapeType="1" noTextEdit="1"/>
              </p:cNvSpPr>
              <p:nvPr/>
            </p:nvSpPr>
            <p:spPr>
              <a:xfrm>
                <a:off x="4869617" y="1595314"/>
                <a:ext cx="5362519" cy="1732654"/>
              </a:xfrm>
              <a:prstGeom prst="rect">
                <a:avLst/>
              </a:prstGeom>
              <a:blipFill>
                <a:blip r:embed="rId3"/>
                <a:stretch>
                  <a:fillRect b="-2113"/>
                </a:stretch>
              </a:blipFill>
            </p:spPr>
            <p:txBody>
              <a:bodyPr/>
              <a:lstStyle/>
              <a:p>
                <a:r>
                  <a:rPr lang="fr-CA">
                    <a:noFill/>
                  </a:rPr>
                  <a:t> </a:t>
                </a:r>
              </a:p>
            </p:txBody>
          </p:sp>
        </mc:Fallback>
      </mc:AlternateContent>
      <p:sp>
        <p:nvSpPr>
          <p:cNvPr id="6" name="Arc 5">
            <a:extLst>
              <a:ext uri="{FF2B5EF4-FFF2-40B4-BE49-F238E27FC236}">
                <a16:creationId xmlns:a16="http://schemas.microsoft.com/office/drawing/2014/main" id="{669E06E8-CC02-FA18-F417-BCEB210B1102}"/>
              </a:ext>
            </a:extLst>
          </p:cNvPr>
          <p:cNvSpPr/>
          <p:nvPr/>
        </p:nvSpPr>
        <p:spPr>
          <a:xfrm rot="241833" flipH="1">
            <a:off x="2857585" y="4094814"/>
            <a:ext cx="2152095" cy="1509192"/>
          </a:xfrm>
          <a:prstGeom prst="arc">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a:p>
        </p:txBody>
      </p:sp>
      <p:sp>
        <p:nvSpPr>
          <p:cNvPr id="4" name="Slide Number Placeholder 3">
            <a:extLst>
              <a:ext uri="{FF2B5EF4-FFF2-40B4-BE49-F238E27FC236}">
                <a16:creationId xmlns:a16="http://schemas.microsoft.com/office/drawing/2014/main" id="{5EC7E4F8-A240-C289-A35B-85F4B15932E4}"/>
              </a:ext>
            </a:extLst>
          </p:cNvPr>
          <p:cNvSpPr>
            <a:spLocks noGrp="1"/>
          </p:cNvSpPr>
          <p:nvPr>
            <p:ph type="sldNum" sz="quarter" idx="12"/>
          </p:nvPr>
        </p:nvSpPr>
        <p:spPr/>
        <p:txBody>
          <a:bodyPr/>
          <a:lstStyle/>
          <a:p>
            <a:fld id="{FD85B578-4E75-4E1C-9BE3-D5DCC0715B13}" type="slidenum">
              <a:rPr lang="fr-FR" smtClean="0"/>
              <a:t>8</a:t>
            </a:fld>
            <a:endParaRPr lang="fr-FR"/>
          </a:p>
        </p:txBody>
      </p:sp>
    </p:spTree>
    <p:extLst>
      <p:ext uri="{BB962C8B-B14F-4D97-AF65-F5344CB8AC3E}">
        <p14:creationId xmlns:p14="http://schemas.microsoft.com/office/powerpoint/2010/main" val="4128496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9C5C6ED-CEB0-DF95-C2D4-5220839D039C}"/>
              </a:ext>
            </a:extLst>
          </p:cNvPr>
          <p:cNvSpPr>
            <a:spLocks noGrp="1"/>
          </p:cNvSpPr>
          <p:nvPr>
            <p:ph type="title"/>
          </p:nvPr>
        </p:nvSpPr>
        <p:spPr>
          <a:xfrm>
            <a:off x="150876" y="-30897"/>
            <a:ext cx="11945112" cy="1325563"/>
          </a:xfrm>
        </p:spPr>
        <p:txBody>
          <a:bodyPr/>
          <a:lstStyle/>
          <a:p>
            <a:r>
              <a:rPr lang="fr-FR" dirty="0"/>
              <a:t>Discrétisation : frontières - Schéma d’Euler Explicite </a:t>
            </a:r>
          </a:p>
        </p:txBody>
      </p:sp>
      <p:pic>
        <p:nvPicPr>
          <p:cNvPr id="5" name="Espace réservé du contenu 4">
            <a:extLst>
              <a:ext uri="{FF2B5EF4-FFF2-40B4-BE49-F238E27FC236}">
                <a16:creationId xmlns:a16="http://schemas.microsoft.com/office/drawing/2014/main" id="{4595270A-CFC5-DE88-BDE0-18625C38E140}"/>
              </a:ext>
            </a:extLst>
          </p:cNvPr>
          <p:cNvPicPr>
            <a:picLocks noGrp="1" noChangeAspect="1"/>
          </p:cNvPicPr>
          <p:nvPr>
            <p:ph idx="1"/>
          </p:nvPr>
        </p:nvPicPr>
        <p:blipFill>
          <a:blip r:embed="rId2"/>
          <a:stretch>
            <a:fillRect/>
          </a:stretch>
        </p:blipFill>
        <p:spPr>
          <a:xfrm>
            <a:off x="1016619" y="4270193"/>
            <a:ext cx="4204606" cy="2487977"/>
          </a:xfrm>
          <a:prstGeom prst="rect">
            <a:avLst/>
          </a:prstGeom>
        </p:spPr>
      </p:pic>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F5871682-0B46-824A-AEFF-E8E2BCE778AB}"/>
                  </a:ext>
                </a:extLst>
              </p:cNvPr>
              <p:cNvSpPr txBox="1"/>
              <p:nvPr/>
            </p:nvSpPr>
            <p:spPr>
              <a:xfrm>
                <a:off x="667512" y="1343818"/>
                <a:ext cx="5897880" cy="1288686"/>
              </a:xfrm>
              <a:prstGeom prst="rect">
                <a:avLst/>
              </a:prstGeom>
              <a:noFill/>
            </p:spPr>
            <p:txBody>
              <a:bodyPr wrap="square" rtlCol="0">
                <a:spAutoFit/>
              </a:bodyPr>
              <a:lstStyle/>
              <a:p>
                <a:r>
                  <a:rPr lang="fr-CA" dirty="0">
                    <a:solidFill>
                      <a:schemeClr val="accent2"/>
                    </a:solidFill>
                  </a:rPr>
                  <a:t>Condition de symétrie (Neumann) :</a:t>
                </a:r>
              </a:p>
              <a:p>
                <a:pPr algn="ctr"/>
                <a:r>
                  <a:rPr lang="fr-CA" dirty="0">
                    <a:solidFill>
                      <a:schemeClr val="accent2"/>
                    </a:solidFill>
                  </a:rPr>
                  <a:t>	</a:t>
                </a:r>
                <a14:m>
                  <m:oMath xmlns:m="http://schemas.openxmlformats.org/officeDocument/2006/math">
                    <m:f>
                      <m:fPr>
                        <m:ctrlPr>
                          <a:rPr lang="fr-CA" b="0" i="1" smtClean="0">
                            <a:solidFill>
                              <a:schemeClr val="accent2"/>
                            </a:solidFill>
                            <a:latin typeface="Cambria Math" panose="02040503050406030204" pitchFamily="18" charset="0"/>
                          </a:rPr>
                        </m:ctrlPr>
                      </m:fPr>
                      <m:num>
                        <m:r>
                          <a:rPr lang="fr-CA" b="0" i="1" smtClean="0">
                            <a:solidFill>
                              <a:schemeClr val="accent2"/>
                            </a:solidFill>
                            <a:latin typeface="Cambria Math" panose="02040503050406030204" pitchFamily="18" charset="0"/>
                          </a:rPr>
                          <m:t>𝑑𝑇</m:t>
                        </m:r>
                      </m:num>
                      <m:den>
                        <m:r>
                          <a:rPr lang="fr-CA" b="0" i="1" smtClean="0">
                            <a:solidFill>
                              <a:schemeClr val="accent2"/>
                            </a:solidFill>
                            <a:latin typeface="Cambria Math" panose="02040503050406030204" pitchFamily="18" charset="0"/>
                          </a:rPr>
                          <m:t>𝑑𝑧</m:t>
                        </m:r>
                      </m:den>
                    </m:f>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0</m:t>
                    </m:r>
                  </m:oMath>
                </a14:m>
                <a:endParaRPr lang="fr-CA" b="0" i="1" dirty="0">
                  <a:solidFill>
                    <a:schemeClr val="accent2"/>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chemeClr val="accent2"/>
                              </a:solidFill>
                              <a:latin typeface="Cambria Math" panose="02040503050406030204" pitchFamily="18" charset="0"/>
                            </a:rPr>
                          </m:ctrlPr>
                        </m:sSubSupPr>
                        <m:e>
                          <m:r>
                            <a:rPr lang="fr-CA" b="0" i="1" smtClean="0">
                              <a:solidFill>
                                <a:schemeClr val="accent2"/>
                              </a:solidFill>
                              <a:latin typeface="Cambria Math" panose="02040503050406030204" pitchFamily="18" charset="0"/>
                            </a:rPr>
                            <m:t>𝑇</m:t>
                          </m:r>
                        </m:e>
                        <m:sub>
                          <m:r>
                            <a:rPr lang="fr-CA" b="0" i="1" smtClean="0">
                              <a:solidFill>
                                <a:schemeClr val="accent2"/>
                              </a:solidFill>
                              <a:latin typeface="Cambria Math" panose="02040503050406030204" pitchFamily="18" charset="0"/>
                            </a:rPr>
                            <m:t>𝑟</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𝑧</m:t>
                          </m:r>
                        </m:sub>
                        <m:sup>
                          <m:r>
                            <a:rPr lang="fr-CA" b="0" i="1" smtClean="0">
                              <a:solidFill>
                                <a:schemeClr val="accent2"/>
                              </a:solidFill>
                              <a:latin typeface="Cambria Math" panose="02040503050406030204" pitchFamily="18" charset="0"/>
                            </a:rPr>
                            <m:t>𝑡</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ea typeface="Cambria Math" panose="02040503050406030204" pitchFamily="18" charset="0"/>
                            </a:rPr>
                            <m:t>𝑡</m:t>
                          </m:r>
                        </m:sup>
                      </m:sSubSup>
                      <m:r>
                        <a:rPr lang="fr-CA" b="0" i="0" smtClean="0">
                          <a:solidFill>
                            <a:schemeClr val="accent2"/>
                          </a:solidFill>
                          <a:latin typeface="Cambria Math" panose="02040503050406030204" pitchFamily="18" charset="0"/>
                        </a:rPr>
                        <m:t>=</m:t>
                      </m:r>
                      <m:f>
                        <m:fPr>
                          <m:ctrlPr>
                            <a:rPr lang="fr-CA" b="0" i="1" smtClean="0">
                              <a:solidFill>
                                <a:schemeClr val="accent2"/>
                              </a:solidFill>
                              <a:latin typeface="Cambria Math" panose="02040503050406030204" pitchFamily="18" charset="0"/>
                            </a:rPr>
                          </m:ctrlPr>
                        </m:fPr>
                        <m:num>
                          <m:r>
                            <a:rPr lang="fr-CA" b="0" i="0" smtClean="0">
                              <a:solidFill>
                                <a:schemeClr val="accent2"/>
                              </a:solidFill>
                              <a:latin typeface="Cambria Math" panose="02040503050406030204" pitchFamily="18" charset="0"/>
                            </a:rPr>
                            <m:t>−</m:t>
                          </m:r>
                          <m:r>
                            <a:rPr lang="fr-CA" b="0" i="0" smtClean="0">
                              <a:solidFill>
                                <a:schemeClr val="accent2"/>
                              </a:solidFill>
                              <a:latin typeface="Cambria Math" panose="02040503050406030204" pitchFamily="18" charset="0"/>
                            </a:rPr>
                            <m:t>1</m:t>
                          </m:r>
                        </m:num>
                        <m:den>
                          <m:r>
                            <a:rPr lang="fr-CA" b="0" i="0" smtClean="0">
                              <a:solidFill>
                                <a:schemeClr val="accent2"/>
                              </a:solidFill>
                              <a:latin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2</m:t>
                          </m:r>
                        </m:sub>
                        <m:sup>
                          <m:r>
                            <a:rPr lang="fr-CA" i="1">
                              <a:solidFill>
                                <a:schemeClr val="accent2"/>
                              </a:solidFill>
                              <a:latin typeface="Cambria Math" panose="02040503050406030204" pitchFamily="18" charset="0"/>
                            </a:rPr>
                            <m:t>𝑡</m:t>
                          </m:r>
                        </m:sup>
                      </m:sSubSup>
                      <m:r>
                        <a:rPr lang="fr-CA" b="0" i="1" smtClean="0">
                          <a:solidFill>
                            <a:schemeClr val="accent2"/>
                          </a:solidFill>
                          <a:latin typeface="Cambria Math" panose="02040503050406030204" pitchFamily="18" charset="0"/>
                          <a:ea typeface="Cambria Math" panose="02040503050406030204" pitchFamily="18" charset="0"/>
                        </a:rPr>
                        <m:t>+</m:t>
                      </m:r>
                      <m:f>
                        <m:fPr>
                          <m:ctrlPr>
                            <a:rPr lang="fr-CA" b="0" i="1" smtClean="0">
                              <a:solidFill>
                                <a:schemeClr val="accent2"/>
                              </a:solidFill>
                              <a:latin typeface="Cambria Math" panose="02040503050406030204" pitchFamily="18" charset="0"/>
                              <a:ea typeface="Cambria Math" panose="02040503050406030204" pitchFamily="18" charset="0"/>
                            </a:rPr>
                          </m:ctrlPr>
                        </m:fPr>
                        <m:num>
                          <m:r>
                            <a:rPr lang="fr-CA" b="0" i="1" smtClean="0">
                              <a:solidFill>
                                <a:schemeClr val="accent2"/>
                              </a:solidFill>
                              <a:latin typeface="Cambria Math" panose="02040503050406030204" pitchFamily="18" charset="0"/>
                              <a:ea typeface="Cambria Math" panose="02040503050406030204" pitchFamily="18" charset="0"/>
                            </a:rPr>
                            <m:t>4</m:t>
                          </m:r>
                        </m:num>
                        <m:den>
                          <m:r>
                            <a:rPr lang="fr-CA" b="0" i="1" smtClean="0">
                              <a:solidFill>
                                <a:schemeClr val="accent2"/>
                              </a:solidFill>
                              <a:latin typeface="Cambria Math" panose="02040503050406030204" pitchFamily="18" charset="0"/>
                              <a:ea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1</m:t>
                          </m:r>
                        </m:sub>
                        <m:sup>
                          <m:r>
                            <a:rPr lang="fr-CA" i="1">
                              <a:solidFill>
                                <a:schemeClr val="accent2"/>
                              </a:solidFill>
                              <a:latin typeface="Cambria Math" panose="02040503050406030204" pitchFamily="18" charset="0"/>
                            </a:rPr>
                            <m:t>𝑡</m:t>
                          </m:r>
                        </m:sup>
                      </m:sSubSup>
                    </m:oMath>
                  </m:oMathPara>
                </a14:m>
                <a:endParaRPr lang="fr-CA" dirty="0">
                  <a:solidFill>
                    <a:schemeClr val="accent2"/>
                  </a:solidFill>
                </a:endParaRPr>
              </a:p>
            </p:txBody>
          </p:sp>
        </mc:Choice>
        <mc:Fallback xmlns="">
          <p:sp>
            <p:nvSpPr>
              <p:cNvPr id="6" name="ZoneTexte 5">
                <a:extLst>
                  <a:ext uri="{FF2B5EF4-FFF2-40B4-BE49-F238E27FC236}">
                    <a16:creationId xmlns:a16="http://schemas.microsoft.com/office/drawing/2014/main" id="{F5871682-0B46-824A-AEFF-E8E2BCE778AB}"/>
                  </a:ext>
                </a:extLst>
              </p:cNvPr>
              <p:cNvSpPr txBox="1">
                <a:spLocks noRot="1" noChangeAspect="1" noMove="1" noResize="1" noEditPoints="1" noAdjustHandles="1" noChangeArrowheads="1" noChangeShapeType="1" noTextEdit="1"/>
              </p:cNvSpPr>
              <p:nvPr/>
            </p:nvSpPr>
            <p:spPr>
              <a:xfrm>
                <a:off x="667512" y="1343818"/>
                <a:ext cx="5897880" cy="1288686"/>
              </a:xfrm>
              <a:prstGeom prst="rect">
                <a:avLst/>
              </a:prstGeom>
              <a:blipFill>
                <a:blip r:embed="rId3"/>
                <a:stretch>
                  <a:fillRect l="-931" t="-1887"/>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7" name="ZoneTexte 6">
                <a:extLst>
                  <a:ext uri="{FF2B5EF4-FFF2-40B4-BE49-F238E27FC236}">
                    <a16:creationId xmlns:a16="http://schemas.microsoft.com/office/drawing/2014/main" id="{35B26447-C369-915B-101D-E4FC7C5D7482}"/>
                  </a:ext>
                </a:extLst>
              </p:cNvPr>
              <p:cNvSpPr txBox="1"/>
              <p:nvPr/>
            </p:nvSpPr>
            <p:spPr>
              <a:xfrm>
                <a:off x="582168" y="2784657"/>
                <a:ext cx="5897880" cy="1288686"/>
              </a:xfrm>
              <a:prstGeom prst="rect">
                <a:avLst/>
              </a:prstGeom>
              <a:noFill/>
            </p:spPr>
            <p:txBody>
              <a:bodyPr wrap="square" rtlCol="0">
                <a:spAutoFit/>
              </a:bodyPr>
              <a:lstStyle/>
              <a:p>
                <a:r>
                  <a:rPr lang="fr-CA" dirty="0">
                    <a:solidFill>
                      <a:srgbClr val="FFBF00"/>
                    </a:solidFill>
                  </a:rPr>
                  <a:t>Condition de symétrie (Neumann) :</a:t>
                </a:r>
              </a:p>
              <a:p>
                <a:pPr algn="ctr"/>
                <a:r>
                  <a:rPr lang="fr-CA" dirty="0">
                    <a:solidFill>
                      <a:srgbClr val="FFBF00"/>
                    </a:solidFill>
                  </a:rPr>
                  <a:t>	</a:t>
                </a:r>
                <a14:m>
                  <m:oMath xmlns:m="http://schemas.openxmlformats.org/officeDocument/2006/math">
                    <m:f>
                      <m:fPr>
                        <m:ctrlPr>
                          <a:rPr lang="fr-CA" b="0" i="1" smtClean="0">
                            <a:solidFill>
                              <a:srgbClr val="FFBF00"/>
                            </a:solidFill>
                            <a:latin typeface="Cambria Math" panose="02040503050406030204" pitchFamily="18" charset="0"/>
                          </a:rPr>
                        </m:ctrlPr>
                      </m:fPr>
                      <m:num>
                        <m:r>
                          <a:rPr lang="fr-CA" b="0" i="1" smtClean="0">
                            <a:solidFill>
                              <a:srgbClr val="FFBF00"/>
                            </a:solidFill>
                            <a:latin typeface="Cambria Math" panose="02040503050406030204" pitchFamily="18" charset="0"/>
                          </a:rPr>
                          <m:t>𝑑𝑇</m:t>
                        </m:r>
                      </m:num>
                      <m:den>
                        <m:r>
                          <a:rPr lang="fr-CA" b="0" i="1" smtClean="0">
                            <a:solidFill>
                              <a:srgbClr val="FFBF00"/>
                            </a:solidFill>
                            <a:latin typeface="Cambria Math" panose="02040503050406030204" pitchFamily="18" charset="0"/>
                          </a:rPr>
                          <m:t>𝑑𝑧</m:t>
                        </m:r>
                      </m:den>
                    </m:f>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0</m:t>
                    </m:r>
                  </m:oMath>
                </a14:m>
                <a:endParaRPr lang="fr-CA" b="0" i="1" dirty="0">
                  <a:solidFill>
                    <a:srgbClr val="FFBF00"/>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rgbClr val="FFBF00"/>
                              </a:solidFill>
                              <a:latin typeface="Cambria Math" panose="02040503050406030204" pitchFamily="18" charset="0"/>
                            </a:rPr>
                          </m:ctrlPr>
                        </m:sSubSupPr>
                        <m:e>
                          <m:r>
                            <a:rPr lang="fr-CA" b="0" i="1" smtClean="0">
                              <a:solidFill>
                                <a:srgbClr val="FFBF00"/>
                              </a:solidFill>
                              <a:latin typeface="Cambria Math" panose="02040503050406030204" pitchFamily="18" charset="0"/>
                            </a:rPr>
                            <m:t>𝑇</m:t>
                          </m:r>
                        </m:e>
                        <m:sub>
                          <m:r>
                            <a:rPr lang="fr-CA" b="0" i="1" smtClean="0">
                              <a:solidFill>
                                <a:srgbClr val="FFBF00"/>
                              </a:solidFill>
                              <a:latin typeface="Cambria Math" panose="02040503050406030204" pitchFamily="18" charset="0"/>
                            </a:rPr>
                            <m:t>𝑟</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𝑧</m:t>
                          </m:r>
                        </m:sub>
                        <m:sup>
                          <m:r>
                            <a:rPr lang="fr-CA" b="0" i="1" smtClean="0">
                              <a:solidFill>
                                <a:srgbClr val="FFBF00"/>
                              </a:solidFill>
                              <a:latin typeface="Cambria Math" panose="02040503050406030204" pitchFamily="18" charset="0"/>
                            </a:rPr>
                            <m:t>𝑡</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ea typeface="Cambria Math" panose="02040503050406030204" pitchFamily="18" charset="0"/>
                            </a:rPr>
                            <m:t>𝑡</m:t>
                          </m:r>
                        </m:sup>
                      </m:sSubSup>
                      <m:r>
                        <a:rPr lang="fr-CA" b="0" i="0" smtClean="0">
                          <a:solidFill>
                            <a:srgbClr val="FFBF00"/>
                          </a:solidFill>
                          <a:latin typeface="Cambria Math" panose="02040503050406030204" pitchFamily="18" charset="0"/>
                        </a:rPr>
                        <m:t>=</m:t>
                      </m:r>
                      <m:f>
                        <m:fPr>
                          <m:ctrlPr>
                            <a:rPr lang="fr-CA" b="0" i="1" smtClean="0">
                              <a:solidFill>
                                <a:srgbClr val="FFBF00"/>
                              </a:solidFill>
                              <a:latin typeface="Cambria Math" panose="02040503050406030204" pitchFamily="18" charset="0"/>
                            </a:rPr>
                          </m:ctrlPr>
                        </m:fPr>
                        <m:num>
                          <m:r>
                            <a:rPr lang="fr-CA" b="0" i="0" smtClean="0">
                              <a:solidFill>
                                <a:srgbClr val="FFBF00"/>
                              </a:solidFill>
                              <a:latin typeface="Cambria Math" panose="02040503050406030204" pitchFamily="18" charset="0"/>
                            </a:rPr>
                            <m:t>−</m:t>
                          </m:r>
                          <m:r>
                            <a:rPr lang="fr-CA" b="0" i="0" smtClean="0">
                              <a:solidFill>
                                <a:srgbClr val="FFBF00"/>
                              </a:solidFill>
                              <a:latin typeface="Cambria Math" panose="02040503050406030204" pitchFamily="18" charset="0"/>
                            </a:rPr>
                            <m:t>1</m:t>
                          </m:r>
                        </m:num>
                        <m:den>
                          <m:r>
                            <a:rPr lang="fr-CA" b="0" i="0" smtClean="0">
                              <a:solidFill>
                                <a:srgbClr val="FFBF00"/>
                              </a:solidFill>
                              <a:latin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2</m:t>
                          </m:r>
                        </m:sub>
                        <m:sup>
                          <m:r>
                            <a:rPr lang="fr-CA" i="1">
                              <a:solidFill>
                                <a:srgbClr val="FFBF00"/>
                              </a:solidFill>
                              <a:latin typeface="Cambria Math" panose="02040503050406030204" pitchFamily="18" charset="0"/>
                            </a:rPr>
                            <m:t>𝑡</m:t>
                          </m:r>
                        </m:sup>
                      </m:sSubSup>
                      <m:r>
                        <a:rPr lang="fr-CA" b="0" i="1" smtClean="0">
                          <a:solidFill>
                            <a:srgbClr val="FFBF00"/>
                          </a:solidFill>
                          <a:latin typeface="Cambria Math" panose="02040503050406030204" pitchFamily="18" charset="0"/>
                          <a:ea typeface="Cambria Math" panose="02040503050406030204" pitchFamily="18" charset="0"/>
                        </a:rPr>
                        <m:t>+</m:t>
                      </m:r>
                      <m:f>
                        <m:fPr>
                          <m:ctrlPr>
                            <a:rPr lang="fr-CA" b="0" i="1" smtClean="0">
                              <a:solidFill>
                                <a:srgbClr val="FFBF00"/>
                              </a:solidFill>
                              <a:latin typeface="Cambria Math" panose="02040503050406030204" pitchFamily="18" charset="0"/>
                              <a:ea typeface="Cambria Math" panose="02040503050406030204" pitchFamily="18" charset="0"/>
                            </a:rPr>
                          </m:ctrlPr>
                        </m:fPr>
                        <m:num>
                          <m:r>
                            <a:rPr lang="fr-CA" b="0" i="1" smtClean="0">
                              <a:solidFill>
                                <a:srgbClr val="FFBF00"/>
                              </a:solidFill>
                              <a:latin typeface="Cambria Math" panose="02040503050406030204" pitchFamily="18" charset="0"/>
                              <a:ea typeface="Cambria Math" panose="02040503050406030204" pitchFamily="18" charset="0"/>
                            </a:rPr>
                            <m:t>4</m:t>
                          </m:r>
                        </m:num>
                        <m:den>
                          <m:r>
                            <a:rPr lang="fr-CA" b="0" i="1" smtClean="0">
                              <a:solidFill>
                                <a:srgbClr val="FFBF00"/>
                              </a:solidFill>
                              <a:latin typeface="Cambria Math" panose="02040503050406030204" pitchFamily="18" charset="0"/>
                              <a:ea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1</m:t>
                          </m:r>
                        </m:sub>
                        <m:sup>
                          <m:r>
                            <a:rPr lang="fr-CA" i="1">
                              <a:solidFill>
                                <a:srgbClr val="FFBF00"/>
                              </a:solidFill>
                              <a:latin typeface="Cambria Math" panose="02040503050406030204" pitchFamily="18" charset="0"/>
                            </a:rPr>
                            <m:t>𝑡</m:t>
                          </m:r>
                        </m:sup>
                      </m:sSubSup>
                    </m:oMath>
                  </m:oMathPara>
                </a14:m>
                <a:endParaRPr lang="fr-CA" dirty="0">
                  <a:solidFill>
                    <a:srgbClr val="FFBF00"/>
                  </a:solidFill>
                </a:endParaRPr>
              </a:p>
            </p:txBody>
          </p:sp>
        </mc:Choice>
        <mc:Fallback xmlns="">
          <p:sp>
            <p:nvSpPr>
              <p:cNvPr id="7" name="ZoneTexte 6">
                <a:extLst>
                  <a:ext uri="{FF2B5EF4-FFF2-40B4-BE49-F238E27FC236}">
                    <a16:creationId xmlns:a16="http://schemas.microsoft.com/office/drawing/2014/main" id="{35B26447-C369-915B-101D-E4FC7C5D7482}"/>
                  </a:ext>
                </a:extLst>
              </p:cNvPr>
              <p:cNvSpPr txBox="1">
                <a:spLocks noRot="1" noChangeAspect="1" noMove="1" noResize="1" noEditPoints="1" noAdjustHandles="1" noChangeArrowheads="1" noChangeShapeType="1" noTextEdit="1"/>
              </p:cNvSpPr>
              <p:nvPr/>
            </p:nvSpPr>
            <p:spPr>
              <a:xfrm>
                <a:off x="582168" y="2784657"/>
                <a:ext cx="5897880" cy="1288686"/>
              </a:xfrm>
              <a:prstGeom prst="rect">
                <a:avLst/>
              </a:prstGeom>
              <a:blipFill>
                <a:blip r:embed="rId4"/>
                <a:stretch>
                  <a:fillRect l="-931" t="-237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8" name="ZoneTexte 7">
                <a:extLst>
                  <a:ext uri="{FF2B5EF4-FFF2-40B4-BE49-F238E27FC236}">
                    <a16:creationId xmlns:a16="http://schemas.microsoft.com/office/drawing/2014/main" id="{B81FF01E-407B-CE8F-80F4-CFC728E6CA10}"/>
                  </a:ext>
                </a:extLst>
              </p:cNvPr>
              <p:cNvSpPr txBox="1"/>
              <p:nvPr/>
            </p:nvSpPr>
            <p:spPr>
              <a:xfrm>
                <a:off x="5803392" y="1268922"/>
                <a:ext cx="6141720" cy="1869614"/>
              </a:xfrm>
              <a:prstGeom prst="rect">
                <a:avLst/>
              </a:prstGeom>
              <a:noFill/>
            </p:spPr>
            <p:txBody>
              <a:bodyPr wrap="square" rtlCol="0">
                <a:spAutoFit/>
              </a:bodyPr>
              <a:lstStyle/>
              <a:p>
                <a:r>
                  <a:rPr lang="fr-CA" dirty="0">
                    <a:solidFill>
                      <a:srgbClr val="5B9BD5"/>
                    </a:solidFill>
                  </a:rPr>
                  <a:t>Condition de robin, convection-radiation :</a:t>
                </a:r>
              </a:p>
              <a:p>
                <a:pPr algn="ctr">
                  <a:spcBef>
                    <a:spcPts val="1800"/>
                  </a:spcBef>
                </a:pPr>
                <a:r>
                  <a:rPr lang="fr-CA" dirty="0">
                    <a:solidFill>
                      <a:srgbClr val="5B9BD5"/>
                    </a:solidFill>
                  </a:rPr>
                  <a:t>	</a:t>
                </a:r>
                <a14:m>
                  <m:oMath xmlns:m="http://schemas.openxmlformats.org/officeDocument/2006/math">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𝑘</m:t>
                    </m:r>
                    <m:r>
                      <m:rPr>
                        <m:sty m:val="p"/>
                      </m:rP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𝑇</m:t>
                    </m:r>
                    <m:r>
                      <a:rPr lang="fr-FR" i="1" smtClean="0">
                        <a:solidFill>
                          <a:srgbClr val="5B9BD5"/>
                        </a:solidFill>
                        <a:latin typeface="Cambria Math" panose="02040503050406030204" pitchFamily="18" charset="0"/>
                      </a:rPr>
                      <m:t>.</m:t>
                    </m:r>
                    <m:acc>
                      <m:accPr>
                        <m:chr m:val="⃗"/>
                        <m:ctrlPr>
                          <a:rPr lang="fr-FR" i="1" smtClean="0">
                            <a:solidFill>
                              <a:srgbClr val="5B9BD5"/>
                            </a:solidFill>
                            <a:latin typeface="Cambria Math" panose="02040503050406030204" pitchFamily="18" charset="0"/>
                          </a:rPr>
                        </m:ctrlPr>
                      </m:accPr>
                      <m:e>
                        <m:r>
                          <a:rPr lang="fr-CA" b="0" i="1" smtClean="0">
                            <a:solidFill>
                              <a:srgbClr val="5B9BD5"/>
                            </a:solidFill>
                            <a:latin typeface="Cambria Math" panose="02040503050406030204" pitchFamily="18" charset="0"/>
                          </a:rPr>
                          <m:t>𝑛</m:t>
                        </m:r>
                      </m:e>
                    </m:acc>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h</m:t>
                    </m:r>
                    <m:d>
                      <m:dPr>
                        <m:ctrlPr>
                          <a:rPr lang="fr-FR" i="1">
                            <a:solidFill>
                              <a:srgbClr val="5B9BD5"/>
                            </a:solidFill>
                            <a:latin typeface="Cambria Math" panose="02040503050406030204" pitchFamily="18" charset="0"/>
                          </a:rPr>
                        </m:ctrlPr>
                      </m:dPr>
                      <m:e>
                        <m:r>
                          <a:rPr lang="fr-FR" i="1">
                            <a:solidFill>
                              <a:srgbClr val="5B9BD5"/>
                            </a:solidFill>
                            <a:latin typeface="Cambria Math" panose="02040503050406030204" pitchFamily="18" charset="0"/>
                          </a:rPr>
                          <m:t>𝑇</m:t>
                        </m:r>
                        <m:r>
                          <a:rPr lang="fr-FR" i="1">
                            <a:solidFill>
                              <a:srgbClr val="5B9BD5"/>
                            </a:solidFill>
                            <a:latin typeface="Cambria Math" panose="02040503050406030204" pitchFamily="18" charset="0"/>
                          </a:rPr>
                          <m:t>−</m:t>
                        </m:r>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e>
                    </m:d>
                    <m:r>
                      <a:rPr lang="fr-FR" i="1">
                        <a:solidFill>
                          <a:srgbClr val="5B9BD5"/>
                        </a:solidFill>
                        <a:latin typeface="Cambria Math" panose="02040503050406030204" pitchFamily="18" charset="0"/>
                      </a:rPr>
                      <m:t>+</m:t>
                    </m:r>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r>
                          <a:rPr lang="fr-FR" i="1">
                            <a:solidFill>
                              <a:srgbClr val="5B9BD5"/>
                            </a:solidFill>
                            <a:latin typeface="Cambria Math" panose="02040503050406030204" pitchFamily="18" charset="0"/>
                          </a:rPr>
                          <m:t>𝑇</m:t>
                        </m:r>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oMath>
                </a14:m>
                <a:endParaRPr lang="fr-FR" dirty="0">
                  <a:solidFill>
                    <a:srgbClr val="5B9BD5"/>
                  </a:solidFill>
                </a:endParaRPr>
              </a:p>
              <a:p>
                <a:pPr algn="ctr"/>
                <a14:m>
                  <m:oMath xmlns:m="http://schemas.openxmlformats.org/officeDocument/2006/math">
                    <m:sSubSup>
                      <m:sSubSupPr>
                        <m:ctrlPr>
                          <a:rPr lang="fr-CA" b="0" i="1" smtClean="0">
                            <a:solidFill>
                              <a:srgbClr val="5B9BD5"/>
                            </a:solidFill>
                            <a:latin typeface="Cambria Math" panose="02040503050406030204" pitchFamily="18" charset="0"/>
                          </a:rPr>
                        </m:ctrlPr>
                      </m:sSubSupPr>
                      <m:e>
                        <m:r>
                          <a:rPr lang="fr-CA" b="0" i="1" smtClean="0">
                            <a:solidFill>
                              <a:srgbClr val="5B9BD5"/>
                            </a:solidFill>
                            <a:latin typeface="Cambria Math" panose="02040503050406030204" pitchFamily="18" charset="0"/>
                          </a:rPr>
                          <m:t>𝑇</m:t>
                        </m:r>
                      </m:e>
                      <m:sub>
                        <m:r>
                          <a:rPr lang="fr-CA" b="0" i="1" smtClean="0">
                            <a:solidFill>
                              <a:srgbClr val="5B9BD5"/>
                            </a:solidFill>
                            <a:latin typeface="Cambria Math" panose="02040503050406030204" pitchFamily="18" charset="0"/>
                          </a:rPr>
                          <m:t>𝑟</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ea typeface="Cambria Math" panose="02040503050406030204" pitchFamily="18" charset="0"/>
                          </a:rPr>
                          <m:t>𝑡</m:t>
                        </m:r>
                      </m:sup>
                    </m:sSubSup>
                    <m:r>
                      <a:rPr lang="fr-CA" b="0" i="0" smtClean="0">
                        <a:solidFill>
                          <a:srgbClr val="5B9BD5"/>
                        </a:solidFill>
                        <a:latin typeface="Cambria Math" panose="02040503050406030204" pitchFamily="18" charset="0"/>
                      </a:rPr>
                      <m:t>=[</m:t>
                    </m:r>
                    <m:d>
                      <m:dPr>
                        <m:ctrlPr>
                          <a:rPr lang="fr-CA" b="0" i="1" smtClean="0">
                            <a:solidFill>
                              <a:srgbClr val="5B9BD5"/>
                            </a:solidFill>
                            <a:latin typeface="Cambria Math" panose="02040503050406030204" pitchFamily="18" charset="0"/>
                          </a:rPr>
                        </m:ctrlPr>
                      </m:dPr>
                      <m:e>
                        <m:f>
                          <m:fPr>
                            <m:ctrlPr>
                              <a:rPr lang="fr-CA" b="0" i="1" smtClean="0">
                                <a:solidFill>
                                  <a:srgbClr val="5B9BD5"/>
                                </a:solidFill>
                                <a:latin typeface="Cambria Math" panose="02040503050406030204" pitchFamily="18" charset="0"/>
                              </a:rPr>
                            </m:ctrlPr>
                          </m:fPr>
                          <m:num>
                            <m:r>
                              <a:rPr lang="fr-CA" b="0" i="0" smtClean="0">
                                <a:solidFill>
                                  <a:srgbClr val="5B9BD5"/>
                                </a:solidFill>
                                <a:latin typeface="Cambria Math" panose="02040503050406030204" pitchFamily="18" charset="0"/>
                              </a:rPr>
                              <m:t>−</m:t>
                            </m:r>
                            <m:r>
                              <a:rPr lang="fr-CA" b="0" i="0" smtClean="0">
                                <a:solidFill>
                                  <a:srgbClr val="5B9BD5"/>
                                </a:solidFill>
                                <a:latin typeface="Cambria Math" panose="02040503050406030204" pitchFamily="18" charset="0"/>
                              </a:rPr>
                              <m:t>2</m:t>
                            </m:r>
                            <m:r>
                              <a:rPr lang="fr-CA" b="0" i="1"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z</m:t>
                            </m:r>
                          </m:num>
                          <m:den>
                            <m:r>
                              <m:rPr>
                                <m:sty m:val="p"/>
                              </m:rPr>
                              <a:rPr lang="fr-CA" b="0" i="0" smtClean="0">
                                <a:solidFill>
                                  <a:srgbClr val="5B9BD5"/>
                                </a:solidFill>
                                <a:latin typeface="Cambria Math" panose="02040503050406030204" pitchFamily="18" charset="0"/>
                              </a:rPr>
                              <m:t>k</m:t>
                            </m:r>
                          </m:den>
                        </m:f>
                      </m:e>
                    </m:d>
                    <m:r>
                      <a:rPr lang="fr-CA" b="0" i="0"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h</m:t>
                    </m:r>
                    <m:r>
                      <a:rPr lang="fr-CA" b="0" i="0" smtClean="0">
                        <a:solidFill>
                          <a:srgbClr val="5B9BD5"/>
                        </a:solidFill>
                        <a:latin typeface="Cambria Math" panose="02040503050406030204" pitchFamily="18" charset="0"/>
                      </a:rPr>
                      <m:t>(</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sup>
                    </m:sSubSup>
                  </m:oMath>
                </a14:m>
                <a:r>
                  <a:rPr lang="fr-CA" dirty="0">
                    <a:solidFill>
                      <a:srgbClr val="5B9BD5"/>
                    </a:solidFill>
                  </a:rPr>
                  <a:t>-</a:t>
                </a:r>
                <a:r>
                  <a:rPr lang="fr-FR" dirty="0">
                    <a:solidFill>
                      <a:srgbClr val="5B9BD5"/>
                    </a:solidFill>
                  </a:rPr>
                  <a:t> </a:t>
                </a:r>
                <a14:m>
                  <m:oMath xmlns:m="http://schemas.openxmlformats.org/officeDocument/2006/math">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r>
                      <a:rPr lang="fr-CA" b="0" i="1" dirty="0" smtClean="0">
                        <a:solidFill>
                          <a:srgbClr val="5B9BD5"/>
                        </a:solidFill>
                        <a:latin typeface="Cambria Math" panose="02040503050406030204" pitchFamily="18" charset="0"/>
                      </a:rPr>
                      <m:t>)</m:t>
                    </m:r>
                  </m:oMath>
                </a14:m>
                <a:r>
                  <a:rPr lang="fr-CA" dirty="0">
                    <a:solidFill>
                      <a:srgbClr val="5B9BD5"/>
                    </a:solidFill>
                  </a:rPr>
                  <a:t> + </a:t>
                </a:r>
                <a14:m>
                  <m:oMath xmlns:m="http://schemas.openxmlformats.org/officeDocument/2006/math">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i="1">
                                <a:solidFill>
                                  <a:srgbClr val="5B9BD5"/>
                                </a:solidFill>
                                <a:latin typeface="Cambria Math" panose="02040503050406030204" pitchFamily="18" charset="0"/>
                              </a:rPr>
                              <m:t>𝑡</m:t>
                            </m:r>
                          </m:sup>
                        </m:sSubSup>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 −</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2</m:t>
                        </m:r>
                      </m:sub>
                      <m:sup>
                        <m:r>
                          <a:rPr lang="fr-CA" i="1">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m:t>
                    </m:r>
                    <m:r>
                      <a:rPr lang="fr-CA" b="0" i="1" smtClean="0">
                        <a:solidFill>
                          <a:srgbClr val="5B9BD5"/>
                        </a:solidFill>
                        <a:latin typeface="Cambria Math" panose="02040503050406030204" pitchFamily="18" charset="0"/>
                        <a:ea typeface="Cambria Math" panose="02040503050406030204" pitchFamily="18" charset="0"/>
                      </a:rPr>
                      <m:t>4</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1</m:t>
                        </m:r>
                      </m:sub>
                      <m:sup>
                        <m:r>
                          <a:rPr lang="fr-CA" i="1">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m:t>
                    </m:r>
                    <m:r>
                      <a:rPr lang="fr-CA" b="0" i="1" smtClean="0">
                        <a:solidFill>
                          <a:srgbClr val="5B9BD5"/>
                        </a:solidFill>
                        <a:latin typeface="Cambria Math" panose="02040503050406030204" pitchFamily="18" charset="0"/>
                        <a:ea typeface="Cambria Math" panose="02040503050406030204" pitchFamily="18" charset="0"/>
                      </a:rPr>
                      <m:t>3</m:t>
                    </m:r>
                  </m:oMath>
                </a14:m>
                <a:r>
                  <a:rPr lang="fr-CA" dirty="0">
                    <a:solidFill>
                      <a:srgbClr val="5B9BD5"/>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5B9BD5"/>
                              </a:solidFill>
                              <a:latin typeface="Cambria Math" panose="02040503050406030204" pitchFamily="18" charset="0"/>
                            </a:rPr>
                          </m:ctrlPr>
                        </m:accPr>
                        <m:e>
                          <m:r>
                            <a:rPr lang="fr-CA" i="1">
                              <a:solidFill>
                                <a:srgbClr val="5B9BD5"/>
                              </a:solidFill>
                              <a:latin typeface="Cambria Math" panose="02040503050406030204" pitchFamily="18" charset="0"/>
                            </a:rPr>
                            <m:t>𝑛</m:t>
                          </m:r>
                        </m:e>
                      </m:acc>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0</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1</m:t>
                      </m:r>
                      <m:r>
                        <a:rPr lang="fr-CA" b="0" i="1" smtClean="0">
                          <a:solidFill>
                            <a:srgbClr val="5B9BD5"/>
                          </a:solidFill>
                          <a:latin typeface="Cambria Math" panose="02040503050406030204" pitchFamily="18" charset="0"/>
                        </a:rPr>
                        <m:t>)</m:t>
                      </m:r>
                    </m:oMath>
                  </m:oMathPara>
                </a14:m>
                <a:endParaRPr lang="fr-CA" dirty="0">
                  <a:solidFill>
                    <a:srgbClr val="5B9BD5"/>
                  </a:solidFill>
                </a:endParaRPr>
              </a:p>
            </p:txBody>
          </p:sp>
        </mc:Choice>
        <mc:Fallback xmlns="">
          <p:sp>
            <p:nvSpPr>
              <p:cNvPr id="8" name="ZoneTexte 7">
                <a:extLst>
                  <a:ext uri="{FF2B5EF4-FFF2-40B4-BE49-F238E27FC236}">
                    <a16:creationId xmlns:a16="http://schemas.microsoft.com/office/drawing/2014/main" id="{B81FF01E-407B-CE8F-80F4-CFC728E6CA10}"/>
                  </a:ext>
                </a:extLst>
              </p:cNvPr>
              <p:cNvSpPr txBox="1">
                <a:spLocks noRot="1" noChangeAspect="1" noMove="1" noResize="1" noEditPoints="1" noAdjustHandles="1" noChangeArrowheads="1" noChangeShapeType="1" noTextEdit="1"/>
              </p:cNvSpPr>
              <p:nvPr/>
            </p:nvSpPr>
            <p:spPr>
              <a:xfrm>
                <a:off x="5803392" y="1268922"/>
                <a:ext cx="6141720" cy="1869614"/>
              </a:xfrm>
              <a:prstGeom prst="rect">
                <a:avLst/>
              </a:prstGeom>
              <a:blipFill>
                <a:blip r:embed="rId5"/>
                <a:stretch>
                  <a:fillRect l="-794" t="-1303" b="-1954"/>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9" name="ZoneTexte 8">
                <a:extLst>
                  <a:ext uri="{FF2B5EF4-FFF2-40B4-BE49-F238E27FC236}">
                    <a16:creationId xmlns:a16="http://schemas.microsoft.com/office/drawing/2014/main" id="{A0DEE587-681A-1A82-80C1-940949F38F5B}"/>
                  </a:ext>
                </a:extLst>
              </p:cNvPr>
              <p:cNvSpPr txBox="1"/>
              <p:nvPr/>
            </p:nvSpPr>
            <p:spPr>
              <a:xfrm>
                <a:off x="5903976" y="3023260"/>
                <a:ext cx="6288024" cy="1869614"/>
              </a:xfrm>
              <a:prstGeom prst="rect">
                <a:avLst/>
              </a:prstGeom>
              <a:noFill/>
            </p:spPr>
            <p:txBody>
              <a:bodyPr wrap="square" rtlCol="0">
                <a:spAutoFit/>
              </a:bodyPr>
              <a:lstStyle/>
              <a:p>
                <a:r>
                  <a:rPr lang="fr-CA" dirty="0">
                    <a:solidFill>
                      <a:srgbClr val="6FAD46"/>
                    </a:solidFill>
                  </a:rPr>
                  <a:t>Condition de robin, convection-radiation :</a:t>
                </a:r>
              </a:p>
              <a:p>
                <a:pPr algn="ctr">
                  <a:spcBef>
                    <a:spcPts val="1800"/>
                  </a:spcBef>
                </a:pPr>
                <a:r>
                  <a:rPr lang="fr-CA" dirty="0">
                    <a:solidFill>
                      <a:srgbClr val="6FAD46"/>
                    </a:solidFill>
                  </a:rPr>
                  <a:t>	</a:t>
                </a:r>
                <a14:m>
                  <m:oMath xmlns:m="http://schemas.openxmlformats.org/officeDocument/2006/math">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𝑘</m:t>
                    </m:r>
                    <m:r>
                      <m:rPr>
                        <m:sty m:val="p"/>
                      </m:rP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𝑇</m:t>
                    </m:r>
                    <m:r>
                      <a:rPr lang="fr-FR" i="1" smtClean="0">
                        <a:solidFill>
                          <a:srgbClr val="6FAD46"/>
                        </a:solidFill>
                        <a:latin typeface="Cambria Math" panose="02040503050406030204" pitchFamily="18" charset="0"/>
                      </a:rPr>
                      <m:t>.</m:t>
                    </m:r>
                    <m:acc>
                      <m:accPr>
                        <m:chr m:val="⃗"/>
                        <m:ctrlPr>
                          <a:rPr lang="fr-FR" i="1" smtClean="0">
                            <a:solidFill>
                              <a:srgbClr val="6FAD46"/>
                            </a:solidFill>
                            <a:latin typeface="Cambria Math" panose="02040503050406030204" pitchFamily="18" charset="0"/>
                          </a:rPr>
                        </m:ctrlPr>
                      </m:accPr>
                      <m:e>
                        <m:r>
                          <a:rPr lang="fr-CA" b="0" i="1" smtClean="0">
                            <a:solidFill>
                              <a:srgbClr val="6FAD46"/>
                            </a:solidFill>
                            <a:latin typeface="Cambria Math" panose="02040503050406030204" pitchFamily="18" charset="0"/>
                          </a:rPr>
                          <m:t>𝑛</m:t>
                        </m:r>
                      </m:e>
                    </m:acc>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h</m:t>
                    </m:r>
                    <m:d>
                      <m:dPr>
                        <m:ctrlPr>
                          <a:rPr lang="fr-FR" i="1">
                            <a:solidFill>
                              <a:srgbClr val="6FAD46"/>
                            </a:solidFill>
                            <a:latin typeface="Cambria Math" panose="02040503050406030204" pitchFamily="18" charset="0"/>
                          </a:rPr>
                        </m:ctrlPr>
                      </m:dPr>
                      <m:e>
                        <m:r>
                          <a:rPr lang="fr-FR" i="1">
                            <a:solidFill>
                              <a:srgbClr val="6FAD46"/>
                            </a:solidFill>
                            <a:latin typeface="Cambria Math" panose="02040503050406030204" pitchFamily="18" charset="0"/>
                          </a:rPr>
                          <m:t>𝑇</m:t>
                        </m:r>
                        <m:r>
                          <a:rPr lang="fr-FR" i="1">
                            <a:solidFill>
                              <a:srgbClr val="6FAD46"/>
                            </a:solidFill>
                            <a:latin typeface="Cambria Math" panose="02040503050406030204" pitchFamily="18" charset="0"/>
                          </a:rPr>
                          <m:t>−</m:t>
                        </m:r>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e>
                    </m:d>
                    <m:r>
                      <a:rPr lang="fr-FR" i="1">
                        <a:solidFill>
                          <a:srgbClr val="6FAD46"/>
                        </a:solidFill>
                        <a:latin typeface="Cambria Math" panose="02040503050406030204" pitchFamily="18" charset="0"/>
                      </a:rPr>
                      <m:t>+</m:t>
                    </m:r>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r>
                          <a:rPr lang="fr-FR" i="1">
                            <a:solidFill>
                              <a:srgbClr val="6FAD46"/>
                            </a:solidFill>
                            <a:latin typeface="Cambria Math" panose="02040503050406030204" pitchFamily="18" charset="0"/>
                          </a:rPr>
                          <m:t>𝑇</m:t>
                        </m:r>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oMath>
                </a14:m>
                <a:endParaRPr lang="fr-FR" dirty="0">
                  <a:solidFill>
                    <a:srgbClr val="6FAD46"/>
                  </a:solidFill>
                </a:endParaRPr>
              </a:p>
              <a:p>
                <a:pPr algn="ctr"/>
                <a14:m>
                  <m:oMath xmlns:m="http://schemas.openxmlformats.org/officeDocument/2006/math">
                    <m:sSubSup>
                      <m:sSubSupPr>
                        <m:ctrlPr>
                          <a:rPr lang="fr-CA" b="0" i="1" smtClean="0">
                            <a:solidFill>
                              <a:srgbClr val="6FAD46"/>
                            </a:solidFill>
                            <a:latin typeface="Cambria Math" panose="02040503050406030204" pitchFamily="18" charset="0"/>
                          </a:rPr>
                        </m:ctrlPr>
                      </m:sSubSupPr>
                      <m:e>
                        <m:r>
                          <a:rPr lang="fr-CA" b="0" i="1" smtClean="0">
                            <a:solidFill>
                              <a:srgbClr val="6FAD46"/>
                            </a:solidFill>
                            <a:latin typeface="Cambria Math" panose="02040503050406030204" pitchFamily="18" charset="0"/>
                          </a:rPr>
                          <m:t>𝑇</m:t>
                        </m:r>
                      </m:e>
                      <m:sub>
                        <m:r>
                          <a:rPr lang="fr-CA" b="0" i="1" smtClean="0">
                            <a:solidFill>
                              <a:srgbClr val="6FAD46"/>
                            </a:solidFill>
                            <a:latin typeface="Cambria Math" panose="02040503050406030204" pitchFamily="18" charset="0"/>
                          </a:rPr>
                          <m:t>𝑟</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ea typeface="Cambria Math" panose="02040503050406030204" pitchFamily="18" charset="0"/>
                          </a:rPr>
                          <m:t>𝑡</m:t>
                        </m:r>
                      </m:sup>
                    </m:sSubSup>
                    <m:r>
                      <a:rPr lang="fr-CA" b="0" i="0" smtClean="0">
                        <a:solidFill>
                          <a:srgbClr val="6FAD46"/>
                        </a:solidFill>
                        <a:latin typeface="Cambria Math" panose="02040503050406030204" pitchFamily="18" charset="0"/>
                      </a:rPr>
                      <m:t>=[</m:t>
                    </m:r>
                    <m:d>
                      <m:dPr>
                        <m:ctrlPr>
                          <a:rPr lang="fr-CA" b="0" i="1" smtClean="0">
                            <a:solidFill>
                              <a:srgbClr val="6FAD46"/>
                            </a:solidFill>
                            <a:latin typeface="Cambria Math" panose="02040503050406030204" pitchFamily="18" charset="0"/>
                          </a:rPr>
                        </m:ctrlPr>
                      </m:dPr>
                      <m:e>
                        <m:f>
                          <m:fPr>
                            <m:ctrlPr>
                              <a:rPr lang="fr-CA" b="0" i="1" smtClean="0">
                                <a:solidFill>
                                  <a:srgbClr val="6FAD46"/>
                                </a:solidFill>
                                <a:latin typeface="Cambria Math" panose="02040503050406030204" pitchFamily="18" charset="0"/>
                              </a:rPr>
                            </m:ctrlPr>
                          </m:fPr>
                          <m:num>
                            <m:r>
                              <a:rPr lang="fr-CA" b="0" i="0" smtClean="0">
                                <a:solidFill>
                                  <a:srgbClr val="6FAD46"/>
                                </a:solidFill>
                                <a:latin typeface="Cambria Math" panose="02040503050406030204" pitchFamily="18" charset="0"/>
                              </a:rPr>
                              <m:t>−</m:t>
                            </m:r>
                            <m:r>
                              <a:rPr lang="fr-CA" b="0" i="0" smtClean="0">
                                <a:solidFill>
                                  <a:srgbClr val="6FAD46"/>
                                </a:solidFill>
                                <a:latin typeface="Cambria Math" panose="02040503050406030204" pitchFamily="18" charset="0"/>
                              </a:rPr>
                              <m:t>2</m:t>
                            </m:r>
                            <m:r>
                              <a:rPr lang="fr-CA" b="0" i="1"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r</m:t>
                            </m:r>
                          </m:num>
                          <m:den>
                            <m:r>
                              <m:rPr>
                                <m:sty m:val="p"/>
                              </m:rPr>
                              <a:rPr lang="fr-CA" b="0" i="0" smtClean="0">
                                <a:solidFill>
                                  <a:srgbClr val="6FAD46"/>
                                </a:solidFill>
                                <a:latin typeface="Cambria Math" panose="02040503050406030204" pitchFamily="18" charset="0"/>
                              </a:rPr>
                              <m:t>k</m:t>
                            </m:r>
                          </m:den>
                        </m:f>
                      </m:e>
                    </m:d>
                    <m:r>
                      <a:rPr lang="fr-CA" b="0" i="0"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h</m:t>
                    </m:r>
                    <m:r>
                      <a:rPr lang="fr-CA" b="0" i="0" smtClean="0">
                        <a:solidFill>
                          <a:srgbClr val="6FAD46"/>
                        </a:solidFill>
                        <a:latin typeface="Cambria Math" panose="02040503050406030204" pitchFamily="18" charset="0"/>
                      </a:rPr>
                      <m:t>(</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sup>
                    </m:sSubSup>
                  </m:oMath>
                </a14:m>
                <a:r>
                  <a:rPr lang="fr-CA" dirty="0">
                    <a:solidFill>
                      <a:srgbClr val="6FAD46"/>
                    </a:solidFill>
                  </a:rPr>
                  <a:t>-</a:t>
                </a:r>
                <a:r>
                  <a:rPr lang="fr-FR" dirty="0">
                    <a:solidFill>
                      <a:srgbClr val="6FAD46"/>
                    </a:solidFill>
                  </a:rPr>
                  <a:t> </a:t>
                </a:r>
                <a14:m>
                  <m:oMath xmlns:m="http://schemas.openxmlformats.org/officeDocument/2006/math">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r>
                      <a:rPr lang="fr-CA" b="0" i="1" dirty="0" smtClean="0">
                        <a:solidFill>
                          <a:srgbClr val="6FAD46"/>
                        </a:solidFill>
                        <a:latin typeface="Cambria Math" panose="02040503050406030204" pitchFamily="18" charset="0"/>
                      </a:rPr>
                      <m:t>)</m:t>
                    </m:r>
                  </m:oMath>
                </a14:m>
                <a:r>
                  <a:rPr lang="fr-CA" dirty="0">
                    <a:solidFill>
                      <a:srgbClr val="6FAD46"/>
                    </a:solidFill>
                  </a:rPr>
                  <a:t> + </a:t>
                </a:r>
                <a14:m>
                  <m:oMath xmlns:m="http://schemas.openxmlformats.org/officeDocument/2006/math">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i="1">
                                <a:solidFill>
                                  <a:srgbClr val="6FAD46"/>
                                </a:solidFill>
                                <a:latin typeface="Cambria Math" panose="02040503050406030204" pitchFamily="18" charset="0"/>
                              </a:rPr>
                              <m:t>𝑡</m:t>
                            </m:r>
                          </m:sup>
                        </m:sSubSup>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 −</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2</m:t>
                        </m:r>
                      </m:sub>
                      <m:sup>
                        <m:r>
                          <a:rPr lang="fr-CA" i="1">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m:t>
                    </m:r>
                    <m:r>
                      <a:rPr lang="fr-CA" b="0" i="1" smtClean="0">
                        <a:solidFill>
                          <a:srgbClr val="6FAD46"/>
                        </a:solidFill>
                        <a:latin typeface="Cambria Math" panose="02040503050406030204" pitchFamily="18" charset="0"/>
                        <a:ea typeface="Cambria Math" panose="02040503050406030204" pitchFamily="18" charset="0"/>
                      </a:rPr>
                      <m:t>4</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1</m:t>
                        </m:r>
                      </m:sub>
                      <m:sup>
                        <m:r>
                          <a:rPr lang="fr-CA" i="1">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m:t>
                    </m:r>
                    <m:r>
                      <a:rPr lang="fr-CA" b="0" i="1" smtClean="0">
                        <a:solidFill>
                          <a:srgbClr val="6FAD46"/>
                        </a:solidFill>
                        <a:latin typeface="Cambria Math" panose="02040503050406030204" pitchFamily="18" charset="0"/>
                        <a:ea typeface="Cambria Math" panose="02040503050406030204" pitchFamily="18" charset="0"/>
                      </a:rPr>
                      <m:t>3</m:t>
                    </m:r>
                  </m:oMath>
                </a14:m>
                <a:r>
                  <a:rPr lang="fr-CA" dirty="0">
                    <a:solidFill>
                      <a:srgbClr val="6FAD46"/>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6FAD46"/>
                              </a:solidFill>
                              <a:latin typeface="Cambria Math" panose="02040503050406030204" pitchFamily="18" charset="0"/>
                            </a:rPr>
                          </m:ctrlPr>
                        </m:accPr>
                        <m:e>
                          <m:r>
                            <a:rPr lang="fr-CA" i="1">
                              <a:solidFill>
                                <a:srgbClr val="6FAD46"/>
                              </a:solidFill>
                              <a:latin typeface="Cambria Math" panose="02040503050406030204" pitchFamily="18" charset="0"/>
                            </a:rPr>
                            <m:t>𝑛</m:t>
                          </m:r>
                        </m:e>
                      </m:acc>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1</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0</m:t>
                      </m:r>
                      <m:r>
                        <a:rPr lang="fr-CA" b="0" i="1" smtClean="0">
                          <a:solidFill>
                            <a:srgbClr val="6FAD46"/>
                          </a:solidFill>
                          <a:latin typeface="Cambria Math" panose="02040503050406030204" pitchFamily="18" charset="0"/>
                        </a:rPr>
                        <m:t>)</m:t>
                      </m:r>
                    </m:oMath>
                  </m:oMathPara>
                </a14:m>
                <a:endParaRPr lang="fr-CA" dirty="0">
                  <a:solidFill>
                    <a:srgbClr val="6FAD46"/>
                  </a:solidFill>
                </a:endParaRPr>
              </a:p>
            </p:txBody>
          </p:sp>
        </mc:Choice>
        <mc:Fallback xmlns="">
          <p:sp>
            <p:nvSpPr>
              <p:cNvPr id="9" name="ZoneTexte 8">
                <a:extLst>
                  <a:ext uri="{FF2B5EF4-FFF2-40B4-BE49-F238E27FC236}">
                    <a16:creationId xmlns:a16="http://schemas.microsoft.com/office/drawing/2014/main" id="{A0DEE587-681A-1A82-80C1-940949F38F5B}"/>
                  </a:ext>
                </a:extLst>
              </p:cNvPr>
              <p:cNvSpPr txBox="1">
                <a:spLocks noRot="1" noChangeAspect="1" noMove="1" noResize="1" noEditPoints="1" noAdjustHandles="1" noChangeArrowheads="1" noChangeShapeType="1" noTextEdit="1"/>
              </p:cNvSpPr>
              <p:nvPr/>
            </p:nvSpPr>
            <p:spPr>
              <a:xfrm>
                <a:off x="5903976" y="3023260"/>
                <a:ext cx="6288024" cy="1869614"/>
              </a:xfrm>
              <a:prstGeom prst="rect">
                <a:avLst/>
              </a:prstGeom>
              <a:blipFill>
                <a:blip r:embed="rId6"/>
                <a:stretch>
                  <a:fillRect l="-873" t="-1629" b="-1629"/>
                </a:stretch>
              </a:blipFill>
            </p:spPr>
            <p:txBody>
              <a:bodyPr/>
              <a:lstStyle/>
              <a:p>
                <a:r>
                  <a:rPr lang="fr-CA">
                    <a:noFill/>
                  </a:rPr>
                  <a:t> </a:t>
                </a:r>
              </a:p>
            </p:txBody>
          </p:sp>
        </mc:Fallback>
      </mc:AlternateContent>
      <p:sp>
        <p:nvSpPr>
          <p:cNvPr id="10" name="ZoneTexte 9">
            <a:extLst>
              <a:ext uri="{FF2B5EF4-FFF2-40B4-BE49-F238E27FC236}">
                <a16:creationId xmlns:a16="http://schemas.microsoft.com/office/drawing/2014/main" id="{841669E0-8634-2A94-9DF2-325DD99B02AA}"/>
              </a:ext>
            </a:extLst>
          </p:cNvPr>
          <p:cNvSpPr txBox="1"/>
          <p:nvPr/>
        </p:nvSpPr>
        <p:spPr>
          <a:xfrm>
            <a:off x="5999988" y="5008150"/>
            <a:ext cx="6096000" cy="646331"/>
          </a:xfrm>
          <a:prstGeom prst="rect">
            <a:avLst/>
          </a:prstGeom>
          <a:noFill/>
        </p:spPr>
        <p:txBody>
          <a:bodyPr wrap="square" rtlCol="0">
            <a:spAutoFit/>
          </a:bodyPr>
          <a:lstStyle/>
          <a:p>
            <a:r>
              <a:rPr lang="fr-CA" dirty="0" err="1"/>
              <a:t>Dicrétisations</a:t>
            </a:r>
            <a:r>
              <a:rPr lang="fr-CA" dirty="0"/>
              <a:t> réalisées à l’aide des méthodes de </a:t>
            </a:r>
            <a:r>
              <a:rPr lang="fr-CA" dirty="0" err="1"/>
              <a:t>Gear</a:t>
            </a:r>
            <a:r>
              <a:rPr lang="fr-CA" dirty="0"/>
              <a:t>, d’ordre 2 :</a:t>
            </a:r>
          </a:p>
        </p:txBody>
      </p:sp>
      <p:pic>
        <p:nvPicPr>
          <p:cNvPr id="12" name="Image 11">
            <a:extLst>
              <a:ext uri="{FF2B5EF4-FFF2-40B4-BE49-F238E27FC236}">
                <a16:creationId xmlns:a16="http://schemas.microsoft.com/office/drawing/2014/main" id="{32A8A863-AC5E-8C31-7C35-11133CCD2831}"/>
              </a:ext>
            </a:extLst>
          </p:cNvPr>
          <p:cNvPicPr>
            <a:picLocks noChangeAspect="1"/>
          </p:cNvPicPr>
          <p:nvPr/>
        </p:nvPicPr>
        <p:blipFill>
          <a:blip r:embed="rId7"/>
          <a:stretch>
            <a:fillRect/>
          </a:stretch>
        </p:blipFill>
        <p:spPr>
          <a:xfrm>
            <a:off x="5903976" y="5752785"/>
            <a:ext cx="6096000" cy="975360"/>
          </a:xfrm>
          <a:prstGeom prst="rect">
            <a:avLst/>
          </a:prstGeom>
        </p:spPr>
      </p:pic>
      <p:sp>
        <p:nvSpPr>
          <p:cNvPr id="3" name="Slide Number Placeholder 2">
            <a:extLst>
              <a:ext uri="{FF2B5EF4-FFF2-40B4-BE49-F238E27FC236}">
                <a16:creationId xmlns:a16="http://schemas.microsoft.com/office/drawing/2014/main" id="{B9328285-A11E-A0F3-98CE-D5ED409CC57F}"/>
              </a:ext>
            </a:extLst>
          </p:cNvPr>
          <p:cNvSpPr>
            <a:spLocks noGrp="1"/>
          </p:cNvSpPr>
          <p:nvPr>
            <p:ph type="sldNum" sz="quarter" idx="12"/>
          </p:nvPr>
        </p:nvSpPr>
        <p:spPr/>
        <p:txBody>
          <a:bodyPr/>
          <a:lstStyle/>
          <a:p>
            <a:fld id="{FD85B578-4E75-4E1C-9BE3-D5DCC0715B13}" type="slidenum">
              <a:rPr lang="fr-FR" smtClean="0"/>
              <a:t>9</a:t>
            </a:fld>
            <a:endParaRPr lang="fr-FR"/>
          </a:p>
        </p:txBody>
      </p:sp>
    </p:spTree>
    <p:extLst>
      <p:ext uri="{BB962C8B-B14F-4D97-AF65-F5344CB8AC3E}">
        <p14:creationId xmlns:p14="http://schemas.microsoft.com/office/powerpoint/2010/main" val="3300882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B0DE8D-01F9-F51A-DBBD-3867112623A3}"/>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369A214-4D5D-715B-6640-CC12B4B650A6}"/>
                  </a:ext>
                </a:extLst>
              </p:cNvPr>
              <p:cNvSpPr>
                <a:spLocks noGrp="1"/>
              </p:cNvSpPr>
              <p:nvPr>
                <p:ph idx="1"/>
              </p:nvPr>
            </p:nvSpPr>
            <p:spPr>
              <a:xfrm>
                <a:off x="570411" y="1605124"/>
                <a:ext cx="10515600" cy="5504688"/>
              </a:xfrm>
            </p:spPr>
            <p:txBody>
              <a:bodyPr>
                <a:normAutofit/>
              </a:bodyPr>
              <a:lstStyle/>
              <a:p>
                <a:r>
                  <a:rPr lang="fr-FR" dirty="0"/>
                  <a:t>Développement de Taylor </a:t>
                </a: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i="1">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num>
                      <m:den>
                        <m:r>
                          <a:rPr lang="fr-FR" i="1">
                            <a:latin typeface="Cambria Math" panose="02040503050406030204" pitchFamily="18" charset="0"/>
                          </a:rPr>
                          <m:t>3!</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b="0" i="1" smtClean="0">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3</m:t>
                            </m:r>
                          </m:sup>
                        </m:sSup>
                      </m:num>
                      <m:den>
                        <m:r>
                          <a:rPr lang="fr-FR" i="1">
                            <a:latin typeface="Cambria Math" panose="02040503050406030204" pitchFamily="18" charset="0"/>
                          </a:rPr>
                          <m:t>3!</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pPr marL="0" indent="0">
                  <a:buNone/>
                </a:pPr>
                <a:endParaRPr lang="fr-FR" b="0" i="0" dirty="0">
                  <a:latin typeface="Cambria Math" panose="02040503050406030204" pitchFamily="18" charset="0"/>
                </a:endParaRPr>
              </a:p>
              <a:p>
                <a:pPr marL="0" indent="0">
                  <a:buNone/>
                </a:pPr>
                <a:r>
                  <a:rPr lang="fr-FR" b="0" i="0" dirty="0">
                    <a:latin typeface="Cambria Math" panose="02040503050406030204" pitchFamily="18" charset="0"/>
                  </a:rPr>
                  <a:t>Ordre 1 en temps :</a:t>
                </a:r>
              </a:p>
              <a:p>
                <a14:m>
                  <m:oMath xmlns:m="http://schemas.openxmlformats.org/officeDocument/2006/math">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r>
                              <a:rPr lang="fr-FR" i="1">
                                <a:latin typeface="Cambria Math" panose="02040503050406030204" pitchFamily="18" charset="0"/>
                              </a:rPr>
                              <m:t>+</m:t>
                            </m:r>
                            <m:r>
                              <m:rPr>
                                <m:sty m:val="p"/>
                              </m:rPr>
                              <a:rPr lang="fr-FR">
                                <a:latin typeface="Cambria Math" panose="02040503050406030204" pitchFamily="18" charset="0"/>
                              </a:rPr>
                              <m:t>Δt</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r>
                      <a:rPr lang="fr-FR" b="0" i="1" smtClean="0">
                        <a:latin typeface="Cambria Math" panose="02040503050406030204" pitchFamily="18" charset="0"/>
                      </a:rPr>
                      <m:t>=</m:t>
                    </m:r>
                    <m:sSub>
                      <m:sSubPr>
                        <m:ctrlPr>
                          <a:rPr lang="fr-FR" i="1" smtClean="0">
                            <a:solidFill>
                              <a:srgbClr val="FF0000"/>
                            </a:solidFill>
                            <a:latin typeface="Cambria Math" panose="02040503050406030204" pitchFamily="18" charset="0"/>
                          </a:rPr>
                        </m:ctrlPr>
                      </m:sSubPr>
                      <m:e>
                        <m:r>
                          <a:rPr lang="fr-FR" b="0" i="1" smtClean="0">
                            <a:solidFill>
                              <a:schemeClr val="tx1"/>
                            </a:solidFill>
                            <a:latin typeface="Cambria Math" panose="02040503050406030204" pitchFamily="18" charset="0"/>
                          </a:rPr>
                          <m:t>(</m:t>
                        </m:r>
                        <m:r>
                          <a:rPr lang="fr-FR" i="1" smtClean="0">
                            <a:solidFill>
                              <a:srgbClr val="FF0000"/>
                            </a:solidFill>
                            <a:latin typeface="Cambria Math" panose="02040503050406030204" pitchFamily="18" charset="0"/>
                          </a:rPr>
                          <m:t>𝑇</m:t>
                        </m:r>
                      </m:e>
                      <m:sub>
                        <m:r>
                          <a:rPr lang="fr-FR" i="1">
                            <a:solidFill>
                              <a:srgbClr val="FF0000"/>
                            </a:solidFill>
                            <a:latin typeface="Cambria Math" panose="02040503050406030204" pitchFamily="18" charset="0"/>
                          </a:rPr>
                          <m:t>𝑖</m:t>
                        </m:r>
                      </m:sub>
                    </m:sSub>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sSub>
                      <m:sSubPr>
                        <m:ctrlPr>
                          <a:rPr lang="fr-FR" i="1" smtClean="0">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r>
                      <m:rPr>
                        <m:sty m:val="p"/>
                      </m:rPr>
                      <a:rPr lang="fr-FR"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r>
                      <a:rPr lang="fr-FR" b="0" i="1" smtClean="0">
                        <a:latin typeface="Cambria Math" panose="02040503050406030204" pitchFamily="18" charset="0"/>
                      </a:rPr>
                      <m:t>𝑜</m:t>
                    </m:r>
                    <m:r>
                      <a:rPr lang="fr-FR" b="0" i="1" smtClean="0">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b="0" i="1" smtClean="0">
                            <a:latin typeface="Cambria Math" panose="02040503050406030204" pitchFamily="18" charset="0"/>
                          </a:rPr>
                          <m:t>2</m:t>
                        </m:r>
                      </m:sup>
                    </m:sSup>
                    <m:r>
                      <a:rPr lang="fr-FR" b="0" i="1" smtClean="0">
                        <a:latin typeface="Cambria Math" panose="02040503050406030204" pitchFamily="18" charset="0"/>
                      </a:rPr>
                      <m:t>)</m:t>
                    </m:r>
                    <m:r>
                      <a:rPr lang="fr-FR" b="0" i="1" smtClean="0">
                        <a:solidFill>
                          <a:srgbClr val="FF0000"/>
                        </a:solidFill>
                        <a:latin typeface="Cambria Math" panose="02040503050406030204" pitchFamily="18" charset="0"/>
                      </a:rPr>
                      <m:t>−</m:t>
                    </m:r>
                    <m:sSub>
                      <m:sSubPr>
                        <m:ctrlPr>
                          <a:rPr lang="fr-FR" b="0" i="1" smtClean="0">
                            <a:solidFill>
                              <a:srgbClr val="FF0000"/>
                            </a:solidFill>
                            <a:latin typeface="Cambria Math" panose="02040503050406030204" pitchFamily="18" charset="0"/>
                          </a:rPr>
                        </m:ctrlPr>
                      </m:sSubPr>
                      <m:e>
                        <m:r>
                          <a:rPr lang="fr-FR" b="0" i="1" smtClean="0">
                            <a:solidFill>
                              <a:srgbClr val="FF0000"/>
                            </a:solidFill>
                            <a:latin typeface="Cambria Math" panose="02040503050406030204" pitchFamily="18" charset="0"/>
                          </a:rPr>
                          <m:t>𝑇</m:t>
                        </m:r>
                      </m:e>
                      <m:sub>
                        <m:r>
                          <a:rPr lang="fr-FR" b="0" i="1" smtClean="0">
                            <a:solidFill>
                              <a:srgbClr val="FF0000"/>
                            </a:solidFill>
                            <a:latin typeface="Cambria Math" panose="02040503050406030204" pitchFamily="18" charset="0"/>
                          </a:rPr>
                          <m:t>𝑖</m:t>
                        </m:r>
                      </m:sub>
                    </m:sSub>
                  </m:oMath>
                </a14:m>
                <a:r>
                  <a:rPr lang="fr-FR" b="0" i="0" dirty="0">
                    <a:latin typeface="Cambria Math" panose="02040503050406030204" pitchFamily="18" charset="0"/>
                  </a:rPr>
                  <a:t>)</a:t>
                </a:r>
                <a:r>
                  <a:rPr lang="fr-FR" dirty="0"/>
                  <a:t> </a:t>
                </a:r>
                <a14:m>
                  <m:oMath xmlns:m="http://schemas.openxmlformats.org/officeDocument/2006/math">
                    <m:f>
                      <m:fPr>
                        <m:ctrlPr>
                          <a:rPr lang="fr-FR" i="1">
                            <a:latin typeface="Cambria Math" panose="02040503050406030204" pitchFamily="18" charset="0"/>
                          </a:rPr>
                        </m:ctrlPr>
                      </m:fPr>
                      <m:num>
                        <m:r>
                          <a:rPr lang="fr-FR" b="0" i="1" smtClean="0">
                            <a:latin typeface="Cambria Math" panose="02040503050406030204" pitchFamily="18" charset="0"/>
                          </a:rPr>
                          <m:t>1</m:t>
                        </m:r>
                      </m:num>
                      <m:den>
                        <m:r>
                          <m:rPr>
                            <m:sty m:val="p"/>
                          </m:rPr>
                          <a:rPr lang="fr-FR">
                            <a:latin typeface="Cambria Math" panose="02040503050406030204" pitchFamily="18" charset="0"/>
                          </a:rPr>
                          <m:t>Δ</m:t>
                        </m:r>
                        <m:r>
                          <a:rPr lang="fr-FR" b="0" i="1" smtClean="0">
                            <a:latin typeface="Cambria Math" panose="02040503050406030204" pitchFamily="18" charset="0"/>
                          </a:rPr>
                          <m:t>𝑡</m:t>
                        </m:r>
                      </m:den>
                    </m:f>
                  </m:oMath>
                </a14:m>
                <a:endParaRPr lang="fr-FR" i="1" dirty="0">
                  <a:latin typeface="Cambria Math" panose="02040503050406030204" pitchFamily="18" charset="0"/>
                </a:endParaRPr>
              </a:p>
              <a:p>
                <a:pPr marL="0" indent="0">
                  <a:buNone/>
                </a:pPr>
                <a:r>
                  <a:rPr lang="fr-FR" b="0" dirty="0"/>
                  <a:t>	          </a:t>
                </a:r>
                <a14:m>
                  <m:oMath xmlns:m="http://schemas.openxmlformats.org/officeDocument/2006/math">
                    <m:r>
                      <a:rPr lang="fr-FR" b="0" i="0" smtClean="0">
                        <a:latin typeface="Cambria Math" panose="02040503050406030204" pitchFamily="18" charset="0"/>
                      </a:rPr>
                      <m:t>=</m:t>
                    </m:r>
                  </m:oMath>
                </a14:m>
                <a:r>
                  <a:rPr lang="fr-FR" dirty="0"/>
                  <a:t> </a:t>
                </a:r>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𝑡</m:t>
                        </m:r>
                        <m:r>
                          <a:rPr lang="fr-FR" i="1">
                            <a:latin typeface="Cambria Math" panose="02040503050406030204" pitchFamily="18" charset="0"/>
                          </a:rPr>
                          <m:t>,</m:t>
                        </m:r>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Sub>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num>
                      <m:den>
                        <m:r>
                          <a:rPr lang="fr-FR" i="1">
                            <a:latin typeface="Cambria Math" panose="02040503050406030204" pitchFamily="18" charset="0"/>
                          </a:rPr>
                          <m:t>2!</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r>
                      <a:rPr lang="fr-FR" i="1">
                        <a:latin typeface="Cambria Math" panose="02040503050406030204" pitchFamily="18" charset="0"/>
                      </a:rPr>
                      <m:t>)</m:t>
                    </m:r>
                  </m:oMath>
                </a14:m>
                <a:endParaRPr lang="fr-FR" b="0" i="0" dirty="0">
                  <a:latin typeface="Cambria Math" panose="02040503050406030204" pitchFamily="18" charset="0"/>
                </a:endParaRPr>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3369A214-4D5D-715B-6640-CC12B4B650A6}"/>
                  </a:ext>
                </a:extLst>
              </p:cNvPr>
              <p:cNvSpPr>
                <a:spLocks noGrp="1" noRot="1" noChangeAspect="1" noMove="1" noResize="1" noEditPoints="1" noAdjustHandles="1" noChangeArrowheads="1" noChangeShapeType="1" noTextEdit="1"/>
              </p:cNvSpPr>
              <p:nvPr>
                <p:ph idx="1"/>
              </p:nvPr>
            </p:nvSpPr>
            <p:spPr>
              <a:xfrm>
                <a:off x="570411" y="1605124"/>
                <a:ext cx="10515600" cy="5504688"/>
              </a:xfrm>
              <a:blipFill>
                <a:blip r:embed="rId3"/>
                <a:stretch>
                  <a:fillRect l="-1217" t="-1883"/>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7B458AFE-122A-4D24-80B8-A13BE35229B1}"/>
              </a:ext>
            </a:extLst>
          </p:cNvPr>
          <p:cNvSpPr>
            <a:spLocks noGrp="1"/>
          </p:cNvSpPr>
          <p:nvPr>
            <p:ph type="sldNum" sz="quarter" idx="12"/>
          </p:nvPr>
        </p:nvSpPr>
        <p:spPr/>
        <p:txBody>
          <a:bodyPr/>
          <a:lstStyle/>
          <a:p>
            <a:fld id="{FD85B578-4E75-4E1C-9BE3-D5DCC0715B13}" type="slidenum">
              <a:rPr lang="fr-FR" smtClean="0"/>
              <a:t>10</a:t>
            </a:fld>
            <a:endParaRPr lang="fr-FR"/>
          </a:p>
        </p:txBody>
      </p:sp>
    </p:spTree>
    <p:extLst>
      <p:ext uri="{BB962C8B-B14F-4D97-AF65-F5344CB8AC3E}">
        <p14:creationId xmlns:p14="http://schemas.microsoft.com/office/powerpoint/2010/main" val="12160243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C4141-85F8-8321-5A47-F7279370D5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F7B92C8-7E5E-8CDA-7607-D5BFCF6EADC5}"/>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145214A-2ADA-193F-B05A-48501377A832}"/>
                  </a:ext>
                </a:extLst>
              </p:cNvPr>
              <p:cNvSpPr>
                <a:spLocks noGrp="1"/>
              </p:cNvSpPr>
              <p:nvPr>
                <p:ph idx="1"/>
              </p:nvPr>
            </p:nvSpPr>
            <p:spPr>
              <a:xfrm>
                <a:off x="429768" y="1335057"/>
                <a:ext cx="11676888" cy="5504688"/>
              </a:xfrm>
            </p:spPr>
            <p:txBody>
              <a:bodyPr>
                <a:normAutofit/>
              </a:bodyPr>
              <a:lstStyle/>
              <a:p>
                <a:pPr marL="0" indent="0">
                  <a:buNone/>
                </a:pPr>
                <a:r>
                  <a:rPr lang="fr-FR" sz="2400" b="0" i="0" dirty="0">
                    <a:latin typeface="Cambria Math" panose="02040503050406030204" pitchFamily="18" charset="0"/>
                  </a:rPr>
                  <a:t>Ordre 2 en espace (r et z) :</a:t>
                </a: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CA" sz="2400" b="0" i="1"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sSub>
                      <m:sSubPr>
                        <m:ctrlPr>
                          <a:rPr lang="fr-FR" sz="2400" i="1" smtClean="0">
                            <a:solidFill>
                              <a:srgbClr val="FF0000"/>
                            </a:solidFill>
                            <a:latin typeface="Cambria Math" panose="02040503050406030204" pitchFamily="18" charset="0"/>
                          </a:rPr>
                        </m:ctrlPr>
                      </m:sSubPr>
                      <m:e>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solidFill>
                              <a:schemeClr val="tx1"/>
                            </a:solidFill>
                            <a:latin typeface="Cambria Math" panose="02040503050406030204" pitchFamily="18" charset="0"/>
                          </a:rPr>
                          <m:t>(</m:t>
                        </m:r>
                        <m:r>
                          <a:rPr lang="fr-FR" sz="2400" i="1" smtClean="0">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smtClean="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b="0" i="1" smtClean="0">
                        <a:latin typeface="Cambria Math" panose="02040503050406030204" pitchFamily="18" charset="0"/>
                      </a:rPr>
                      <m:t>+</m:t>
                    </m:r>
                    <m:r>
                      <a:rPr lang="fr-FR" sz="2400" b="0" i="1" smtClean="0">
                        <a:latin typeface="Cambria Math" panose="02040503050406030204" pitchFamily="18" charset="0"/>
                      </a:rPr>
                      <m:t>𝑜</m:t>
                    </m:r>
                    <m:d>
                      <m:dPr>
                        <m:ctrlPr>
                          <a:rPr lang="fr-FR" sz="2400" b="0" i="1" smtClean="0">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e>
                    </m:d>
                  </m:oMath>
                </a14:m>
                <a:endParaRPr lang="fr-FR" sz="2400" b="0" i="1" dirty="0">
                  <a:latin typeface="Cambria Math" panose="02040503050406030204" pitchFamily="18" charset="0"/>
                </a:endParaRPr>
              </a:p>
              <a:p>
                <a:pPr marL="0" indent="0">
                  <a:buNone/>
                </a:pPr>
                <a:r>
                  <a:rPr lang="fr-FR" sz="2400" b="0" dirty="0">
                    <a:solidFill>
                      <a:srgbClr val="FF0000"/>
                    </a:solidFill>
                  </a:rPr>
                  <a:t>		           </a:t>
                </a:r>
                <a14:m>
                  <m:oMath xmlns:m="http://schemas.openxmlformats.org/officeDocument/2006/math">
                    <m:r>
                      <a:rPr lang="fr-FR" sz="2400" b="0" i="1" smtClean="0">
                        <a:solidFill>
                          <a:srgbClr val="FF0000"/>
                        </a:solidFill>
                        <a:latin typeface="Cambria Math" panose="02040503050406030204" pitchFamily="18" charset="0"/>
                      </a:rPr>
                      <m:t>−</m:t>
                    </m:r>
                    <m:sSub>
                      <m:sSubPr>
                        <m:ctrlPr>
                          <a:rPr lang="fr-FR" sz="2400" b="0" i="1" smtClean="0">
                            <a:solidFill>
                              <a:srgbClr val="FF0000"/>
                            </a:solidFill>
                            <a:latin typeface="Cambria Math" panose="02040503050406030204" pitchFamily="18" charset="0"/>
                          </a:rPr>
                        </m:ctrlPr>
                      </m:sSubPr>
                      <m:e>
                        <m:r>
                          <a:rPr lang="fr-FR" sz="2400" b="0" i="1" smtClean="0">
                            <a:solidFill>
                              <a:srgbClr val="FF0000"/>
                            </a:solidFill>
                            <a:latin typeface="Cambria Math" panose="02040503050406030204" pitchFamily="18" charset="0"/>
                          </a:rPr>
                          <m:t>𝑇</m:t>
                        </m:r>
                      </m:e>
                      <m:sub>
                        <m:r>
                          <a:rPr lang="fr-FR" sz="2400" b="0" i="1" smtClean="0">
                            <a:solidFill>
                              <a:srgbClr val="FF0000"/>
                            </a:solidFill>
                            <a:latin typeface="Cambria Math" panose="02040503050406030204" pitchFamily="18" charset="0"/>
                          </a:rPr>
                          <m:t>𝑖</m:t>
                        </m:r>
                      </m:sub>
                    </m:sSub>
                  </m:oMath>
                </a14:m>
                <a:r>
                  <a:rPr lang="fr-FR" sz="2400" dirty="0"/>
                  <a:t> </a:t>
                </a:r>
                <a14:m>
                  <m:oMath xmlns:m="http://schemas.openxmlformats.org/officeDocument/2006/math">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𝑥</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oMath>
                </a14:m>
                <a:r>
                  <a:rPr lang="fr-FR" sz="2400" dirty="0">
                    <a:solidFill>
                      <a:srgbClr val="FF0000"/>
                    </a:solidFill>
                  </a:rPr>
                  <a:t> </a:t>
                </a:r>
                <a14:m>
                  <m:oMath xmlns:m="http://schemas.openxmlformats.org/officeDocument/2006/math">
                    <m:r>
                      <a:rPr lang="fr-FR" sz="2400" dirty="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i="1">
                        <a:latin typeface="Cambria Math" panose="02040503050406030204" pitchFamily="18" charset="0"/>
                      </a:rPr>
                      <m:t>+</m:t>
                    </m:r>
                    <m:r>
                      <a:rPr lang="fr-FR" sz="2400" i="1">
                        <a:latin typeface="Cambria Math" panose="02040503050406030204" pitchFamily="18" charset="0"/>
                      </a:rPr>
                      <m:t>𝑜</m:t>
                    </m:r>
                    <m:d>
                      <m:dPr>
                        <m:ctrlPr>
                          <a:rPr lang="fr-FR" sz="2400" i="1">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e>
                    </m:d>
                  </m:oMath>
                </a14:m>
                <a:r>
                  <a:rPr lang="fr-FR" sz="2400" b="0" i="0" dirty="0">
                    <a:latin typeface="Cambria Math" panose="02040503050406030204" pitchFamily="18" charset="0"/>
                  </a:rPr>
                  <a:t>)</a:t>
                </a:r>
                <a:endParaRPr lang="fr-FR" sz="2400" i="1" dirty="0">
                  <a:latin typeface="Cambria Math" panose="02040503050406030204" pitchFamily="18" charset="0"/>
                </a:endParaRPr>
              </a:p>
              <a:p>
                <a:pPr marL="0" indent="0">
                  <a:buNone/>
                </a:pPr>
                <a:r>
                  <a:rPr lang="fr-FR" sz="2400" b="0" dirty="0"/>
                  <a:t>	          	   </a:t>
                </a:r>
                <a14:m>
                  <m:oMath xmlns:m="http://schemas.openxmlformats.org/officeDocument/2006/math">
                    <m:r>
                      <a:rPr lang="fr-FR" sz="2400" b="0" i="0" smtClean="0">
                        <a:latin typeface="Cambria Math" panose="02040503050406030204" pitchFamily="18" charset="0"/>
                      </a:rPr>
                      <m:t>=</m:t>
                    </m:r>
                  </m:oMath>
                </a14:m>
                <a:r>
                  <a:rPr lang="fr-FR" sz="2400" dirty="0"/>
                  <a:t> </a:t>
                </a:r>
                <a14:m>
                  <m:oMath xmlns:m="http://schemas.openxmlformats.org/officeDocument/2006/math">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i="1">
                                <a:solidFill>
                                  <a:srgbClr val="0070C0"/>
                                </a:solidFill>
                                <a:latin typeface="Cambria Math" panose="02040503050406030204" pitchFamily="18" charset="0"/>
                              </a:rPr>
                              <m:t>2</m:t>
                            </m:r>
                          </m:sup>
                        </m:sSup>
                      </m:num>
                      <m:den>
                        <m:r>
                          <a:rPr lang="fr-FR" sz="2400" b="0" i="1" smtClean="0">
                            <a:latin typeface="Cambria Math" panose="02040503050406030204" pitchFamily="18" charset="0"/>
                          </a:rPr>
                          <m:t>3</m:t>
                        </m:r>
                        <m:r>
                          <a:rPr lang="fr-FR" sz="2400" i="1">
                            <a:latin typeface="Cambria Math" panose="02040503050406030204" pitchFamily="18" charset="0"/>
                          </a:rPr>
                          <m:t>!</m:t>
                        </m:r>
                      </m:den>
                    </m:f>
                    <m:r>
                      <a:rPr lang="fr-FR" sz="2400" i="1">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i="0" dirty="0">
                  <a:latin typeface="Cambria Math" panose="02040503050406030204" pitchFamily="18" charset="0"/>
                </a:endParaRPr>
              </a:p>
              <a:p>
                <a:endParaRPr lang="fr-FR" sz="2400" i="1" dirty="0">
                  <a:latin typeface="Cambria Math" panose="02040503050406030204" pitchFamily="18" charset="0"/>
                </a:endParaRP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f>
                          <m:fPr>
                            <m:ctrlPr>
                              <a:rPr lang="fr-FR" sz="2400" i="1" smtClean="0">
                                <a:latin typeface="Cambria Math" panose="02040503050406030204" pitchFamily="18" charset="0"/>
                              </a:rPr>
                            </m:ctrlPr>
                          </m:fPr>
                          <m:num>
                            <m:r>
                              <a:rPr lang="fr-FR" sz="2400" i="1">
                                <a:latin typeface="Cambria Math" panose="02040503050406030204" pitchFamily="18" charset="0"/>
                              </a:rPr>
                              <m:t>1</m:t>
                            </m:r>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den>
                        </m:f>
                        <m:r>
                          <a:rPr lang="fr-FR" sz="2400" i="1">
                            <a:latin typeface="Cambria Math" panose="02040503050406030204" pitchFamily="18" charset="0"/>
                          </a:rPr>
                          <m:t>(</m:t>
                        </m:r>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b="0" i="1" smtClean="0">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b="0" i="1" smtClean="0">
                        <a:solidFill>
                          <a:srgbClr val="FF0000"/>
                        </a:solidFill>
                        <a:latin typeface="Cambria Math" panose="02040503050406030204" pitchFamily="18" charset="0"/>
                      </a:rPr>
                      <m:t>𝑧</m:t>
                    </m:r>
                    <m:r>
                      <a:rPr lang="fr-FR" sz="2400" i="1" smtClean="0">
                        <a:solidFill>
                          <a:schemeClr val="tx1"/>
                        </a:solidFill>
                        <a:latin typeface="Cambria Math" panose="02040503050406030204" pitchFamily="18" charset="0"/>
                      </a:rPr>
                      <m:t>+</m:t>
                    </m:r>
                    <m:f>
                      <m:fPr>
                        <m:ctrlPr>
                          <a:rPr lang="fr-FR" sz="2400" i="1">
                            <a:solidFill>
                              <a:schemeClr val="tx1"/>
                            </a:solidFill>
                            <a:latin typeface="Cambria Math" panose="02040503050406030204" pitchFamily="18" charset="0"/>
                          </a:rPr>
                        </m:ctrlPr>
                      </m:fPr>
                      <m:num>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m:t>
                            </m:r>
                          </m:e>
                          <m:sup>
                            <m:r>
                              <a:rPr lang="fr-FR" sz="2400" i="1">
                                <a:solidFill>
                                  <a:schemeClr val="tx1"/>
                                </a:solidFill>
                                <a:latin typeface="Cambria Math" panose="02040503050406030204" pitchFamily="18" charset="0"/>
                              </a:rPr>
                              <m:t>2</m:t>
                            </m:r>
                          </m:sup>
                        </m:sSup>
                        <m:r>
                          <a:rPr lang="fr-FR" sz="2400" i="1">
                            <a:solidFill>
                              <a:schemeClr val="tx1"/>
                            </a:solidFill>
                            <a:latin typeface="Cambria Math" panose="02040503050406030204" pitchFamily="18" charset="0"/>
                          </a:rPr>
                          <m:t>𝑇</m:t>
                        </m:r>
                      </m:num>
                      <m:den>
                        <m:r>
                          <a:rPr lang="fr-FR" sz="2400" i="1">
                            <a:solidFill>
                              <a:schemeClr val="tx1"/>
                            </a:solidFill>
                            <a:latin typeface="Cambria Math" panose="02040503050406030204" pitchFamily="18" charset="0"/>
                          </a:rPr>
                          <m:t>𝜕</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den>
                    </m:f>
                    <m:sSub>
                      <m:sSubPr>
                        <m:ctrlPr>
                          <a:rPr lang="fr-FR" sz="2400" i="1">
                            <a:solidFill>
                              <a:schemeClr val="tx1"/>
                            </a:solidFill>
                            <a:latin typeface="Cambria Math" panose="02040503050406030204" pitchFamily="18" charset="0"/>
                          </a:rPr>
                        </m:ctrlPr>
                      </m:sSubPr>
                      <m:e>
                        <m:d>
                          <m:dPr>
                            <m:begChr m:val=""/>
                            <m:endChr m:val="|"/>
                            <m:ctrlPr>
                              <a:rPr lang="fr-FR" sz="2400" i="1">
                                <a:solidFill>
                                  <a:schemeClr val="tx1"/>
                                </a:solidFill>
                                <a:latin typeface="Cambria Math" panose="02040503050406030204" pitchFamily="18" charset="0"/>
                              </a:rPr>
                            </m:ctrlPr>
                          </m:dPr>
                          <m:e>
                            <m:r>
                              <a:rPr lang="fr-FR" sz="2400" i="1">
                                <a:solidFill>
                                  <a:schemeClr val="tx1"/>
                                </a:solidFill>
                                <a:latin typeface="Cambria Math" panose="02040503050406030204" pitchFamily="18" charset="0"/>
                              </a:rPr>
                              <m:t>​</m:t>
                            </m:r>
                          </m:e>
                        </m:d>
                      </m:e>
                      <m:sub>
                        <m:r>
                          <a:rPr lang="fr-FR" sz="2400" i="1">
                            <a:solidFill>
                              <a:schemeClr val="tx1"/>
                            </a:solidFill>
                            <a:latin typeface="Cambria Math" panose="02040503050406030204" pitchFamily="18" charset="0"/>
                          </a:rPr>
                          <m:t>𝑡</m:t>
                        </m:r>
                        <m:r>
                          <a:rPr lang="fr-FR" sz="2400" i="1">
                            <a:solidFill>
                              <a:schemeClr val="tx1"/>
                            </a:solidFill>
                            <a:latin typeface="Cambria Math" panose="02040503050406030204" pitchFamily="18" charset="0"/>
                          </a:rPr>
                          <m:t>,</m:t>
                        </m:r>
                        <m:r>
                          <a:rPr lang="fr-CA" sz="2400" b="0" i="1" smtClean="0">
                            <a:solidFill>
                              <a:schemeClr val="tx1"/>
                            </a:solidFill>
                            <a:latin typeface="Cambria Math" panose="02040503050406030204" pitchFamily="18" charset="0"/>
                          </a:rPr>
                          <m:t>𝑟</m:t>
                        </m:r>
                        <m:r>
                          <a:rPr lang="fr-FR" sz="2400" i="1">
                            <a:solidFill>
                              <a:schemeClr val="tx1"/>
                            </a:solidFill>
                            <a:latin typeface="Cambria Math" panose="02040503050406030204" pitchFamily="18" charset="0"/>
                          </a:rPr>
                          <m:t>,</m:t>
                        </m:r>
                        <m:r>
                          <a:rPr lang="fr-FR" sz="2400" i="1">
                            <a:solidFill>
                              <a:schemeClr val="tx1"/>
                            </a:solidFill>
                            <a:latin typeface="Cambria Math" panose="02040503050406030204" pitchFamily="18" charset="0"/>
                          </a:rPr>
                          <m:t>𝑧</m:t>
                        </m:r>
                      </m:sub>
                    </m:sSub>
                    <m:f>
                      <m:fPr>
                        <m:ctrlPr>
                          <a:rPr lang="fr-FR" sz="2400" i="1">
                            <a:solidFill>
                              <a:schemeClr val="tx1"/>
                            </a:solidFill>
                            <a:latin typeface="Cambria Math" panose="02040503050406030204" pitchFamily="18" charset="0"/>
                          </a:rPr>
                        </m:ctrlPr>
                      </m:fPr>
                      <m:num>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num>
                      <m:den>
                        <m:r>
                          <a:rPr lang="fr-FR" sz="2400" i="1">
                            <a:solidFill>
                              <a:schemeClr val="tx1"/>
                            </a:solidFill>
                            <a:latin typeface="Cambria Math" panose="02040503050406030204" pitchFamily="18" charset="0"/>
                          </a:rPr>
                          <m:t>2!</m:t>
                        </m:r>
                      </m:den>
                    </m:f>
                    <m:r>
                      <a:rPr lang="fr-FR" sz="240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400" dirty="0"/>
              </a:p>
              <a:p>
                <a:pPr marL="0" indent="0">
                  <a:buNone/>
                </a:pPr>
                <a:r>
                  <a:rPr lang="fr-FR" sz="2400" b="0" dirty="0"/>
                  <a:t> 			</a:t>
                </a:r>
                <a:r>
                  <a:rPr lang="fr-FR" sz="2400" dirty="0"/>
                  <a:t> </a:t>
                </a:r>
                <a14:m>
                  <m:oMath xmlns:m="http://schemas.openxmlformats.org/officeDocument/2006/math">
                    <m:r>
                      <a:rPr lang="fr-FR" sz="2400" b="0" i="0" smtClean="0">
                        <a:latin typeface="Cambria Math" panose="02040503050406030204" pitchFamily="18" charset="0"/>
                      </a:rPr>
                      <m:t>    </m:t>
                    </m:r>
                    <m:r>
                      <a:rPr lang="fr-FR" sz="2400" b="0" i="1" smtClean="0">
                        <a:solidFill>
                          <a:srgbClr val="FF0000"/>
                        </a:solidFill>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i="1">
                        <a:solidFill>
                          <a:srgbClr val="FF0000"/>
                        </a:solidFill>
                        <a:latin typeface="Cambria Math" panose="02040503050406030204" pitchFamily="18" charset="0"/>
                      </a:rPr>
                      <m:t>𝑧</m:t>
                    </m:r>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num>
                      <m:den>
                        <m:r>
                          <a:rPr lang="fr-FR" sz="2400" i="1">
                            <a:latin typeface="Cambria Math" panose="02040503050406030204" pitchFamily="18" charset="0"/>
                          </a:rPr>
                          <m:t>2!</m:t>
                        </m:r>
                      </m:den>
                    </m:f>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000" b="0" dirty="0"/>
              </a:p>
              <a:p>
                <a:pPr marL="0" indent="0">
                  <a:buNone/>
                </a:pPr>
                <a:r>
                  <a:rPr lang="fr-FR" sz="2000" dirty="0"/>
                  <a:t>			      </a:t>
                </a:r>
                <a14:m>
                  <m:oMath xmlns:m="http://schemas.openxmlformats.org/officeDocument/2006/math">
                    <m:r>
                      <a:rPr lang="fr-FR" sz="2000" i="1">
                        <a:solidFill>
                          <a:srgbClr val="FF0000"/>
                        </a:solidFill>
                        <a:latin typeface="Cambria Math" panose="02040503050406030204" pitchFamily="18" charset="0"/>
                      </a:rPr>
                      <m:t>− </m:t>
                    </m:r>
                    <m:r>
                      <a:rPr lang="fr-FR" sz="2400" b="0" i="1" dirty="0" smtClean="0">
                        <a:solidFill>
                          <a:srgbClr val="FF0000"/>
                        </a:solidFill>
                        <a:latin typeface="Cambria Math" panose="02040503050406030204" pitchFamily="18" charset="0"/>
                      </a:rPr>
                      <m:t>2</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chemeClr val="tx1"/>
                        </a:solidFill>
                        <a:latin typeface="Cambria Math" panose="02040503050406030204" pitchFamily="18" charset="0"/>
                      </a:rPr>
                      <m:t>+</m:t>
                    </m:r>
                    <m:r>
                      <a:rPr lang="fr-FR" sz="2400" b="0" i="1" smtClean="0">
                        <a:solidFill>
                          <a:schemeClr val="tx1"/>
                        </a:solidFill>
                        <a:latin typeface="Cambria Math" panose="02040503050406030204" pitchFamily="18" charset="0"/>
                      </a:rPr>
                      <m:t>𝑜</m:t>
                    </m:r>
                    <m:r>
                      <a:rPr lang="fr-FR" sz="2400" b="0" i="1" smtClean="0">
                        <a:solidFill>
                          <a:schemeClr val="tx1"/>
                        </a:solidFill>
                        <a:latin typeface="Cambria Math" panose="02040503050406030204" pitchFamily="18" charset="0"/>
                      </a:rPr>
                      <m:t>(</m:t>
                    </m:r>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4</m:t>
                        </m:r>
                      </m:sup>
                    </m:sSup>
                    <m:r>
                      <a:rPr lang="fr-FR" sz="2400" b="0" i="1" smtClean="0">
                        <a:solidFill>
                          <a:schemeClr val="tx1"/>
                        </a:solidFill>
                        <a:latin typeface="Cambria Math" panose="02040503050406030204" pitchFamily="18" charset="0"/>
                      </a:rPr>
                      <m:t>)</m:t>
                    </m:r>
                  </m:oMath>
                </a14:m>
                <a:r>
                  <a:rPr lang="fr-FR" sz="2400" b="0" dirty="0">
                    <a:solidFill>
                      <a:schemeClr val="tx1"/>
                    </a:solidFill>
                  </a:rPr>
                  <a:t>)</a:t>
                </a:r>
              </a:p>
              <a:p>
                <a:pPr marL="0" indent="0">
                  <a:buNone/>
                </a:pPr>
                <a:r>
                  <a:rPr lang="fr-FR" sz="2400" dirty="0"/>
                  <a:t>			 </a:t>
                </a:r>
                <a14:m>
                  <m:oMath xmlns:m="http://schemas.openxmlformats.org/officeDocument/2006/math">
                    <m:r>
                      <a:rPr lang="fr-FR" sz="2000" b="0" i="0" dirty="0" smtClean="0">
                        <a:solidFill>
                          <a:srgbClr val="FF0000"/>
                        </a:solidFill>
                        <a:latin typeface="Cambria Math" panose="02040503050406030204" pitchFamily="18" charset="0"/>
                      </a:rPr>
                      <m:t>    </m:t>
                    </m:r>
                    <m:r>
                      <a:rPr lang="fr-FR" sz="2000" i="1" dirty="0" smtClean="0">
                        <a:solidFill>
                          <a:srgbClr val="FF0000"/>
                        </a:solidFill>
                        <a:latin typeface="Cambria Math" panose="02040503050406030204" pitchFamily="18" charset="0"/>
                      </a:rPr>
                      <m:t>=</m:t>
                    </m:r>
                    <m:r>
                      <a:rPr lang="fr-FR" sz="2000" i="1">
                        <a:solidFill>
                          <a:srgbClr val="FF0000"/>
                        </a:solidFill>
                        <a:latin typeface="Cambria Math" panose="02040503050406030204" pitchFamily="18" charset="0"/>
                      </a:rPr>
                      <m:t> </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0" smtClean="0">
                        <a:latin typeface="Cambria Math" panose="02040503050406030204" pitchFamily="18" charset="0"/>
                      </a:rPr>
                      <m:t>+</m:t>
                    </m:r>
                    <m:r>
                      <a:rPr lang="fr-FR" sz="2400" b="0" i="1" smtClean="0">
                        <a:latin typeface="Cambria Math" panose="02040503050406030204" pitchFamily="18" charset="0"/>
                      </a:rPr>
                      <m:t>2</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num>
                      <m:den>
                        <m:r>
                          <a:rPr lang="fr-FR" sz="2400" i="1">
                            <a:latin typeface="Cambria Math" panose="02040503050406030204" pitchFamily="18" charset="0"/>
                          </a:rPr>
                          <m:t>4!</m:t>
                        </m:r>
                      </m:den>
                    </m:f>
                    <m:r>
                      <a:rPr lang="fr-FR" sz="2400" b="0" i="1" smtClean="0">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dirty="0">
                  <a:solidFill>
                    <a:schemeClr val="tx1"/>
                  </a:solidFill>
                </a:endParaRPr>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A145214A-2ADA-193F-B05A-48501377A832}"/>
                  </a:ext>
                </a:extLst>
              </p:cNvPr>
              <p:cNvSpPr>
                <a:spLocks noGrp="1" noRot="1" noChangeAspect="1" noMove="1" noResize="1" noEditPoints="1" noAdjustHandles="1" noChangeArrowheads="1" noChangeShapeType="1" noTextEdit="1"/>
              </p:cNvSpPr>
              <p:nvPr>
                <p:ph idx="1"/>
              </p:nvPr>
            </p:nvSpPr>
            <p:spPr>
              <a:xfrm>
                <a:off x="429768" y="1335057"/>
                <a:ext cx="11676888" cy="5504688"/>
              </a:xfrm>
              <a:blipFill>
                <a:blip r:embed="rId3"/>
                <a:stretch>
                  <a:fillRect l="-836" t="-1550"/>
                </a:stretch>
              </a:blipFill>
            </p:spPr>
            <p:txBody>
              <a:bodyPr/>
              <a:lstStyle/>
              <a:p>
                <a:r>
                  <a:rPr lang="fr-CA">
                    <a:noFill/>
                  </a:rPr>
                  <a:t> </a:t>
                </a:r>
              </a:p>
            </p:txBody>
          </p:sp>
        </mc:Fallback>
      </mc:AlternateContent>
      <p:sp>
        <p:nvSpPr>
          <p:cNvPr id="4" name="ZoneTexte 3">
            <a:extLst>
              <a:ext uri="{FF2B5EF4-FFF2-40B4-BE49-F238E27FC236}">
                <a16:creationId xmlns:a16="http://schemas.microsoft.com/office/drawing/2014/main" id="{E6A5FF14-066D-C8AE-EF4F-5F0D2C183AC9}"/>
              </a:ext>
            </a:extLst>
          </p:cNvPr>
          <p:cNvSpPr txBox="1"/>
          <p:nvPr/>
        </p:nvSpPr>
        <p:spPr>
          <a:xfrm>
            <a:off x="838200" y="2634557"/>
            <a:ext cx="1412341" cy="646331"/>
          </a:xfrm>
          <a:prstGeom prst="rect">
            <a:avLst/>
          </a:prstGeom>
          <a:noFill/>
        </p:spPr>
        <p:txBody>
          <a:bodyPr wrap="square" rtlCol="0">
            <a:spAutoFit/>
          </a:bodyPr>
          <a:lstStyle/>
          <a:p>
            <a:r>
              <a:rPr lang="fr-CA" dirty="0"/>
              <a:t>Dérivée Première</a:t>
            </a:r>
          </a:p>
        </p:txBody>
      </p:sp>
      <p:sp>
        <p:nvSpPr>
          <p:cNvPr id="5" name="ZoneTexte 4">
            <a:extLst>
              <a:ext uri="{FF2B5EF4-FFF2-40B4-BE49-F238E27FC236}">
                <a16:creationId xmlns:a16="http://schemas.microsoft.com/office/drawing/2014/main" id="{C20C234A-069E-22E5-E6B1-F2E536A584B4}"/>
              </a:ext>
            </a:extLst>
          </p:cNvPr>
          <p:cNvSpPr txBox="1"/>
          <p:nvPr/>
        </p:nvSpPr>
        <p:spPr>
          <a:xfrm>
            <a:off x="838199" y="4977896"/>
            <a:ext cx="1412341" cy="646331"/>
          </a:xfrm>
          <a:prstGeom prst="rect">
            <a:avLst/>
          </a:prstGeom>
          <a:noFill/>
        </p:spPr>
        <p:txBody>
          <a:bodyPr wrap="square" rtlCol="0">
            <a:spAutoFit/>
          </a:bodyPr>
          <a:lstStyle/>
          <a:p>
            <a:r>
              <a:rPr lang="fr-CA" dirty="0"/>
              <a:t>Dérivées Seconde</a:t>
            </a:r>
          </a:p>
        </p:txBody>
      </p:sp>
      <p:sp>
        <p:nvSpPr>
          <p:cNvPr id="6" name="Slide Number Placeholder 5">
            <a:extLst>
              <a:ext uri="{FF2B5EF4-FFF2-40B4-BE49-F238E27FC236}">
                <a16:creationId xmlns:a16="http://schemas.microsoft.com/office/drawing/2014/main" id="{914B030D-D9C2-478A-A0D5-C4EA6B5349B7}"/>
              </a:ext>
            </a:extLst>
          </p:cNvPr>
          <p:cNvSpPr>
            <a:spLocks noGrp="1"/>
          </p:cNvSpPr>
          <p:nvPr>
            <p:ph type="sldNum" sz="quarter" idx="12"/>
          </p:nvPr>
        </p:nvSpPr>
        <p:spPr/>
        <p:txBody>
          <a:bodyPr/>
          <a:lstStyle/>
          <a:p>
            <a:fld id="{FD85B578-4E75-4E1C-9BE3-D5DCC0715B13}" type="slidenum">
              <a:rPr lang="fr-FR" smtClean="0"/>
              <a:t>11</a:t>
            </a:fld>
            <a:endParaRPr lang="fr-FR"/>
          </a:p>
        </p:txBody>
      </p:sp>
    </p:spTree>
    <p:extLst>
      <p:ext uri="{BB962C8B-B14F-4D97-AF65-F5344CB8AC3E}">
        <p14:creationId xmlns:p14="http://schemas.microsoft.com/office/powerpoint/2010/main" val="29012905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535B5-651D-9B06-9176-0DA06E65F95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FE204E9-4A70-CDBF-124E-4FBA9AC25456}"/>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03132560-6350-FA72-0E9E-0AF1C049E118}"/>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765C5B42-8A9D-D2A6-FE9A-C76EDA50EB5C}"/>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4D0EFE0C-FDFE-A143-3F31-AE36CD72BCBC}"/>
              </a:ext>
            </a:extLst>
          </p:cNvPr>
          <p:cNvSpPr>
            <a:spLocks noGrp="1"/>
          </p:cNvSpPr>
          <p:nvPr>
            <p:ph type="sldNum" sz="quarter" idx="12"/>
          </p:nvPr>
        </p:nvSpPr>
        <p:spPr/>
        <p:txBody>
          <a:bodyPr/>
          <a:lstStyle/>
          <a:p>
            <a:fld id="{FD85B578-4E75-4E1C-9BE3-D5DCC0715B13}" type="slidenum">
              <a:rPr lang="fr-FR" smtClean="0"/>
              <a:t>12</a:t>
            </a:fld>
            <a:endParaRPr lang="fr-FR"/>
          </a:p>
        </p:txBody>
      </p:sp>
    </p:spTree>
    <p:extLst>
      <p:ext uri="{BB962C8B-B14F-4D97-AF65-F5344CB8AC3E}">
        <p14:creationId xmlns:p14="http://schemas.microsoft.com/office/powerpoint/2010/main" val="12427575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D2072-1734-D724-EA81-E925334F5FC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4BB688C-D97C-481D-A291-13AA5890C45F}"/>
              </a:ext>
            </a:extLst>
          </p:cNvPr>
          <p:cNvSpPr>
            <a:spLocks noGrp="1"/>
          </p:cNvSpPr>
          <p:nvPr>
            <p:ph type="title"/>
          </p:nvPr>
        </p:nvSpPr>
        <p:spPr>
          <a:xfrm>
            <a:off x="838200" y="0"/>
            <a:ext cx="10515600" cy="1325563"/>
          </a:xfrm>
        </p:spPr>
        <p:txBody>
          <a:bodyPr>
            <a:normAutofit/>
          </a:bodyPr>
          <a:lstStyle/>
          <a:p>
            <a:r>
              <a:rPr lang="fr-FR" dirty="0"/>
              <a:t>Description du code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B4B15E8C-4AC7-7351-4AC9-E6164AE5CE0F}"/>
                  </a:ext>
                </a:extLst>
              </p:cNvPr>
              <p:cNvSpPr>
                <a:spLocks noGrp="1"/>
              </p:cNvSpPr>
              <p:nvPr>
                <p:ph idx="1"/>
              </p:nvPr>
            </p:nvSpPr>
            <p:spPr>
              <a:xfrm>
                <a:off x="261258" y="1331494"/>
                <a:ext cx="11930742" cy="5526505"/>
              </a:xfrm>
            </p:spPr>
            <p:txBody>
              <a:bodyPr>
                <a:normAutofit/>
              </a:bodyPr>
              <a:lstStyle/>
              <a:p>
                <a:r>
                  <a:rPr lang="fr-FR" dirty="0"/>
                  <a:t>main.py : fichier permettant d’exécuter le solveur pour une configuration prédéterminée.</a:t>
                </a:r>
              </a:p>
              <a:p>
                <a:r>
                  <a:rPr lang="fr-FR" dirty="0"/>
                  <a:t>fonctions.py : le cœur du code</a:t>
                </a:r>
              </a:p>
              <a:p>
                <a:pPr lvl="1"/>
                <a:r>
                  <a:rPr lang="fr-FR" dirty="0"/>
                  <a:t>Classe Paramètres : classe contenant la configuration du problème.</a:t>
                </a:r>
              </a:p>
              <a:p>
                <a:pPr lvl="2">
                  <a:buFont typeface="Courier New" panose="02070309020205020404" pitchFamily="49" charset="0"/>
                  <a:buChar char="o"/>
                </a:pP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𝑅</m:t>
                        </m:r>
                      </m:e>
                      <m:sub>
                        <m:r>
                          <a:rPr lang="fr-CA" b="0" i="1" smtClean="0">
                            <a:latin typeface="Cambria Math" panose="02040503050406030204" pitchFamily="18" charset="0"/>
                          </a:rPr>
                          <m:t>𝑚𝑎𝑥</m:t>
                        </m:r>
                      </m:sub>
                    </m:sSub>
                    <m:r>
                      <a:rPr lang="fr-CA" b="0" i="1" smtClean="0">
                        <a:latin typeface="Cambria Math" panose="02040503050406030204" pitchFamily="18" charset="0"/>
                      </a:rPr>
                      <m:t>,</m:t>
                    </m:r>
                    <m:r>
                      <a:rPr lang="fr-CA" b="0" i="1" smtClean="0">
                        <a:latin typeface="Cambria Math" panose="02040503050406030204" pitchFamily="18" charset="0"/>
                      </a:rPr>
                      <m:t>𝜌</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𝐶</m:t>
                        </m:r>
                      </m:e>
                      <m:sub>
                        <m:r>
                          <a:rPr lang="fr-CA" b="0" i="1" smtClean="0">
                            <a:latin typeface="Cambria Math" panose="02040503050406030204" pitchFamily="18" charset="0"/>
                          </a:rPr>
                          <m:t>𝑝</m:t>
                        </m:r>
                      </m:sub>
                    </m:sSub>
                    <m:r>
                      <a:rPr lang="fr-CA" b="0" i="1" smtClean="0">
                        <a:latin typeface="Cambria Math" panose="02040503050406030204" pitchFamily="18" charset="0"/>
                      </a:rPr>
                      <m:t>, </m:t>
                    </m:r>
                    <m:r>
                      <a:rPr lang="fr-CA" b="0" i="1" smtClean="0">
                        <a:latin typeface="Cambria Math" panose="02040503050406030204" pitchFamily="18" charset="0"/>
                      </a:rPr>
                      <m:t>𝑛𝑟</m:t>
                    </m:r>
                    <m:r>
                      <a:rPr lang="fr-CA" b="0" i="1" smtClean="0">
                        <a:latin typeface="Cambria Math" panose="02040503050406030204" pitchFamily="18" charset="0"/>
                      </a:rPr>
                      <m:t>,</m:t>
                    </m:r>
                    <m:r>
                      <a:rPr lang="fr-CA" b="0" i="1" smtClean="0">
                        <a:latin typeface="Cambria Math" panose="02040503050406030204" pitchFamily="18" charset="0"/>
                      </a:rPr>
                      <m:t>𝑛𝑧</m:t>
                    </m:r>
                    <m:r>
                      <a:rPr lang="fr-CA" b="0" i="1" smtClean="0">
                        <a:latin typeface="Cambria Math" panose="02040503050406030204" pitchFamily="18" charset="0"/>
                      </a:rPr>
                      <m:t>,</m:t>
                    </m:r>
                    <m:r>
                      <a:rPr lang="fr-CA" b="0" i="1" smtClean="0">
                        <a:latin typeface="Cambria Math" panose="02040503050406030204" pitchFamily="18" charset="0"/>
                      </a:rPr>
                      <m:t>𝑑𝑟</m:t>
                    </m:r>
                    <m:r>
                      <a:rPr lang="fr-CA" b="0" i="1" smtClean="0">
                        <a:latin typeface="Cambria Math" panose="02040503050406030204" pitchFamily="18" charset="0"/>
                      </a:rPr>
                      <m:t>,</m:t>
                    </m:r>
                    <m:r>
                      <a:rPr lang="fr-CA" b="0" i="1" smtClean="0">
                        <a:latin typeface="Cambria Math" panose="02040503050406030204" pitchFamily="18" charset="0"/>
                      </a:rPr>
                      <m:t>𝑑𝑧</m:t>
                    </m:r>
                    <m:r>
                      <a:rPr lang="fr-CA" b="0" i="1" smtClean="0">
                        <a:latin typeface="Cambria Math" panose="02040503050406030204" pitchFamily="18" charset="0"/>
                      </a:rPr>
                      <m:t>,</m:t>
                    </m:r>
                    <m:r>
                      <a:rPr lang="fr-CA" b="0" i="1" smtClean="0">
                        <a:latin typeface="Cambria Math" panose="02040503050406030204" pitchFamily="18" charset="0"/>
                      </a:rPr>
                      <m:t>𝑑𝑡</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i="1">
                            <a:latin typeface="Cambria Math" panose="02040503050406030204" pitchFamily="18" charset="0"/>
                            <a:ea typeface="Cambria Math" panose="02040503050406030204" pitchFamily="18" charset="0"/>
                          </a:rPr>
                          <m:t>∞</m:t>
                        </m:r>
                      </m:sub>
                    </m:sSub>
                    <m:r>
                      <a:rPr lang="fr-CA" b="0" i="1" smtClean="0">
                        <a:latin typeface="Cambria Math" panose="02040503050406030204" pitchFamily="18" charset="0"/>
                      </a:rPr>
                      <m:t>,</m:t>
                    </m:r>
                    <m:r>
                      <a:rPr lang="fr-CA" b="0" i="1" smtClean="0">
                        <a:latin typeface="Cambria Math" panose="02040503050406030204" pitchFamily="18" charset="0"/>
                      </a:rPr>
                      <m:t>𝑝𝑜𝑠𝑖𝑡𝑖𝑜𝑛</m:t>
                    </m:r>
                    <m:r>
                      <a:rPr lang="fr-CA" b="0" i="1" smtClean="0">
                        <a:latin typeface="Cambria Math" panose="02040503050406030204" pitchFamily="18" charset="0"/>
                      </a:rPr>
                      <m:t>,</m:t>
                    </m:r>
                    <m:r>
                      <a:rPr lang="fr-CA" b="0" i="1" smtClean="0">
                        <a:latin typeface="Cambria Math" panose="02040503050406030204" pitchFamily="18" charset="0"/>
                      </a:rPr>
                      <m:t>𝑀𝑀𝑆</m:t>
                    </m:r>
                    <m:r>
                      <a:rPr lang="fr-CA" b="0" i="1" smtClean="0">
                        <a:latin typeface="Cambria Math" panose="02040503050406030204" pitchFamily="18" charset="0"/>
                      </a:rPr>
                      <m:t>,</m:t>
                    </m:r>
                    <m:r>
                      <a:rPr lang="fr-CA" b="0" i="1" smtClean="0">
                        <a:latin typeface="Cambria Math" panose="02040503050406030204" pitchFamily="18" charset="0"/>
                      </a:rPr>
                      <m:t>𝑒𝑡𝑐</m:t>
                    </m:r>
                    <m:r>
                      <a:rPr lang="fr-CA" b="0" i="1" smtClean="0">
                        <a:latin typeface="Cambria Math" panose="02040503050406030204" pitchFamily="18" charset="0"/>
                      </a:rPr>
                      <m:t>.</m:t>
                    </m:r>
                  </m:oMath>
                </a14:m>
                <a:endParaRPr lang="fr-CA" b="0" i="1" dirty="0">
                  <a:latin typeface="Cambria Math" panose="02040503050406030204" pitchFamily="18" charset="0"/>
                </a:endParaRPr>
              </a:p>
              <a:p>
                <a:pPr lvl="1"/>
                <a:r>
                  <a:rPr lang="fr-CA" b="0" dirty="0"/>
                  <a:t>Fonction Position : permet de générer les matrices de position des points du domaine </a:t>
                </a:r>
                <a:r>
                  <a:rPr lang="fr-CA" dirty="0"/>
                  <a:t>(</a:t>
                </a:r>
                <a:r>
                  <a:rPr lang="fr-CA" b="1" dirty="0"/>
                  <a:t>R </a:t>
                </a:r>
                <a:r>
                  <a:rPr lang="fr-CA" dirty="0"/>
                  <a:t>et </a:t>
                </a:r>
                <a:r>
                  <a:rPr lang="fr-CA" b="1" dirty="0"/>
                  <a:t>M</a:t>
                </a:r>
                <a:r>
                  <a:rPr lang="fr-CA" dirty="0"/>
                  <a:t>).</a:t>
                </a:r>
                <a14:m>
                  <m:oMath xmlns:m="http://schemas.openxmlformats.org/officeDocument/2006/math">
                    <m:r>
                      <a:rPr lang="fr-CA" b="0" i="1" smtClean="0">
                        <a:latin typeface="Cambria Math" panose="02040503050406030204" pitchFamily="18" charset="0"/>
                      </a:rPr>
                      <m:t> </m:t>
                    </m:r>
                  </m:oMath>
                </a14:m>
                <a:endParaRPr lang="fr-CA" b="0" dirty="0"/>
              </a:p>
              <a:p>
                <a:pPr lvl="1"/>
                <a:r>
                  <a:rPr lang="fr-CA" dirty="0"/>
                  <a:t>Fonction Température : calcul l’état de la température au pas de temps suivant.</a:t>
                </a:r>
              </a:p>
              <a:p>
                <a:pPr lvl="2">
                  <a:buFont typeface="Courier New" panose="02070309020205020404" pitchFamily="49" charset="0"/>
                  <a:buChar char="o"/>
                </a:pPr>
                <a:r>
                  <a:rPr lang="fr-CA" b="0" dirty="0"/>
                  <a:t>Génère un état intermédiaire composé de l’état au temps </a:t>
                </a:r>
                <a:r>
                  <a:rPr lang="fr-CA" b="0" i="1" dirty="0"/>
                  <a:t>t</a:t>
                </a:r>
                <a:r>
                  <a:rPr lang="fr-CA" b="0" dirty="0"/>
                  <a:t> au milieu et l’état au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CA" b="0" dirty="0"/>
                  <a:t> aux frontières.</a:t>
                </a:r>
              </a:p>
              <a:p>
                <a:pPr lvl="2">
                  <a:buFont typeface="Courier New" panose="02070309020205020404" pitchFamily="49" charset="0"/>
                  <a:buChar char="o"/>
                </a:pPr>
                <a:r>
                  <a:rPr lang="fr-CA" dirty="0"/>
                  <a:t>Appelle la fonction Milieu.</a:t>
                </a:r>
                <a:endParaRPr lang="fr-CA" b="0" dirty="0"/>
              </a:p>
              <a:p>
                <a:pPr lvl="1"/>
                <a:r>
                  <a:rPr lang="fr-FR" dirty="0"/>
                  <a:t>Fonction Milieu : permet de calculer l’état de la température au pas de temps suivant à l’aide de l’état intermédiaire fourni par la fonction Température</a:t>
                </a:r>
              </a:p>
            </p:txBody>
          </p:sp>
        </mc:Choice>
        <mc:Fallback xmlns="">
          <p:sp>
            <p:nvSpPr>
              <p:cNvPr id="3" name="Espace réservé du contenu 2">
                <a:extLst>
                  <a:ext uri="{FF2B5EF4-FFF2-40B4-BE49-F238E27FC236}">
                    <a16:creationId xmlns:a16="http://schemas.microsoft.com/office/drawing/2014/main" id="{B4B15E8C-4AC7-7351-4AC9-E6164AE5CE0F}"/>
                  </a:ext>
                </a:extLst>
              </p:cNvPr>
              <p:cNvSpPr>
                <a:spLocks noGrp="1" noRot="1" noChangeAspect="1" noMove="1" noResize="1" noEditPoints="1" noAdjustHandles="1" noChangeArrowheads="1" noChangeShapeType="1" noTextEdit="1"/>
              </p:cNvSpPr>
              <p:nvPr>
                <p:ph idx="1"/>
              </p:nvPr>
            </p:nvSpPr>
            <p:spPr>
              <a:xfrm>
                <a:off x="261258" y="1331494"/>
                <a:ext cx="11930742" cy="5526505"/>
              </a:xfrm>
              <a:blipFill>
                <a:blip r:embed="rId2"/>
                <a:stretch>
                  <a:fillRect l="-920" t="-1874" r="-255"/>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18A65692-488D-D130-B8B6-C64510D0E580}"/>
              </a:ext>
            </a:extLst>
          </p:cNvPr>
          <p:cNvSpPr>
            <a:spLocks noGrp="1"/>
          </p:cNvSpPr>
          <p:nvPr>
            <p:ph type="sldNum" sz="quarter" idx="12"/>
          </p:nvPr>
        </p:nvSpPr>
        <p:spPr/>
        <p:txBody>
          <a:bodyPr/>
          <a:lstStyle/>
          <a:p>
            <a:fld id="{FD85B578-4E75-4E1C-9BE3-D5DCC0715B13}" type="slidenum">
              <a:rPr lang="fr-FR" smtClean="0"/>
              <a:t>13</a:t>
            </a:fld>
            <a:endParaRPr lang="fr-FR"/>
          </a:p>
        </p:txBody>
      </p:sp>
    </p:spTree>
    <p:extLst>
      <p:ext uri="{BB962C8B-B14F-4D97-AF65-F5344CB8AC3E}">
        <p14:creationId xmlns:p14="http://schemas.microsoft.com/office/powerpoint/2010/main" val="597455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3A0EB-0907-E123-B3D5-9ED0B1E3D3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4AD5441-D133-7193-48F3-2A9F2A7D66D5}"/>
              </a:ext>
            </a:extLst>
          </p:cNvPr>
          <p:cNvSpPr>
            <a:spLocks noGrp="1"/>
          </p:cNvSpPr>
          <p:nvPr>
            <p:ph type="title"/>
          </p:nvPr>
        </p:nvSpPr>
        <p:spPr>
          <a:xfrm>
            <a:off x="838200" y="0"/>
            <a:ext cx="10777396" cy="1325563"/>
          </a:xfrm>
        </p:spPr>
        <p:txBody>
          <a:bodyPr>
            <a:normAutofit/>
          </a:bodyPr>
          <a:lstStyle/>
          <a:p>
            <a:r>
              <a:rPr lang="fr-FR" dirty="0"/>
              <a:t>Description du code – Algorithme de résolution</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617CC10-1EFA-7950-6D9B-3524A14D95DB}"/>
                  </a:ext>
                </a:extLst>
              </p:cNvPr>
              <p:cNvSpPr>
                <a:spLocks noGrp="1"/>
              </p:cNvSpPr>
              <p:nvPr>
                <p:ph idx="1"/>
              </p:nvPr>
            </p:nvSpPr>
            <p:spPr>
              <a:xfrm>
                <a:off x="261258" y="1331494"/>
                <a:ext cx="11930742" cy="5526505"/>
              </a:xfrm>
            </p:spPr>
            <p:txBody>
              <a:bodyPr>
                <a:normAutofit/>
              </a:bodyPr>
              <a:lstStyle/>
              <a:p>
                <a:pPr marL="0" indent="0">
                  <a:buNone/>
                </a:pPr>
                <a:r>
                  <a:rPr lang="fr-FR" dirty="0"/>
                  <a:t>0.   Initialisation des paramètres et vérification du critère de stabilité.</a:t>
                </a:r>
              </a:p>
              <a:p>
                <a:pPr marL="514350" indent="-514350">
                  <a:buAutoNum type="arabicPeriod"/>
                </a:pPr>
                <a:r>
                  <a:rPr lang="fr-FR" dirty="0"/>
                  <a:t>Condition initiale dans le domaine.</a:t>
                </a:r>
              </a:p>
              <a:p>
                <a:pPr marL="514350" indent="-514350">
                  <a:buAutoNum type="arabicPeriod"/>
                </a:pPr>
                <a:r>
                  <a:rPr lang="fr-FR" dirty="0"/>
                  <a:t>Boucle temporelle, de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0</m:t>
                        </m:r>
                      </m:sub>
                    </m:sSub>
                  </m:oMath>
                </a14:m>
                <a:r>
                  <a:rPr lang="fr-FR" dirty="0"/>
                  <a:t> à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oMath>
                </a14:m>
                <a:r>
                  <a:rPr lang="fr-FR" dirty="0"/>
                  <a:t> :</a:t>
                </a:r>
              </a:p>
              <a:p>
                <a:pPr marL="971550" lvl="1" indent="-514350">
                  <a:buAutoNum type="arabicPeriod"/>
                </a:pPr>
                <a:r>
                  <a:rPr lang="fr-FR" dirty="0"/>
                  <a:t>Calcul des nœuds suivants aux frontières du domaine à l’aide de la solution courante.</a:t>
                </a:r>
              </a:p>
              <a:p>
                <a:pPr marL="971550" lvl="1" indent="-514350">
                  <a:buAutoNum type="arabicPeriod"/>
                </a:pPr>
                <a:r>
                  <a:rPr lang="fr-FR" dirty="0"/>
                  <a:t>Calcul des nœuds suivants au milieu du domaine à l’aide de la solution courante.</a:t>
                </a:r>
              </a:p>
              <a:p>
                <a:pPr marL="971550" lvl="1" indent="-514350">
                  <a:buFont typeface="Arial" panose="020B0604020202020204" pitchFamily="34" charset="0"/>
                  <a:buAutoNum type="arabicPeriod"/>
                </a:pPr>
                <a:r>
                  <a:rPr lang="fr-FR" dirty="0"/>
                  <a:t>On pose </a:t>
                </a:r>
                <a14:m>
                  <m:oMath xmlns:m="http://schemas.openxmlformats.org/officeDocument/2006/math">
                    <m:r>
                      <a:rPr lang="fr-CA" i="1">
                        <a:latin typeface="Cambria Math" panose="02040503050406030204" pitchFamily="18" charset="0"/>
                      </a:rPr>
                      <m:t> </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sup>
                    </m:sSup>
                    <m:r>
                      <a:rPr lang="fr-CA" i="1">
                        <a:latin typeface="Cambria Math" panose="02040503050406030204" pitchFamily="18" charset="0"/>
                      </a:rPr>
                      <m:t>=</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r>
                          <a:rPr lang="fr-CA" i="1">
                            <a:latin typeface="Cambria Math" panose="02040503050406030204" pitchFamily="18" charset="0"/>
                          </a:rPr>
                          <m:t>+∆</m:t>
                        </m:r>
                        <m:r>
                          <a:rPr lang="fr-CA" i="1">
                            <a:latin typeface="Cambria Math" panose="02040503050406030204" pitchFamily="18" charset="0"/>
                          </a:rPr>
                          <m:t>𝑡</m:t>
                        </m:r>
                      </m:sup>
                    </m:sSup>
                  </m:oMath>
                </a14:m>
                <a:r>
                  <a:rPr lang="fr-FR" dirty="0"/>
                  <a:t> </a:t>
                </a:r>
              </a:p>
              <a:p>
                <a:pPr marL="971550" lvl="1" indent="-514350">
                  <a:buAutoNum type="arabicPeriod"/>
                </a:pPr>
                <a:r>
                  <a:rPr lang="fr-FR" dirty="0"/>
                  <a:t>On sort si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ea typeface="Cambria Math" panose="02040503050406030204" pitchFamily="18" charset="0"/>
                      </a:rPr>
                      <m:t>≥</m:t>
                    </m:r>
                    <m:sSub>
                      <m:sSubPr>
                        <m:ctrlPr>
                          <a:rPr lang="fr-CA" b="0" i="1" smtClean="0">
                            <a:latin typeface="Cambria Math" panose="02040503050406030204" pitchFamily="18" charset="0"/>
                            <a:ea typeface="Cambria Math" panose="02040503050406030204" pitchFamily="18" charset="0"/>
                          </a:rPr>
                        </m:ctrlPr>
                      </m:sSubPr>
                      <m:e>
                        <m:r>
                          <a:rPr lang="fr-CA" b="0" i="1" smtClean="0">
                            <a:latin typeface="Cambria Math" panose="02040503050406030204" pitchFamily="18" charset="0"/>
                            <a:ea typeface="Cambria Math" panose="02040503050406030204" pitchFamily="18" charset="0"/>
                          </a:rPr>
                          <m:t>𝑡</m:t>
                        </m:r>
                      </m:e>
                      <m:sub>
                        <m:r>
                          <a:rPr lang="fr-CA" b="0" i="1" smtClean="0">
                            <a:latin typeface="Cambria Math" panose="02040503050406030204" pitchFamily="18" charset="0"/>
                            <a:ea typeface="Cambria Math" panose="02040503050406030204" pitchFamily="18" charset="0"/>
                          </a:rPr>
                          <m:t>𝑓𝑖𝑛𝑎𝑙</m:t>
                        </m:r>
                      </m:sub>
                    </m:sSub>
                  </m:oMath>
                </a14:m>
                <a:endParaRPr lang="fr-CA" b="0" dirty="0">
                  <a:ea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8617CC10-1EFA-7950-6D9B-3524A14D95DB}"/>
                  </a:ext>
                </a:extLst>
              </p:cNvPr>
              <p:cNvSpPr>
                <a:spLocks noGrp="1" noRot="1" noChangeAspect="1" noMove="1" noResize="1" noEditPoints="1" noAdjustHandles="1" noChangeArrowheads="1" noChangeShapeType="1" noTextEdit="1"/>
              </p:cNvSpPr>
              <p:nvPr>
                <p:ph idx="1"/>
              </p:nvPr>
            </p:nvSpPr>
            <p:spPr>
              <a:xfrm>
                <a:off x="261258" y="1331494"/>
                <a:ext cx="11930742" cy="5526505"/>
              </a:xfrm>
              <a:blipFill>
                <a:blip r:embed="rId2"/>
                <a:stretch>
                  <a:fillRect l="-1073" t="-1874"/>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493CA67-58F6-B0D2-130A-0A5EC4D0E93A}"/>
              </a:ext>
            </a:extLst>
          </p:cNvPr>
          <p:cNvSpPr>
            <a:spLocks noGrp="1"/>
          </p:cNvSpPr>
          <p:nvPr>
            <p:ph type="sldNum" sz="quarter" idx="12"/>
          </p:nvPr>
        </p:nvSpPr>
        <p:spPr/>
        <p:txBody>
          <a:bodyPr/>
          <a:lstStyle/>
          <a:p>
            <a:fld id="{FD85B578-4E75-4E1C-9BE3-D5DCC0715B13}" type="slidenum">
              <a:rPr lang="fr-FR" smtClean="0"/>
              <a:t>14</a:t>
            </a:fld>
            <a:endParaRPr lang="fr-FR"/>
          </a:p>
        </p:txBody>
      </p:sp>
    </p:spTree>
    <p:extLst>
      <p:ext uri="{BB962C8B-B14F-4D97-AF65-F5344CB8AC3E}">
        <p14:creationId xmlns:p14="http://schemas.microsoft.com/office/powerpoint/2010/main" val="14064095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E82E6-A328-18C3-0563-368C11781A2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0E94123-6345-195A-AC9E-67E6AAC6CEEF}"/>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E125C11-3A07-1F9D-5E22-B8FF6311F04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b="1" dirty="0" err="1">
                <a:latin typeface="+mn-lt"/>
                <a:ea typeface="+mn-ea"/>
                <a:cs typeface="+mn-cs"/>
              </a:rPr>
              <a:t>Vérification</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D70EEC34-2062-C6F8-8879-BA29F78A94A5}"/>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77FC811F-E374-BBFB-41A5-FE0CD52B3106}"/>
              </a:ext>
            </a:extLst>
          </p:cNvPr>
          <p:cNvSpPr>
            <a:spLocks noGrp="1"/>
          </p:cNvSpPr>
          <p:nvPr>
            <p:ph type="sldNum" sz="quarter" idx="12"/>
          </p:nvPr>
        </p:nvSpPr>
        <p:spPr/>
        <p:txBody>
          <a:bodyPr/>
          <a:lstStyle/>
          <a:p>
            <a:fld id="{FD85B578-4E75-4E1C-9BE3-D5DCC0715B13}" type="slidenum">
              <a:rPr lang="fr-FR" smtClean="0"/>
              <a:t>15</a:t>
            </a:fld>
            <a:endParaRPr lang="fr-FR"/>
          </a:p>
        </p:txBody>
      </p:sp>
    </p:spTree>
    <p:extLst>
      <p:ext uri="{BB962C8B-B14F-4D97-AF65-F5344CB8AC3E}">
        <p14:creationId xmlns:p14="http://schemas.microsoft.com/office/powerpoint/2010/main" val="4921616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30210F2-DE1D-E808-58AF-DFA01EAAB4C6}"/>
              </a:ext>
            </a:extLst>
          </p:cNvPr>
          <p:cNvSpPr>
            <a:spLocks noGrp="1"/>
          </p:cNvSpPr>
          <p:nvPr>
            <p:ph type="title"/>
          </p:nvPr>
        </p:nvSpPr>
        <p:spPr/>
        <p:txBody>
          <a:bodyPr/>
          <a:lstStyle/>
          <a:p>
            <a:r>
              <a:rPr lang="fr-FR" dirty="0"/>
              <a:t>Vérification de code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4013CAEC-1AC4-C17B-EAFA-EC1AB7DBA279}"/>
                  </a:ext>
                </a:extLst>
              </p:cNvPr>
              <p:cNvSpPr>
                <a:spLocks noGrp="1"/>
              </p:cNvSpPr>
              <p:nvPr>
                <p:ph idx="1"/>
              </p:nvPr>
            </p:nvSpPr>
            <p:spPr>
              <a:xfrm>
                <a:off x="838200" y="1825625"/>
                <a:ext cx="10628376" cy="4351338"/>
              </a:xfrm>
            </p:spPr>
            <p:txBody>
              <a:bodyPr>
                <a:normAutofit fontScale="77500" lnSpcReduction="20000"/>
              </a:bodyPr>
              <a:lstStyle/>
              <a:p>
                <a:pPr>
                  <a:lnSpc>
                    <a:spcPct val="124000"/>
                  </a:lnSpc>
                </a:pPr>
                <a:r>
                  <a:rPr lang="fr-FR" dirty="0"/>
                  <a:t>Implémentation de divers tests avec le module </a:t>
                </a:r>
                <a:r>
                  <a:rPr lang="fr-FR" i="1" dirty="0" err="1"/>
                  <a:t>unittest</a:t>
                </a:r>
                <a:r>
                  <a:rPr lang="fr-FR" dirty="0"/>
                  <a:t> de python :</a:t>
                </a:r>
              </a:p>
              <a:p>
                <a:pPr lvl="1">
                  <a:lnSpc>
                    <a:spcPct val="124000"/>
                  </a:lnSpc>
                </a:pPr>
                <a:r>
                  <a:rPr lang="fr-FR" b="1" dirty="0"/>
                  <a:t>Tests unitaires </a:t>
                </a:r>
                <a:r>
                  <a:rPr lang="fr-FR" dirty="0"/>
                  <a:t>pour les différentes fonctions du code implémentés :</a:t>
                </a:r>
              </a:p>
              <a:p>
                <a:pPr lvl="2">
                  <a:lnSpc>
                    <a:spcPct val="124000"/>
                  </a:lnSpc>
                  <a:buFont typeface="Courier New" panose="02070309020205020404" pitchFamily="49" charset="0"/>
                  <a:buChar char="o"/>
                </a:pPr>
                <a:r>
                  <a:rPr lang="fr-FR" b="1" dirty="0" err="1"/>
                  <a:t>testPosition</a:t>
                </a:r>
                <a:r>
                  <a:rPr lang="fr-FR" dirty="0"/>
                  <a:t> : </a:t>
                </a:r>
                <a:r>
                  <a:rPr lang="fr-CA" dirty="0"/>
                  <a:t>Test la fonction Position avec des valeurs connues.</a:t>
                </a:r>
              </a:p>
              <a:p>
                <a:pPr lvl="2">
                  <a:lnSpc>
                    <a:spcPct val="124000"/>
                  </a:lnSpc>
                  <a:buFont typeface="Courier New" panose="02070309020205020404" pitchFamily="49" charset="0"/>
                  <a:buChar char="o"/>
                </a:pPr>
                <a:r>
                  <a:rPr lang="fr-CA" b="1" dirty="0" err="1"/>
                  <a:t>testMilieu</a:t>
                </a:r>
                <a:r>
                  <a:rPr lang="fr-CA" dirty="0"/>
                  <a:t> : Test la fonction Milieu avec des valeurs connues.</a:t>
                </a:r>
              </a:p>
              <a:p>
                <a:pPr lvl="2">
                  <a:lnSpc>
                    <a:spcPct val="124000"/>
                  </a:lnSpc>
                  <a:buFont typeface="Courier New" panose="02070309020205020404" pitchFamily="49" charset="0"/>
                  <a:buChar char="o"/>
                </a:pPr>
                <a:r>
                  <a:rPr lang="fr-CA" b="1" dirty="0" err="1"/>
                  <a:t>testTemperature</a:t>
                </a:r>
                <a:r>
                  <a:rPr lang="fr-CA" dirty="0"/>
                  <a:t> : Test la fonction </a:t>
                </a:r>
                <a:r>
                  <a:rPr lang="fr-CA" dirty="0" err="1"/>
                  <a:t>Temperature</a:t>
                </a:r>
                <a:r>
                  <a:rPr lang="fr-CA" dirty="0"/>
                  <a:t> avec des valeurs connues.</a:t>
                </a:r>
              </a:p>
              <a:p>
                <a:pPr lvl="1">
                  <a:lnSpc>
                    <a:spcPct val="124000"/>
                  </a:lnSpc>
                </a:pPr>
                <a:r>
                  <a:rPr lang="fr-CA" b="1" dirty="0"/>
                  <a:t>Tests de vérification de code </a:t>
                </a:r>
                <a:r>
                  <a:rPr lang="fr-CA" dirty="0"/>
                  <a:t>implémentés :</a:t>
                </a:r>
              </a:p>
              <a:p>
                <a:pPr lvl="2">
                  <a:lnSpc>
                    <a:spcPct val="124000"/>
                  </a:lnSpc>
                  <a:buFont typeface="Courier New" panose="02070309020205020404" pitchFamily="49" charset="0"/>
                  <a:buChar char="o"/>
                </a:pPr>
                <a:r>
                  <a:rPr lang="fr-CA" b="1" dirty="0" err="1"/>
                  <a:t>testSymetrie</a:t>
                </a:r>
                <a:r>
                  <a:rPr lang="fr-CA" dirty="0"/>
                  <a:t> : Test la simplification de la condition de symétrie en comparant le résultat symétrique au résultat du domaine complet.</a:t>
                </a:r>
              </a:p>
              <a:p>
                <a:pPr lvl="2">
                  <a:lnSpc>
                    <a:spcPct val="124000"/>
                  </a:lnSpc>
                  <a:buFont typeface="Courier New" panose="02070309020205020404" pitchFamily="49" charset="0"/>
                  <a:buChar char="o"/>
                </a:pPr>
                <a:r>
                  <a:rPr lang="fr-CA" b="1" dirty="0" err="1"/>
                  <a:t>testConservationEnergie</a:t>
                </a:r>
                <a:r>
                  <a:rPr lang="fr-CA" dirty="0"/>
                  <a:t> : Test la conservation de l'énergie du solveur en effectuant un bilan </a:t>
                </a:r>
                <a:r>
                  <a:rPr lang="fr-CA" dirty="0" err="1"/>
                  <a:t>énegérique</a:t>
                </a:r>
                <a:r>
                  <a:rPr lang="fr-CA" dirty="0"/>
                  <a:t> à l'intérieur du domaine et sur la frontière. On cherche :</a:t>
                </a:r>
                <a:br>
                  <a:rPr lang="fr-CA" dirty="0"/>
                </a:br>
                <a14:m>
                  <m:oMath xmlns:m="http://schemas.openxmlformats.org/officeDocument/2006/math">
                    <m:acc>
                      <m:accPr>
                        <m:chr m:val="̇"/>
                        <m:ctrlPr>
                          <a:rPr lang="fr-CA" i="1" smtClean="0">
                            <a:latin typeface="Cambria Math" panose="02040503050406030204" pitchFamily="18" charset="0"/>
                          </a:rPr>
                        </m:ctrlPr>
                      </m:acc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𝑞</m:t>
                            </m:r>
                          </m:e>
                          <m:sub>
                            <m:r>
                              <a:rPr lang="fr-CA" b="0" i="1" smtClean="0">
                                <a:latin typeface="Cambria Math" panose="02040503050406030204" pitchFamily="18" charset="0"/>
                              </a:rPr>
                              <m:t>𝑖𝑛𝑡</m:t>
                            </m:r>
                          </m:sub>
                        </m:sSub>
                      </m:e>
                    </m:acc>
                    <m:r>
                      <a:rPr lang="fr-CA" i="1" smtClean="0">
                        <a:latin typeface="Cambria Math" panose="02040503050406030204" pitchFamily="18" charset="0"/>
                        <a:ea typeface="Cambria Math" panose="02040503050406030204" pitchFamily="18" charset="0"/>
                      </a:rPr>
                      <m:t>≈</m:t>
                    </m:r>
                    <m:acc>
                      <m:accPr>
                        <m:chr m:val="̇"/>
                        <m:ctrlPr>
                          <a:rPr lang="fr-CA" i="1">
                            <a:latin typeface="Cambria Math" panose="02040503050406030204" pitchFamily="18" charset="0"/>
                          </a:rPr>
                        </m:ctrlPr>
                      </m:accPr>
                      <m:e>
                        <m:sSub>
                          <m:sSubPr>
                            <m:ctrlPr>
                              <a:rPr lang="fr-CA" i="1">
                                <a:latin typeface="Cambria Math" panose="02040503050406030204" pitchFamily="18" charset="0"/>
                              </a:rPr>
                            </m:ctrlPr>
                          </m:sSubPr>
                          <m:e>
                            <m:r>
                              <a:rPr lang="fr-CA" i="1">
                                <a:latin typeface="Cambria Math" panose="02040503050406030204" pitchFamily="18" charset="0"/>
                              </a:rPr>
                              <m:t>𝑞</m:t>
                            </m:r>
                          </m:e>
                          <m:sub>
                            <m:r>
                              <a:rPr lang="fr-CA" i="1">
                                <a:latin typeface="Cambria Math" panose="02040503050406030204" pitchFamily="18" charset="0"/>
                              </a:rPr>
                              <m:t>𝑓𝑟𝑜𝑛𝑡</m:t>
                            </m:r>
                          </m:sub>
                        </m:sSub>
                      </m:e>
                    </m:acc>
                  </m:oMath>
                </a14:m>
                <a:endParaRPr lang="fr-CA" dirty="0"/>
              </a:p>
              <a:p>
                <a:pPr lvl="2">
                  <a:lnSpc>
                    <a:spcPct val="124000"/>
                  </a:lnSpc>
                  <a:buFont typeface="Courier New" panose="02070309020205020404" pitchFamily="49" charset="0"/>
                  <a:buChar char="o"/>
                </a:pPr>
                <a:r>
                  <a:rPr lang="fr-CA" b="1" dirty="0" err="1"/>
                  <a:t>testInvarianceGalileenne</a:t>
                </a:r>
                <a:r>
                  <a:rPr lang="fr-CA" dirty="0"/>
                  <a:t> : Test l’invariance galiléenne du solveur par translation des coordonnées.</a:t>
                </a:r>
              </a:p>
              <a:p>
                <a:pPr lvl="1">
                  <a:lnSpc>
                    <a:spcPct val="124000"/>
                  </a:lnSpc>
                </a:pPr>
                <a:r>
                  <a:rPr lang="fr-CA" dirty="0"/>
                  <a:t>Implémentation de la </a:t>
                </a:r>
                <a:r>
                  <a:rPr lang="fr-CA" b="1" dirty="0"/>
                  <a:t>MMS</a:t>
                </a:r>
                <a:r>
                  <a:rPr lang="fr-CA" dirty="0"/>
                  <a:t> pour évaluer l’ordre de convergence du solveur.</a:t>
                </a:r>
              </a:p>
              <a:p>
                <a:pPr lvl="2">
                  <a:buFont typeface="Courier New" panose="02070309020205020404" pitchFamily="49" charset="0"/>
                  <a:buChar char="o"/>
                </a:pPr>
                <a:endParaRPr lang="fr-CA" dirty="0"/>
              </a:p>
              <a:p>
                <a:pPr lvl="2">
                  <a:buFont typeface="Courier New" panose="02070309020205020404" pitchFamily="49" charset="0"/>
                  <a:buChar char="o"/>
                </a:pPr>
                <a:endParaRPr lang="fr-FR" dirty="0"/>
              </a:p>
              <a:p>
                <a:pPr lvl="2"/>
                <a:endParaRPr lang="fr-FR" dirty="0"/>
              </a:p>
              <a:p>
                <a:pPr lvl="2"/>
                <a:endParaRPr lang="fr-FR" dirty="0"/>
              </a:p>
            </p:txBody>
          </p:sp>
        </mc:Choice>
        <mc:Fallback xmlns="">
          <p:sp>
            <p:nvSpPr>
              <p:cNvPr id="3" name="Espace réservé du contenu 2">
                <a:extLst>
                  <a:ext uri="{FF2B5EF4-FFF2-40B4-BE49-F238E27FC236}">
                    <a16:creationId xmlns:a16="http://schemas.microsoft.com/office/drawing/2014/main" id="{4013CAEC-1AC4-C17B-EAFA-EC1AB7DBA279}"/>
                  </a:ext>
                </a:extLst>
              </p:cNvPr>
              <p:cNvSpPr>
                <a:spLocks noGrp="1" noRot="1" noChangeAspect="1" noMove="1" noResize="1" noEditPoints="1" noAdjustHandles="1" noChangeArrowheads="1" noChangeShapeType="1" noTextEdit="1"/>
              </p:cNvSpPr>
              <p:nvPr>
                <p:ph idx="1"/>
              </p:nvPr>
            </p:nvSpPr>
            <p:spPr>
              <a:xfrm>
                <a:off x="838200" y="1825625"/>
                <a:ext cx="10628376" cy="4351338"/>
              </a:xfrm>
              <a:blipFill>
                <a:blip r:embed="rId2"/>
                <a:stretch>
                  <a:fillRect l="-688" t="-700" r="-574"/>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3AED6373-CE48-75B4-EADB-2F82DBF80499}"/>
              </a:ext>
            </a:extLst>
          </p:cNvPr>
          <p:cNvSpPr>
            <a:spLocks noGrp="1"/>
          </p:cNvSpPr>
          <p:nvPr>
            <p:ph type="sldNum" sz="quarter" idx="12"/>
          </p:nvPr>
        </p:nvSpPr>
        <p:spPr/>
        <p:txBody>
          <a:bodyPr/>
          <a:lstStyle/>
          <a:p>
            <a:fld id="{FD85B578-4E75-4E1C-9BE3-D5DCC0715B13}" type="slidenum">
              <a:rPr lang="fr-FR" smtClean="0"/>
              <a:t>16</a:t>
            </a:fld>
            <a:endParaRPr lang="fr-FR"/>
          </a:p>
        </p:txBody>
      </p:sp>
    </p:spTree>
    <p:extLst>
      <p:ext uri="{BB962C8B-B14F-4D97-AF65-F5344CB8AC3E}">
        <p14:creationId xmlns:p14="http://schemas.microsoft.com/office/powerpoint/2010/main" val="3778705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8461F-0ADA-F2B0-A6E7-097DBD12270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0CE1403-3D16-B3B5-E3F3-9368B3195007}"/>
              </a:ext>
            </a:extLst>
          </p:cNvPr>
          <p:cNvSpPr>
            <a:spLocks noGrp="1"/>
          </p:cNvSpPr>
          <p:nvPr>
            <p:ph type="title"/>
          </p:nvPr>
        </p:nvSpPr>
        <p:spPr/>
        <p:txBody>
          <a:bodyPr/>
          <a:lstStyle/>
          <a:p>
            <a:r>
              <a:rPr lang="fr-FR" dirty="0"/>
              <a:t>Vérification de code - Résultats :</a:t>
            </a:r>
          </a:p>
        </p:txBody>
      </p:sp>
      <p:sp>
        <p:nvSpPr>
          <p:cNvPr id="3" name="Espace réservé du contenu 2">
            <a:extLst>
              <a:ext uri="{FF2B5EF4-FFF2-40B4-BE49-F238E27FC236}">
                <a16:creationId xmlns:a16="http://schemas.microsoft.com/office/drawing/2014/main" id="{E699FE2D-5448-2AC8-260C-B0D0A0501122}"/>
              </a:ext>
            </a:extLst>
          </p:cNvPr>
          <p:cNvSpPr>
            <a:spLocks noGrp="1"/>
          </p:cNvSpPr>
          <p:nvPr>
            <p:ph idx="1"/>
          </p:nvPr>
        </p:nvSpPr>
        <p:spPr>
          <a:xfrm>
            <a:off x="663101" y="1690688"/>
            <a:ext cx="11185187" cy="4915643"/>
          </a:xfrm>
        </p:spPr>
        <p:txBody>
          <a:bodyPr>
            <a:normAutofit fontScale="70000" lnSpcReduction="20000"/>
          </a:bodyPr>
          <a:lstStyle/>
          <a:p>
            <a:pPr>
              <a:lnSpc>
                <a:spcPct val="134000"/>
              </a:lnSpc>
            </a:pPr>
            <a:r>
              <a:rPr lang="fr-FR" dirty="0"/>
              <a:t>Tests unitaires : rien de surprenant, objectif de conserver une pérennité et une stabilité du code malgré des changements.</a:t>
            </a:r>
          </a:p>
          <a:p>
            <a:pPr>
              <a:lnSpc>
                <a:spcPct val="134000"/>
              </a:lnSpc>
            </a:pPr>
            <a:r>
              <a:rPr lang="fr-FR" dirty="0"/>
              <a:t>Tests de vérification de code :</a:t>
            </a:r>
          </a:p>
          <a:p>
            <a:pPr lvl="1">
              <a:lnSpc>
                <a:spcPct val="134000"/>
              </a:lnSpc>
              <a:buFont typeface="Courier New" panose="02070309020205020404" pitchFamily="49" charset="0"/>
              <a:buChar char="o"/>
            </a:pPr>
            <a:r>
              <a:rPr lang="fr-FR" b="1" dirty="0" err="1"/>
              <a:t>testSymmetrie</a:t>
            </a:r>
            <a:r>
              <a:rPr lang="fr-FR" dirty="0"/>
              <a:t> :</a:t>
            </a:r>
          </a:p>
          <a:p>
            <a:pPr lvl="2">
              <a:lnSpc>
                <a:spcPct val="134000"/>
              </a:lnSpc>
              <a:buFont typeface="Courier New" panose="02070309020205020404" pitchFamily="49" charset="0"/>
              <a:buChar char="o"/>
            </a:pPr>
            <a:r>
              <a:rPr lang="fr-FR" dirty="0"/>
              <a:t> A révélé un </a:t>
            </a:r>
            <a:r>
              <a:rPr lang="fr-FR" i="1" dirty="0"/>
              <a:t>champ de mine</a:t>
            </a:r>
            <a:r>
              <a:rPr lang="fr-FR" dirty="0"/>
              <a:t> de </a:t>
            </a:r>
            <a:r>
              <a:rPr lang="fr-FR" b="1" dirty="0"/>
              <a:t>bugs</a:t>
            </a:r>
            <a:r>
              <a:rPr lang="fr-FR" dirty="0"/>
              <a:t> au sein du code.</a:t>
            </a:r>
          </a:p>
          <a:p>
            <a:pPr lvl="2">
              <a:lnSpc>
                <a:spcPct val="134000"/>
              </a:lnSpc>
              <a:buFont typeface="Courier New" panose="02070309020205020404" pitchFamily="49" charset="0"/>
              <a:buChar char="o"/>
            </a:pPr>
            <a:r>
              <a:rPr lang="fr-FR" dirty="0"/>
              <a:t>A permis de revisiter et de réécrire correctement les </a:t>
            </a:r>
            <a:r>
              <a:rPr lang="fr-FR" b="1" dirty="0"/>
              <a:t>équations de discrétisation </a:t>
            </a:r>
            <a:r>
              <a:rPr lang="fr-FR" dirty="0"/>
              <a:t>(que nous croyions déjà bonne).</a:t>
            </a:r>
          </a:p>
          <a:p>
            <a:pPr lvl="2">
              <a:lnSpc>
                <a:spcPct val="134000"/>
              </a:lnSpc>
              <a:buFont typeface="Courier New" panose="02070309020205020404" pitchFamily="49" charset="0"/>
              <a:buChar char="o"/>
            </a:pPr>
            <a:r>
              <a:rPr lang="fr-FR" dirty="0"/>
              <a:t>Problèmes </a:t>
            </a:r>
            <a:r>
              <a:rPr lang="fr-FR" b="1" dirty="0"/>
              <a:t>d’indexation des points</a:t>
            </a:r>
            <a:r>
              <a:rPr lang="fr-FR" dirty="0"/>
              <a:t>, notamment pour les conditions frontières aux </a:t>
            </a:r>
            <a:r>
              <a:rPr lang="fr-FR" i="1" dirty="0"/>
              <a:t>coins</a:t>
            </a:r>
            <a:r>
              <a:rPr lang="fr-FR" dirty="0"/>
              <a:t> du domaine.</a:t>
            </a:r>
          </a:p>
          <a:p>
            <a:pPr lvl="1">
              <a:lnSpc>
                <a:spcPct val="134000"/>
              </a:lnSpc>
              <a:buFont typeface="Courier New" panose="02070309020205020404" pitchFamily="49" charset="0"/>
              <a:buChar char="o"/>
            </a:pPr>
            <a:r>
              <a:rPr lang="fr-FR" b="1" dirty="0" err="1"/>
              <a:t>testInvarianceGaliléenne</a:t>
            </a:r>
            <a:r>
              <a:rPr lang="fr-FR" dirty="0"/>
              <a:t> :</a:t>
            </a:r>
          </a:p>
          <a:p>
            <a:pPr lvl="2">
              <a:lnSpc>
                <a:spcPct val="134000"/>
              </a:lnSpc>
              <a:buFont typeface="Courier New" panose="02070309020205020404" pitchFamily="49" charset="0"/>
              <a:buChar char="o"/>
            </a:pPr>
            <a:r>
              <a:rPr lang="fr-FR" dirty="0"/>
              <a:t>A révélé quelques subtilités du code qui on permis de l’améliorer, notamment la manière dont est calculé le rayon et la manière dont sont initialisés les paramètres.</a:t>
            </a:r>
          </a:p>
          <a:p>
            <a:pPr lvl="1">
              <a:lnSpc>
                <a:spcPct val="134000"/>
              </a:lnSpc>
              <a:buFont typeface="Courier New" panose="02070309020205020404" pitchFamily="49" charset="0"/>
              <a:buChar char="o"/>
            </a:pPr>
            <a:r>
              <a:rPr lang="fr-FR" b="1" dirty="0" err="1"/>
              <a:t>testConservationEnergie</a:t>
            </a:r>
            <a:r>
              <a:rPr lang="fr-FR" dirty="0"/>
              <a:t> :</a:t>
            </a:r>
          </a:p>
          <a:p>
            <a:pPr lvl="2">
              <a:lnSpc>
                <a:spcPct val="134000"/>
              </a:lnSpc>
              <a:buFont typeface="Courier New" panose="02070309020205020404" pitchFamily="49" charset="0"/>
              <a:buChar char="o"/>
            </a:pPr>
            <a:r>
              <a:rPr lang="fr-FR" dirty="0"/>
              <a:t>Un peu complexe à mettre en place. </a:t>
            </a:r>
          </a:p>
          <a:p>
            <a:pPr lvl="2">
              <a:lnSpc>
                <a:spcPct val="134000"/>
              </a:lnSpc>
              <a:buFont typeface="Courier New" panose="02070309020205020404" pitchFamily="49" charset="0"/>
              <a:buChar char="o"/>
            </a:pPr>
            <a:r>
              <a:rPr lang="fr-FR" dirty="0"/>
              <a:t>Flux de chaleur conservé de manière satisfaisante, au millième près.</a:t>
            </a:r>
          </a:p>
        </p:txBody>
      </p:sp>
      <p:sp>
        <p:nvSpPr>
          <p:cNvPr id="4" name="Slide Number Placeholder 3">
            <a:extLst>
              <a:ext uri="{FF2B5EF4-FFF2-40B4-BE49-F238E27FC236}">
                <a16:creationId xmlns:a16="http://schemas.microsoft.com/office/drawing/2014/main" id="{AF36F61A-9308-D0FE-6B50-6021FA2C42E4}"/>
              </a:ext>
            </a:extLst>
          </p:cNvPr>
          <p:cNvSpPr>
            <a:spLocks noGrp="1"/>
          </p:cNvSpPr>
          <p:nvPr>
            <p:ph type="sldNum" sz="quarter" idx="12"/>
          </p:nvPr>
        </p:nvSpPr>
        <p:spPr/>
        <p:txBody>
          <a:bodyPr/>
          <a:lstStyle/>
          <a:p>
            <a:fld id="{FD85B578-4E75-4E1C-9BE3-D5DCC0715B13}" type="slidenum">
              <a:rPr lang="fr-FR" smtClean="0"/>
              <a:t>17</a:t>
            </a:fld>
            <a:endParaRPr lang="fr-FR"/>
          </a:p>
        </p:txBody>
      </p:sp>
    </p:spTree>
    <p:extLst>
      <p:ext uri="{BB962C8B-B14F-4D97-AF65-F5344CB8AC3E}">
        <p14:creationId xmlns:p14="http://schemas.microsoft.com/office/powerpoint/2010/main" val="8458332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8B92D-CCAF-B970-4FDC-1318950469A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217134A-892B-0D3A-608A-3FB298A4622A}"/>
              </a:ext>
            </a:extLst>
          </p:cNvPr>
          <p:cNvSpPr>
            <a:spLocks noGrp="1"/>
          </p:cNvSpPr>
          <p:nvPr>
            <p:ph type="title"/>
          </p:nvPr>
        </p:nvSpPr>
        <p:spPr/>
        <p:txBody>
          <a:bodyPr/>
          <a:lstStyle/>
          <a:p>
            <a:r>
              <a:rPr lang="fr-FR" dirty="0"/>
              <a:t>Vérification de code – MMS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6B832D3-1AFE-0930-0EA6-79DF70C198F0}"/>
                  </a:ext>
                </a:extLst>
              </p:cNvPr>
              <p:cNvSpPr>
                <a:spLocks noGrp="1"/>
              </p:cNvSpPr>
              <p:nvPr>
                <p:ph idx="1"/>
              </p:nvPr>
            </p:nvSpPr>
            <p:spPr>
              <a:xfrm>
                <a:off x="838200" y="1690688"/>
                <a:ext cx="10971179" cy="4964281"/>
              </a:xfrm>
            </p:spPr>
            <p:txBody>
              <a:bodyPr>
                <a:normAutofit fontScale="70000" lnSpcReduction="20000"/>
              </a:bodyPr>
              <a:lstStyle/>
              <a:p>
                <a:pPr>
                  <a:lnSpc>
                    <a:spcPct val="134000"/>
                  </a:lnSpc>
                </a:pPr>
                <a:r>
                  <a:rPr lang="fr-FR" dirty="0"/>
                  <a:t>Implémentation de la méthode des solutions manufacturés. </a:t>
                </a:r>
              </a:p>
              <a:p>
                <a:pPr>
                  <a:lnSpc>
                    <a:spcPct val="134000"/>
                  </a:lnSpc>
                </a:pPr>
                <a:r>
                  <a:rPr lang="fr-FR" dirty="0"/>
                  <a:t>Changements nécessaires :</a:t>
                </a:r>
              </a:p>
              <a:p>
                <a:pPr lvl="1">
                  <a:lnSpc>
                    <a:spcPct val="134000"/>
                  </a:lnSpc>
                </a:pPr>
                <a:r>
                  <a:rPr lang="fr-FR" dirty="0"/>
                  <a:t>Implémentation de conditions de Dirichlet aux </a:t>
                </a:r>
                <a:r>
                  <a:rPr lang="fr-FR" b="1" dirty="0"/>
                  <a:t>frontières extérieures</a:t>
                </a:r>
                <a:r>
                  <a:rPr lang="fr-FR" dirty="0"/>
                  <a:t>:</a:t>
                </a:r>
                <a:br>
                  <a:rPr lang="fr-FR" dirty="0"/>
                </a:br>
                <a14:m>
                  <m:oMath xmlns:m="http://schemas.openxmlformats.org/officeDocument/2006/math">
                    <m:sSubSup>
                      <m:sSubSupPr>
                        <m:ctrlPr>
                          <a:rPr lang="fr-CA" b="0" i="1" smtClean="0">
                            <a:latin typeface="Cambria Math" panose="02040503050406030204" pitchFamily="18" charset="0"/>
                          </a:rPr>
                        </m:ctrlPr>
                      </m:sSubSupPr>
                      <m:e>
                        <m:r>
                          <a:rPr lang="fr-CA" b="0" i="1" smtClean="0">
                            <a:latin typeface="Cambria Math" panose="02040503050406030204" pitchFamily="18" charset="0"/>
                          </a:rPr>
                          <m:t>𝑇</m:t>
                        </m:r>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r>
                      <a:rPr lang="fr-CA" b="0" i="1" smtClean="0">
                        <a:latin typeface="Cambria Math" panose="02040503050406030204" pitchFamily="18" charset="0"/>
                      </a:rPr>
                      <m:t>=</m:t>
                    </m:r>
                    <m:sSubSup>
                      <m:sSubSupPr>
                        <m:ctrlPr>
                          <a:rPr lang="fr-CA" b="0" i="1" smtClean="0">
                            <a:latin typeface="Cambria Math" panose="02040503050406030204" pitchFamily="18" charset="0"/>
                          </a:rPr>
                        </m:ctrlPr>
                      </m:sSubSup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oMath>
                </a14:m>
                <a:endParaRPr lang="fr-FR" dirty="0"/>
              </a:p>
              <a:p>
                <a:pPr lvl="1">
                  <a:lnSpc>
                    <a:spcPct val="134000"/>
                  </a:lnSpc>
                </a:pPr>
                <a:r>
                  <a:rPr lang="fr-FR" dirty="0"/>
                  <a:t>Implémentation d’un terme source dans l’équation du milieu du domaine.</a:t>
                </a:r>
              </a:p>
              <a:p>
                <a:pPr lvl="1">
                  <a:lnSpc>
                    <a:spcPct val="134000"/>
                  </a:lnSpc>
                </a:pPr>
                <a:r>
                  <a:rPr lang="fr-FR" dirty="0"/>
                  <a:t>Repenser la classe </a:t>
                </a:r>
                <a:r>
                  <a:rPr lang="fr-FR" i="1" dirty="0"/>
                  <a:t>Paramètres</a:t>
                </a:r>
                <a:r>
                  <a:rPr lang="fr-FR" dirty="0"/>
                  <a:t> pour intégrer le tout et permettre à un utilisateur d’imposer une </a:t>
                </a:r>
                <a:r>
                  <a:rPr lang="fr-FR" i="1" dirty="0"/>
                  <a:t>MMS</a:t>
                </a:r>
                <a:r>
                  <a:rPr lang="fr-FR" dirty="0"/>
                  <a:t>, ou non.</a:t>
                </a:r>
              </a:p>
              <a:p>
                <a:pPr>
                  <a:lnSpc>
                    <a:spcPct val="134000"/>
                  </a:lnSpc>
                </a:pPr>
                <a:r>
                  <a:rPr lang="fr-FR" dirty="0"/>
                  <a:t>Équation choisie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𝑟𝑒𝑓</m:t>
                        </m:r>
                      </m:sub>
                    </m:sSub>
                    <m:r>
                      <a:rPr lang="fr-CA" b="0" i="1" smtClean="0">
                        <a:latin typeface="Cambria Math" panose="02040503050406030204" pitchFamily="18" charset="0"/>
                      </a:rPr>
                      <m:t>+</m:t>
                    </m:r>
                    <m:r>
                      <a:rPr lang="fr-CA" b="0" i="1" smtClean="0">
                        <a:latin typeface="Cambria Math" panose="02040503050406030204" pitchFamily="18" charset="0"/>
                      </a:rPr>
                      <m:t>𝐴</m:t>
                    </m:r>
                    <m:sSup>
                      <m:sSupPr>
                        <m:ctrlPr>
                          <a:rPr lang="fr-CA" b="0" i="1" smtClean="0">
                            <a:latin typeface="Cambria Math" panose="02040503050406030204" pitchFamily="18" charset="0"/>
                          </a:rPr>
                        </m:ctrlPr>
                      </m:sSupPr>
                      <m:e>
                        <m:r>
                          <a:rPr lang="fr-CA" b="0" i="1" smtClean="0">
                            <a:latin typeface="Cambria Math" panose="02040503050406030204" pitchFamily="18" charset="0"/>
                          </a:rPr>
                          <m:t>𝑒</m:t>
                        </m:r>
                      </m:e>
                      <m:sup>
                        <m:r>
                          <a:rPr lang="fr-CA" b="0" i="1" smtClean="0">
                            <a:latin typeface="Cambria Math" panose="02040503050406030204" pitchFamily="18" charset="0"/>
                          </a:rPr>
                          <m:t>(−</m:t>
                        </m:r>
                        <m:r>
                          <a:rPr lang="fr-CA" b="0" i="1" smtClean="0">
                            <a:latin typeface="Cambria Math" panose="02040503050406030204" pitchFamily="18" charset="0"/>
                          </a:rPr>
                          <m:t>𝑡</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r>
                          <a:rPr lang="fr-CA" b="0" i="1" smtClean="0">
                            <a:latin typeface="Cambria Math" panose="02040503050406030204" pitchFamily="18" charset="0"/>
                          </a:rPr>
                          <m:t>)</m:t>
                        </m:r>
                      </m:sup>
                    </m:sSup>
                    <m:func>
                      <m:funcPr>
                        <m:ctrlPr>
                          <a:rPr lang="fr-CA" b="0" i="1" smtClean="0">
                            <a:latin typeface="Cambria Math" panose="02040503050406030204" pitchFamily="18" charset="0"/>
                          </a:rPr>
                        </m:ctrlPr>
                      </m:funcPr>
                      <m:fName>
                        <m:r>
                          <m:rPr>
                            <m:sty m:val="p"/>
                          </m:rPr>
                          <a:rPr lang="fr-CA" b="0" i="0" smtClean="0">
                            <a:latin typeface="Cambria Math" panose="02040503050406030204" pitchFamily="18" charset="0"/>
                          </a:rPr>
                          <m:t>cos</m:t>
                        </m:r>
                      </m:fName>
                      <m:e>
                        <m:d>
                          <m:dPr>
                            <m:ctrlPr>
                              <a:rPr lang="fr-CA" b="0" i="1" smtClean="0">
                                <a:latin typeface="Cambria Math" panose="02040503050406030204" pitchFamily="18" charset="0"/>
                              </a:rPr>
                            </m:ctrlPr>
                          </m:dPr>
                          <m:e>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𝑟</m:t>
                                </m:r>
                              </m:num>
                              <m:den>
                                <m:r>
                                  <a:rPr lang="fr-CA" b="0" i="1" smtClean="0">
                                    <a:latin typeface="Cambria Math" panose="02040503050406030204" pitchFamily="18" charset="0"/>
                                  </a:rPr>
                                  <m:t>𝑅</m:t>
                                </m:r>
                              </m:den>
                            </m:f>
                          </m:e>
                        </m:d>
                      </m:e>
                    </m:func>
                    <m:r>
                      <m:rPr>
                        <m:sty m:val="p"/>
                      </m:rPr>
                      <a:rPr lang="fr-CA" b="0" i="0" smtClean="0">
                        <a:latin typeface="Cambria Math" panose="02040503050406030204" pitchFamily="18" charset="0"/>
                      </a:rPr>
                      <m:t>cos</m:t>
                    </m:r>
                    <m:r>
                      <a:rPr lang="fr-CA" b="0" i="1" smtClean="0">
                        <a:latin typeface="Cambria Math" panose="02040503050406030204" pitchFamily="18" charset="0"/>
                      </a:rPr>
                      <m:t>⁡(</m:t>
                    </m:r>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𝑧</m:t>
                        </m:r>
                      </m:num>
                      <m:den>
                        <m:r>
                          <a:rPr lang="fr-CA" b="0" i="1" smtClean="0">
                            <a:latin typeface="Cambria Math" panose="02040503050406030204" pitchFamily="18" charset="0"/>
                          </a:rPr>
                          <m:t>𝐻</m:t>
                        </m:r>
                      </m:den>
                    </m:f>
                    <m:r>
                      <a:rPr lang="fr-CA" b="0" i="1" smtClean="0">
                        <a:latin typeface="Cambria Math" panose="02040503050406030204" pitchFamily="18" charset="0"/>
                      </a:rPr>
                      <m:t>)</m:t>
                    </m:r>
                  </m:oMath>
                </a14:m>
                <a:endParaRPr lang="fr-FR" dirty="0"/>
              </a:p>
              <a:p>
                <a:pPr marL="914400" lvl="2" indent="0" algn="ctr">
                  <a:lnSpc>
                    <a:spcPct val="134000"/>
                  </a:lnSpc>
                  <a:buNone/>
                </a:pPr>
                <a:r>
                  <a:rPr lang="fr-FR" dirty="0"/>
                  <a:t>Ici, on choisit 2 cosinus de manière à forcer l’équation a être symétrique aux frontières r=0, z=0.</a:t>
                </a:r>
              </a:p>
              <a:p>
                <a:pPr>
                  <a:lnSpc>
                    <a:spcPct val="134000"/>
                  </a:lnSpc>
                </a:pPr>
                <a:r>
                  <a:rPr lang="fr-FR" dirty="0"/>
                  <a:t>Le calcul du terme source est fait à l’aide de la librairie </a:t>
                </a:r>
                <a:r>
                  <a:rPr lang="fr-FR" i="1" dirty="0" err="1"/>
                  <a:t>sympy</a:t>
                </a:r>
                <a:r>
                  <a:rPr lang="fr-FR" dirty="0"/>
                  <a:t> dans Python. Les développements ne seront donc pas présentés.</a:t>
                </a:r>
              </a:p>
            </p:txBody>
          </p:sp>
        </mc:Choice>
        <mc:Fallback xmlns="">
          <p:sp>
            <p:nvSpPr>
              <p:cNvPr id="3" name="Espace réservé du contenu 2">
                <a:extLst>
                  <a:ext uri="{FF2B5EF4-FFF2-40B4-BE49-F238E27FC236}">
                    <a16:creationId xmlns:a16="http://schemas.microsoft.com/office/drawing/2014/main" id="{26B832D3-1AFE-0930-0EA6-79DF70C198F0}"/>
                  </a:ext>
                </a:extLst>
              </p:cNvPr>
              <p:cNvSpPr>
                <a:spLocks noGrp="1" noRot="1" noChangeAspect="1" noMove="1" noResize="1" noEditPoints="1" noAdjustHandles="1" noChangeArrowheads="1" noChangeShapeType="1" noTextEdit="1"/>
              </p:cNvSpPr>
              <p:nvPr>
                <p:ph idx="1"/>
              </p:nvPr>
            </p:nvSpPr>
            <p:spPr>
              <a:xfrm>
                <a:off x="838200" y="1690688"/>
                <a:ext cx="10971179" cy="4964281"/>
              </a:xfrm>
              <a:blipFill>
                <a:blip r:embed="rId2"/>
                <a:stretch>
                  <a:fillRect l="-500" r="-445"/>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67C2416-D0D4-B2CC-47BD-F454F19122A0}"/>
              </a:ext>
            </a:extLst>
          </p:cNvPr>
          <p:cNvSpPr>
            <a:spLocks noGrp="1"/>
          </p:cNvSpPr>
          <p:nvPr>
            <p:ph type="sldNum" sz="quarter" idx="12"/>
          </p:nvPr>
        </p:nvSpPr>
        <p:spPr/>
        <p:txBody>
          <a:bodyPr/>
          <a:lstStyle/>
          <a:p>
            <a:fld id="{FD85B578-4E75-4E1C-9BE3-D5DCC0715B13}" type="slidenum">
              <a:rPr lang="fr-FR" smtClean="0"/>
              <a:t>18</a:t>
            </a:fld>
            <a:endParaRPr lang="fr-FR"/>
          </a:p>
        </p:txBody>
      </p:sp>
    </p:spTree>
    <p:extLst>
      <p:ext uri="{BB962C8B-B14F-4D97-AF65-F5344CB8AC3E}">
        <p14:creationId xmlns:p14="http://schemas.microsoft.com/office/powerpoint/2010/main" val="37080325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0F47C-EA86-426C-9E31-441BF44D6DB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5732BA4-6A05-72B7-DA5A-7F788E2CAD71}"/>
              </a:ext>
            </a:extLst>
          </p:cNvPr>
          <p:cNvSpPr>
            <a:spLocks noGrp="1"/>
          </p:cNvSpPr>
          <p:nvPr>
            <p:ph type="title"/>
          </p:nvPr>
        </p:nvSpPr>
        <p:spPr/>
        <p:txBody>
          <a:bodyPr/>
          <a:lstStyle/>
          <a:p>
            <a:r>
              <a:rPr lang="fr-FR" dirty="0"/>
              <a:t>Vérification de code – MMS – Résultats :</a:t>
            </a:r>
          </a:p>
        </p:txBody>
      </p:sp>
      <p:pic>
        <p:nvPicPr>
          <p:cNvPr id="5" name="Espace réservé du contenu 4">
            <a:extLst>
              <a:ext uri="{FF2B5EF4-FFF2-40B4-BE49-F238E27FC236}">
                <a16:creationId xmlns:a16="http://schemas.microsoft.com/office/drawing/2014/main" id="{C16CC2A3-774C-4A0E-8885-22E49233D89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354" y="1690688"/>
            <a:ext cx="8387292" cy="5032375"/>
          </a:xfrm>
          <a:prstGeom prst="rect">
            <a:avLst/>
          </a:prstGeom>
        </p:spPr>
      </p:pic>
      <p:grpSp>
        <p:nvGrpSpPr>
          <p:cNvPr id="10" name="Groupe 9">
            <a:extLst>
              <a:ext uri="{FF2B5EF4-FFF2-40B4-BE49-F238E27FC236}">
                <a16:creationId xmlns:a16="http://schemas.microsoft.com/office/drawing/2014/main" id="{0733C7CD-F52D-5C54-C2B4-44406B95C157}"/>
              </a:ext>
            </a:extLst>
          </p:cNvPr>
          <p:cNvGrpSpPr/>
          <p:nvPr/>
        </p:nvGrpSpPr>
        <p:grpSpPr>
          <a:xfrm>
            <a:off x="311285" y="5077838"/>
            <a:ext cx="3385226" cy="1448624"/>
            <a:chOff x="311285" y="5077838"/>
            <a:chExt cx="3385226" cy="1448624"/>
          </a:xfrm>
        </p:grpSpPr>
        <p:sp>
          <p:nvSpPr>
            <p:cNvPr id="6" name="Rectangle 5">
              <a:extLst>
                <a:ext uri="{FF2B5EF4-FFF2-40B4-BE49-F238E27FC236}">
                  <a16:creationId xmlns:a16="http://schemas.microsoft.com/office/drawing/2014/main" id="{D6CB769F-2C76-74CB-5981-7343AE429DE5}"/>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8" name="Connecteur droit avec flèche 7">
              <a:extLst>
                <a:ext uri="{FF2B5EF4-FFF2-40B4-BE49-F238E27FC236}">
                  <a16:creationId xmlns:a16="http://schemas.microsoft.com/office/drawing/2014/main" id="{CEEDC86A-29FF-1B82-1333-62836274B581}"/>
                </a:ext>
              </a:extLst>
            </p:cNvPr>
            <p:cNvCxnSpPr>
              <a:stCxn id="6"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ZoneTexte 8">
              <a:extLst>
                <a:ext uri="{FF2B5EF4-FFF2-40B4-BE49-F238E27FC236}">
                  <a16:creationId xmlns:a16="http://schemas.microsoft.com/office/drawing/2014/main" id="{3AD781C3-D9E5-9A25-B650-D4D2A98A52FC}"/>
                </a:ext>
              </a:extLst>
            </p:cNvPr>
            <p:cNvSpPr txBox="1"/>
            <p:nvPr/>
          </p:nvSpPr>
          <p:spPr>
            <a:xfrm>
              <a:off x="311285" y="5603132"/>
              <a:ext cx="1741251" cy="923330"/>
            </a:xfrm>
            <a:prstGeom prst="rect">
              <a:avLst/>
            </a:prstGeom>
            <a:noFill/>
          </p:spPr>
          <p:txBody>
            <a:bodyPr wrap="square" rtlCol="0">
              <a:spAutoFit/>
            </a:bodyPr>
            <a:lstStyle/>
            <a:p>
              <a:r>
                <a:rPr lang="fr-CA" dirty="0"/>
                <a:t>Discrétisation spatiale prend le dessus</a:t>
              </a:r>
            </a:p>
          </p:txBody>
        </p:sp>
      </p:grpSp>
      <p:sp>
        <p:nvSpPr>
          <p:cNvPr id="3" name="Slide Number Placeholder 2">
            <a:extLst>
              <a:ext uri="{FF2B5EF4-FFF2-40B4-BE49-F238E27FC236}">
                <a16:creationId xmlns:a16="http://schemas.microsoft.com/office/drawing/2014/main" id="{75EABFEE-657A-9A09-E8EF-DD345398C246}"/>
              </a:ext>
            </a:extLst>
          </p:cNvPr>
          <p:cNvSpPr>
            <a:spLocks noGrp="1"/>
          </p:cNvSpPr>
          <p:nvPr>
            <p:ph type="sldNum" sz="quarter" idx="12"/>
          </p:nvPr>
        </p:nvSpPr>
        <p:spPr/>
        <p:txBody>
          <a:bodyPr/>
          <a:lstStyle/>
          <a:p>
            <a:fld id="{FD85B578-4E75-4E1C-9BE3-D5DCC0715B13}" type="slidenum">
              <a:rPr lang="fr-FR" smtClean="0"/>
              <a:t>19</a:t>
            </a:fld>
            <a:endParaRPr lang="fr-FR"/>
          </a:p>
        </p:txBody>
      </p:sp>
    </p:spTree>
    <p:extLst>
      <p:ext uri="{BB962C8B-B14F-4D97-AF65-F5344CB8AC3E}">
        <p14:creationId xmlns:p14="http://schemas.microsoft.com/office/powerpoint/2010/main" val="969147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4F719-4F8B-B0BF-A652-91D4A8E1C2E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F6CDAA5-638A-B4E8-6AFE-7C186CA43D2B}"/>
              </a:ext>
            </a:extLst>
          </p:cNvPr>
          <p:cNvSpPr>
            <a:spLocks noGrp="1"/>
          </p:cNvSpPr>
          <p:nvPr>
            <p:ph type="title"/>
          </p:nvPr>
        </p:nvSpPr>
        <p:spPr/>
        <p:txBody>
          <a:bodyPr/>
          <a:lstStyle/>
          <a:p>
            <a:r>
              <a:rPr lang="fr-FR" dirty="0"/>
              <a:t>Vérification de code – MMS – Résultats :</a:t>
            </a:r>
          </a:p>
        </p:txBody>
      </p:sp>
      <p:pic>
        <p:nvPicPr>
          <p:cNvPr id="7" name="Espace réservé du contenu 6">
            <a:extLst>
              <a:ext uri="{FF2B5EF4-FFF2-40B4-BE49-F238E27FC236}">
                <a16:creationId xmlns:a16="http://schemas.microsoft.com/office/drawing/2014/main" id="{6B8E9D59-8E3B-8479-E1C7-62F3A39A5D2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000" y="1690688"/>
            <a:ext cx="8388000" cy="5032800"/>
          </a:xfrm>
          <a:prstGeom prst="rect">
            <a:avLst/>
          </a:prstGeom>
        </p:spPr>
      </p:pic>
      <p:grpSp>
        <p:nvGrpSpPr>
          <p:cNvPr id="8" name="Groupe 7">
            <a:extLst>
              <a:ext uri="{FF2B5EF4-FFF2-40B4-BE49-F238E27FC236}">
                <a16:creationId xmlns:a16="http://schemas.microsoft.com/office/drawing/2014/main" id="{4C4CFFBA-3429-F2F4-7F11-D968906589E4}"/>
              </a:ext>
            </a:extLst>
          </p:cNvPr>
          <p:cNvGrpSpPr/>
          <p:nvPr/>
        </p:nvGrpSpPr>
        <p:grpSpPr>
          <a:xfrm>
            <a:off x="209387" y="3016251"/>
            <a:ext cx="3385226" cy="1725623"/>
            <a:chOff x="311285" y="5077838"/>
            <a:chExt cx="3385226" cy="1725623"/>
          </a:xfrm>
        </p:grpSpPr>
        <p:sp>
          <p:nvSpPr>
            <p:cNvPr id="9" name="Rectangle 8">
              <a:extLst>
                <a:ext uri="{FF2B5EF4-FFF2-40B4-BE49-F238E27FC236}">
                  <a16:creationId xmlns:a16="http://schemas.microsoft.com/office/drawing/2014/main" id="{B57A2EE6-1A05-1DB3-5DAA-1C28E8D82F63}"/>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10" name="Connecteur droit avec flèche 9">
              <a:extLst>
                <a:ext uri="{FF2B5EF4-FFF2-40B4-BE49-F238E27FC236}">
                  <a16:creationId xmlns:a16="http://schemas.microsoft.com/office/drawing/2014/main" id="{EE0D9918-4259-5FE5-2239-A38236148190}"/>
                </a:ext>
              </a:extLst>
            </p:cNvPr>
            <p:cNvCxnSpPr>
              <a:stCxn id="9"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FD1FA1AC-0CBB-05F3-2DE3-6DE994D15BDB}"/>
                </a:ext>
              </a:extLst>
            </p:cNvPr>
            <p:cNvSpPr txBox="1"/>
            <p:nvPr/>
          </p:nvSpPr>
          <p:spPr>
            <a:xfrm>
              <a:off x="311285" y="5603132"/>
              <a:ext cx="1741251" cy="1200329"/>
            </a:xfrm>
            <a:prstGeom prst="rect">
              <a:avLst/>
            </a:prstGeom>
            <a:noFill/>
          </p:spPr>
          <p:txBody>
            <a:bodyPr wrap="square" rtlCol="0">
              <a:spAutoFit/>
            </a:bodyPr>
            <a:lstStyle/>
            <a:p>
              <a:r>
                <a:rPr lang="fr-CA" dirty="0"/>
                <a:t>Discrétisation temporelle prend le dessus</a:t>
              </a:r>
            </a:p>
          </p:txBody>
        </p:sp>
      </p:grpSp>
      <p:sp>
        <p:nvSpPr>
          <p:cNvPr id="3" name="Slide Number Placeholder 2">
            <a:extLst>
              <a:ext uri="{FF2B5EF4-FFF2-40B4-BE49-F238E27FC236}">
                <a16:creationId xmlns:a16="http://schemas.microsoft.com/office/drawing/2014/main" id="{01209B38-FFB4-D9F8-492D-65AE01C22C92}"/>
              </a:ext>
            </a:extLst>
          </p:cNvPr>
          <p:cNvSpPr>
            <a:spLocks noGrp="1"/>
          </p:cNvSpPr>
          <p:nvPr>
            <p:ph type="sldNum" sz="quarter" idx="12"/>
          </p:nvPr>
        </p:nvSpPr>
        <p:spPr/>
        <p:txBody>
          <a:bodyPr/>
          <a:lstStyle/>
          <a:p>
            <a:fld id="{FD85B578-4E75-4E1C-9BE3-D5DCC0715B13}" type="slidenum">
              <a:rPr lang="fr-FR" smtClean="0"/>
              <a:t>20</a:t>
            </a:fld>
            <a:endParaRPr lang="fr-FR"/>
          </a:p>
        </p:txBody>
      </p:sp>
    </p:spTree>
    <p:extLst>
      <p:ext uri="{BB962C8B-B14F-4D97-AF65-F5344CB8AC3E}">
        <p14:creationId xmlns:p14="http://schemas.microsoft.com/office/powerpoint/2010/main" val="96355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57E25-CA72-4BE6-FF0F-7A14AD071B9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8D45DE-51F7-9718-BF32-A0EB4238BB42}"/>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6302326F-3D3F-CE69-7513-14841B5F8E2D}"/>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362BCFBF-4E6C-0E38-3E48-B5B9BF75CFA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81DA91F9-8A91-88FA-0E75-A941DB923930}"/>
              </a:ext>
            </a:extLst>
          </p:cNvPr>
          <p:cNvSpPr>
            <a:spLocks noGrp="1"/>
          </p:cNvSpPr>
          <p:nvPr>
            <p:ph type="sldNum" sz="quarter" idx="12"/>
          </p:nvPr>
        </p:nvSpPr>
        <p:spPr/>
        <p:txBody>
          <a:bodyPr/>
          <a:lstStyle/>
          <a:p>
            <a:fld id="{FD85B578-4E75-4E1C-9BE3-D5DCC0715B13}" type="slidenum">
              <a:rPr lang="fr-FR" smtClean="0"/>
              <a:t>21</a:t>
            </a:fld>
            <a:endParaRPr lang="fr-FR"/>
          </a:p>
        </p:txBody>
      </p:sp>
    </p:spTree>
    <p:extLst>
      <p:ext uri="{BB962C8B-B14F-4D97-AF65-F5344CB8AC3E}">
        <p14:creationId xmlns:p14="http://schemas.microsoft.com/office/powerpoint/2010/main" val="6836297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C32232-D971-F63A-4322-D27F6CDB07D2}"/>
                  </a:ext>
                </a:extLst>
              </p:cNvPr>
              <p:cNvSpPr>
                <a:spLocks noGrp="1"/>
              </p:cNvSpPr>
              <p:nvPr>
                <p:ph idx="1"/>
              </p:nvPr>
            </p:nvSpPr>
            <p:spPr>
              <a:xfrm>
                <a:off x="491491" y="1417145"/>
                <a:ext cx="7486650" cy="2103952"/>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m:rPr>
                          <m:sty m:val="p"/>
                        </m:rPr>
                        <a:rPr lang="fr-FR" sz="2000" b="0" i="1" smtClean="0">
                          <a:latin typeface="Cambria Math" panose="02040503050406030204" pitchFamily="18" charset="0"/>
                        </a:rPr>
                        <m:t>E</m:t>
                      </m:r>
                      <m:r>
                        <a:rPr lang="fr-FR" sz="2000" b="0" i="1" smtClean="0">
                          <a:latin typeface="Cambria Math" panose="02040503050406030204" pitchFamily="18" charset="0"/>
                        </a:rPr>
                        <m:t>̃</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ym</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ye</m:t>
                      </m:r>
                    </m:oMath>
                  </m:oMathPara>
                </a14:m>
                <a:endParaRPr lang="fr-FR" sz="2000" baseline="-25000" dirty="0"/>
              </a:p>
              <a:p>
                <a:r>
                  <a:rPr lang="fr-FR" sz="2000" dirty="0"/>
                  <a:t>Problème : pas de valeur expérimentale (manque de précision dans la littérature)</a:t>
                </a:r>
              </a:p>
              <a:p>
                <a:r>
                  <a:rPr lang="fr-FR" sz="2000" dirty="0">
                    <a:sym typeface="Wingdings" panose="05000000000000000000" pitchFamily="2" charset="2"/>
                  </a:rPr>
                  <a:t>Solution : passage par un code commercial</a:t>
                </a:r>
              </a:p>
              <a:p>
                <a:r>
                  <a:rPr lang="fr-FR" sz="2000" dirty="0">
                    <a:sym typeface="Wingdings" panose="05000000000000000000" pitchFamily="2" charset="2"/>
                  </a:rPr>
                  <a:t>Modélisation du problème sous SolidWorks pour un métal AISI 4340</a:t>
                </a:r>
                <a:endParaRPr lang="en-US" sz="2000" dirty="0"/>
              </a:p>
            </p:txBody>
          </p:sp>
        </mc:Choice>
        <mc:Fallback xmlns="">
          <p:sp>
            <p:nvSpPr>
              <p:cNvPr id="3" name="Content Placeholder 2">
                <a:extLst>
                  <a:ext uri="{FF2B5EF4-FFF2-40B4-BE49-F238E27FC236}">
                    <a16:creationId xmlns:a16="http://schemas.microsoft.com/office/drawing/2014/main" id="{C2C32232-D971-F63A-4322-D27F6CDB07D2}"/>
                  </a:ext>
                </a:extLst>
              </p:cNvPr>
              <p:cNvSpPr>
                <a:spLocks noGrp="1" noRot="1" noChangeAspect="1" noMove="1" noResize="1" noEditPoints="1" noAdjustHandles="1" noChangeArrowheads="1" noChangeShapeType="1" noTextEdit="1"/>
              </p:cNvSpPr>
              <p:nvPr>
                <p:ph idx="1"/>
              </p:nvPr>
            </p:nvSpPr>
            <p:spPr>
              <a:xfrm>
                <a:off x="491491" y="1417145"/>
                <a:ext cx="7486650" cy="2103952"/>
              </a:xfrm>
              <a:blipFill>
                <a:blip r:embed="rId2"/>
                <a:stretch>
                  <a:fillRect l="-733"/>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32592D05-AA83-1726-AA8E-76EA7CE430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25531" y="521767"/>
            <a:ext cx="3566469" cy="2347163"/>
          </a:xfrm>
          <a:prstGeom prst="rect">
            <a:avLst/>
          </a:prstGeom>
        </p:spPr>
      </p:pic>
      <p:pic>
        <p:nvPicPr>
          <p:cNvPr id="9" name="Picture 8">
            <a:extLst>
              <a:ext uri="{FF2B5EF4-FFF2-40B4-BE49-F238E27FC236}">
                <a16:creationId xmlns:a16="http://schemas.microsoft.com/office/drawing/2014/main" id="{4100F7ED-BB1D-A4E9-64F3-B26EE6B577C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77336" y="3704045"/>
            <a:ext cx="2997683" cy="2997683"/>
          </a:xfrm>
          <a:prstGeom prst="rect">
            <a:avLst/>
          </a:prstGeom>
        </p:spPr>
      </p:pic>
      <p:pic>
        <p:nvPicPr>
          <p:cNvPr id="11" name="Picture 10">
            <a:extLst>
              <a:ext uri="{FF2B5EF4-FFF2-40B4-BE49-F238E27FC236}">
                <a16:creationId xmlns:a16="http://schemas.microsoft.com/office/drawing/2014/main" id="{F5B50BF5-90A1-6B98-D3FC-7350FE4FB6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02846" y="3704044"/>
            <a:ext cx="3003714" cy="2997683"/>
          </a:xfrm>
          <a:prstGeom prst="rect">
            <a:avLst/>
          </a:prstGeom>
        </p:spPr>
      </p:pic>
      <p:pic>
        <p:nvPicPr>
          <p:cNvPr id="13" name="Picture 12">
            <a:extLst>
              <a:ext uri="{FF2B5EF4-FFF2-40B4-BE49-F238E27FC236}">
                <a16:creationId xmlns:a16="http://schemas.microsoft.com/office/drawing/2014/main" id="{A9A009A9-8BFC-1B9B-F910-FCE3DE41CCF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6732" y="4148806"/>
            <a:ext cx="3848433" cy="2552921"/>
          </a:xfrm>
          <a:prstGeom prst="rect">
            <a:avLst/>
          </a:prstGeom>
        </p:spPr>
      </p:pic>
      <p:sp>
        <p:nvSpPr>
          <p:cNvPr id="14" name="TextBox 13">
            <a:extLst>
              <a:ext uri="{FF2B5EF4-FFF2-40B4-BE49-F238E27FC236}">
                <a16:creationId xmlns:a16="http://schemas.microsoft.com/office/drawing/2014/main" id="{A6A5E198-79E3-ED9B-9BBD-110FAE83354B}"/>
              </a:ext>
            </a:extLst>
          </p:cNvPr>
          <p:cNvSpPr txBox="1"/>
          <p:nvPr/>
        </p:nvSpPr>
        <p:spPr>
          <a:xfrm>
            <a:off x="1144371" y="3874770"/>
            <a:ext cx="2153154" cy="369332"/>
          </a:xfrm>
          <a:prstGeom prst="rect">
            <a:avLst/>
          </a:prstGeom>
          <a:noFill/>
        </p:spPr>
        <p:txBody>
          <a:bodyPr wrap="none" rtlCol="0">
            <a:spAutoFit/>
          </a:bodyPr>
          <a:lstStyle/>
          <a:p>
            <a:r>
              <a:rPr lang="fr-FR" dirty="0"/>
              <a:t>Température initiale</a:t>
            </a:r>
            <a:endParaRPr lang="en-US" dirty="0"/>
          </a:p>
        </p:txBody>
      </p:sp>
      <p:sp>
        <p:nvSpPr>
          <p:cNvPr id="15" name="TextBox 14">
            <a:extLst>
              <a:ext uri="{FF2B5EF4-FFF2-40B4-BE49-F238E27FC236}">
                <a16:creationId xmlns:a16="http://schemas.microsoft.com/office/drawing/2014/main" id="{54FE961D-8228-C8D9-8233-FE31E59D1AC9}"/>
              </a:ext>
            </a:extLst>
          </p:cNvPr>
          <p:cNvSpPr txBox="1"/>
          <p:nvPr/>
        </p:nvSpPr>
        <p:spPr>
          <a:xfrm>
            <a:off x="5955189" y="3427905"/>
            <a:ext cx="2299027" cy="369332"/>
          </a:xfrm>
          <a:prstGeom prst="rect">
            <a:avLst/>
          </a:prstGeom>
          <a:noFill/>
        </p:spPr>
        <p:txBody>
          <a:bodyPr wrap="none" rtlCol="0">
            <a:spAutoFit/>
          </a:bodyPr>
          <a:lstStyle/>
          <a:p>
            <a:r>
              <a:rPr lang="fr-FR" dirty="0"/>
              <a:t>Radiation : émissivité</a:t>
            </a:r>
            <a:endParaRPr lang="en-US" dirty="0"/>
          </a:p>
        </p:txBody>
      </p:sp>
      <p:sp>
        <p:nvSpPr>
          <p:cNvPr id="16" name="TextBox 15">
            <a:extLst>
              <a:ext uri="{FF2B5EF4-FFF2-40B4-BE49-F238E27FC236}">
                <a16:creationId xmlns:a16="http://schemas.microsoft.com/office/drawing/2014/main" id="{51AC3AD7-E755-29F6-BDA8-03CAC197225B}"/>
              </a:ext>
            </a:extLst>
          </p:cNvPr>
          <p:cNvSpPr txBox="1"/>
          <p:nvPr/>
        </p:nvSpPr>
        <p:spPr>
          <a:xfrm>
            <a:off x="9912373" y="3427905"/>
            <a:ext cx="1327608" cy="369332"/>
          </a:xfrm>
          <a:prstGeom prst="rect">
            <a:avLst/>
          </a:prstGeom>
          <a:noFill/>
        </p:spPr>
        <p:txBody>
          <a:bodyPr wrap="none" rtlCol="0">
            <a:spAutoFit/>
          </a:bodyPr>
          <a:lstStyle/>
          <a:p>
            <a:r>
              <a:rPr lang="fr-FR" dirty="0"/>
              <a:t>Convection</a:t>
            </a:r>
            <a:endParaRPr lang="en-US" dirty="0"/>
          </a:p>
        </p:txBody>
      </p:sp>
      <p:sp>
        <p:nvSpPr>
          <p:cNvPr id="6" name="Title 1">
            <a:extLst>
              <a:ext uri="{FF2B5EF4-FFF2-40B4-BE49-F238E27FC236}">
                <a16:creationId xmlns:a16="http://schemas.microsoft.com/office/drawing/2014/main" id="{25446CCA-7537-8071-3E29-39F463004EBB}"/>
              </a:ext>
            </a:extLst>
          </p:cNvPr>
          <p:cNvSpPr>
            <a:spLocks noGrp="1"/>
          </p:cNvSpPr>
          <p:nvPr>
            <p:ph type="title"/>
          </p:nvPr>
        </p:nvSpPr>
        <p:spPr>
          <a:xfrm>
            <a:off x="838200" y="365125"/>
            <a:ext cx="10515600" cy="1325563"/>
          </a:xfrm>
        </p:spPr>
        <p:txBody>
          <a:bodyPr/>
          <a:lstStyle/>
          <a:p>
            <a:r>
              <a:rPr lang="fr-FR" dirty="0"/>
              <a:t>Validation – erreur simulation :</a:t>
            </a:r>
            <a:endParaRPr lang="en-US" dirty="0"/>
          </a:p>
        </p:txBody>
      </p:sp>
      <p:sp>
        <p:nvSpPr>
          <p:cNvPr id="2" name="Slide Number Placeholder 1">
            <a:extLst>
              <a:ext uri="{FF2B5EF4-FFF2-40B4-BE49-F238E27FC236}">
                <a16:creationId xmlns:a16="http://schemas.microsoft.com/office/drawing/2014/main" id="{721E3427-3392-EE3B-41FE-24E4FF1550B1}"/>
              </a:ext>
            </a:extLst>
          </p:cNvPr>
          <p:cNvSpPr>
            <a:spLocks noGrp="1"/>
          </p:cNvSpPr>
          <p:nvPr>
            <p:ph type="sldNum" sz="quarter" idx="12"/>
          </p:nvPr>
        </p:nvSpPr>
        <p:spPr/>
        <p:txBody>
          <a:bodyPr/>
          <a:lstStyle/>
          <a:p>
            <a:fld id="{FD85B578-4E75-4E1C-9BE3-D5DCC0715B13}" type="slidenum">
              <a:rPr lang="fr-FR" smtClean="0"/>
              <a:t>22</a:t>
            </a:fld>
            <a:endParaRPr lang="fr-FR"/>
          </a:p>
        </p:txBody>
      </p:sp>
    </p:spTree>
    <p:extLst>
      <p:ext uri="{BB962C8B-B14F-4D97-AF65-F5344CB8AC3E}">
        <p14:creationId xmlns:p14="http://schemas.microsoft.com/office/powerpoint/2010/main" val="8886473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D1F89-F778-6C72-5829-94790C929507}"/>
              </a:ext>
            </a:extLst>
          </p:cNvPr>
          <p:cNvSpPr>
            <a:spLocks noGrp="1"/>
          </p:cNvSpPr>
          <p:nvPr>
            <p:ph type="title"/>
          </p:nvPr>
        </p:nvSpPr>
        <p:spPr/>
        <p:txBody>
          <a:bodyPr/>
          <a:lstStyle/>
          <a:p>
            <a:r>
              <a:rPr lang="fr-FR" dirty="0"/>
              <a:t>Validation – erreur simulation :</a:t>
            </a:r>
            <a:endParaRPr lang="en-US" dirty="0"/>
          </a:p>
        </p:txBody>
      </p:sp>
      <p:pic>
        <p:nvPicPr>
          <p:cNvPr id="35" name="Content Placeholder 34">
            <a:extLst>
              <a:ext uri="{FF2B5EF4-FFF2-40B4-BE49-F238E27FC236}">
                <a16:creationId xmlns:a16="http://schemas.microsoft.com/office/drawing/2014/main" id="{B470CD96-A82E-E0EB-A3EC-1334F9C20B6F}"/>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183670" y="4864715"/>
            <a:ext cx="764723" cy="1531620"/>
          </a:xfrm>
          <a:prstGeom prst="rect">
            <a:avLst/>
          </a:prstGeom>
        </p:spPr>
      </p:pic>
      <p:pic>
        <p:nvPicPr>
          <p:cNvPr id="37" name="Picture 36">
            <a:extLst>
              <a:ext uri="{FF2B5EF4-FFF2-40B4-BE49-F238E27FC236}">
                <a16:creationId xmlns:a16="http://schemas.microsoft.com/office/drawing/2014/main" id="{BD5C8037-549E-B941-FE25-FC8B83B3AE8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987481" y="4864715"/>
            <a:ext cx="770186" cy="1531620"/>
          </a:xfrm>
          <a:prstGeom prst="rect">
            <a:avLst/>
          </a:prstGeom>
        </p:spPr>
      </p:pic>
      <p:pic>
        <p:nvPicPr>
          <p:cNvPr id="39" name="Picture 38">
            <a:extLst>
              <a:ext uri="{FF2B5EF4-FFF2-40B4-BE49-F238E27FC236}">
                <a16:creationId xmlns:a16="http://schemas.microsoft.com/office/drawing/2014/main" id="{D4695AF5-14C8-8B55-5D76-A5D9F788F65F}"/>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1791287" y="4864715"/>
            <a:ext cx="775642" cy="1531620"/>
          </a:xfrm>
          <a:prstGeom prst="rect">
            <a:avLst/>
          </a:prstGeom>
        </p:spPr>
      </p:pic>
      <p:pic>
        <p:nvPicPr>
          <p:cNvPr id="41" name="Picture 40">
            <a:extLst>
              <a:ext uri="{FF2B5EF4-FFF2-40B4-BE49-F238E27FC236}">
                <a16:creationId xmlns:a16="http://schemas.microsoft.com/office/drawing/2014/main" id="{AE5FD986-C902-A6A4-CE75-3F189ADA9EED}"/>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tretch>
            <a:fillRect/>
          </a:stretch>
        </p:blipFill>
        <p:spPr>
          <a:xfrm>
            <a:off x="2603321" y="4864715"/>
            <a:ext cx="771257" cy="1531620"/>
          </a:xfrm>
          <a:prstGeom prst="rect">
            <a:avLst/>
          </a:prstGeom>
        </p:spPr>
      </p:pic>
      <p:pic>
        <p:nvPicPr>
          <p:cNvPr id="43" name="Picture 42">
            <a:extLst>
              <a:ext uri="{FF2B5EF4-FFF2-40B4-BE49-F238E27FC236}">
                <a16:creationId xmlns:a16="http://schemas.microsoft.com/office/drawing/2014/main" id="{E4EFAB5C-E687-B58A-EE9E-79B9093375AE}"/>
              </a:ext>
            </a:extLst>
          </p:cNvPr>
          <p:cNvPicPr>
            <a:picLocks noGrp="1" noRot="1" noChangeAspect="1" noMove="1" noResize="1" noEditPoints="1" noAdjustHandles="1" noChangeArrowheads="1" noChangeShapeType="1" noCrop="1"/>
          </p:cNvPicPr>
          <p:nvPr/>
        </p:nvPicPr>
        <p:blipFill>
          <a:blip r:embed="rId6">
            <a:extLst>
              <a:ext uri="{28A0092B-C50C-407E-A947-70E740481C1C}">
                <a14:useLocalDpi xmlns:a14="http://schemas.microsoft.com/office/drawing/2010/main" val="0"/>
              </a:ext>
            </a:extLst>
          </a:blip>
          <a:stretch>
            <a:fillRect/>
          </a:stretch>
        </p:blipFill>
        <p:spPr>
          <a:xfrm>
            <a:off x="3401810" y="4864715"/>
            <a:ext cx="764717" cy="1531620"/>
          </a:xfrm>
          <a:prstGeom prst="rect">
            <a:avLst/>
          </a:prstGeom>
        </p:spPr>
      </p:pic>
      <p:pic>
        <p:nvPicPr>
          <p:cNvPr id="45" name="Picture 44">
            <a:extLst>
              <a:ext uri="{FF2B5EF4-FFF2-40B4-BE49-F238E27FC236}">
                <a16:creationId xmlns:a16="http://schemas.microsoft.com/office/drawing/2014/main" id="{F72B7175-DEBB-3BDD-18D7-21B44DE17A67}"/>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4204095" y="4864715"/>
            <a:ext cx="752530" cy="1531620"/>
          </a:xfrm>
          <a:prstGeom prst="rect">
            <a:avLst/>
          </a:prstGeom>
        </p:spPr>
      </p:pic>
      <p:pic>
        <p:nvPicPr>
          <p:cNvPr id="47" name="Picture 46">
            <a:extLst>
              <a:ext uri="{FF2B5EF4-FFF2-40B4-BE49-F238E27FC236}">
                <a16:creationId xmlns:a16="http://schemas.microsoft.com/office/drawing/2014/main" id="{CFEAD094-7ADB-7B93-230A-513191FA86AA}"/>
              </a:ext>
            </a:extLst>
          </p:cNvPr>
          <p:cNvPicPr>
            <a:picLocks noGrp="1" noRot="1" noChangeAspect="1" noMove="1" noResize="1" noEditPoints="1" noAdjustHandles="1" noChangeArrowheads="1" noChangeShapeType="1" noCrop="1"/>
          </p:cNvPicPr>
          <p:nvPr/>
        </p:nvPicPr>
        <p:blipFill>
          <a:blip r:embed="rId8">
            <a:extLst>
              <a:ext uri="{28A0092B-C50C-407E-A947-70E740481C1C}">
                <a14:useLocalDpi xmlns:a14="http://schemas.microsoft.com/office/drawing/2010/main" val="0"/>
              </a:ext>
            </a:extLst>
          </a:blip>
          <a:stretch>
            <a:fillRect/>
          </a:stretch>
        </p:blipFill>
        <p:spPr>
          <a:xfrm>
            <a:off x="5009543" y="4864715"/>
            <a:ext cx="773458" cy="1531620"/>
          </a:xfrm>
          <a:prstGeom prst="rect">
            <a:avLst/>
          </a:prstGeom>
        </p:spPr>
      </p:pic>
      <p:pic>
        <p:nvPicPr>
          <p:cNvPr id="49" name="Picture 48">
            <a:extLst>
              <a:ext uri="{FF2B5EF4-FFF2-40B4-BE49-F238E27FC236}">
                <a16:creationId xmlns:a16="http://schemas.microsoft.com/office/drawing/2014/main" id="{E0245B62-8CC7-E885-49A0-9C13DA3242F2}"/>
              </a:ext>
            </a:extLst>
          </p:cNvPr>
          <p:cNvPicPr>
            <a:picLocks noGrp="1" noRot="1" noChangeAspect="1" noMove="1" noResize="1" noEditPoints="1" noAdjustHandles="1" noChangeArrowheads="1" noChangeShapeType="1" noCrop="1"/>
          </p:cNvPicPr>
          <p:nvPr/>
        </p:nvPicPr>
        <p:blipFill>
          <a:blip r:embed="rId9">
            <a:extLst>
              <a:ext uri="{28A0092B-C50C-407E-A947-70E740481C1C}">
                <a14:useLocalDpi xmlns:a14="http://schemas.microsoft.com/office/drawing/2010/main" val="0"/>
              </a:ext>
            </a:extLst>
          </a:blip>
          <a:stretch>
            <a:fillRect/>
          </a:stretch>
        </p:blipFill>
        <p:spPr>
          <a:xfrm>
            <a:off x="5833093" y="4864715"/>
            <a:ext cx="774537" cy="1531620"/>
          </a:xfrm>
          <a:prstGeom prst="rect">
            <a:avLst/>
          </a:prstGeom>
        </p:spPr>
      </p:pic>
      <p:pic>
        <p:nvPicPr>
          <p:cNvPr id="52" name="Picture 51">
            <a:extLst>
              <a:ext uri="{FF2B5EF4-FFF2-40B4-BE49-F238E27FC236}">
                <a16:creationId xmlns:a16="http://schemas.microsoft.com/office/drawing/2014/main" id="{51A5B0D7-2859-21E8-101F-3B1B9D125349}"/>
              </a:ext>
            </a:extLst>
          </p:cNvPr>
          <p:cNvPicPr>
            <a:picLocks noGrp="1" noRot="1" noChangeAspect="1" noMove="1" noResize="1" noEditPoints="1" noAdjustHandles="1" noChangeArrowheads="1" noChangeShapeType="1" noCrop="1"/>
          </p:cNvPicPr>
          <p:nvPr/>
        </p:nvPicPr>
        <p:blipFill>
          <a:blip r:embed="rId10">
            <a:extLst>
              <a:ext uri="{28A0092B-C50C-407E-A947-70E740481C1C}">
                <a14:useLocalDpi xmlns:a14="http://schemas.microsoft.com/office/drawing/2010/main" val="0"/>
              </a:ext>
            </a:extLst>
          </a:blip>
          <a:stretch>
            <a:fillRect/>
          </a:stretch>
        </p:blipFill>
        <p:spPr>
          <a:xfrm>
            <a:off x="6656258" y="4864715"/>
            <a:ext cx="770161" cy="1531620"/>
          </a:xfrm>
          <a:prstGeom prst="rect">
            <a:avLst/>
          </a:prstGeom>
        </p:spPr>
      </p:pic>
      <p:cxnSp>
        <p:nvCxnSpPr>
          <p:cNvPr id="54" name="Straight Arrow Connector 53">
            <a:extLst>
              <a:ext uri="{FF2B5EF4-FFF2-40B4-BE49-F238E27FC236}">
                <a16:creationId xmlns:a16="http://schemas.microsoft.com/office/drawing/2014/main" id="{7DC9A4AC-38ED-A0E8-3543-95C8B64B1948}"/>
              </a:ext>
            </a:extLst>
          </p:cNvPr>
          <p:cNvCxnSpPr>
            <a:cxnSpLocks noGrp="1" noRot="1" noMove="1" noResize="1" noEditPoints="1" noAdjustHandles="1" noChangeArrowheads="1" noChangeShapeType="1"/>
          </p:cNvCxnSpPr>
          <p:nvPr/>
        </p:nvCxnSpPr>
        <p:spPr>
          <a:xfrm>
            <a:off x="160020" y="6533495"/>
            <a:ext cx="733806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CEAB3DF-E113-A48A-4976-5362A80A08F7}"/>
                  </a:ext>
                </a:extLst>
              </p:cNvPr>
              <p:cNvSpPr txBox="1"/>
              <p:nvPr/>
            </p:nvSpPr>
            <p:spPr>
              <a:xfrm>
                <a:off x="560860" y="1690688"/>
                <a:ext cx="10651970" cy="2986459"/>
              </a:xfrm>
              <a:prstGeom prst="rect">
                <a:avLst/>
              </a:prstGeom>
              <a:noFill/>
            </p:spPr>
            <p:txBody>
              <a:bodyPr wrap="square" rtlCol="0">
                <a:spAutoFit/>
              </a:bodyPr>
              <a:lstStyle/>
              <a:p>
                <a:pPr marL="285750" indent="-285750">
                  <a:buFont typeface="Arial" panose="020B0604020202020204" pitchFamily="34" charset="0"/>
                  <a:buChar char="•"/>
                </a:pPr>
                <a:r>
                  <a:rPr lang="fr-FR" dirty="0"/>
                  <a:t>S’assurer de la qualité des résultats de SolidWorks </a:t>
                </a:r>
                <a:r>
                  <a:rPr lang="fr-FR" dirty="0">
                    <a:sym typeface="Wingdings" panose="05000000000000000000" pitchFamily="2" charset="2"/>
                  </a:rPr>
                  <a:t> analyse de convergence (temps et espace)</a:t>
                </a:r>
              </a:p>
              <a:p>
                <a:pPr marL="285750"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m:t>
                    </m:r>
                    <m:f>
                      <m:fPr>
                        <m:ctrlPr>
                          <a:rPr lang="pt-BR" b="0" i="1" smtClean="0">
                            <a:latin typeface="Cambria Math" panose="02040503050406030204" pitchFamily="18" charset="0"/>
                            <a:sym typeface="Wingdings" panose="05000000000000000000" pitchFamily="2" charset="2"/>
                          </a:rPr>
                        </m:ctrlPr>
                      </m:fPr>
                      <m:num>
                        <m:r>
                          <m:rPr>
                            <m:sty m:val="p"/>
                          </m:rPr>
                          <a:rPr lang="fr-FR" i="1">
                            <a:latin typeface="Cambria Math" panose="02040503050406030204" pitchFamily="18" charset="0"/>
                            <a:sym typeface="Wingdings" panose="05000000000000000000" pitchFamily="2" charset="2"/>
                          </a:rPr>
                          <m:t>Δt</m:t>
                        </m:r>
                      </m:num>
                      <m:den>
                        <m:r>
                          <m:rPr>
                            <m:sty m:val="p"/>
                          </m:rPr>
                          <a:rPr lang="fr-FR" b="0" i="1" smtClean="0">
                            <a:latin typeface="Cambria Math" panose="02040503050406030204" pitchFamily="18" charset="0"/>
                            <a:sym typeface="Wingdings" panose="05000000000000000000" pitchFamily="2" charset="2"/>
                          </a:rPr>
                          <m:t>Te</m:t>
                        </m:r>
                      </m:den>
                    </m:f>
                    <m:r>
                      <a:rPr lang="fr-FR" b="0" i="1" smtClean="0">
                        <a:latin typeface="Cambria Math" panose="02040503050406030204" pitchFamily="18" charset="0"/>
                        <a:sym typeface="Wingdings" panose="05000000000000000000" pitchFamily="2" charset="2"/>
                      </a:rPr>
                      <m:t> </m:t>
                    </m:r>
                  </m:oMath>
                </a14:m>
                <a:r>
                  <a:rPr lang="fr-FR" dirty="0">
                    <a:sym typeface="Wingdings" panose="05000000000000000000" pitchFamily="2" charset="2"/>
                  </a:rPr>
                  <a:t> où Te désigne la taille des éléments (cm) et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oMath>
                </a14:m>
                <a:r>
                  <a:rPr lang="fr-FR" dirty="0">
                    <a:sym typeface="Wingdings" panose="05000000000000000000" pitchFamily="2" charset="2"/>
                  </a:rPr>
                  <a:t> le pas de temps (s)</a:t>
                </a:r>
              </a:p>
              <a:p>
                <a:pPr marL="285750" indent="-285750">
                  <a:buFont typeface="Arial" panose="020B0604020202020204" pitchFamily="34" charset="0"/>
                  <a:buChar char="•"/>
                </a:pPr>
                <a:r>
                  <a:rPr lang="fr-FR" dirty="0">
                    <a:sym typeface="Wingdings" panose="05000000000000000000" pitchFamily="2" charset="2"/>
                  </a:rPr>
                  <a:t>Analyse de convergence réalisé avec les paramètres : </a:t>
                </a:r>
              </a:p>
              <a:p>
                <a:pPr marL="742950" lvl="1"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t</m:t>
                    </m:r>
                    <m:r>
                      <m:rPr>
                        <m:sty m:val="p"/>
                      </m:rPr>
                      <a:rPr lang="fr-FR" b="0" i="1" baseline="-25000" smtClean="0">
                        <a:latin typeface="Cambria Math" panose="02040503050406030204" pitchFamily="18" charset="0"/>
                        <a:sym typeface="Wingdings" panose="05000000000000000000" pitchFamily="2" charset="2"/>
                      </a:rPr>
                      <m:t>fin</m:t>
                    </m:r>
                    <m:r>
                      <a:rPr lang="fr-FR" b="0" i="1" smtClean="0">
                        <a:latin typeface="Cambria Math" panose="02040503050406030204" pitchFamily="18" charset="0"/>
                        <a:sym typeface="Wingdings" panose="05000000000000000000" pitchFamily="2" charset="2"/>
                      </a:rPr>
                      <m:t> = </m:t>
                    </m:r>
                    <m:r>
                      <a:rPr lang="fr-FR" b="0" i="1" smtClean="0">
                        <a:latin typeface="Cambria Math" panose="02040503050406030204" pitchFamily="18" charset="0"/>
                        <a:sym typeface="Wingdings" panose="05000000000000000000" pitchFamily="2" charset="2"/>
                      </a:rPr>
                      <m:t>100</m:t>
                    </m:r>
                    <m:r>
                      <m:rPr>
                        <m:sty m:val="p"/>
                      </m:rPr>
                      <a:rPr lang="fr-FR" b="0" i="1" smtClean="0">
                        <a:latin typeface="Cambria Math" panose="02040503050406030204" pitchFamily="18" charset="0"/>
                        <a:sym typeface="Wingdings" panose="05000000000000000000" pitchFamily="2" charset="2"/>
                      </a:rPr>
                      <m:t>s</m:t>
                    </m:r>
                    <m:r>
                      <a:rPr lang="fr-FR" b="0" i="1" smtClean="0">
                        <a:latin typeface="Cambria Math" panose="02040503050406030204" pitchFamily="18" charset="0"/>
                        <a:sym typeface="Wingdings" panose="05000000000000000000" pitchFamily="2" charset="2"/>
                      </a:rPr>
                      <m:t> , </m:t>
                    </m:r>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m:t>
                    </m:r>
                    <m:r>
                      <a:rPr lang="fr-FR" b="0" i="1" smtClean="0">
                        <a:latin typeface="Cambria Math" panose="02040503050406030204" pitchFamily="18" charset="0"/>
                        <a:sym typeface="Wingdings" panose="05000000000000000000" pitchFamily="2" charset="2"/>
                      </a:rPr>
                      <m:t>2</m:t>
                    </m:r>
                  </m:oMath>
                </a14:m>
                <a:endParaRPr lang="fr-FR" dirty="0">
                  <a:sym typeface="Wingdings" panose="05000000000000000000" pitchFamily="2" charset="2"/>
                </a:endParaRP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Condition : obtenir convergence des valeurs finales + symétrie </a:t>
                </a: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Obtention de résultat fiable pour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r>
                      <a:rPr lang="fr-FR" b="0" i="1" smtClean="0">
                        <a:latin typeface="Cambria Math" panose="02040503050406030204" pitchFamily="18" charset="0"/>
                        <a:sym typeface="Wingdings" panose="05000000000000000000" pitchFamily="2" charset="2"/>
                      </a:rPr>
                      <m:t>= </m:t>
                    </m:r>
                    <m:r>
                      <a:rPr lang="fr-FR" b="0" i="1" smtClean="0">
                        <a:latin typeface="Cambria Math" panose="02040503050406030204" pitchFamily="18" charset="0"/>
                        <a:sym typeface="Wingdings" panose="05000000000000000000" pitchFamily="2" charset="2"/>
                      </a:rPr>
                      <m:t>0</m:t>
                    </m:r>
                    <m:r>
                      <a:rPr lang="fr-FR" b="0" i="1" smtClean="0">
                        <a:latin typeface="Cambria Math" panose="02040503050406030204" pitchFamily="18" charset="0"/>
                        <a:sym typeface="Wingdings" panose="05000000000000000000" pitchFamily="2" charset="2"/>
                      </a:rPr>
                      <m:t>.</m:t>
                    </m:r>
                    <m:r>
                      <a:rPr lang="fr-FR" b="0" i="1" smtClean="0">
                        <a:latin typeface="Cambria Math" panose="02040503050406030204" pitchFamily="18" charset="0"/>
                        <a:sym typeface="Wingdings" panose="05000000000000000000" pitchFamily="2" charset="2"/>
                      </a:rPr>
                      <m:t>6</m:t>
                    </m:r>
                    <m:r>
                      <m:rPr>
                        <m:sty m:val="p"/>
                      </m:rPr>
                      <a:rPr lang="fr-FR" b="0" i="1" smtClean="0">
                        <a:latin typeface="Cambria Math" panose="02040503050406030204" pitchFamily="18" charset="0"/>
                        <a:sym typeface="Wingdings" panose="05000000000000000000" pitchFamily="2" charset="2"/>
                      </a:rPr>
                      <m:t>s</m:t>
                    </m:r>
                  </m:oMath>
                </a14:m>
                <a:r>
                  <a:rPr lang="fr-FR" dirty="0">
                    <a:sym typeface="Wingdings" panose="05000000000000000000" pitchFamily="2" charset="2"/>
                  </a:rPr>
                  <a:t>  et </a:t>
                </a:r>
                <a14:m>
                  <m:oMath xmlns:m="http://schemas.openxmlformats.org/officeDocument/2006/math">
                    <m:r>
                      <m:rPr>
                        <m:sty m:val="p"/>
                      </m:rPr>
                      <a:rPr lang="fr-FR" i="1">
                        <a:latin typeface="Cambria Math" panose="02040503050406030204" pitchFamily="18" charset="0"/>
                        <a:sym typeface="Wingdings" panose="05000000000000000000" pitchFamily="2" charset="2"/>
                      </a:rPr>
                      <m:t>Te</m:t>
                    </m:r>
                    <m:r>
                      <a:rPr lang="fr-FR" b="0" i="1" smtClean="0">
                        <a:latin typeface="Cambria Math" panose="02040503050406030204" pitchFamily="18" charset="0"/>
                        <a:sym typeface="Wingdings" panose="05000000000000000000" pitchFamily="2" charset="2"/>
                      </a:rPr>
                      <m:t> = </m:t>
                    </m:r>
                    <m:r>
                      <a:rPr lang="fr-FR" b="0" i="1" smtClean="0">
                        <a:latin typeface="Cambria Math" panose="02040503050406030204" pitchFamily="18" charset="0"/>
                        <a:sym typeface="Wingdings" panose="05000000000000000000" pitchFamily="2" charset="2"/>
                      </a:rPr>
                      <m:t>0</m:t>
                    </m:r>
                    <m:r>
                      <a:rPr lang="fr-FR" b="0" i="1" smtClean="0">
                        <a:latin typeface="Cambria Math" panose="02040503050406030204" pitchFamily="18" charset="0"/>
                        <a:sym typeface="Wingdings" panose="05000000000000000000" pitchFamily="2" charset="2"/>
                      </a:rPr>
                      <m:t>.</m:t>
                    </m:r>
                    <m:r>
                      <a:rPr lang="fr-FR" b="0" i="1" smtClean="0">
                        <a:latin typeface="Cambria Math" panose="02040503050406030204" pitchFamily="18" charset="0"/>
                        <a:sym typeface="Wingdings" panose="05000000000000000000" pitchFamily="2" charset="2"/>
                      </a:rPr>
                      <m:t>3</m:t>
                    </m:r>
                  </m:oMath>
                </a14:m>
                <a:r>
                  <a:rPr lang="fr-FR" dirty="0">
                    <a:sym typeface="Wingdings" panose="05000000000000000000" pitchFamily="2" charset="2"/>
                  </a:rPr>
                  <a:t> cm</a:t>
                </a:r>
              </a:p>
              <a:p>
                <a:endParaRPr lang="fr-FR" dirty="0">
                  <a:sym typeface="Wingdings" panose="05000000000000000000" pitchFamily="2" charset="2"/>
                </a:endParaRPr>
              </a:p>
              <a:p>
                <a:endParaRPr lang="fr-FR" dirty="0">
                  <a:sym typeface="Wingdings" panose="05000000000000000000" pitchFamily="2" charset="2"/>
                </a:endParaRPr>
              </a:p>
            </p:txBody>
          </p:sp>
        </mc:Choice>
        <mc:Fallback xmlns="">
          <p:sp>
            <p:nvSpPr>
              <p:cNvPr id="58" name="TextBox 57">
                <a:extLst>
                  <a:ext uri="{FF2B5EF4-FFF2-40B4-BE49-F238E27FC236}">
                    <a16:creationId xmlns:a16="http://schemas.microsoft.com/office/drawing/2014/main" id="{0CEAB3DF-E113-A48A-4976-5362A80A08F7}"/>
                  </a:ext>
                </a:extLst>
              </p:cNvPr>
              <p:cNvSpPr txBox="1">
                <a:spLocks noRot="1" noChangeAspect="1" noMove="1" noResize="1" noEditPoints="1" noAdjustHandles="1" noChangeArrowheads="1" noChangeShapeType="1" noTextEdit="1"/>
              </p:cNvSpPr>
              <p:nvPr/>
            </p:nvSpPr>
            <p:spPr>
              <a:xfrm>
                <a:off x="560860" y="1690688"/>
                <a:ext cx="10651970" cy="2986459"/>
              </a:xfrm>
              <a:prstGeom prst="rect">
                <a:avLst/>
              </a:prstGeom>
              <a:blipFill>
                <a:blip r:embed="rId11"/>
                <a:stretch>
                  <a:fillRect l="-343" t="-1224"/>
                </a:stretch>
              </a:blipFill>
            </p:spPr>
            <p:txBody>
              <a:bodyPr/>
              <a:lstStyle/>
              <a:p>
                <a:r>
                  <a:rPr lang="en-US">
                    <a:noFill/>
                  </a:rPr>
                  <a:t> </a:t>
                </a:r>
              </a:p>
            </p:txBody>
          </p:sp>
        </mc:Fallback>
      </mc:AlternateContent>
      <p:sp>
        <p:nvSpPr>
          <p:cNvPr id="59" name="TextBox 58">
            <a:extLst>
              <a:ext uri="{FF2B5EF4-FFF2-40B4-BE49-F238E27FC236}">
                <a16:creationId xmlns:a16="http://schemas.microsoft.com/office/drawing/2014/main" id="{D1B8D06E-603C-C267-3757-24818DA12201}"/>
              </a:ext>
            </a:extLst>
          </p:cNvPr>
          <p:cNvSpPr txBox="1">
            <a:spLocks noGrp="1" noRot="1" noMove="1" noResize="1" noEditPoints="1" noAdjustHandles="1" noChangeArrowheads="1" noChangeShapeType="1"/>
          </p:cNvSpPr>
          <p:nvPr/>
        </p:nvSpPr>
        <p:spPr>
          <a:xfrm>
            <a:off x="7498081" y="6396335"/>
            <a:ext cx="771258" cy="307777"/>
          </a:xfrm>
          <a:prstGeom prst="rect">
            <a:avLst/>
          </a:prstGeom>
          <a:noFill/>
        </p:spPr>
        <p:txBody>
          <a:bodyPr wrap="square" rtlCol="0">
            <a:spAutoFit/>
          </a:bodyPr>
          <a:lstStyle/>
          <a:p>
            <a:r>
              <a:rPr lang="fr-FR" sz="1400" dirty="0"/>
              <a:t>Te (cm)</a:t>
            </a:r>
            <a:endParaRPr lang="en-US" sz="1400" dirty="0"/>
          </a:p>
        </p:txBody>
      </p:sp>
      <p:sp>
        <p:nvSpPr>
          <p:cNvPr id="60" name="TextBox 59">
            <a:extLst>
              <a:ext uri="{FF2B5EF4-FFF2-40B4-BE49-F238E27FC236}">
                <a16:creationId xmlns:a16="http://schemas.microsoft.com/office/drawing/2014/main" id="{377C65A6-DFDD-665B-F68B-741DFE066405}"/>
              </a:ext>
            </a:extLst>
          </p:cNvPr>
          <p:cNvSpPr txBox="1">
            <a:spLocks noGrp="1" noRot="1" noMove="1" noResize="1" noEditPoints="1" noAdjustHandles="1" noChangeArrowheads="1" noChangeShapeType="1"/>
          </p:cNvSpPr>
          <p:nvPr/>
        </p:nvSpPr>
        <p:spPr>
          <a:xfrm>
            <a:off x="425608" y="6550223"/>
            <a:ext cx="280846" cy="307777"/>
          </a:xfrm>
          <a:prstGeom prst="rect">
            <a:avLst/>
          </a:prstGeom>
          <a:noFill/>
        </p:spPr>
        <p:txBody>
          <a:bodyPr wrap="none" rtlCol="0">
            <a:spAutoFit/>
          </a:bodyPr>
          <a:lstStyle/>
          <a:p>
            <a:r>
              <a:rPr lang="fr-FR" sz="1400" dirty="0"/>
              <a:t>1</a:t>
            </a:r>
            <a:endParaRPr lang="en-US" dirty="0"/>
          </a:p>
        </p:txBody>
      </p:sp>
      <p:sp>
        <p:nvSpPr>
          <p:cNvPr id="61" name="TextBox 60">
            <a:extLst>
              <a:ext uri="{FF2B5EF4-FFF2-40B4-BE49-F238E27FC236}">
                <a16:creationId xmlns:a16="http://schemas.microsoft.com/office/drawing/2014/main" id="{88D5B6F5-F7F2-D061-02CE-DBF9E04F5741}"/>
              </a:ext>
            </a:extLst>
          </p:cNvPr>
          <p:cNvSpPr txBox="1">
            <a:spLocks noGrp="1" noRot="1" noMove="1" noResize="1" noEditPoints="1" noAdjustHandles="1" noChangeArrowheads="1" noChangeShapeType="1"/>
          </p:cNvSpPr>
          <p:nvPr/>
        </p:nvSpPr>
        <p:spPr>
          <a:xfrm>
            <a:off x="6838695" y="6550223"/>
            <a:ext cx="428322" cy="307777"/>
          </a:xfrm>
          <a:prstGeom prst="rect">
            <a:avLst/>
          </a:prstGeom>
          <a:noFill/>
        </p:spPr>
        <p:txBody>
          <a:bodyPr wrap="none" rtlCol="0">
            <a:spAutoFit/>
          </a:bodyPr>
          <a:lstStyle/>
          <a:p>
            <a:r>
              <a:rPr lang="fr-FR" sz="1400" dirty="0"/>
              <a:t>0.2</a:t>
            </a:r>
            <a:endParaRPr lang="en-US" dirty="0"/>
          </a:p>
        </p:txBody>
      </p:sp>
      <p:sp>
        <p:nvSpPr>
          <p:cNvPr id="62" name="TextBox 61">
            <a:extLst>
              <a:ext uri="{FF2B5EF4-FFF2-40B4-BE49-F238E27FC236}">
                <a16:creationId xmlns:a16="http://schemas.microsoft.com/office/drawing/2014/main" id="{7C2BD58C-6402-B763-16DB-A732584E4F56}"/>
              </a:ext>
            </a:extLst>
          </p:cNvPr>
          <p:cNvSpPr txBox="1">
            <a:spLocks noGrp="1" noRot="1" noMove="1" noResize="1" noEditPoints="1" noAdjustHandles="1" noChangeArrowheads="1" noChangeShapeType="1"/>
          </p:cNvSpPr>
          <p:nvPr/>
        </p:nvSpPr>
        <p:spPr>
          <a:xfrm>
            <a:off x="3555159" y="6550223"/>
            <a:ext cx="428322" cy="307777"/>
          </a:xfrm>
          <a:prstGeom prst="rect">
            <a:avLst/>
          </a:prstGeom>
          <a:noFill/>
        </p:spPr>
        <p:txBody>
          <a:bodyPr wrap="none" rtlCol="0">
            <a:spAutoFit/>
          </a:bodyPr>
          <a:lstStyle/>
          <a:p>
            <a:r>
              <a:rPr lang="fr-FR" sz="1400" dirty="0"/>
              <a:t>0.6</a:t>
            </a:r>
            <a:endParaRPr lang="en-US" dirty="0"/>
          </a:p>
        </p:txBody>
      </p:sp>
      <p:pic>
        <p:nvPicPr>
          <p:cNvPr id="64" name="Picture 63">
            <a:extLst>
              <a:ext uri="{FF2B5EF4-FFF2-40B4-BE49-F238E27FC236}">
                <a16:creationId xmlns:a16="http://schemas.microsoft.com/office/drawing/2014/main" id="{63B385C4-FDC5-27BD-D21F-1496ACB0F44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722504" y="3146976"/>
            <a:ext cx="4330546" cy="3247910"/>
          </a:xfrm>
          <a:prstGeom prst="rect">
            <a:avLst/>
          </a:prstGeom>
        </p:spPr>
      </p:pic>
      <p:sp>
        <p:nvSpPr>
          <p:cNvPr id="3" name="Slide Number Placeholder 2">
            <a:extLst>
              <a:ext uri="{FF2B5EF4-FFF2-40B4-BE49-F238E27FC236}">
                <a16:creationId xmlns:a16="http://schemas.microsoft.com/office/drawing/2014/main" id="{9BED62C4-6596-0DD4-8FDA-6EEAFC78694F}"/>
              </a:ext>
            </a:extLst>
          </p:cNvPr>
          <p:cNvSpPr>
            <a:spLocks noGrp="1"/>
          </p:cNvSpPr>
          <p:nvPr>
            <p:ph type="sldNum" sz="quarter" idx="12"/>
          </p:nvPr>
        </p:nvSpPr>
        <p:spPr/>
        <p:txBody>
          <a:bodyPr/>
          <a:lstStyle/>
          <a:p>
            <a:fld id="{FD85B578-4E75-4E1C-9BE3-D5DCC0715B13}" type="slidenum">
              <a:rPr lang="fr-FR" smtClean="0"/>
              <a:t>23</a:t>
            </a:fld>
            <a:endParaRPr lang="fr-FR"/>
          </a:p>
        </p:txBody>
      </p:sp>
    </p:spTree>
    <p:extLst>
      <p:ext uri="{BB962C8B-B14F-4D97-AF65-F5344CB8AC3E}">
        <p14:creationId xmlns:p14="http://schemas.microsoft.com/office/powerpoint/2010/main" val="28565026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6C4D6-1909-49F5-970C-7E6D98AE3083}"/>
              </a:ext>
            </a:extLst>
          </p:cNvPr>
          <p:cNvSpPr>
            <a:spLocks noGrp="1"/>
          </p:cNvSpPr>
          <p:nvPr>
            <p:ph type="title"/>
          </p:nvPr>
        </p:nvSpPr>
        <p:spPr/>
        <p:txBody>
          <a:bodyPr/>
          <a:lstStyle/>
          <a:p>
            <a:r>
              <a:rPr lang="fr-FR" dirty="0"/>
              <a:t>Validation – erreur simulation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7EE27A2-0916-0AE0-EB0D-BBBA5579C1AE}"/>
                  </a:ext>
                </a:extLst>
              </p:cNvPr>
              <p:cNvSpPr>
                <a:spLocks noGrp="1"/>
              </p:cNvSpPr>
              <p:nvPr>
                <p:ph idx="1"/>
              </p:nvPr>
            </p:nvSpPr>
            <p:spPr>
              <a:xfrm>
                <a:off x="582562" y="1369829"/>
                <a:ext cx="7293077" cy="1800930"/>
              </a:xfrm>
            </p:spPr>
            <p:txBody>
              <a:bodyPr>
                <a:normAutofit fontScale="70000" lnSpcReduction="20000"/>
              </a:bodyPr>
              <a:lstStyle/>
              <a:p>
                <a:pPr marL="0" indent="0">
                  <a:buNone/>
                </a:pPr>
                <a:r>
                  <a:rPr lang="fr-FR" dirty="0"/>
                  <a:t>Le raffinement du maillage montre une augmentation homogène de la densité d’éléments sur l’ensemble de la géométrie. Les rapports d’augmentation du nombre d’éléments pour une division par deux de la taille caractéristique sont globalement compris entre 5 et 8, ce qui correspond à un comportement proche d’un raffinement volumique uniforme.</a:t>
                </a:r>
                <a:br>
                  <a:rPr lang="fr-FR" dirty="0"/>
                </a:br>
                <a14:m>
                  <m:oMath xmlns:m="http://schemas.openxmlformats.org/officeDocument/2006/math">
                    <m:r>
                      <a:rPr lang="en-US" b="1" i="1">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Maillage</a:t>
                </a:r>
                <a:r>
                  <a:rPr lang="en-US" b="1" dirty="0"/>
                  <a:t> </a:t>
                </a:r>
                <a:r>
                  <a:rPr lang="en-US" b="1" dirty="0" err="1"/>
                  <a:t>consistant</a:t>
                </a:r>
                <a:r>
                  <a:rPr lang="en-US" b="1" dirty="0"/>
                  <a:t> et quasi </a:t>
                </a:r>
                <a:r>
                  <a:rPr lang="en-US" b="1" dirty="0" err="1"/>
                  <a:t>uniforme</a:t>
                </a:r>
                <a:endParaRPr lang="en-US" b="1" dirty="0"/>
              </a:p>
            </p:txBody>
          </p:sp>
        </mc:Choice>
        <mc:Fallback>
          <p:sp>
            <p:nvSpPr>
              <p:cNvPr id="3" name="Content Placeholder 2">
                <a:extLst>
                  <a:ext uri="{FF2B5EF4-FFF2-40B4-BE49-F238E27FC236}">
                    <a16:creationId xmlns:a16="http://schemas.microsoft.com/office/drawing/2014/main" id="{D7EE27A2-0916-0AE0-EB0D-BBBA5579C1AE}"/>
                  </a:ext>
                </a:extLst>
              </p:cNvPr>
              <p:cNvSpPr>
                <a:spLocks noGrp="1" noRot="1" noChangeAspect="1" noMove="1" noResize="1" noEditPoints="1" noAdjustHandles="1" noChangeArrowheads="1" noChangeShapeType="1" noTextEdit="1"/>
              </p:cNvSpPr>
              <p:nvPr>
                <p:ph idx="1"/>
              </p:nvPr>
            </p:nvSpPr>
            <p:spPr>
              <a:xfrm>
                <a:off x="582562" y="1369829"/>
                <a:ext cx="7293077" cy="1800930"/>
              </a:xfrm>
              <a:blipFill>
                <a:blip r:embed="rId2"/>
                <a:stretch>
                  <a:fillRect l="-920" t="-6102" r="-16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2D4E8470-8AD0-7EE0-BD5C-E0C4C00ECBD3}"/>
              </a:ext>
            </a:extLst>
          </p:cNvPr>
          <p:cNvSpPr>
            <a:spLocks noGrp="1"/>
          </p:cNvSpPr>
          <p:nvPr>
            <p:ph type="sldNum" sz="quarter" idx="12"/>
          </p:nvPr>
        </p:nvSpPr>
        <p:spPr/>
        <p:txBody>
          <a:bodyPr/>
          <a:lstStyle/>
          <a:p>
            <a:fld id="{FD85B578-4E75-4E1C-9BE3-D5DCC0715B13}" type="slidenum">
              <a:rPr lang="fr-FR" smtClean="0"/>
              <a:t>24</a:t>
            </a:fld>
            <a:endParaRPr lang="fr-FR"/>
          </a:p>
        </p:txBody>
      </p:sp>
      <p:pic>
        <p:nvPicPr>
          <p:cNvPr id="6" name="Picture 5">
            <a:extLst>
              <a:ext uri="{FF2B5EF4-FFF2-40B4-BE49-F238E27FC236}">
                <a16:creationId xmlns:a16="http://schemas.microsoft.com/office/drawing/2014/main" id="{2D1C6D2E-536D-77D3-9120-0A49CFE099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2574" y="3243231"/>
            <a:ext cx="2219390" cy="2562194"/>
          </a:xfrm>
          <a:prstGeom prst="rect">
            <a:avLst/>
          </a:prstGeom>
        </p:spPr>
      </p:pic>
      <p:pic>
        <p:nvPicPr>
          <p:cNvPr id="8" name="Picture 7">
            <a:extLst>
              <a:ext uri="{FF2B5EF4-FFF2-40B4-BE49-F238E27FC236}">
                <a16:creationId xmlns:a16="http://schemas.microsoft.com/office/drawing/2014/main" id="{EE172B2D-C561-7E1A-8FE6-A0DE637C004A}"/>
              </a:ext>
            </a:extLst>
          </p:cNvPr>
          <p:cNvPicPr>
            <a:picLocks noChangeAspect="1"/>
          </p:cNvPicPr>
          <p:nvPr/>
        </p:nvPicPr>
        <p:blipFill>
          <a:blip r:embed="rId4">
            <a:extLst>
              <a:ext uri="{28A0092B-C50C-407E-A947-70E740481C1C}">
                <a14:useLocalDpi xmlns:a14="http://schemas.microsoft.com/office/drawing/2010/main" val="0"/>
              </a:ext>
            </a:extLst>
          </a:blip>
          <a:srcRect t="3350"/>
          <a:stretch>
            <a:fillRect/>
          </a:stretch>
        </p:blipFill>
        <p:spPr>
          <a:xfrm>
            <a:off x="3209856" y="3243231"/>
            <a:ext cx="1783013" cy="2562194"/>
          </a:xfrm>
          <a:prstGeom prst="rect">
            <a:avLst/>
          </a:prstGeom>
        </p:spPr>
      </p:pic>
      <p:sp>
        <p:nvSpPr>
          <p:cNvPr id="9" name="TextBox 8">
            <a:extLst>
              <a:ext uri="{FF2B5EF4-FFF2-40B4-BE49-F238E27FC236}">
                <a16:creationId xmlns:a16="http://schemas.microsoft.com/office/drawing/2014/main" id="{9BB52D0C-C892-17A8-2AEE-A73E129A545C}"/>
              </a:ext>
            </a:extLst>
          </p:cNvPr>
          <p:cNvSpPr txBox="1"/>
          <p:nvPr/>
        </p:nvSpPr>
        <p:spPr>
          <a:xfrm>
            <a:off x="975851" y="5987018"/>
            <a:ext cx="1246623" cy="369332"/>
          </a:xfrm>
          <a:prstGeom prst="rect">
            <a:avLst/>
          </a:prstGeom>
          <a:noFill/>
        </p:spPr>
        <p:txBody>
          <a:bodyPr wrap="none" rtlCol="0">
            <a:spAutoFit/>
          </a:bodyPr>
          <a:lstStyle/>
          <a:p>
            <a:r>
              <a:rPr lang="fr-FR" dirty="0"/>
              <a:t>Te = 0.3cm</a:t>
            </a:r>
            <a:endParaRPr lang="en-US" dirty="0"/>
          </a:p>
        </p:txBody>
      </p:sp>
      <p:sp>
        <p:nvSpPr>
          <p:cNvPr id="10" name="TextBox 9">
            <a:extLst>
              <a:ext uri="{FF2B5EF4-FFF2-40B4-BE49-F238E27FC236}">
                <a16:creationId xmlns:a16="http://schemas.microsoft.com/office/drawing/2014/main" id="{36D32230-98AB-611A-1C52-8EA1C50C7EDF}"/>
              </a:ext>
            </a:extLst>
          </p:cNvPr>
          <p:cNvSpPr txBox="1"/>
          <p:nvPr/>
        </p:nvSpPr>
        <p:spPr>
          <a:xfrm>
            <a:off x="3350342" y="5987018"/>
            <a:ext cx="1370055" cy="369332"/>
          </a:xfrm>
          <a:prstGeom prst="rect">
            <a:avLst/>
          </a:prstGeom>
          <a:noFill/>
        </p:spPr>
        <p:txBody>
          <a:bodyPr wrap="none" rtlCol="0">
            <a:spAutoFit/>
          </a:bodyPr>
          <a:lstStyle/>
          <a:p>
            <a:r>
              <a:rPr lang="fr-FR" dirty="0"/>
              <a:t>Te = 0.15cm</a:t>
            </a:r>
            <a:endParaRPr lang="en-US" dirty="0"/>
          </a:p>
        </p:txBody>
      </p:sp>
      <p:pic>
        <p:nvPicPr>
          <p:cNvPr id="12" name="Picture 11">
            <a:extLst>
              <a:ext uri="{FF2B5EF4-FFF2-40B4-BE49-F238E27FC236}">
                <a16:creationId xmlns:a16="http://schemas.microsoft.com/office/drawing/2014/main" id="{BF70D14A-67BD-B58A-F0BC-1D871ED82D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4380" y="721173"/>
            <a:ext cx="3535639" cy="2651730"/>
          </a:xfrm>
          <a:prstGeom prst="rect">
            <a:avLst/>
          </a:prstGeom>
        </p:spPr>
      </p:pic>
      <p:graphicFrame>
        <p:nvGraphicFramePr>
          <p:cNvPr id="13" name="Table 12">
            <a:extLst>
              <a:ext uri="{FF2B5EF4-FFF2-40B4-BE49-F238E27FC236}">
                <a16:creationId xmlns:a16="http://schemas.microsoft.com/office/drawing/2014/main" id="{608CEE03-5C8A-A582-FB4B-42B5125F339B}"/>
              </a:ext>
            </a:extLst>
          </p:cNvPr>
          <p:cNvGraphicFramePr>
            <a:graphicFrameLocks noGrp="1"/>
          </p:cNvGraphicFramePr>
          <p:nvPr>
            <p:extLst>
              <p:ext uri="{D42A27DB-BD31-4B8C-83A1-F6EECF244321}">
                <p14:modId xmlns:p14="http://schemas.microsoft.com/office/powerpoint/2010/main" val="3578490273"/>
              </p:ext>
            </p:extLst>
          </p:nvPr>
        </p:nvGraphicFramePr>
        <p:xfrm>
          <a:off x="5349980" y="3687241"/>
          <a:ext cx="6089446" cy="2194560"/>
        </p:xfrm>
        <a:graphic>
          <a:graphicData uri="http://schemas.openxmlformats.org/drawingml/2006/table">
            <a:tbl>
              <a:tblPr firstRow="1" bandRow="1">
                <a:tableStyleId>{5C22544A-7EE6-4342-B048-85BDC9FD1C3A}</a:tableStyleId>
              </a:tblPr>
              <a:tblGrid>
                <a:gridCol w="3044723">
                  <a:extLst>
                    <a:ext uri="{9D8B030D-6E8A-4147-A177-3AD203B41FA5}">
                      <a16:colId xmlns:a16="http://schemas.microsoft.com/office/drawing/2014/main" val="2483763395"/>
                    </a:ext>
                  </a:extLst>
                </a:gridCol>
                <a:gridCol w="3044723">
                  <a:extLst>
                    <a:ext uri="{9D8B030D-6E8A-4147-A177-3AD203B41FA5}">
                      <a16:colId xmlns:a16="http://schemas.microsoft.com/office/drawing/2014/main" val="2518608282"/>
                    </a:ext>
                  </a:extLst>
                </a:gridCol>
              </a:tblGrid>
              <a:tr h="0">
                <a:tc>
                  <a:txBody>
                    <a:bodyPr/>
                    <a:lstStyle/>
                    <a:p>
                      <a:pPr algn="ctr"/>
                      <a:r>
                        <a:rPr lang="fr-FR" dirty="0" err="1"/>
                        <a:t>Te</a:t>
                      </a:r>
                      <a:r>
                        <a:rPr lang="fr-FR" baseline="-25000" dirty="0" err="1"/>
                        <a:t>i</a:t>
                      </a:r>
                      <a:r>
                        <a:rPr lang="fr-FR" dirty="0"/>
                        <a:t>/</a:t>
                      </a:r>
                      <a:r>
                        <a:rPr lang="fr-FR" dirty="0" err="1"/>
                        <a:t>Te</a:t>
                      </a:r>
                      <a:r>
                        <a:rPr lang="fr-FR" baseline="-25000" dirty="0" err="1"/>
                        <a:t>j</a:t>
                      </a:r>
                      <a:endParaRPr lang="en-US" baseline="-25000" dirty="0"/>
                    </a:p>
                  </a:txBody>
                  <a:tcPr/>
                </a:tc>
                <a:tc>
                  <a:txBody>
                    <a:bodyPr/>
                    <a:lstStyle/>
                    <a:p>
                      <a:pPr algn="ctr"/>
                      <a:r>
                        <a:rPr lang="fr-FR" dirty="0"/>
                        <a:t>Rapport d’augmentation</a:t>
                      </a:r>
                      <a:endParaRPr lang="en-US" dirty="0"/>
                    </a:p>
                  </a:txBody>
                  <a:tcPr/>
                </a:tc>
                <a:extLst>
                  <a:ext uri="{0D108BD9-81ED-4DB2-BD59-A6C34878D82A}">
                    <a16:rowId xmlns:a16="http://schemas.microsoft.com/office/drawing/2014/main" val="3537809364"/>
                  </a:ext>
                </a:extLst>
              </a:tr>
              <a:tr h="117182">
                <a:tc>
                  <a:txBody>
                    <a:bodyPr/>
                    <a:lstStyle/>
                    <a:p>
                      <a:r>
                        <a:rPr lang="fr-FR" dirty="0"/>
                        <a:t>0.25/0.5</a:t>
                      </a:r>
                      <a:endParaRPr lang="en-US" dirty="0"/>
                    </a:p>
                  </a:txBody>
                  <a:tcPr/>
                </a:tc>
                <a:tc>
                  <a:txBody>
                    <a:bodyPr/>
                    <a:lstStyle/>
                    <a:p>
                      <a:r>
                        <a:rPr lang="fr-FR" dirty="0"/>
                        <a:t>11.03</a:t>
                      </a:r>
                      <a:endParaRPr lang="en-US" dirty="0"/>
                    </a:p>
                  </a:txBody>
                  <a:tcPr/>
                </a:tc>
                <a:extLst>
                  <a:ext uri="{0D108BD9-81ED-4DB2-BD59-A6C34878D82A}">
                    <a16:rowId xmlns:a16="http://schemas.microsoft.com/office/drawing/2014/main" val="1916787582"/>
                  </a:ext>
                </a:extLst>
              </a:tr>
              <a:tr h="117182">
                <a:tc>
                  <a:txBody>
                    <a:bodyPr/>
                    <a:lstStyle/>
                    <a:p>
                      <a:r>
                        <a:rPr lang="fr-FR" dirty="0"/>
                        <a:t>0.2/0.4</a:t>
                      </a:r>
                      <a:endParaRPr lang="en-US" dirty="0"/>
                    </a:p>
                  </a:txBody>
                  <a:tcPr/>
                </a:tc>
                <a:tc>
                  <a:txBody>
                    <a:bodyPr/>
                    <a:lstStyle/>
                    <a:p>
                      <a:r>
                        <a:rPr lang="fr-FR" dirty="0"/>
                        <a:t>7.21</a:t>
                      </a:r>
                      <a:endParaRPr lang="en-US" dirty="0"/>
                    </a:p>
                  </a:txBody>
                  <a:tcPr/>
                </a:tc>
                <a:extLst>
                  <a:ext uri="{0D108BD9-81ED-4DB2-BD59-A6C34878D82A}">
                    <a16:rowId xmlns:a16="http://schemas.microsoft.com/office/drawing/2014/main" val="1267363603"/>
                  </a:ext>
                </a:extLst>
              </a:tr>
              <a:tr h="117182">
                <a:tc>
                  <a:txBody>
                    <a:bodyPr/>
                    <a:lstStyle/>
                    <a:p>
                      <a:r>
                        <a:rPr lang="fr-FR" dirty="0"/>
                        <a:t>0.15/0.3</a:t>
                      </a:r>
                      <a:endParaRPr lang="en-US" dirty="0"/>
                    </a:p>
                  </a:txBody>
                  <a:tcPr/>
                </a:tc>
                <a:tc>
                  <a:txBody>
                    <a:bodyPr/>
                    <a:lstStyle/>
                    <a:p>
                      <a:r>
                        <a:rPr lang="fr-FR" dirty="0"/>
                        <a:t>7.06</a:t>
                      </a:r>
                      <a:endParaRPr lang="en-US" dirty="0"/>
                    </a:p>
                  </a:txBody>
                  <a:tcPr/>
                </a:tc>
                <a:extLst>
                  <a:ext uri="{0D108BD9-81ED-4DB2-BD59-A6C34878D82A}">
                    <a16:rowId xmlns:a16="http://schemas.microsoft.com/office/drawing/2014/main" val="294344026"/>
                  </a:ext>
                </a:extLst>
              </a:tr>
              <a:tr h="117182">
                <a:tc>
                  <a:txBody>
                    <a:bodyPr/>
                    <a:lstStyle/>
                    <a:p>
                      <a:r>
                        <a:rPr lang="fr-FR" dirty="0"/>
                        <a:t>0.1/0.2</a:t>
                      </a:r>
                      <a:endParaRPr lang="en-US" dirty="0"/>
                    </a:p>
                  </a:txBody>
                  <a:tcPr/>
                </a:tc>
                <a:tc>
                  <a:txBody>
                    <a:bodyPr/>
                    <a:lstStyle/>
                    <a:p>
                      <a:r>
                        <a:rPr lang="fr-FR" dirty="0"/>
                        <a:t>4.85</a:t>
                      </a:r>
                      <a:endParaRPr lang="en-US" dirty="0"/>
                    </a:p>
                  </a:txBody>
                  <a:tcPr/>
                </a:tc>
                <a:extLst>
                  <a:ext uri="{0D108BD9-81ED-4DB2-BD59-A6C34878D82A}">
                    <a16:rowId xmlns:a16="http://schemas.microsoft.com/office/drawing/2014/main" val="894934195"/>
                  </a:ext>
                </a:extLst>
              </a:tr>
              <a:tr h="117182">
                <a:tc>
                  <a:txBody>
                    <a:bodyPr/>
                    <a:lstStyle/>
                    <a:p>
                      <a:r>
                        <a:rPr lang="fr-FR" dirty="0"/>
                        <a:t>0.05/0.1</a:t>
                      </a:r>
                      <a:endParaRPr lang="en-US" dirty="0"/>
                    </a:p>
                  </a:txBody>
                  <a:tcPr/>
                </a:tc>
                <a:tc>
                  <a:txBody>
                    <a:bodyPr/>
                    <a:lstStyle/>
                    <a:p>
                      <a:r>
                        <a:rPr lang="en-US" dirty="0"/>
                        <a:t>5.16</a:t>
                      </a:r>
                    </a:p>
                  </a:txBody>
                  <a:tcPr/>
                </a:tc>
                <a:extLst>
                  <a:ext uri="{0D108BD9-81ED-4DB2-BD59-A6C34878D82A}">
                    <a16:rowId xmlns:a16="http://schemas.microsoft.com/office/drawing/2014/main" val="986313491"/>
                  </a:ext>
                </a:extLst>
              </a:tr>
            </a:tbl>
          </a:graphicData>
        </a:graphic>
      </p:graphicFrame>
      <p:sp>
        <p:nvSpPr>
          <p:cNvPr id="15" name="TextBox 14">
            <a:extLst>
              <a:ext uri="{FF2B5EF4-FFF2-40B4-BE49-F238E27FC236}">
                <a16:creationId xmlns:a16="http://schemas.microsoft.com/office/drawing/2014/main" id="{F0B31595-A8A5-D630-1B12-E6F6AB9687E3}"/>
              </a:ext>
            </a:extLst>
          </p:cNvPr>
          <p:cNvSpPr txBox="1"/>
          <p:nvPr/>
        </p:nvSpPr>
        <p:spPr>
          <a:xfrm>
            <a:off x="5951181" y="5987018"/>
            <a:ext cx="4887043" cy="369332"/>
          </a:xfrm>
          <a:prstGeom prst="rect">
            <a:avLst/>
          </a:prstGeom>
          <a:noFill/>
        </p:spPr>
        <p:txBody>
          <a:bodyPr wrap="none" rtlCol="0">
            <a:spAutoFit/>
          </a:bodyPr>
          <a:lstStyle/>
          <a:p>
            <a:r>
              <a:rPr lang="fr-FR" dirty="0"/>
              <a:t>Rapport d’augmentation du nombre d’éléments</a:t>
            </a:r>
            <a:endParaRPr lang="en-US" dirty="0"/>
          </a:p>
        </p:txBody>
      </p:sp>
    </p:spTree>
    <p:extLst>
      <p:ext uri="{BB962C8B-B14F-4D97-AF65-F5344CB8AC3E}">
        <p14:creationId xmlns:p14="http://schemas.microsoft.com/office/powerpoint/2010/main" val="12279311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98810-4DBB-A150-02D8-A72B03EB7ECC}"/>
              </a:ext>
            </a:extLst>
          </p:cNvPr>
          <p:cNvSpPr>
            <a:spLocks noGrp="1"/>
          </p:cNvSpPr>
          <p:nvPr>
            <p:ph type="title"/>
          </p:nvPr>
        </p:nvSpPr>
        <p:spPr/>
        <p:txBody>
          <a:bodyPr/>
          <a:lstStyle/>
          <a:p>
            <a:r>
              <a:rPr lang="fr-FR" dirty="0"/>
              <a:t>Validation – erreur simulation :</a:t>
            </a:r>
            <a:endParaRPr lang="en-US" dirty="0"/>
          </a:p>
        </p:txBody>
      </p:sp>
      <p:pic>
        <p:nvPicPr>
          <p:cNvPr id="5" name="Content Placeholder 4">
            <a:extLst>
              <a:ext uri="{FF2B5EF4-FFF2-40B4-BE49-F238E27FC236}">
                <a16:creationId xmlns:a16="http://schemas.microsoft.com/office/drawing/2014/main" id="{EBB7CBB9-6184-B33E-4584-B7B75F69100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036454" y="365125"/>
            <a:ext cx="4060801" cy="304560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B13BC59-1CF5-FBB2-63DD-9DDC99704668}"/>
                  </a:ext>
                </a:extLst>
              </p:cNvPr>
              <p:cNvSpPr txBox="1"/>
              <p:nvPr/>
            </p:nvSpPr>
            <p:spPr>
              <a:xfrm>
                <a:off x="463497" y="1690688"/>
                <a:ext cx="4512524" cy="3652859"/>
              </a:xfrm>
              <a:prstGeom prst="rect">
                <a:avLst/>
              </a:prstGeom>
              <a:noFill/>
            </p:spPr>
            <p:txBody>
              <a:bodyPr wrap="square" rtlCol="0">
                <a:spAutoFit/>
              </a:bodyPr>
              <a:lstStyle/>
              <a:p>
                <a:r>
                  <a:rPr lang="fr-FR" sz="2400" dirty="0"/>
                  <a:t>Comparaison des champs de température pour </a:t>
                </a:r>
                <a:r>
                  <a:rPr lang="fr-FR" sz="2400" dirty="0" err="1"/>
                  <a:t>t</a:t>
                </a:r>
                <a:r>
                  <a:rPr lang="fr-FR" sz="2400" baseline="-25000" dirty="0" err="1"/>
                  <a:t>fin</a:t>
                </a:r>
                <a:r>
                  <a:rPr lang="fr-FR" sz="2400" baseline="-25000" dirty="0"/>
                  <a:t> </a:t>
                </a:r>
                <a:r>
                  <a:rPr lang="fr-FR" sz="2400" dirty="0"/>
                  <a:t>= 600s</a:t>
                </a:r>
              </a:p>
              <a:p>
                <a:endParaRPr lang="fr-FR" sz="2400" dirty="0"/>
              </a:p>
              <a:p>
                <a:endParaRPr lang="fr-FR" sz="2400" dirty="0"/>
              </a:p>
              <a:p>
                <a:pPr/>
                <a14:m>
                  <m:oMathPara xmlns:m="http://schemas.openxmlformats.org/officeDocument/2006/math">
                    <m:oMathParaPr>
                      <m:jc m:val="centerGroup"/>
                    </m:oMathParaPr>
                    <m:oMath xmlns:m="http://schemas.openxmlformats.org/officeDocument/2006/math">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𝐸</m:t>
                          </m:r>
                        </m:e>
                        <m:sub>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𝐿</m:t>
                              </m:r>
                            </m:e>
                            <m:sub>
                              <m:r>
                                <a:rPr lang="fr-FR" sz="2400" b="0" i="1" smtClean="0">
                                  <a:latin typeface="Cambria Math" panose="02040503050406030204" pitchFamily="18" charset="0"/>
                                </a:rPr>
                                <m:t>2</m:t>
                              </m:r>
                            </m:sub>
                          </m:sSub>
                        </m:sub>
                      </m:sSub>
                      <m:r>
                        <a:rPr lang="fr-FR" sz="2400" b="0" i="1" smtClean="0">
                          <a:latin typeface="Cambria Math" panose="02040503050406030204" pitchFamily="18" charset="0"/>
                        </a:rPr>
                        <m:t>=</m:t>
                      </m:r>
                      <m:rad>
                        <m:radPr>
                          <m:degHide m:val="on"/>
                          <m:ctrlPr>
                            <a:rPr lang="fr-FR" sz="2400" b="0" i="1" smtClean="0">
                              <a:latin typeface="Cambria Math" panose="02040503050406030204" pitchFamily="18" charset="0"/>
                            </a:rPr>
                          </m:ctrlPr>
                        </m:radPr>
                        <m:deg/>
                        <m:e>
                          <m:f>
                            <m:fPr>
                              <m:ctrlPr>
                                <a:rPr lang="fr-FR" sz="2400" i="1">
                                  <a:latin typeface="Cambria Math" panose="02040503050406030204" pitchFamily="18" charset="0"/>
                                </a:rPr>
                              </m:ctrlPr>
                            </m:fPr>
                            <m:num>
                              <m:r>
                                <a:rPr lang="fr-FR" sz="2400" i="1">
                                  <a:latin typeface="Cambria Math" panose="02040503050406030204" pitchFamily="18" charset="0"/>
                                </a:rPr>
                                <m:t>1</m:t>
                              </m:r>
                            </m:num>
                            <m:den>
                              <m:r>
                                <m:rPr>
                                  <m:sty m:val="p"/>
                                </m:rPr>
                                <a:rPr lang="fr-FR" sz="2400" i="1">
                                  <a:latin typeface="Cambria Math" panose="02040503050406030204" pitchFamily="18" charset="0"/>
                                </a:rPr>
                                <m:t>N</m:t>
                              </m:r>
                            </m:den>
                          </m:f>
                          <m:nary>
                            <m:naryPr>
                              <m:chr m:val="∑"/>
                              <m:ctrlPr>
                                <a:rPr lang="fr-FR" sz="2400" i="1">
                                  <a:latin typeface="Cambria Math" panose="02040503050406030204" pitchFamily="18" charset="0"/>
                                </a:rPr>
                              </m:ctrlPr>
                            </m:naryPr>
                            <m:sub>
                              <m:r>
                                <a:rPr lang="fr-FR" sz="2400" i="1">
                                  <a:latin typeface="Cambria Math" panose="02040503050406030204" pitchFamily="18" charset="0"/>
                                </a:rPr>
                                <m:t>𝑖</m:t>
                              </m:r>
                              <m:r>
                                <a:rPr lang="fr-FR" sz="2400" i="1">
                                  <a:latin typeface="Cambria Math" panose="02040503050406030204" pitchFamily="18" charset="0"/>
                                </a:rPr>
                                <m:t>=1</m:t>
                              </m:r>
                            </m:sub>
                            <m:sup>
                              <m:r>
                                <a:rPr lang="fr-FR" sz="2400" i="1">
                                  <a:latin typeface="Cambria Math" panose="02040503050406030204" pitchFamily="18" charset="0"/>
                                </a:rPr>
                                <m:t>𝑁</m:t>
                              </m:r>
                            </m:sup>
                            <m:e>
                              <m:sSup>
                                <m:sSupPr>
                                  <m:ctrlPr>
                                    <a:rPr lang="fr-FR" sz="2400" i="1">
                                      <a:latin typeface="Cambria Math" panose="02040503050406030204" pitchFamily="18" charset="0"/>
                                    </a:rPr>
                                  </m:ctrlPr>
                                </m:sSupPr>
                                <m:e>
                                  <m:d>
                                    <m:dPr>
                                      <m:ctrlPr>
                                        <a:rPr lang="fr-FR" sz="2400" i="1">
                                          <a:latin typeface="Cambria Math" panose="02040503050406030204" pitchFamily="18" charset="0"/>
                                        </a:rPr>
                                      </m:ctrlPr>
                                    </m:dPr>
                                    <m:e>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𝑦</m:t>
                                          </m:r>
                                        </m:e>
                                        <m:sub>
                                          <m:r>
                                            <a:rPr lang="fr-FR" sz="2400" b="0" i="1" smtClean="0">
                                              <a:latin typeface="Cambria Math" panose="02040503050406030204" pitchFamily="18" charset="0"/>
                                            </a:rPr>
                                            <m:t>𝑚</m:t>
                                          </m:r>
                                          <m:r>
                                            <a:rPr lang="fr-FR" sz="2400" b="0" i="1" smtClean="0">
                                              <a:latin typeface="Cambria Math" panose="02040503050406030204" pitchFamily="18" charset="0"/>
                                            </a:rPr>
                                            <m:t>,</m:t>
                                          </m:r>
                                          <m:r>
                                            <a:rPr lang="fr-FR" sz="2400" b="0" i="1" smtClean="0">
                                              <a:latin typeface="Cambria Math" panose="02040503050406030204" pitchFamily="18" charset="0"/>
                                            </a:rPr>
                                            <m:t>𝑖</m:t>
                                          </m:r>
                                        </m:sub>
                                      </m:sSub>
                                      <m:r>
                                        <a:rPr lang="fr-FR" sz="2400" i="1">
                                          <a:latin typeface="Cambria Math" panose="02040503050406030204" pitchFamily="18" charset="0"/>
                                        </a:rPr>
                                        <m:t>−</m:t>
                                      </m:r>
                                      <m:sSub>
                                        <m:sSubPr>
                                          <m:ctrlPr>
                                            <a:rPr lang="fr-FR" sz="2400" i="1">
                                              <a:latin typeface="Cambria Math" panose="02040503050406030204" pitchFamily="18" charset="0"/>
                                            </a:rPr>
                                          </m:ctrlPr>
                                        </m:sSubPr>
                                        <m:e>
                                          <m:r>
                                            <a:rPr lang="fr-FR" sz="2400" i="1">
                                              <a:latin typeface="Cambria Math" panose="02040503050406030204" pitchFamily="18" charset="0"/>
                                            </a:rPr>
                                            <m:t>𝑦</m:t>
                                          </m:r>
                                        </m:e>
                                        <m:sub>
                                          <m:r>
                                            <a:rPr lang="fr-FR" sz="2400" i="1">
                                              <a:latin typeface="Cambria Math" panose="02040503050406030204" pitchFamily="18" charset="0"/>
                                            </a:rPr>
                                            <m:t>𝑒</m:t>
                                          </m:r>
                                          <m:r>
                                            <a:rPr lang="fr-FR" sz="2400" i="1">
                                              <a:latin typeface="Cambria Math" panose="02040503050406030204" pitchFamily="18" charset="0"/>
                                            </a:rPr>
                                            <m:t>,</m:t>
                                          </m:r>
                                          <m:r>
                                            <a:rPr lang="fr-FR" sz="2400" i="1">
                                              <a:latin typeface="Cambria Math" panose="02040503050406030204" pitchFamily="18" charset="0"/>
                                            </a:rPr>
                                            <m:t>𝑖</m:t>
                                          </m:r>
                                        </m:sub>
                                      </m:sSub>
                                    </m:e>
                                  </m:d>
                                </m:e>
                                <m:sup>
                                  <m:r>
                                    <a:rPr lang="fr-FR" sz="2400" i="1">
                                      <a:latin typeface="Cambria Math" panose="02040503050406030204" pitchFamily="18" charset="0"/>
                                    </a:rPr>
                                    <m:t>2</m:t>
                                  </m:r>
                                </m:sup>
                              </m:sSup>
                            </m:e>
                          </m:nary>
                        </m:e>
                      </m:rad>
                      <m:r>
                        <a:rPr lang="fr-FR" sz="2400" b="0" i="1" smtClean="0">
                          <a:latin typeface="Cambria Math" panose="02040503050406030204" pitchFamily="18" charset="0"/>
                        </a:rPr>
                        <m:t>= 11.8 </m:t>
                      </m:r>
                      <m:r>
                        <a:rPr lang="fr-FR" sz="2400" b="0" i="1" smtClean="0">
                          <a:latin typeface="Cambria Math" panose="02040503050406030204" pitchFamily="18" charset="0"/>
                        </a:rPr>
                        <m:t>𝐾</m:t>
                      </m:r>
                      <m:r>
                        <a:rPr lang="fr-FR" sz="2400" b="0" i="1" smtClean="0">
                          <a:latin typeface="Cambria Math" panose="02040503050406030204" pitchFamily="18" charset="0"/>
                        </a:rPr>
                        <m:t>∗</m:t>
                      </m:r>
                    </m:oMath>
                  </m:oMathPara>
                </a14:m>
                <a:endParaRPr lang="fr-FR" sz="2400" dirty="0"/>
              </a:p>
              <a:p>
                <a:endParaRPr lang="fr-FR" dirty="0"/>
              </a:p>
            </p:txBody>
          </p:sp>
        </mc:Choice>
        <mc:Fallback xmlns="">
          <p:sp>
            <p:nvSpPr>
              <p:cNvPr id="10" name="TextBox 9">
                <a:extLst>
                  <a:ext uri="{FF2B5EF4-FFF2-40B4-BE49-F238E27FC236}">
                    <a16:creationId xmlns:a16="http://schemas.microsoft.com/office/drawing/2014/main" id="{FB13BC59-1CF5-FBB2-63DD-9DDC99704668}"/>
                  </a:ext>
                </a:extLst>
              </p:cNvPr>
              <p:cNvSpPr txBox="1">
                <a:spLocks noRot="1" noChangeAspect="1" noMove="1" noResize="1" noEditPoints="1" noAdjustHandles="1" noChangeArrowheads="1" noChangeShapeType="1" noTextEdit="1"/>
              </p:cNvSpPr>
              <p:nvPr/>
            </p:nvSpPr>
            <p:spPr>
              <a:xfrm>
                <a:off x="463497" y="1690688"/>
                <a:ext cx="4512524" cy="3652859"/>
              </a:xfrm>
              <a:prstGeom prst="rect">
                <a:avLst/>
              </a:prstGeom>
              <a:blipFill>
                <a:blip r:embed="rId3"/>
                <a:stretch>
                  <a:fillRect l="-2027" t="-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7367D0-BA41-060B-521D-6283AD7D3C1F}"/>
                  </a:ext>
                </a:extLst>
              </p:cNvPr>
              <p:cNvSpPr txBox="1"/>
              <p:nvPr/>
            </p:nvSpPr>
            <p:spPr>
              <a:xfrm>
                <a:off x="5350724" y="1396545"/>
                <a:ext cx="2496875" cy="2308324"/>
              </a:xfrm>
              <a:prstGeom prst="rect">
                <a:avLst/>
              </a:prstGeom>
              <a:noFill/>
            </p:spPr>
            <p:txBody>
              <a:bodyPr wrap="square" rtlCol="0">
                <a:spAutoFit/>
              </a:bodyPr>
              <a:lstStyle/>
              <a:p>
                <a:r>
                  <a:rPr lang="fr-FR" b="0" dirty="0">
                    <a:latin typeface="Cambria Math" panose="02040503050406030204" pitchFamily="18" charset="0"/>
                  </a:rPr>
                  <a:t>Paramètres utilisés : </a:t>
                </a:r>
              </a:p>
              <a:p>
                <a:endParaRPr lang="fr-FR" i="1" dirty="0">
                  <a:latin typeface="Cambria Math" panose="02040503050406030204" pitchFamily="18" charset="0"/>
                </a:endParaRPr>
              </a:p>
              <a:p>
                <a14:m>
                  <m:oMath xmlns:m="http://schemas.openxmlformats.org/officeDocument/2006/math">
                    <m:r>
                      <a:rPr lang="fr-FR" b="0" i="1" smtClean="0">
                        <a:latin typeface="Cambria Math" panose="02040503050406030204" pitchFamily="18" charset="0"/>
                      </a:rPr>
                      <m:t>𝜌</m:t>
                    </m:r>
                    <m:r>
                      <a:rPr lang="fr-FR" b="0" i="1" smtClean="0">
                        <a:latin typeface="Cambria Math" panose="02040503050406030204" pitchFamily="18" charset="0"/>
                      </a:rPr>
                      <m:t>=7850 </m:t>
                    </m:r>
                    <m:r>
                      <a:rPr lang="fr-FR" b="0" i="1" smtClean="0">
                        <a:latin typeface="Cambria Math" panose="02040503050406030204" pitchFamily="18" charset="0"/>
                      </a:rPr>
                      <m:t>𝑘𝑔</m:t>
                    </m:r>
                    <m:r>
                      <m:rPr>
                        <m:lit/>
                      </m:rP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3</m:t>
                        </m:r>
                      </m:sup>
                    </m:sSup>
                  </m:oMath>
                </a14:m>
                <a:r>
                  <a:rPr lang="fr-FR" b="0" dirty="0"/>
                  <a:t> </a:t>
                </a:r>
              </a:p>
              <a:p>
                <a14:m>
                  <m:oMath xmlns:m="http://schemas.openxmlformats.org/officeDocument/2006/math">
                    <m:r>
                      <a:rPr lang="fr-FR" b="0" i="1" smtClean="0">
                        <a:latin typeface="Cambria Math" panose="02040503050406030204" pitchFamily="18" charset="0"/>
                      </a:rPr>
                      <m:t>𝜀</m:t>
                    </m:r>
                    <m:r>
                      <a:rPr lang="fr-FR" b="0" i="1" smtClean="0">
                        <a:latin typeface="Cambria Math" panose="02040503050406030204" pitchFamily="18" charset="0"/>
                      </a:rPr>
                      <m:t>=0.525 </m:t>
                    </m:r>
                  </m:oMath>
                </a14:m>
                <a:r>
                  <a:rPr lang="fr-FR" b="0" dirty="0"/>
                  <a:t> </a:t>
                </a:r>
              </a:p>
              <a:p>
                <a14:m>
                  <m:oMath xmlns:m="http://schemas.openxmlformats.org/officeDocument/2006/math">
                    <m:r>
                      <a:rPr lang="fr-FR" b="0" i="1" smtClean="0">
                        <a:latin typeface="Cambria Math" panose="02040503050406030204" pitchFamily="18" charset="0"/>
                      </a:rPr>
                      <m:t>h</m:t>
                    </m:r>
                    <m:r>
                      <a:rPr lang="fr-FR" b="0" i="1" smtClean="0">
                        <a:latin typeface="Cambria Math" panose="02040503050406030204" pitchFamily="18" charset="0"/>
                      </a:rPr>
                      <m:t>=10</m:t>
                    </m:r>
                    <m:r>
                      <m:rPr>
                        <m:nor/>
                      </m:rPr>
                      <a:rPr lang="fr-FR" b="0" i="0" smtClean="0">
                        <a:latin typeface="Cambria Math" panose="02040503050406030204" pitchFamily="18" charset="0"/>
                      </a:rPr>
                      <m:t> </m:t>
                    </m:r>
                    <m:r>
                      <m:rPr>
                        <m:nor/>
                      </m:rPr>
                      <a:rPr lang="en-US"/>
                      <m:t>W</m:t>
                    </m:r>
                    <m:r>
                      <m:rPr>
                        <m:nor/>
                      </m:rPr>
                      <a:rPr lang="en-US"/>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2</m:t>
                        </m:r>
                      </m:sup>
                    </m:sSup>
                    <m:r>
                      <a:rPr lang="fr-FR" b="0" i="1" smtClean="0">
                        <a:latin typeface="Cambria Math" panose="02040503050406030204" pitchFamily="18" charset="0"/>
                      </a:rPr>
                      <m:t>⋅</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𝑖𝑛𝑖𝑡</m:t>
                        </m:r>
                      </m:sub>
                    </m:sSub>
                    <m:r>
                      <a:rPr lang="fr-FR" b="0" i="1" smtClean="0">
                        <a:latin typeface="Cambria Math" panose="02040503050406030204" pitchFamily="18" charset="0"/>
                      </a:rPr>
                      <m:t>=1118.15 </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𝑎𝑚𝑏𝑖𝑎𝑛𝑡</m:t>
                        </m:r>
                      </m:sub>
                    </m:sSub>
                    <m:r>
                      <a:rPr lang="fr-FR" b="0" i="1" smtClean="0">
                        <a:latin typeface="Cambria Math" panose="02040503050406030204" pitchFamily="18" charset="0"/>
                      </a:rPr>
                      <m:t>=298.15 </m:t>
                    </m:r>
                    <m:r>
                      <m:rPr>
                        <m:sty m:val="p"/>
                      </m:rPr>
                      <a:rPr lang="fr-FR" b="0" i="1" smtClean="0">
                        <a:latin typeface="Cambria Math" panose="02040503050406030204" pitchFamily="18" charset="0"/>
                      </a:rPr>
                      <m:t>K</m:t>
                    </m:r>
                    <m:r>
                      <a:rPr lang="fr-FR" b="0" i="1" smtClean="0">
                        <a:latin typeface="Cambria Math" panose="02040503050406030204" pitchFamily="18" charset="0"/>
                      </a:rPr>
                      <m:t> </m:t>
                    </m:r>
                  </m:oMath>
                </a14:m>
                <a:r>
                  <a:rPr lang="en-US" dirty="0"/>
                  <a:t> </a:t>
                </a:r>
              </a:p>
              <a:p>
                <a14:m>
                  <m:oMath xmlns:m="http://schemas.openxmlformats.org/officeDocument/2006/math">
                    <m:r>
                      <a:rPr lang="fr-FR" b="0" i="1" smtClean="0">
                        <a:latin typeface="Cambria Math" panose="02040503050406030204" pitchFamily="18" charset="0"/>
                      </a:rPr>
                      <m:t>𝑘</m:t>
                    </m:r>
                    <m:r>
                      <a:rPr lang="fr-FR" b="0" i="1" smtClean="0">
                        <a:latin typeface="Cambria Math" panose="02040503050406030204" pitchFamily="18" charset="0"/>
                      </a:rPr>
                      <m:t>=44.5</m:t>
                    </m:r>
                    <m:r>
                      <a:rPr lang="fr-FR" b="0" i="1" smtClean="0">
                        <a:latin typeface="Cambria Math" panose="02040503050406030204" pitchFamily="18" charset="0"/>
                      </a:rPr>
                      <m:t>𝑊</m:t>
                    </m:r>
                    <m:r>
                      <m:rPr>
                        <m:lit/>
                      </m:rPr>
                      <a:rPr lang="fr-FR" b="0" i="1" smtClean="0">
                        <a:latin typeface="Cambria Math" panose="02040503050406030204" pitchFamily="18" charset="0"/>
                      </a:rPr>
                      <m:t>/</m:t>
                    </m:r>
                    <m:d>
                      <m:dPr>
                        <m:ctrlPr>
                          <a:rPr lang="fr-FR" b="0" i="1" smtClean="0">
                            <a:latin typeface="Cambria Math" panose="02040503050406030204" pitchFamily="18" charset="0"/>
                          </a:rPr>
                        </m:ctrlPr>
                      </m:dPr>
                      <m:e>
                        <m:r>
                          <a:rPr lang="fr-FR" b="0" i="1" smtClean="0">
                            <a:latin typeface="Cambria Math" panose="02040503050406030204" pitchFamily="18" charset="0"/>
                          </a:rPr>
                          <m:t>𝑚</m:t>
                        </m:r>
                        <m:r>
                          <a:rPr lang="fr-FR" b="0" i="1" smtClean="0">
                            <a:latin typeface="Cambria Math" panose="02040503050406030204" pitchFamily="18" charset="0"/>
                          </a:rPr>
                          <m:t>⋅</m:t>
                        </m:r>
                        <m:r>
                          <m:rPr>
                            <m:sty m:val="p"/>
                          </m:rPr>
                          <a:rPr lang="fr-FR" b="0" i="1" smtClean="0">
                            <a:latin typeface="Cambria Math" panose="02040503050406030204" pitchFamily="18" charset="0"/>
                          </a:rPr>
                          <m:t>K</m:t>
                        </m:r>
                      </m:e>
                    </m:d>
                  </m:oMath>
                </a14:m>
                <a:r>
                  <a:rPr lang="en-US" dirty="0"/>
                  <a:t> </a:t>
                </a:r>
              </a:p>
            </p:txBody>
          </p:sp>
        </mc:Choice>
        <mc:Fallback xmlns="">
          <p:sp>
            <p:nvSpPr>
              <p:cNvPr id="3" name="TextBox 2">
                <a:extLst>
                  <a:ext uri="{FF2B5EF4-FFF2-40B4-BE49-F238E27FC236}">
                    <a16:creationId xmlns:a16="http://schemas.microsoft.com/office/drawing/2014/main" id="{827367D0-BA41-060B-521D-6283AD7D3C1F}"/>
                  </a:ext>
                </a:extLst>
              </p:cNvPr>
              <p:cNvSpPr txBox="1">
                <a:spLocks noRot="1" noChangeAspect="1" noMove="1" noResize="1" noEditPoints="1" noAdjustHandles="1" noChangeArrowheads="1" noChangeShapeType="1" noTextEdit="1"/>
              </p:cNvSpPr>
              <p:nvPr/>
            </p:nvSpPr>
            <p:spPr>
              <a:xfrm>
                <a:off x="5350724" y="1396545"/>
                <a:ext cx="2496875" cy="2308324"/>
              </a:xfrm>
              <a:prstGeom prst="rect">
                <a:avLst/>
              </a:prstGeom>
              <a:blipFill>
                <a:blip r:embed="rId4"/>
                <a:stretch>
                  <a:fillRect l="-2200" t="-1583" b="-3430"/>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044402B3-46AF-8558-B0C5-725A3070DC8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198017" y="3971427"/>
            <a:ext cx="899238" cy="2743438"/>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816710B-426E-2FF9-80BD-3E520DDC9AF1}"/>
                  </a:ext>
                </a:extLst>
              </p:cNvPr>
              <p:cNvSpPr txBox="1"/>
              <p:nvPr/>
            </p:nvSpPr>
            <p:spPr>
              <a:xfrm>
                <a:off x="5350724" y="4441575"/>
                <a:ext cx="1920240" cy="1754326"/>
              </a:xfrm>
              <a:prstGeom prst="rect">
                <a:avLst/>
              </a:prstGeom>
              <a:noFill/>
            </p:spPr>
            <p:txBody>
              <a:bodyPr wrap="square" rtlCol="0">
                <a:spAutoFit/>
              </a:bodyPr>
              <a:lstStyle/>
              <a:p>
                <a:r>
                  <a:rPr lang="fr-FR" b="0" i="0" dirty="0">
                    <a:latin typeface="Cambria Math" panose="02040503050406030204" pitchFamily="18" charset="0"/>
                  </a:rPr>
                  <a:t>Modèle python : </a:t>
                </a:r>
              </a:p>
              <a:p>
                <a:pPr/>
                <a14:m>
                  <m:oMathPara xmlns:m="http://schemas.openxmlformats.org/officeDocument/2006/math">
                    <m:oMathParaPr>
                      <m:jc m:val="left"/>
                    </m:oMathParaPr>
                    <m:oMath xmlns:m="http://schemas.openxmlformats.org/officeDocument/2006/math">
                      <m:r>
                        <a:rPr lang="fr-FR" b="0" i="1" smtClean="0">
                          <a:latin typeface="Cambria Math" panose="02040503050406030204" pitchFamily="18" charset="0"/>
                        </a:rPr>
                        <m:t>𝑛𝑟</m:t>
                      </m:r>
                      <m:r>
                        <a:rPr lang="fr-FR" b="0" i="1" smtClean="0">
                          <a:latin typeface="Cambria Math" panose="02040503050406030204" pitchFamily="18" charset="0"/>
                        </a:rPr>
                        <m:t> = </m:t>
                      </m:r>
                      <m:r>
                        <a:rPr lang="fr-FR" b="0" i="1" smtClean="0">
                          <a:latin typeface="Cambria Math" panose="02040503050406030204" pitchFamily="18" charset="0"/>
                        </a:rPr>
                        <m:t>𝑛𝑧</m:t>
                      </m:r>
                      <m:r>
                        <a:rPr lang="fr-FR" b="0" i="1" smtClean="0">
                          <a:latin typeface="Cambria Math" panose="02040503050406030204" pitchFamily="18" charset="0"/>
                        </a:rPr>
                        <m:t> = 20</m:t>
                      </m:r>
                    </m:oMath>
                  </m:oMathPara>
                </a14:m>
                <a:endParaRPr lang="fr-FR"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dt</m:t>
                      </m:r>
                      <m:r>
                        <a:rPr lang="fr-FR" b="0" i="1" smtClean="0">
                          <a:latin typeface="Cambria Math" panose="02040503050406030204" pitchFamily="18" charset="0"/>
                        </a:rPr>
                        <m:t> = 0.025 </m:t>
                      </m:r>
                      <m:r>
                        <m:rPr>
                          <m:sty m:val="p"/>
                        </m:rPr>
                        <a:rPr lang="fr-FR" b="0" i="1" smtClean="0">
                          <a:latin typeface="Cambria Math" panose="02040503050406030204" pitchFamily="18" charset="0"/>
                        </a:rPr>
                        <m:t>s</m:t>
                      </m:r>
                    </m:oMath>
                  </m:oMathPara>
                </a14:m>
                <a:endParaRPr lang="fr-FR" b="0" i="0" dirty="0">
                  <a:latin typeface="Cambria Math" panose="02040503050406030204" pitchFamily="18" charset="0"/>
                </a:endParaRPr>
              </a:p>
              <a:p>
                <a:r>
                  <a:rPr lang="fr-FR" b="0" i="0" dirty="0">
                    <a:latin typeface="Cambria Math" panose="02040503050406030204" pitchFamily="18" charset="0"/>
                  </a:rPr>
                  <a:t>Simulation pour : </a:t>
                </a:r>
              </a:p>
              <a:p>
                <a:pPr/>
                <a14:m>
                  <m:oMathPara xmlns:m="http://schemas.openxmlformats.org/officeDocument/2006/math">
                    <m:oMathParaPr>
                      <m:jc m:val="left"/>
                    </m:oMathParaPr>
                    <m:oMath xmlns:m="http://schemas.openxmlformats.org/officeDocument/2006/math">
                      <m:r>
                        <m:rPr>
                          <m:sty m:val="p"/>
                        </m:rPr>
                        <a:rPr lang="fr-FR" b="0" i="0"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 =0.6 </m:t>
                      </m:r>
                      <m:r>
                        <a:rPr lang="fr-FR" b="0" i="1" smtClean="0">
                          <a:latin typeface="Cambria Math" panose="02040503050406030204" pitchFamily="18" charset="0"/>
                        </a:rPr>
                        <m:t>𝑠</m:t>
                      </m:r>
                      <m:r>
                        <a:rPr lang="fr-FR" b="0" i="1" smtClean="0">
                          <a:latin typeface="Cambria Math" panose="02040503050406030204" pitchFamily="18" charset="0"/>
                        </a:rPr>
                        <m:t> </m:t>
                      </m:r>
                    </m:oMath>
                  </m:oMathPara>
                </a14:m>
                <a:endParaRPr lang="fr-FR"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Te</m:t>
                      </m:r>
                      <m:r>
                        <a:rPr lang="fr-FR" b="0" i="1" smtClean="0">
                          <a:latin typeface="Cambria Math" panose="02040503050406030204" pitchFamily="18" charset="0"/>
                        </a:rPr>
                        <m:t> = 0.3 </m:t>
                      </m:r>
                      <m:r>
                        <m:rPr>
                          <m:sty m:val="p"/>
                        </m:rPr>
                        <a:rPr lang="fr-FR" b="0" i="1" smtClean="0">
                          <a:latin typeface="Cambria Math" panose="02040503050406030204" pitchFamily="18" charset="0"/>
                        </a:rPr>
                        <m:t>cm</m:t>
                      </m:r>
                    </m:oMath>
                  </m:oMathPara>
                </a14:m>
                <a:endParaRPr lang="en-US" dirty="0"/>
              </a:p>
            </p:txBody>
          </p:sp>
        </mc:Choice>
        <mc:Fallback xmlns="">
          <p:sp>
            <p:nvSpPr>
              <p:cNvPr id="4" name="TextBox 3">
                <a:extLst>
                  <a:ext uri="{FF2B5EF4-FFF2-40B4-BE49-F238E27FC236}">
                    <a16:creationId xmlns:a16="http://schemas.microsoft.com/office/drawing/2014/main" id="{F816710B-426E-2FF9-80BD-3E520DDC9AF1}"/>
                  </a:ext>
                </a:extLst>
              </p:cNvPr>
              <p:cNvSpPr txBox="1">
                <a:spLocks noRot="1" noChangeAspect="1" noMove="1" noResize="1" noEditPoints="1" noAdjustHandles="1" noChangeArrowheads="1" noChangeShapeType="1" noTextEdit="1"/>
              </p:cNvSpPr>
              <p:nvPr/>
            </p:nvSpPr>
            <p:spPr>
              <a:xfrm>
                <a:off x="5350724" y="4441575"/>
                <a:ext cx="1920240" cy="1754326"/>
              </a:xfrm>
              <a:prstGeom prst="rect">
                <a:avLst/>
              </a:prstGeom>
              <a:blipFill>
                <a:blip r:embed="rId6"/>
                <a:stretch>
                  <a:fillRect l="-2857" t="-2439" r="-2540"/>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766F6BA7-FB40-F5A0-46A1-686F83E064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36454" y="3971427"/>
            <a:ext cx="3035833" cy="2694622"/>
          </a:xfrm>
          <a:prstGeom prst="rect">
            <a:avLst/>
          </a:prstGeom>
        </p:spPr>
      </p:pic>
      <p:sp>
        <p:nvSpPr>
          <p:cNvPr id="6" name="TextBox 5">
            <a:extLst>
              <a:ext uri="{FF2B5EF4-FFF2-40B4-BE49-F238E27FC236}">
                <a16:creationId xmlns:a16="http://schemas.microsoft.com/office/drawing/2014/main" id="{D48753BC-C2A4-D20F-34BD-5542121EF1D7}"/>
              </a:ext>
            </a:extLst>
          </p:cNvPr>
          <p:cNvSpPr txBox="1"/>
          <p:nvPr/>
        </p:nvSpPr>
        <p:spPr>
          <a:xfrm>
            <a:off x="94745" y="5996226"/>
            <a:ext cx="4881276" cy="861774"/>
          </a:xfrm>
          <a:prstGeom prst="rect">
            <a:avLst/>
          </a:prstGeom>
          <a:noFill/>
        </p:spPr>
        <p:txBody>
          <a:bodyPr wrap="square" rtlCol="0">
            <a:spAutoFit/>
          </a:bodyPr>
          <a:lstStyle/>
          <a:p>
            <a:r>
              <a:rPr lang="en-US" sz="1600" dirty="0"/>
              <a:t>*</a:t>
            </a:r>
            <a:r>
              <a:rPr lang="en-US" sz="1600" dirty="0" err="1"/>
              <a:t>Calculé</a:t>
            </a:r>
            <a:r>
              <a:rPr lang="en-US" sz="1600" dirty="0"/>
              <a:t> pour 4 </a:t>
            </a:r>
            <a:r>
              <a:rPr lang="en-US" sz="1600" dirty="0" err="1"/>
              <a:t>valeurs</a:t>
            </a:r>
            <a:r>
              <a:rPr lang="en-US" sz="1600" dirty="0"/>
              <a:t> de temperatures et pour </a:t>
            </a:r>
            <a:r>
              <a:rPr lang="en-US" sz="1600" dirty="0" err="1"/>
              <a:t>une</a:t>
            </a:r>
            <a:r>
              <a:rPr lang="en-US" sz="1600" dirty="0"/>
              <a:t> </a:t>
            </a:r>
            <a:r>
              <a:rPr lang="en-US" sz="1600" dirty="0" err="1"/>
              <a:t>seule</a:t>
            </a:r>
            <a:r>
              <a:rPr lang="en-US" sz="1600" dirty="0"/>
              <a:t> “</a:t>
            </a:r>
            <a:r>
              <a:rPr lang="en-US" sz="1600" dirty="0" err="1"/>
              <a:t>expérience</a:t>
            </a:r>
            <a:r>
              <a:rPr lang="en-US" sz="1600" dirty="0"/>
              <a:t>” </a:t>
            </a:r>
          </a:p>
          <a:p>
            <a:endParaRPr lang="en-US" dirty="0"/>
          </a:p>
        </p:txBody>
      </p:sp>
      <p:sp>
        <p:nvSpPr>
          <p:cNvPr id="7" name="Slide Number Placeholder 6">
            <a:extLst>
              <a:ext uri="{FF2B5EF4-FFF2-40B4-BE49-F238E27FC236}">
                <a16:creationId xmlns:a16="http://schemas.microsoft.com/office/drawing/2014/main" id="{51FB88C7-B085-8E63-BBC3-EA1A926F5488}"/>
              </a:ext>
            </a:extLst>
          </p:cNvPr>
          <p:cNvSpPr>
            <a:spLocks noGrp="1"/>
          </p:cNvSpPr>
          <p:nvPr>
            <p:ph type="sldNum" sz="quarter" idx="12"/>
          </p:nvPr>
        </p:nvSpPr>
        <p:spPr/>
        <p:txBody>
          <a:bodyPr/>
          <a:lstStyle/>
          <a:p>
            <a:fld id="{FD85B578-4E75-4E1C-9BE3-D5DCC0715B13}" type="slidenum">
              <a:rPr lang="fr-FR" smtClean="0"/>
              <a:t>25</a:t>
            </a:fld>
            <a:endParaRPr lang="fr-FR"/>
          </a:p>
        </p:txBody>
      </p:sp>
    </p:spTree>
    <p:extLst>
      <p:ext uri="{BB962C8B-B14F-4D97-AF65-F5344CB8AC3E}">
        <p14:creationId xmlns:p14="http://schemas.microsoft.com/office/powerpoint/2010/main" val="41625146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FF1174-F757-BC98-CD45-EA7CDE51F475}"/>
              </a:ext>
            </a:extLst>
          </p:cNvPr>
          <p:cNvSpPr>
            <a:spLocks noGrp="1"/>
          </p:cNvSpPr>
          <p:nvPr>
            <p:ph type="title"/>
          </p:nvPr>
        </p:nvSpPr>
        <p:spPr/>
        <p:txBody>
          <a:bodyPr/>
          <a:lstStyle/>
          <a:p>
            <a:r>
              <a:rPr lang="fr-FR" dirty="0"/>
              <a:t>Validation – incertitude numérique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43FA7A9-6CDD-34AF-AA96-4080445750A7}"/>
                  </a:ext>
                </a:extLst>
              </p:cNvPr>
              <p:cNvSpPr>
                <a:spLocks noGrp="1"/>
              </p:cNvSpPr>
              <p:nvPr>
                <p:ph idx="1"/>
              </p:nvPr>
            </p:nvSpPr>
            <p:spPr>
              <a:xfrm>
                <a:off x="528587" y="1990217"/>
                <a:ext cx="5858417" cy="4044823"/>
              </a:xfrm>
            </p:spPr>
            <p:txBody>
              <a:bodyPr>
                <a:normAutofit fontScale="92500" lnSpcReduction="10000"/>
              </a:bodyPr>
              <a:lstStyle/>
              <a:p>
                <a:r>
                  <a:rPr lang="fr-FR" dirty="0"/>
                  <a:t>Discrétisation selon 3 dimensions </a:t>
                </a:r>
              </a:p>
              <a:p>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𝑛𝑢𝑚</m:t>
                        </m:r>
                      </m:sub>
                    </m:sSub>
                    <m:r>
                      <a:rPr lang="fr-FR" i="1">
                        <a:latin typeface="Cambria Math" panose="02040503050406030204" pitchFamily="18" charset="0"/>
                      </a:rPr>
                      <m:t>=</m:t>
                    </m:r>
                    <m:rad>
                      <m:radPr>
                        <m:degHide m:val="on"/>
                        <m:ctrlPr>
                          <a:rPr lang="fr-FR" i="1">
                            <a:latin typeface="Cambria Math" panose="02040503050406030204" pitchFamily="18" charset="0"/>
                          </a:rPr>
                        </m:ctrlPr>
                      </m:radPr>
                      <m:deg/>
                      <m:e>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𝑟</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𝑧</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𝑡</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e>
                    </m:rad>
                  </m:oMath>
                </a14:m>
                <a:endParaRPr lang="fr-FR" dirty="0"/>
              </a:p>
              <a:p>
                <a14:m>
                  <m:oMath xmlns:m="http://schemas.openxmlformats.org/officeDocument/2006/math">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𝑥</m:t>
                        </m:r>
                      </m:sub>
                    </m:sSub>
                    <m:r>
                      <a:rPr lang="fr-FR" i="1">
                        <a:latin typeface="Cambria Math" panose="02040503050406030204" pitchFamily="18" charset="0"/>
                      </a:rPr>
                      <m:t>=</m:t>
                    </m:r>
                    <m:f>
                      <m:fPr>
                        <m:ctrlPr>
                          <a:rPr lang="fr-FR" i="1">
                            <a:latin typeface="Cambria Math" panose="02040503050406030204" pitchFamily="18" charset="0"/>
                          </a:rPr>
                        </m:ctrlPr>
                      </m:fPr>
                      <m:num>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num>
                      <m:den>
                        <m:sSup>
                          <m:sSupPr>
                            <m:ctrlPr>
                              <a:rPr lang="fr-FR" i="1">
                                <a:latin typeface="Cambria Math" panose="02040503050406030204" pitchFamily="18" charset="0"/>
                              </a:rPr>
                            </m:ctrlPr>
                          </m:sSupPr>
                          <m:e>
                            <m:r>
                              <a:rPr lang="fr-FR" i="1">
                                <a:latin typeface="Cambria Math" panose="02040503050406030204" pitchFamily="18" charset="0"/>
                              </a:rPr>
                              <m:t>𝑟</m:t>
                            </m:r>
                          </m:e>
                          <m:sup>
                            <m:r>
                              <a:rPr lang="fr-FR" i="1">
                                <a:latin typeface="Cambria Math" panose="02040503050406030204" pitchFamily="18" charset="0"/>
                              </a:rPr>
                              <m:t>𝑝</m:t>
                            </m:r>
                          </m:sup>
                        </m:sSup>
                        <m:r>
                          <a:rPr lang="fr-FR" i="1">
                            <a:latin typeface="Cambria Math" panose="02040503050406030204" pitchFamily="18" charset="0"/>
                          </a:rPr>
                          <m:t>−1</m:t>
                        </m:r>
                      </m:den>
                    </m:f>
                    <m:d>
                      <m:dPr>
                        <m:begChr m:val="|"/>
                        <m:endChr m:val="|"/>
                        <m:ctrlPr>
                          <a:rPr lang="fr-FR" i="1">
                            <a:latin typeface="Cambria Math" panose="02040503050406030204" pitchFamily="18" charset="0"/>
                          </a:rPr>
                        </m:ctrlPr>
                      </m:dPr>
                      <m:e>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2</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1</m:t>
                            </m:r>
                          </m:sub>
                        </m:sSub>
                      </m:e>
                    </m:d>
                  </m:oMath>
                </a14:m>
                <a:endParaRPr lang="fr-FR" dirty="0"/>
              </a:p>
              <a:p>
                <a14:m>
                  <m:oMath xmlns:m="http://schemas.openxmlformats.org/officeDocument/2006/math">
                    <m:d>
                      <m:dPr>
                        <m:begChr m:val="|"/>
                        <m:endChr m:val="|"/>
                        <m:ctrlPr>
                          <a:rPr lang="fr-FR" i="1">
                            <a:latin typeface="Cambria Math" panose="02040503050406030204" pitchFamily="18" charset="0"/>
                          </a:rPr>
                        </m:ctrlPr>
                      </m:dPr>
                      <m:e>
                        <m:f>
                          <m:fPr>
                            <m:ctrlPr>
                              <a:rPr lang="fr-FR" i="1">
                                <a:latin typeface="Cambria Math" panose="02040503050406030204" pitchFamily="18" charset="0"/>
                              </a:rPr>
                            </m:ctrlPr>
                          </m:fPr>
                          <m:num>
                            <m:acc>
                              <m:accPr>
                                <m:chr m:val="̂"/>
                                <m:ctrlPr>
                                  <a:rPr lang="fr-FR" i="1">
                                    <a:latin typeface="Cambria Math" panose="02040503050406030204" pitchFamily="18" charset="0"/>
                                  </a:rPr>
                                </m:ctrlPr>
                              </m:accPr>
                              <m:e>
                                <m:r>
                                  <a:rPr lang="fr-FR" i="1">
                                    <a:latin typeface="Cambria Math" panose="02040503050406030204" pitchFamily="18" charset="0"/>
                                  </a:rPr>
                                  <m:t>𝑝</m:t>
                                </m:r>
                              </m:e>
                            </m:acc>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num>
                          <m:den>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den>
                        </m:f>
                      </m:e>
                    </m:d>
                    <m:r>
                      <a:rPr lang="fr-FR">
                        <a:latin typeface="Cambria Math" panose="02040503050406030204" pitchFamily="18" charset="0"/>
                      </a:rPr>
                      <m:t>≤</m:t>
                    </m:r>
                    <m:r>
                      <a:rPr lang="fr-FR" i="1">
                        <a:latin typeface="Cambria Math" panose="02040503050406030204" pitchFamily="18" charset="0"/>
                      </a:rPr>
                      <m:t>0.1</m:t>
                    </m:r>
                  </m:oMath>
                </a14:m>
                <a:r>
                  <a:rPr lang="fr-FR" dirty="0"/>
                  <a:t>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r>
                      <a:rPr lang="fr-FR" i="1">
                        <a:latin typeface="Cambria Math" panose="02040503050406030204" pitchFamily="18" charset="0"/>
                      </a:rPr>
                      <m:t>=1.25</m:t>
                    </m:r>
                  </m:oMath>
                </a14:m>
                <a:r>
                  <a:rPr lang="fr-FR" dirty="0"/>
                  <a:t> et </a:t>
                </a:r>
                <a14:m>
                  <m:oMath xmlns:m="http://schemas.openxmlformats.org/officeDocument/2006/math">
                    <m:r>
                      <a:rPr lang="fr-FR" i="1">
                        <a:latin typeface="Cambria Math" panose="02040503050406030204" pitchFamily="18" charset="0"/>
                      </a:rPr>
                      <m:t>𝑝</m:t>
                    </m:r>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oMath>
                </a14:m>
                <a:endParaRPr lang="fr-FR" dirty="0"/>
              </a:p>
              <a:p>
                <a:r>
                  <a:rPr lang="fr-FR" dirty="0"/>
                  <a:t>SRQ : valeurs de température à t=2h</a:t>
                </a:r>
              </a:p>
              <a:p>
                <a:endParaRPr lang="fr-FR" dirty="0"/>
              </a:p>
              <a:p>
                <a:pPr>
                  <a:buFont typeface="Wingdings" panose="05000000000000000000" pitchFamily="2" charset="2"/>
                  <a:buChar char="à"/>
                </a:pP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 </m:t>
                        </m:r>
                        <m:r>
                          <a:rPr lang="fr-FR" b="0" i="1" smtClean="0">
                            <a:latin typeface="Cambria Math" panose="02040503050406030204" pitchFamily="18" charset="0"/>
                            <a:sym typeface="Wingdings" panose="05000000000000000000" pitchFamily="2" charset="2"/>
                          </a:rPr>
                          <m:t>𝑢</m:t>
                        </m:r>
                      </m:e>
                      <m:sub>
                        <m:r>
                          <a:rPr lang="fr-FR" b="0" i="1" smtClean="0">
                            <a:latin typeface="Cambria Math" panose="02040503050406030204" pitchFamily="18" charset="0"/>
                            <a:sym typeface="Wingdings" panose="05000000000000000000" pitchFamily="2" charset="2"/>
                          </a:rPr>
                          <m:t>𝑛𝑢𝑚</m:t>
                        </m:r>
                      </m:sub>
                    </m:sSub>
                    <m:r>
                      <a:rPr lang="fr-FR" i="1">
                        <a:latin typeface="Cambria Math" panose="02040503050406030204" pitchFamily="18" charset="0"/>
                        <a:sym typeface="Wingdings" panose="05000000000000000000" pitchFamily="2" charset="2"/>
                      </a:rPr>
                      <m:t>=</m:t>
                    </m:r>
                    <m:sSup>
                      <m:sSupPr>
                        <m:ctrlPr>
                          <a:rPr lang="fr-FR" b="0" i="1" smtClean="0">
                            <a:latin typeface="Cambria Math" panose="02040503050406030204" pitchFamily="18" charset="0"/>
                            <a:sym typeface="Wingdings" panose="05000000000000000000" pitchFamily="2" charset="2"/>
                          </a:rPr>
                        </m:ctrlPr>
                      </m:sSupPr>
                      <m:e>
                        <m:r>
                          <a:rPr lang="fr-FR" i="1">
                            <a:latin typeface="Cambria Math" panose="02040503050406030204" pitchFamily="18" charset="0"/>
                            <a:sym typeface="Wingdings" panose="05000000000000000000" pitchFamily="2" charset="2"/>
                          </a:rPr>
                          <m:t>1</m:t>
                        </m:r>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1097</m:t>
                        </m:r>
                        <m:r>
                          <a:rPr lang="fr-FR" b="0" i="1" smtClean="0">
                            <a:latin typeface="Cambria Math" panose="02040503050406030204" pitchFamily="18" charset="0"/>
                            <a:sym typeface="Wingdings" panose="05000000000000000000" pitchFamily="2" charset="2"/>
                          </a:rPr>
                          <m:t>×10</m:t>
                        </m:r>
                      </m:e>
                      <m:sup>
                        <m:r>
                          <a:rPr lang="fr-FR" b="0" i="1" smtClean="0">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𝐾</m:t>
                    </m:r>
                  </m:oMath>
                </a14:m>
                <a:endParaRPr lang="fr-FR" b="0" dirty="0">
                  <a:sym typeface="Wingdings" panose="05000000000000000000" pitchFamily="2" charset="2"/>
                </a:endParaRPr>
              </a:p>
              <a:p>
                <a:pPr>
                  <a:buFont typeface="Wingdings" panose="05000000000000000000" pitchFamily="2" charset="2"/>
                  <a:buChar char="à"/>
                </a:pPr>
                <a:endParaRPr lang="fr-FR" b="0" dirty="0">
                  <a:sym typeface="Wingdings" panose="05000000000000000000" pitchFamily="2" charset="2"/>
                </a:endParaRPr>
              </a:p>
              <a:p>
                <a:pPr>
                  <a:buFont typeface="Wingdings" panose="05000000000000000000" pitchFamily="2" charset="2"/>
                  <a:buChar char="à"/>
                </a:pPr>
                <a:endParaRPr lang="fr-FR" dirty="0"/>
              </a:p>
              <a:p>
                <a:pPr marL="0" indent="0">
                  <a:buNone/>
                </a:pPr>
                <a:endParaRPr lang="fr-FR" b="0" i="1" dirty="0">
                  <a:latin typeface="Cambria Math" panose="02040503050406030204" pitchFamily="18" charset="0"/>
                </a:endParaRPr>
              </a:p>
              <a:p>
                <a:pPr marL="0" indent="0">
                  <a:buNone/>
                </a:pPr>
                <a:endParaRPr lang="fr-FR" b="0" i="1" dirty="0">
                  <a:latin typeface="Cambria Math" panose="02040503050406030204" pitchFamily="18" charset="0"/>
                </a:endParaRPr>
              </a:p>
              <a:p>
                <a:pPr marL="0" indent="0">
                  <a:buNone/>
                </a:pPr>
                <a:endParaRPr lang="fr-FR" i="1" dirty="0">
                  <a:latin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343FA7A9-6CDD-34AF-AA96-4080445750A7}"/>
                  </a:ext>
                </a:extLst>
              </p:cNvPr>
              <p:cNvSpPr>
                <a:spLocks noGrp="1" noRot="1" noChangeAspect="1" noMove="1" noResize="1" noEditPoints="1" noAdjustHandles="1" noChangeArrowheads="1" noChangeShapeType="1" noTextEdit="1"/>
              </p:cNvSpPr>
              <p:nvPr>
                <p:ph idx="1"/>
              </p:nvPr>
            </p:nvSpPr>
            <p:spPr>
              <a:xfrm>
                <a:off x="528587" y="1990217"/>
                <a:ext cx="5858417" cy="4044823"/>
              </a:xfrm>
              <a:blipFill>
                <a:blip r:embed="rId2"/>
                <a:stretch>
                  <a:fillRect l="-1665" t="-3012"/>
                </a:stretch>
              </a:blipFill>
            </p:spPr>
            <p:txBody>
              <a:bodyPr/>
              <a:lstStyle/>
              <a:p>
                <a:r>
                  <a:rPr lang="en-US">
                    <a:noFill/>
                  </a:rPr>
                  <a:t> </a:t>
                </a:r>
              </a:p>
            </p:txBody>
          </p:sp>
        </mc:Fallback>
      </mc:AlternateContent>
      <p:pic>
        <p:nvPicPr>
          <p:cNvPr id="5" name="Image 4">
            <a:extLst>
              <a:ext uri="{FF2B5EF4-FFF2-40B4-BE49-F238E27FC236}">
                <a16:creationId xmlns:a16="http://schemas.microsoft.com/office/drawing/2014/main" id="{873271AC-9B6F-EBC6-6CB6-88C22C841703}"/>
              </a:ext>
            </a:extLst>
          </p:cNvPr>
          <p:cNvPicPr>
            <a:picLocks noChangeAspect="1"/>
          </p:cNvPicPr>
          <p:nvPr/>
        </p:nvPicPr>
        <p:blipFill>
          <a:blip r:embed="rId3"/>
          <a:stretch>
            <a:fillRect/>
          </a:stretch>
        </p:blipFill>
        <p:spPr>
          <a:xfrm>
            <a:off x="7013447" y="2068513"/>
            <a:ext cx="4649965" cy="1611563"/>
          </a:xfrm>
          <a:prstGeom prst="rect">
            <a:avLst/>
          </a:prstGeom>
        </p:spPr>
      </p:pic>
      <mc:AlternateContent xmlns:mc="http://schemas.openxmlformats.org/markup-compatibility/2006" xmlns:a14="http://schemas.microsoft.com/office/drawing/2010/main">
        <mc:Choice Requires="a14">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pPr algn="ctr"/>
                          <a:r>
                            <a:rPr lang="fr-FR" dirty="0"/>
                            <a:t>4,9684</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b="0" dirty="0"/>
                        </a:p>
                      </a:txBody>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pPr algn="ctr"/>
                          <a:r>
                            <a:rPr lang="fr-FR" dirty="0"/>
                            <a:t>7,8557</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pPr algn="ctr"/>
                          <a:r>
                            <a:rPr lang="fr-FR" dirty="0"/>
                            <a:t>2,0155</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−3</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3641218454"/>
                      </a:ext>
                    </a:extLst>
                  </a:tr>
                </a:tbl>
              </a:graphicData>
            </a:graphic>
          </p:graphicFrame>
        </mc:Choice>
        <mc:Fallback xmlns="">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extLst>
                  <p:ext uri="{D42A27DB-BD31-4B8C-83A1-F6EECF244321}">
                    <p14:modId xmlns:p14="http://schemas.microsoft.com/office/powerpoint/2010/main" val="2481105640"/>
                  </p:ext>
                </p:extLst>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endParaRPr lang="fr-FR"/>
                        </a:p>
                      </a:txBody>
                      <a:tcPr>
                        <a:blipFill>
                          <a:blip r:embed="rId4"/>
                          <a:stretch>
                            <a:fillRect l="-61053" t="-106349" r="-842" b="-222222"/>
                          </a:stretch>
                        </a:blipFill>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endParaRPr lang="fr-FR"/>
                        </a:p>
                      </a:txBody>
                      <a:tcPr>
                        <a:blipFill>
                          <a:blip r:embed="rId4"/>
                          <a:stretch>
                            <a:fillRect l="-61053" t="-206349" r="-842" b="-122222"/>
                          </a:stretch>
                        </a:blipFill>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endParaRPr lang="fr-FR"/>
                        </a:p>
                      </a:txBody>
                      <a:tcPr>
                        <a:blipFill>
                          <a:blip r:embed="rId4"/>
                          <a:stretch>
                            <a:fillRect l="-61053" t="-306349" r="-842" b="-22222"/>
                          </a:stretch>
                        </a:blipFill>
                      </a:tcPr>
                    </a:tc>
                    <a:extLst>
                      <a:ext uri="{0D108BD9-81ED-4DB2-BD59-A6C34878D82A}">
                        <a16:rowId xmlns:a16="http://schemas.microsoft.com/office/drawing/2014/main" val="3641218454"/>
                      </a:ext>
                    </a:extLst>
                  </a:tr>
                </a:tbl>
              </a:graphicData>
            </a:graphic>
          </p:graphicFrame>
        </mc:Fallback>
      </mc:AlternateContent>
      <p:sp>
        <p:nvSpPr>
          <p:cNvPr id="6" name="Slide Number Placeholder 5">
            <a:extLst>
              <a:ext uri="{FF2B5EF4-FFF2-40B4-BE49-F238E27FC236}">
                <a16:creationId xmlns:a16="http://schemas.microsoft.com/office/drawing/2014/main" id="{2663F51B-4476-7D79-F517-30076B8D6947}"/>
              </a:ext>
            </a:extLst>
          </p:cNvPr>
          <p:cNvSpPr>
            <a:spLocks noGrp="1"/>
          </p:cNvSpPr>
          <p:nvPr>
            <p:ph type="sldNum" sz="quarter" idx="12"/>
          </p:nvPr>
        </p:nvSpPr>
        <p:spPr/>
        <p:txBody>
          <a:bodyPr/>
          <a:lstStyle/>
          <a:p>
            <a:fld id="{FD85B578-4E75-4E1C-9BE3-D5DCC0715B13}" type="slidenum">
              <a:rPr lang="fr-FR" smtClean="0"/>
              <a:t>26</a:t>
            </a:fld>
            <a:endParaRPr lang="fr-FR"/>
          </a:p>
        </p:txBody>
      </p:sp>
    </p:spTree>
    <p:extLst>
      <p:ext uri="{BB962C8B-B14F-4D97-AF65-F5344CB8AC3E}">
        <p14:creationId xmlns:p14="http://schemas.microsoft.com/office/powerpoint/2010/main" val="8092236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6439F-29E7-5985-9D89-DC076CF9176A}"/>
              </a:ext>
            </a:extLst>
          </p:cNvPr>
          <p:cNvSpPr>
            <a:spLocks noGrp="1"/>
          </p:cNvSpPr>
          <p:nvPr>
            <p:ph type="title"/>
          </p:nvPr>
        </p:nvSpPr>
        <p:spPr/>
        <p:txBody>
          <a:bodyPr/>
          <a:lstStyle/>
          <a:p>
            <a:r>
              <a:rPr lang="fr-FR" dirty="0"/>
              <a:t>Validation – incertitude expérimentale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659431-7107-A76B-E208-96EAABE1F908}"/>
                  </a:ext>
                </a:extLst>
              </p:cNvPr>
              <p:cNvSpPr>
                <a:spLocks noGrp="1"/>
              </p:cNvSpPr>
              <p:nvPr>
                <p:ph idx="1"/>
              </p:nvPr>
            </p:nvSpPr>
            <p:spPr>
              <a:xfrm>
                <a:off x="838200" y="1825625"/>
                <a:ext cx="10515600" cy="3134995"/>
              </a:xfrm>
            </p:spPr>
            <p:txBody>
              <a:bodyPr>
                <a:normAutofit fontScale="85000" lnSpcReduction="20000"/>
              </a:bodyPr>
              <a:lstStyle/>
              <a:p>
                <a:pPr marL="0" indent="0">
                  <a:buNone/>
                </a:pPr>
                <a:r>
                  <a:rPr lang="fr-FR" dirty="0"/>
                  <a:t>Erreur épistémique d’un thermocouple classique : ±1.5°C*</a:t>
                </a:r>
              </a:p>
              <a:p>
                <a:pPr marL="0" indent="0" algn="ctr">
                  <a:buNone/>
                </a:pPr>
                <a14:m>
                  <m:oMath xmlns:m="http://schemas.openxmlformats.org/officeDocument/2006/math">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1.5</m:t>
                        </m:r>
                      </m:num>
                      <m:den>
                        <m:rad>
                          <m:radPr>
                            <m:degHide m:val="on"/>
                            <m:ctrlPr>
                              <a:rPr lang="fr-FR" b="0" i="1" smtClean="0">
                                <a:latin typeface="Cambria Math" panose="02040503050406030204" pitchFamily="18" charset="0"/>
                              </a:rPr>
                            </m:ctrlPr>
                          </m:radPr>
                          <m:deg/>
                          <m:e>
                            <m:r>
                              <a:rPr lang="fr-FR" b="0" i="1" smtClean="0">
                                <a:latin typeface="Cambria Math" panose="02040503050406030204" pitchFamily="18" charset="0"/>
                              </a:rPr>
                              <m:t>3</m:t>
                            </m:r>
                          </m:e>
                        </m:rad>
                      </m:den>
                    </m:f>
                    <m:r>
                      <a:rPr lang="fr-FR" b="0" i="1" smtClean="0">
                        <a:latin typeface="Cambria Math" panose="02040503050406030204" pitchFamily="18" charset="0"/>
                      </a:rPr>
                      <m:t> = 0.87 °</m:t>
                    </m:r>
                    <m:r>
                      <m:rPr>
                        <m:sty m:val="p"/>
                      </m:rPr>
                      <a:rPr lang="fr-FR" b="0" i="1" smtClean="0">
                        <a:latin typeface="Cambria Math" panose="02040503050406030204" pitchFamily="18" charset="0"/>
                      </a:rPr>
                      <m:t>C</m:t>
                    </m:r>
                  </m:oMath>
                </a14:m>
                <a:r>
                  <a:rPr lang="fr-FR" dirty="0"/>
                  <a:t> </a:t>
                </a:r>
              </a:p>
              <a:p>
                <a:pPr marL="0" indent="0">
                  <a:buNone/>
                </a:pPr>
                <a:r>
                  <a:rPr lang="fr-FR" dirty="0"/>
                  <a:t> car distribution uniforme dans l’intervalle [-1.5,1.5]°C.</a:t>
                </a:r>
              </a:p>
              <a:p>
                <a:pPr marL="0" indent="0">
                  <a:buNone/>
                </a:pPr>
                <a:endParaRPr lang="fr-FR" dirty="0"/>
              </a:p>
              <a:p>
                <a:pPr marL="0" indent="0">
                  <a:buNone/>
                </a:pPr>
                <a14:m>
                  <m:oMathPara xmlns:m="http://schemas.openxmlformats.org/officeDocument/2006/math">
                    <m:oMathParaPr>
                      <m:jc m:val="centerGroup"/>
                    </m:oMathParaPr>
                    <m:oMath xmlns:m="http://schemas.openxmlformats.org/officeDocument/2006/math">
                      <m:r>
                        <m:rPr>
                          <m:sty m:val="p"/>
                        </m:rPr>
                        <a:rPr lang="fr-FR" b="0" i="1" smtClean="0">
                          <a:latin typeface="Cambria Math" panose="02040503050406030204" pitchFamily="18" charset="0"/>
                        </a:rPr>
                        <m:t>u</m:t>
                      </m:r>
                      <m:r>
                        <m:rPr>
                          <m:sty m:val="p"/>
                        </m:rPr>
                        <a:rPr lang="fr-FR" b="0" i="1" baseline="-25000" smtClean="0">
                          <a:latin typeface="Cambria Math" panose="02040503050406030204" pitchFamily="18" charset="0"/>
                        </a:rPr>
                        <m:t>D</m:t>
                      </m:r>
                      <m:r>
                        <a:rPr lang="fr-FR" b="0" i="1" smtClean="0">
                          <a:latin typeface="Cambria Math" panose="02040503050406030204" pitchFamily="18" charset="0"/>
                        </a:rPr>
                        <m:t> = </m:t>
                      </m:r>
                      <m:rad>
                        <m:radPr>
                          <m:degHide m:val="on"/>
                          <m:ctrlPr>
                            <a:rPr lang="fr-FR" b="0" i="1" smtClean="0">
                              <a:latin typeface="Cambria Math" panose="02040503050406030204" pitchFamily="18" charset="0"/>
                            </a:rPr>
                          </m:ctrlPr>
                        </m:radPr>
                        <m:deg/>
                        <m:e>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baseline="30000" smtClean="0">
                              <a:latin typeface="Cambria Math" panose="02040503050406030204" pitchFamily="18" charset="0"/>
                            </a:rPr>
                            <m:t>2</m:t>
                          </m:r>
                          <m:r>
                            <a:rPr lang="fr-FR" b="0" i="1" smtClean="0">
                              <a:latin typeface="Cambria Math" panose="02040503050406030204" pitchFamily="18" charset="0"/>
                            </a:rPr>
                            <m:t> +</m:t>
                          </m:r>
                          <m:r>
                            <a:rPr lang="fr-FR" b="0" i="1" smtClean="0">
                              <a:highlight>
                                <a:srgbClr val="5B9BD5"/>
                              </a:highlight>
                              <a:latin typeface="Cambria Math" panose="02040503050406030204" pitchFamily="18" charset="0"/>
                            </a:rPr>
                            <m:t> 0</m:t>
                          </m:r>
                          <m:r>
                            <a:rPr lang="fr-FR" b="0" i="1" smtClean="0">
                              <a:latin typeface="Cambria Math" panose="02040503050406030204" pitchFamily="18" charset="0"/>
                            </a:rPr>
                            <m:t>²</m:t>
                          </m:r>
                          <m:r>
                            <a:rPr lang="fr-FR" b="0" i="1" smtClean="0">
                              <a:highlight>
                                <a:srgbClr val="5B9BD5"/>
                              </a:highlight>
                              <a:latin typeface="Cambria Math" panose="02040503050406030204" pitchFamily="18" charset="0"/>
                            </a:rPr>
                            <m:t> </m:t>
                          </m:r>
                        </m:e>
                      </m:rad>
                      <m:r>
                        <a:rPr lang="fr-FR" b="0" i="1" smtClean="0">
                          <a:latin typeface="Cambria Math" panose="02040503050406030204" pitchFamily="18" charset="0"/>
                        </a:rPr>
                        <m:t>=</m:t>
                      </m:r>
                      <m:r>
                        <m:rPr>
                          <m:sty m:val="p"/>
                        </m:rPr>
                        <a:rPr lang="fr-FR" i="1">
                          <a:latin typeface="Cambria Math" panose="02040503050406030204" pitchFamily="18" charset="0"/>
                        </a:rPr>
                        <m:t>σ</m:t>
                      </m:r>
                      <m:r>
                        <m:rPr>
                          <m:sty m:val="p"/>
                        </m:rPr>
                        <a:rPr lang="fr-FR" i="1" baseline="-25000">
                          <a:latin typeface="Cambria Math" panose="02040503050406030204" pitchFamily="18" charset="0"/>
                        </a:rPr>
                        <m:t>tc</m:t>
                      </m:r>
                      <m:r>
                        <a:rPr lang="fr-FR" b="0" i="1" smtClean="0">
                          <a:latin typeface="Cambria Math" panose="02040503050406030204" pitchFamily="18" charset="0"/>
                        </a:rPr>
                        <m:t>=0.87°</m:t>
                      </m:r>
                      <m:r>
                        <m:rPr>
                          <m:sty m:val="p"/>
                        </m:rPr>
                        <a:rPr lang="fr-FR" b="0" i="1" smtClean="0">
                          <a:latin typeface="Cambria Math" panose="02040503050406030204" pitchFamily="18" charset="0"/>
                        </a:rPr>
                        <m:t>C</m:t>
                      </m:r>
                    </m:oMath>
                  </m:oMathPara>
                </a14:m>
                <a:endParaRPr lang="fr-FR" dirty="0"/>
              </a:p>
              <a:p>
                <a:pPr marL="0" indent="0">
                  <a:buNone/>
                </a:pPr>
                <a:endParaRPr lang="fr-FR" dirty="0"/>
              </a:p>
              <a:p>
                <a:pPr marL="0" indent="0">
                  <a:buNone/>
                </a:pPr>
                <a:r>
                  <a:rPr lang="fr-FR" dirty="0">
                    <a:highlight>
                      <a:srgbClr val="5B9BD5"/>
                    </a:highlight>
                  </a:rPr>
                  <a:t>On considère une incertitude sur la distribution des mesures par manque d’informations</a:t>
                </a:r>
              </a:p>
            </p:txBody>
          </p:sp>
        </mc:Choice>
        <mc:Fallback xmlns="">
          <p:sp>
            <p:nvSpPr>
              <p:cNvPr id="3" name="Content Placeholder 2">
                <a:extLst>
                  <a:ext uri="{FF2B5EF4-FFF2-40B4-BE49-F238E27FC236}">
                    <a16:creationId xmlns:a16="http://schemas.microsoft.com/office/drawing/2014/main" id="{D0659431-7107-A76B-E208-96EAABE1F908}"/>
                  </a:ext>
                </a:extLst>
              </p:cNvPr>
              <p:cNvSpPr>
                <a:spLocks noGrp="1" noRot="1" noChangeAspect="1" noMove="1" noResize="1" noEditPoints="1" noAdjustHandles="1" noChangeArrowheads="1" noChangeShapeType="1" noTextEdit="1"/>
              </p:cNvSpPr>
              <p:nvPr>
                <p:ph idx="1"/>
              </p:nvPr>
            </p:nvSpPr>
            <p:spPr>
              <a:xfrm>
                <a:off x="838200" y="1825625"/>
                <a:ext cx="10515600" cy="3134995"/>
              </a:xfrm>
              <a:blipFill>
                <a:blip r:embed="rId2"/>
                <a:stretch>
                  <a:fillRect l="-928" t="-4272" b="-2718"/>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2CF3D44E-FDBD-44F9-D894-E056CB9F80B0}"/>
              </a:ext>
            </a:extLst>
          </p:cNvPr>
          <p:cNvSpPr txBox="1"/>
          <p:nvPr/>
        </p:nvSpPr>
        <p:spPr>
          <a:xfrm>
            <a:off x="838200" y="6126480"/>
            <a:ext cx="11231880" cy="369332"/>
          </a:xfrm>
          <a:prstGeom prst="rect">
            <a:avLst/>
          </a:prstGeom>
          <a:noFill/>
        </p:spPr>
        <p:txBody>
          <a:bodyPr wrap="square" rtlCol="0">
            <a:spAutoFit/>
          </a:bodyPr>
          <a:lstStyle/>
          <a:p>
            <a:r>
              <a:rPr lang="fr-FR" dirty="0"/>
              <a:t>*Source : tcsa.fr/thermocouple/type-k-thermocouple.html</a:t>
            </a:r>
            <a:endParaRPr lang="en-US" dirty="0"/>
          </a:p>
        </p:txBody>
      </p:sp>
      <p:sp>
        <p:nvSpPr>
          <p:cNvPr id="5" name="Slide Number Placeholder 4">
            <a:extLst>
              <a:ext uri="{FF2B5EF4-FFF2-40B4-BE49-F238E27FC236}">
                <a16:creationId xmlns:a16="http://schemas.microsoft.com/office/drawing/2014/main" id="{3A57C2EC-14FC-7B6E-D267-A6016DDBD7BD}"/>
              </a:ext>
            </a:extLst>
          </p:cNvPr>
          <p:cNvSpPr>
            <a:spLocks noGrp="1"/>
          </p:cNvSpPr>
          <p:nvPr>
            <p:ph type="sldNum" sz="quarter" idx="12"/>
          </p:nvPr>
        </p:nvSpPr>
        <p:spPr/>
        <p:txBody>
          <a:bodyPr/>
          <a:lstStyle/>
          <a:p>
            <a:fld id="{FD85B578-4E75-4E1C-9BE3-D5DCC0715B13}" type="slidenum">
              <a:rPr lang="fr-FR" smtClean="0"/>
              <a:t>27</a:t>
            </a:fld>
            <a:endParaRPr lang="fr-FR"/>
          </a:p>
        </p:txBody>
      </p:sp>
    </p:spTree>
    <p:extLst>
      <p:ext uri="{BB962C8B-B14F-4D97-AF65-F5344CB8AC3E}">
        <p14:creationId xmlns:p14="http://schemas.microsoft.com/office/powerpoint/2010/main" val="1539866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F4ABDAC-1290-62BE-A747-49C13C124D1C}"/>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endParaRPr lang="en-US" dirty="0"/>
              </a:p>
            </p:txBody>
          </p:sp>
        </mc:Choice>
        <mc:Fallback xmlns="">
          <p:sp>
            <p:nvSpPr>
              <p:cNvPr id="2" name="Title 1">
                <a:extLst>
                  <a:ext uri="{FF2B5EF4-FFF2-40B4-BE49-F238E27FC236}">
                    <a16:creationId xmlns:a16="http://schemas.microsoft.com/office/drawing/2014/main" id="{5F4ABDAC-1290-62BE-A747-49C13C124D1C}"/>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F3B03C2-BC51-3422-84F2-F0391762AC5A}"/>
                  </a:ext>
                </a:extLst>
              </p:cNvPr>
              <p:cNvSpPr>
                <a:spLocks noGrp="1"/>
              </p:cNvSpPr>
              <p:nvPr>
                <p:ph idx="1"/>
              </p:nvPr>
            </p:nvSpPr>
            <p:spPr>
              <a:xfrm>
                <a:off x="838200" y="1418558"/>
                <a:ext cx="10515600" cy="1902313"/>
              </a:xfrm>
            </p:spPr>
            <p:txBody>
              <a:bodyPr>
                <a:normAutofit fontScale="47500" lnSpcReduction="20000"/>
              </a:bodyPr>
              <a:lstStyle/>
              <a:p>
                <a:r>
                  <a:rPr lang="fr-FR" sz="3300" dirty="0"/>
                  <a:t>Conductivité thermique du 4340 trouvé dans la littérature : </a:t>
                </a:r>
              </a:p>
              <a:p>
                <a:pPr marL="0" indent="0">
                  <a:buNone/>
                </a:pPr>
                <a14:m>
                  <m:oMath xmlns:m="http://schemas.openxmlformats.org/officeDocument/2006/math">
                    <m:r>
                      <a:rPr lang="fr-FR" sz="3300" b="0" i="0" smtClean="0">
                        <a:latin typeface="Cambria Math" panose="02040503050406030204" pitchFamily="18" charset="0"/>
                      </a:rPr>
                      <m:t>[35,50]</m:t>
                    </m:r>
                    <m:r>
                      <a:rPr lang="fr-FR" sz="3300" i="1">
                        <a:latin typeface="Cambria Math" panose="02040503050406030204" pitchFamily="18" charset="0"/>
                      </a:rPr>
                      <m:t>𝑊</m:t>
                    </m:r>
                    <m:r>
                      <m:rPr>
                        <m:lit/>
                      </m:rPr>
                      <a:rPr lang="fr-FR" sz="3300" i="1">
                        <a:latin typeface="Cambria Math" panose="02040503050406030204" pitchFamily="18" charset="0"/>
                      </a:rPr>
                      <m:t>/</m:t>
                    </m:r>
                    <m:r>
                      <a:rPr lang="fr-FR" sz="3300" i="1">
                        <a:latin typeface="Cambria Math" panose="02040503050406030204" pitchFamily="18" charset="0"/>
                      </a:rPr>
                      <m:t>(</m:t>
                    </m:r>
                    <m:r>
                      <a:rPr lang="fr-FR" sz="3300" i="1">
                        <a:latin typeface="Cambria Math" panose="02040503050406030204" pitchFamily="18" charset="0"/>
                      </a:rPr>
                      <m:t>𝑚</m:t>
                    </m:r>
                    <m:r>
                      <a:rPr lang="fr-FR" sz="3300" i="1">
                        <a:latin typeface="Cambria Math" panose="02040503050406030204" pitchFamily="18" charset="0"/>
                      </a:rPr>
                      <m:t>⋅</m:t>
                    </m:r>
                    <m:r>
                      <m:rPr>
                        <m:sty m:val="p"/>
                      </m:rPr>
                      <a:rPr lang="fr-FR" sz="3300" i="1">
                        <a:latin typeface="Cambria Math" panose="02040503050406030204" pitchFamily="18" charset="0"/>
                      </a:rPr>
                      <m:t>K</m:t>
                    </m:r>
                    <m:r>
                      <a:rPr lang="fr-FR" sz="3300" i="1">
                        <a:latin typeface="Cambria Math" panose="02040503050406030204" pitchFamily="18" charset="0"/>
                      </a:rPr>
                      <m:t>)</m:t>
                    </m:r>
                  </m:oMath>
                </a14:m>
                <a:r>
                  <a:rPr lang="fr-FR" sz="3300" dirty="0"/>
                  <a:t> </a:t>
                </a:r>
                <a:r>
                  <a:rPr lang="fr-FR" sz="3300" dirty="0">
                    <a:sym typeface="Wingdings" panose="05000000000000000000" pitchFamily="2" charset="2"/>
                  </a:rPr>
                  <a:t> intervalle de confiance de 95.4% pour une loi normale </a:t>
                </a:r>
                <a:r>
                  <a:rPr lang="fr-FR" sz="2900" dirty="0">
                    <a:sym typeface="Wingdings" panose="05000000000000000000" pitchFamily="2" charset="2"/>
                  </a:rPr>
                  <a:t> </a:t>
                </a:r>
                <a:r>
                  <a:rPr lang="fr-FR" sz="3300" dirty="0">
                    <a:sym typeface="Wingdings" panose="05000000000000000000" pitchFamily="2" charset="2"/>
                  </a:rPr>
                  <a:t>déduction des paramètres de la loi :</a:t>
                </a:r>
                <a:endParaRPr lang="fr-FR" sz="3300" dirty="0"/>
              </a:p>
              <a:p>
                <a:pPr marL="0" indent="0">
                  <a:buNone/>
                </a:pPr>
                <a14:m>
                  <m:oMathPara xmlns:m="http://schemas.openxmlformats.org/officeDocument/2006/math">
                    <m:oMathParaPr>
                      <m:jc m:val="centerGroup"/>
                    </m:oMathParaPr>
                    <m:oMath xmlns:m="http://schemas.openxmlformats.org/officeDocument/2006/math">
                      <m:r>
                        <a:rPr lang="fr-FR" sz="3300" b="0" i="0" smtClean="0">
                          <a:latin typeface="Cambria Math" panose="02040503050406030204" pitchFamily="18" charset="0"/>
                        </a:rPr>
                        <m:t>𝑘</m:t>
                      </m:r>
                      <m:r>
                        <a:rPr lang="fr-FR" sz="3300" b="0" i="1" smtClean="0">
                          <a:latin typeface="Cambria Math" panose="02040503050406030204" pitchFamily="18" charset="0"/>
                        </a:rPr>
                        <m:t> ∼</m:t>
                      </m:r>
                      <m:r>
                        <a:rPr lang="fr-FR" sz="3300" b="0" i="1" smtClean="0">
                          <a:latin typeface="Cambria Math" panose="02040503050406030204" pitchFamily="18" charset="0"/>
                        </a:rPr>
                        <m:t>𝒩</m:t>
                      </m:r>
                      <m:r>
                        <a:rPr lang="fr-FR" sz="3300" b="0" i="1" smtClean="0">
                          <a:latin typeface="Cambria Math" panose="02040503050406030204" pitchFamily="18" charset="0"/>
                        </a:rPr>
                        <m:t>(42.5,3.75) </m:t>
                      </m:r>
                      <m:r>
                        <a:rPr lang="fr-FR" sz="3300" b="0" i="1" smtClean="0">
                          <a:latin typeface="Cambria Math" panose="02040503050406030204" pitchFamily="18" charset="0"/>
                        </a:rPr>
                        <m:t>𝑊</m:t>
                      </m:r>
                      <m:r>
                        <m:rPr>
                          <m:lit/>
                        </m:rPr>
                        <a:rPr lang="fr-FR" sz="3300" b="0" i="1" smtClean="0">
                          <a:latin typeface="Cambria Math" panose="02040503050406030204" pitchFamily="18" charset="0"/>
                        </a:rPr>
                        <m:t>/</m:t>
                      </m:r>
                      <m:r>
                        <a:rPr lang="fr-FR" sz="3300" b="0" i="1" smtClean="0">
                          <a:latin typeface="Cambria Math" panose="02040503050406030204" pitchFamily="18" charset="0"/>
                        </a:rPr>
                        <m:t>(</m:t>
                      </m:r>
                      <m:r>
                        <a:rPr lang="fr-FR" sz="3300" b="0" i="1" smtClean="0">
                          <a:latin typeface="Cambria Math" panose="02040503050406030204" pitchFamily="18" charset="0"/>
                        </a:rPr>
                        <m:t>𝑚</m:t>
                      </m:r>
                      <m:r>
                        <a:rPr lang="fr-FR" sz="3300" b="0" i="1" smtClean="0">
                          <a:latin typeface="Cambria Math" panose="02040503050406030204" pitchFamily="18" charset="0"/>
                        </a:rPr>
                        <m:t>⋅</m:t>
                      </m:r>
                      <m:r>
                        <m:rPr>
                          <m:sty m:val="p"/>
                        </m:rPr>
                        <a:rPr lang="fr-FR" sz="3300" b="0" i="1" smtClean="0">
                          <a:latin typeface="Cambria Math" panose="02040503050406030204" pitchFamily="18" charset="0"/>
                        </a:rPr>
                        <m:t>K</m:t>
                      </m:r>
                      <m:r>
                        <a:rPr lang="fr-FR" sz="3300" b="0" i="1" smtClean="0">
                          <a:latin typeface="Cambria Math" panose="02040503050406030204" pitchFamily="18" charset="0"/>
                        </a:rPr>
                        <m:t>)</m:t>
                      </m:r>
                    </m:oMath>
                  </m:oMathPara>
                </a14:m>
                <a:endParaRPr lang="en-US" sz="3300" dirty="0"/>
              </a:p>
              <a:p>
                <a:r>
                  <a:rPr lang="en-US" sz="3300" dirty="0" err="1"/>
                  <a:t>Emissivité</a:t>
                </a:r>
                <a:r>
                  <a:rPr lang="en-US" sz="3300" dirty="0"/>
                  <a:t> d’un 4340 trouvé dans la </a:t>
                </a:r>
                <a:r>
                  <a:rPr lang="en-US" sz="3300" dirty="0" err="1"/>
                  <a:t>littérature</a:t>
                </a:r>
                <a:r>
                  <a:rPr lang="en-US" sz="3300" dirty="0"/>
                  <a:t> :</a:t>
                </a:r>
              </a:p>
              <a:p>
                <a:pPr marL="0" indent="0">
                  <a:buNone/>
                </a:pPr>
                <a:r>
                  <a:rPr lang="en-US" sz="3300" dirty="0"/>
                  <a:t>[0.15,0.9] </a:t>
                </a:r>
                <a:r>
                  <a:rPr lang="en-US" sz="3300" dirty="0">
                    <a:sym typeface="Wingdings" panose="05000000000000000000" pitchFamily="2" charset="2"/>
                  </a:rPr>
                  <a:t> </a:t>
                </a:r>
                <a:r>
                  <a:rPr lang="en-US" sz="3300" dirty="0" err="1">
                    <a:sym typeface="Wingdings" panose="05000000000000000000" pitchFamily="2" charset="2"/>
                  </a:rPr>
                  <a:t>intervalle</a:t>
                </a:r>
                <a:r>
                  <a:rPr lang="en-US" sz="3300" dirty="0">
                    <a:sym typeface="Wingdings" panose="05000000000000000000" pitchFamily="2" charset="2"/>
                  </a:rPr>
                  <a:t> de </a:t>
                </a:r>
                <a:r>
                  <a:rPr lang="en-US" sz="3300" dirty="0" err="1">
                    <a:sym typeface="Wingdings" panose="05000000000000000000" pitchFamily="2" charset="2"/>
                  </a:rPr>
                  <a:t>confiance</a:t>
                </a:r>
                <a:r>
                  <a:rPr lang="en-US" sz="3300" dirty="0">
                    <a:sym typeface="Wingdings" panose="05000000000000000000" pitchFamily="2" charset="2"/>
                  </a:rPr>
                  <a:t> à 95.4% pour </a:t>
                </a:r>
                <a:r>
                  <a:rPr lang="en-US" sz="3300" dirty="0" err="1">
                    <a:sym typeface="Wingdings" panose="05000000000000000000" pitchFamily="2" charset="2"/>
                  </a:rPr>
                  <a:t>une</a:t>
                </a:r>
                <a:r>
                  <a:rPr lang="en-US" sz="3300" dirty="0">
                    <a:sym typeface="Wingdings" panose="05000000000000000000" pitchFamily="2" charset="2"/>
                  </a:rPr>
                  <a:t> </a:t>
                </a:r>
                <a:r>
                  <a:rPr lang="en-US" sz="3300" dirty="0" err="1"/>
                  <a:t>loi</a:t>
                </a:r>
                <a:r>
                  <a:rPr lang="en-US" sz="3300" dirty="0"/>
                  <a:t> </a:t>
                </a:r>
                <a:r>
                  <a:rPr lang="en-US" sz="3300" dirty="0" err="1"/>
                  <a:t>normale</a:t>
                </a:r>
                <a:r>
                  <a:rPr lang="en-US" sz="3300" dirty="0"/>
                  <a:t> </a:t>
                </a:r>
                <a:r>
                  <a:rPr lang="fr-FR" sz="2900" dirty="0">
                    <a:sym typeface="Wingdings" panose="05000000000000000000" pitchFamily="2" charset="2"/>
                  </a:rPr>
                  <a:t> </a:t>
                </a:r>
                <a:r>
                  <a:rPr lang="fr-FR" sz="3300" dirty="0">
                    <a:sym typeface="Wingdings" panose="05000000000000000000" pitchFamily="2" charset="2"/>
                  </a:rPr>
                  <a:t>déduction des paramètres de la loi :</a:t>
                </a:r>
                <a:endParaRPr lang="en-US" sz="3300" dirty="0"/>
              </a:p>
              <a:p>
                <a:pPr marL="0" indent="0" algn="ctr">
                  <a:buNone/>
                </a:pPr>
                <a14:m>
                  <m:oMathPara xmlns:m="http://schemas.openxmlformats.org/officeDocument/2006/math">
                    <m:oMathParaPr>
                      <m:jc m:val="centerGroup"/>
                    </m:oMathParaPr>
                    <m:oMath xmlns:m="http://schemas.openxmlformats.org/officeDocument/2006/math">
                      <m:r>
                        <a:rPr lang="fr-FR" sz="3300" b="0" i="1" smtClean="0">
                          <a:latin typeface="Cambria Math" panose="02040503050406030204" pitchFamily="18" charset="0"/>
                        </a:rPr>
                        <m:t>𝜀</m:t>
                      </m:r>
                      <m:r>
                        <a:rPr lang="fr-FR" sz="3300" i="1">
                          <a:latin typeface="Cambria Math" panose="02040503050406030204" pitchFamily="18" charset="0"/>
                        </a:rPr>
                        <m:t>∼</m:t>
                      </m:r>
                      <m:r>
                        <a:rPr lang="fr-FR" sz="3300" i="1">
                          <a:latin typeface="Cambria Math" panose="02040503050406030204" pitchFamily="18" charset="0"/>
                        </a:rPr>
                        <m:t>𝒩</m:t>
                      </m:r>
                      <m:d>
                        <m:dPr>
                          <m:ctrlPr>
                            <a:rPr lang="fr-FR" sz="3300" b="0" i="1" smtClean="0">
                              <a:latin typeface="Cambria Math" panose="02040503050406030204" pitchFamily="18" charset="0"/>
                            </a:rPr>
                          </m:ctrlPr>
                        </m:dPr>
                        <m:e>
                          <m:r>
                            <a:rPr lang="fr-FR" sz="3300" b="0" i="1" smtClean="0">
                              <a:latin typeface="Cambria Math" panose="02040503050406030204" pitchFamily="18" charset="0"/>
                            </a:rPr>
                            <m:t>0.525,0.19</m:t>
                          </m:r>
                        </m:e>
                      </m:d>
                    </m:oMath>
                  </m:oMathPara>
                </a14:m>
                <a:endParaRPr lang="fr-FR" sz="3300" b="0" dirty="0"/>
              </a:p>
              <a:p>
                <a:pPr marL="0" indent="0">
                  <a:buNone/>
                </a:pPr>
                <a:r>
                  <a:rPr lang="fr-FR" sz="3300" dirty="0"/>
                  <a:t>Par la méthode de Monte Carlo en travaillant sur la température moyenne de surface :</a:t>
                </a:r>
                <a:endParaRPr lang="fr-FR" sz="3300" b="0" dirty="0"/>
              </a:p>
              <a:p>
                <a:pPr marL="0" indent="0" algn="ctr">
                  <a:buNone/>
                </a:pPr>
                <a:endParaRPr lang="en-US" dirty="0"/>
              </a:p>
            </p:txBody>
          </p:sp>
        </mc:Choice>
        <mc:Fallback>
          <p:sp>
            <p:nvSpPr>
              <p:cNvPr id="3" name="Content Placeholder 2">
                <a:extLst>
                  <a:ext uri="{FF2B5EF4-FFF2-40B4-BE49-F238E27FC236}">
                    <a16:creationId xmlns:a16="http://schemas.microsoft.com/office/drawing/2014/main" id="{FF3B03C2-BC51-3422-84F2-F0391762AC5A}"/>
                  </a:ext>
                </a:extLst>
              </p:cNvPr>
              <p:cNvSpPr>
                <a:spLocks noGrp="1" noRot="1" noChangeAspect="1" noMove="1" noResize="1" noEditPoints="1" noAdjustHandles="1" noChangeArrowheads="1" noChangeShapeType="1" noTextEdit="1"/>
              </p:cNvSpPr>
              <p:nvPr>
                <p:ph idx="1"/>
              </p:nvPr>
            </p:nvSpPr>
            <p:spPr>
              <a:xfrm>
                <a:off x="838200" y="1418558"/>
                <a:ext cx="10515600" cy="1902313"/>
              </a:xfrm>
              <a:blipFill>
                <a:blip r:embed="rId3"/>
                <a:stretch>
                  <a:fillRect l="-348" t="-4167" b="-416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ED20CE4-3C39-9D44-374C-AC20D7FBAB84}"/>
              </a:ext>
            </a:extLst>
          </p:cNvPr>
          <p:cNvPicPr>
            <a:picLocks noChangeAspect="1"/>
          </p:cNvPicPr>
          <p:nvPr/>
        </p:nvPicPr>
        <p:blipFill>
          <a:blip r:embed="rId4">
            <a:extLst>
              <a:ext uri="{28A0092B-C50C-407E-A947-70E740481C1C}">
                <a14:useLocalDpi xmlns:a14="http://schemas.microsoft.com/office/drawing/2010/main" val="0"/>
              </a:ext>
            </a:extLst>
          </a:blip>
          <a:srcRect t="5346" r="67245"/>
          <a:stretch>
            <a:fillRect/>
          </a:stretch>
        </p:blipFill>
        <p:spPr>
          <a:xfrm>
            <a:off x="667378" y="3428999"/>
            <a:ext cx="3522785" cy="3307393"/>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5311083-8219-5CC9-7AD5-1BA45AE6D7E6}"/>
                  </a:ext>
                </a:extLst>
              </p:cNvPr>
              <p:cNvSpPr txBox="1"/>
              <p:nvPr/>
            </p:nvSpPr>
            <p:spPr>
              <a:xfrm>
                <a:off x="5556738" y="3320871"/>
                <a:ext cx="5967884" cy="795539"/>
              </a:xfrm>
              <a:prstGeom prst="rect">
                <a:avLst/>
              </a:prstGeom>
              <a:noFill/>
            </p:spPr>
            <p:txBody>
              <a:bodyPr wrap="square" rtlCol="0">
                <a:spAutoFit/>
              </a:bodyPr>
              <a:lstStyle/>
              <a:p>
                <a14:m>
                  <m:oMath xmlns:m="http://schemas.openxmlformats.org/officeDocument/2006/math">
                    <m:sSub>
                      <m:sSubPr>
                        <m:ctrlPr>
                          <a:rPr lang="fr-FR" sz="2200" b="0" i="1" smtClean="0">
                            <a:latin typeface="Cambria Math" panose="02040503050406030204" pitchFamily="18" charset="0"/>
                          </a:rPr>
                        </m:ctrlPr>
                      </m:sSubPr>
                      <m:e>
                        <m:r>
                          <a:rPr lang="fr-FR" sz="2200" b="0" i="1" smtClean="0">
                            <a:latin typeface="Cambria Math" panose="02040503050406030204" pitchFamily="18" charset="0"/>
                          </a:rPr>
                          <m:t>𝑢</m:t>
                        </m:r>
                      </m:e>
                      <m:sub>
                        <m:r>
                          <a:rPr lang="fr-FR" sz="2200" b="0" i="1" smtClean="0">
                            <a:latin typeface="Cambria Math" panose="02040503050406030204" pitchFamily="18" charset="0"/>
                          </a:rPr>
                          <m:t>𝑖𝑛𝑝𝑢𝑡</m:t>
                        </m:r>
                      </m:sub>
                    </m:sSub>
                    <m:r>
                      <a:rPr lang="fr-FR" sz="2200" b="0" i="1" smtClean="0">
                        <a:latin typeface="Cambria Math" panose="02040503050406030204" pitchFamily="18" charset="0"/>
                      </a:rPr>
                      <m:t>=44.91 </m:t>
                    </m:r>
                    <m:r>
                      <m:rPr>
                        <m:sty m:val="p"/>
                      </m:rPr>
                      <a:rPr lang="fr-FR" sz="2200" b="0" i="0" smtClean="0">
                        <a:latin typeface="Cambria Math" panose="02040503050406030204" pitchFamily="18" charset="0"/>
                      </a:rPr>
                      <m:t>K</m:t>
                    </m:r>
                  </m:oMath>
                </a14:m>
                <a:r>
                  <a:rPr lang="en-US" sz="2200" dirty="0"/>
                  <a:t> </a:t>
                </a:r>
              </a:p>
              <a:p>
                <a:r>
                  <a:rPr lang="en-US" sz="2200" dirty="0"/>
                  <a:t>Effort à faire sur </a:t>
                </a:r>
                <a:r>
                  <a:rPr lang="en-US" sz="2200" dirty="0" err="1"/>
                  <a:t>l’incertitude</a:t>
                </a:r>
                <a:r>
                  <a:rPr lang="en-US" sz="2200" dirty="0"/>
                  <a:t> de </a:t>
                </a:r>
                <a14:m>
                  <m:oMath xmlns:m="http://schemas.openxmlformats.org/officeDocument/2006/math">
                    <m:r>
                      <m:rPr>
                        <m:sty m:val="p"/>
                      </m:rPr>
                      <a:rPr lang="fr-FR" sz="2200" b="0" i="1" smtClean="0">
                        <a:latin typeface="Cambria Math" panose="02040503050406030204" pitchFamily="18" charset="0"/>
                      </a:rPr>
                      <m:t>ε</m:t>
                    </m:r>
                  </m:oMath>
                </a14:m>
                <a:r>
                  <a:rPr lang="en-US" sz="2200" dirty="0"/>
                  <a:t> </a:t>
                </a:r>
              </a:p>
            </p:txBody>
          </p:sp>
        </mc:Choice>
        <mc:Fallback xmlns="">
          <p:sp>
            <p:nvSpPr>
              <p:cNvPr id="6" name="TextBox 5">
                <a:extLst>
                  <a:ext uri="{FF2B5EF4-FFF2-40B4-BE49-F238E27FC236}">
                    <a16:creationId xmlns:a16="http://schemas.microsoft.com/office/drawing/2014/main" id="{E5311083-8219-5CC9-7AD5-1BA45AE6D7E6}"/>
                  </a:ext>
                </a:extLst>
              </p:cNvPr>
              <p:cNvSpPr txBox="1">
                <a:spLocks noRot="1" noChangeAspect="1" noMove="1" noResize="1" noEditPoints="1" noAdjustHandles="1" noChangeArrowheads="1" noChangeShapeType="1" noTextEdit="1"/>
              </p:cNvSpPr>
              <p:nvPr/>
            </p:nvSpPr>
            <p:spPr>
              <a:xfrm>
                <a:off x="5556738" y="3320871"/>
                <a:ext cx="5967884" cy="795539"/>
              </a:xfrm>
              <a:prstGeom prst="rect">
                <a:avLst/>
              </a:prstGeom>
              <a:blipFill>
                <a:blip r:embed="rId5"/>
                <a:stretch>
                  <a:fillRect l="-1328" t="-3846" b="-15385"/>
                </a:stretch>
              </a:blipFill>
            </p:spPr>
            <p:txBody>
              <a:bodyPr/>
              <a:lstStyle/>
              <a:p>
                <a:r>
                  <a:rPr lang="en-US">
                    <a:noFill/>
                  </a:rPr>
                  <a:t> </a:t>
                </a:r>
              </a:p>
            </p:txBody>
          </p:sp>
        </mc:Fallback>
      </mc:AlternateContent>
      <p:pic>
        <p:nvPicPr>
          <p:cNvPr id="10" name="Content Placeholder 4">
            <a:extLst>
              <a:ext uri="{FF2B5EF4-FFF2-40B4-BE49-F238E27FC236}">
                <a16:creationId xmlns:a16="http://schemas.microsoft.com/office/drawing/2014/main" id="{E6568F1A-BFDC-4D6C-F765-418948158524}"/>
              </a:ext>
            </a:extLst>
          </p:cNvPr>
          <p:cNvPicPr>
            <a:picLocks noChangeAspect="1"/>
          </p:cNvPicPr>
          <p:nvPr/>
        </p:nvPicPr>
        <p:blipFill>
          <a:blip r:embed="rId4">
            <a:extLst>
              <a:ext uri="{28A0092B-C50C-407E-A947-70E740481C1C}">
                <a14:useLocalDpi xmlns:a14="http://schemas.microsoft.com/office/drawing/2010/main" val="0"/>
              </a:ext>
            </a:extLst>
          </a:blip>
          <a:srcRect l="32515" t="8282"/>
          <a:stretch>
            <a:fillRect/>
          </a:stretch>
        </p:blipFill>
        <p:spPr>
          <a:xfrm>
            <a:off x="5652467" y="4400835"/>
            <a:ext cx="5120148" cy="2260801"/>
          </a:xfrm>
          <a:prstGeom prst="rect">
            <a:avLst/>
          </a:prstGeom>
        </p:spPr>
      </p:pic>
      <p:sp>
        <p:nvSpPr>
          <p:cNvPr id="4" name="Slide Number Placeholder 3">
            <a:extLst>
              <a:ext uri="{FF2B5EF4-FFF2-40B4-BE49-F238E27FC236}">
                <a16:creationId xmlns:a16="http://schemas.microsoft.com/office/drawing/2014/main" id="{8E37EE47-0995-E8D7-E735-E1DCAE1037BC}"/>
              </a:ext>
            </a:extLst>
          </p:cNvPr>
          <p:cNvSpPr>
            <a:spLocks noGrp="1"/>
          </p:cNvSpPr>
          <p:nvPr>
            <p:ph type="sldNum" sz="quarter" idx="12"/>
          </p:nvPr>
        </p:nvSpPr>
        <p:spPr/>
        <p:txBody>
          <a:bodyPr/>
          <a:lstStyle/>
          <a:p>
            <a:fld id="{FD85B578-4E75-4E1C-9BE3-D5DCC0715B13}" type="slidenum">
              <a:rPr lang="fr-FR" smtClean="0"/>
              <a:t>28</a:t>
            </a:fld>
            <a:endParaRPr lang="fr-FR"/>
          </a:p>
        </p:txBody>
      </p:sp>
    </p:spTree>
    <p:extLst>
      <p:ext uri="{BB962C8B-B14F-4D97-AF65-F5344CB8AC3E}">
        <p14:creationId xmlns:p14="http://schemas.microsoft.com/office/powerpoint/2010/main" val="28109578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66820A09-0F49-B31F-9AA1-11B0ABCFF4D4}"/>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𝑖𝑛𝑝𝑢𝑡</m:t>
                        </m:r>
                      </m:sub>
                    </m:sSub>
                  </m:oMath>
                </a14:m>
                <a:endParaRPr lang="en-US" dirty="0"/>
              </a:p>
            </p:txBody>
          </p:sp>
        </mc:Choice>
        <mc:Fallback>
          <p:sp>
            <p:nvSpPr>
              <p:cNvPr id="2" name="Title 1">
                <a:extLst>
                  <a:ext uri="{FF2B5EF4-FFF2-40B4-BE49-F238E27FC236}">
                    <a16:creationId xmlns:a16="http://schemas.microsoft.com/office/drawing/2014/main" id="{66820A09-0F49-B31F-9AA1-11B0ABCFF4D4}"/>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BB71198-7608-579F-B3DD-7C7CBD28912F}"/>
                  </a:ext>
                </a:extLst>
              </p:cNvPr>
              <p:cNvSpPr>
                <a:spLocks noGrp="1"/>
              </p:cNvSpPr>
              <p:nvPr>
                <p:ph idx="1"/>
              </p:nvPr>
            </p:nvSpPr>
            <p:spPr>
              <a:xfrm>
                <a:off x="838200" y="1825625"/>
                <a:ext cx="10515600" cy="1462085"/>
              </a:xfrm>
            </p:spPr>
            <p:txBody>
              <a:bodyPr>
                <a:normAutofit fontScale="92500"/>
              </a:bodyPr>
              <a:lstStyle/>
              <a:p>
                <a:r>
                  <a:rPr lang="fr-FR" dirty="0"/>
                  <a:t>Par une méthode moins conservatrice en considérant les intervalles des valeurs trouvé dans la littérature comme des intervalles de confiance à 99% il est possible de réduire considérablement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𝑖𝑛𝑝𝑢𝑡</m:t>
                        </m:r>
                      </m:sub>
                    </m:sSub>
                  </m:oMath>
                </a14:m>
                <a:endParaRPr lang="en-US" dirty="0"/>
              </a:p>
            </p:txBody>
          </p:sp>
        </mc:Choice>
        <mc:Fallback>
          <p:sp>
            <p:nvSpPr>
              <p:cNvPr id="3" name="Content Placeholder 2">
                <a:extLst>
                  <a:ext uri="{FF2B5EF4-FFF2-40B4-BE49-F238E27FC236}">
                    <a16:creationId xmlns:a16="http://schemas.microsoft.com/office/drawing/2014/main" id="{7BB71198-7608-579F-B3DD-7C7CBD28912F}"/>
                  </a:ext>
                </a:extLst>
              </p:cNvPr>
              <p:cNvSpPr>
                <a:spLocks noGrp="1" noRot="1" noChangeAspect="1" noMove="1" noResize="1" noEditPoints="1" noAdjustHandles="1" noChangeArrowheads="1" noChangeShapeType="1" noTextEdit="1"/>
              </p:cNvSpPr>
              <p:nvPr>
                <p:ph idx="1"/>
              </p:nvPr>
            </p:nvSpPr>
            <p:spPr>
              <a:xfrm>
                <a:off x="838200" y="1825625"/>
                <a:ext cx="10515600" cy="1462085"/>
              </a:xfrm>
              <a:blipFill>
                <a:blip r:embed="rId3"/>
                <a:stretch>
                  <a:fillRect l="-928" t="-625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1EA1BFD-A6AF-4A14-34C0-65467A1D021C}"/>
              </a:ext>
            </a:extLst>
          </p:cNvPr>
          <p:cNvSpPr>
            <a:spLocks noGrp="1"/>
          </p:cNvSpPr>
          <p:nvPr>
            <p:ph type="sldNum" sz="quarter" idx="12"/>
          </p:nvPr>
        </p:nvSpPr>
        <p:spPr/>
        <p:txBody>
          <a:bodyPr/>
          <a:lstStyle/>
          <a:p>
            <a:fld id="{FD85B578-4E75-4E1C-9BE3-D5DCC0715B13}" type="slidenum">
              <a:rPr lang="fr-FR" smtClean="0"/>
              <a:t>29</a:t>
            </a:fld>
            <a:endParaRPr lang="fr-FR" dirty="0"/>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0E9DB5F-EBD0-D834-D4ED-493307BE600E}"/>
                  </a:ext>
                </a:extLst>
              </p:cNvPr>
              <p:cNvSpPr txBox="1"/>
              <p:nvPr/>
            </p:nvSpPr>
            <p:spPr>
              <a:xfrm>
                <a:off x="501445" y="5642899"/>
                <a:ext cx="7076768" cy="849976"/>
              </a:xfrm>
              <a:prstGeom prst="rect">
                <a:avLst/>
              </a:prstGeom>
              <a:noFill/>
            </p:spPr>
            <p:txBody>
              <a:bodyPr wrap="square" rtlCol="0">
                <a:spAutoFit/>
              </a:bodyPr>
              <a:lstStyle/>
              <a:p>
                <a:r>
                  <a:rPr lang="fr-FR" sz="1600" b="0" i="1" dirty="0">
                    <a:latin typeface="Cambria Math" panose="02040503050406030204" pitchFamily="18" charset="0"/>
                  </a:rPr>
                  <a:t>Résultat pour intervalle de confian</a:t>
                </a:r>
                <a:r>
                  <a:rPr lang="fr-FR" sz="1600" i="1" dirty="0">
                    <a:latin typeface="Cambria Math" panose="02040503050406030204" pitchFamily="18" charset="0"/>
                  </a:rPr>
                  <a:t>ce à 99%</a:t>
                </a:r>
                <a:endParaRPr lang="fr-FR" sz="1600" b="0" i="1" dirty="0">
                  <a:latin typeface="Cambria Math" panose="02040503050406030204" pitchFamily="18" charset="0"/>
                </a:endParaRPr>
              </a:p>
              <a:p>
                <a14:m>
                  <m:oMath xmlns:m="http://schemas.openxmlformats.org/officeDocument/2006/math">
                    <m:sSub>
                      <m:sSubPr>
                        <m:ctrlPr>
                          <a:rPr lang="fr-FR" sz="1600" b="0" i="1" smtClean="0">
                            <a:latin typeface="Cambria Math" panose="02040503050406030204" pitchFamily="18" charset="0"/>
                          </a:rPr>
                        </m:ctrlPr>
                      </m:sSubPr>
                      <m:e>
                        <m:r>
                          <a:rPr lang="fr-FR" sz="1600" b="0" i="1" smtClean="0">
                            <a:latin typeface="Cambria Math" panose="02040503050406030204" pitchFamily="18" charset="0"/>
                          </a:rPr>
                          <m:t>𝑢</m:t>
                        </m:r>
                      </m:e>
                      <m:sub>
                        <m:r>
                          <a:rPr lang="fr-FR" sz="1600" b="0" i="1" smtClean="0">
                            <a:latin typeface="Cambria Math" panose="02040503050406030204" pitchFamily="18" charset="0"/>
                          </a:rPr>
                          <m:t>𝑖𝑛𝑝𝑢𝑡</m:t>
                        </m:r>
                      </m:sub>
                    </m:sSub>
                    <m:r>
                      <a:rPr lang="fr-FR" sz="1600" b="0" i="1" smtClean="0">
                        <a:latin typeface="Cambria Math" panose="02040503050406030204" pitchFamily="18" charset="0"/>
                      </a:rPr>
                      <m:t>=</m:t>
                    </m:r>
                    <m:r>
                      <a:rPr lang="fr-FR" sz="1600" b="0" i="1" smtClean="0">
                        <a:latin typeface="Cambria Math" panose="02040503050406030204" pitchFamily="18" charset="0"/>
                      </a:rPr>
                      <m:t>13.1</m:t>
                    </m:r>
                    <m:r>
                      <a:rPr lang="fr-FR" sz="1600" b="0" i="1" smtClean="0">
                        <a:latin typeface="Cambria Math" panose="02040503050406030204" pitchFamily="18" charset="0"/>
                      </a:rPr>
                      <m:t> </m:t>
                    </m:r>
                    <m:r>
                      <m:rPr>
                        <m:sty m:val="p"/>
                      </m:rPr>
                      <a:rPr lang="fr-FR" sz="1600" b="0" i="1" smtClean="0">
                        <a:latin typeface="Cambria Math" panose="02040503050406030204" pitchFamily="18" charset="0"/>
                      </a:rPr>
                      <m:t>K</m:t>
                    </m:r>
                  </m:oMath>
                </a14:m>
                <a:r>
                  <a:rPr lang="en-US" sz="1600" dirty="0"/>
                  <a:t> pour </a:t>
                </a:r>
                <a14:m>
                  <m:oMath xmlns:m="http://schemas.openxmlformats.org/officeDocument/2006/math">
                    <m:sSub>
                      <m:sSubPr>
                        <m:ctrlPr>
                          <a:rPr lang="fr-FR" sz="1600" b="0" i="1" smtClean="0">
                            <a:latin typeface="Cambria Math" panose="02040503050406030204" pitchFamily="18" charset="0"/>
                          </a:rPr>
                        </m:ctrlPr>
                      </m:sSubPr>
                      <m:e>
                        <m:r>
                          <a:rPr lang="fr-FR" sz="1600" b="0" i="1" smtClean="0">
                            <a:latin typeface="Cambria Math" panose="02040503050406030204" pitchFamily="18" charset="0"/>
                          </a:rPr>
                          <m:t>𝜎</m:t>
                        </m:r>
                      </m:e>
                      <m:sub>
                        <m:r>
                          <a:rPr lang="fr-FR" sz="1600" b="0" i="1" smtClean="0">
                            <a:latin typeface="Cambria Math" panose="02040503050406030204" pitchFamily="18" charset="0"/>
                          </a:rPr>
                          <m:t>𝜀</m:t>
                        </m:r>
                      </m:sub>
                    </m:sSub>
                    <m:r>
                      <a:rPr lang="fr-FR" sz="1600" b="0" i="1" smtClean="0">
                        <a:latin typeface="Cambria Math" panose="02040503050406030204" pitchFamily="18" charset="0"/>
                      </a:rPr>
                      <m:t>=0.0</m:t>
                    </m:r>
                    <m:r>
                      <a:rPr lang="fr-FR" sz="1600" b="0" i="1" smtClean="0">
                        <a:latin typeface="Cambria Math" panose="02040503050406030204" pitchFamily="18" charset="0"/>
                      </a:rPr>
                      <m:t>7</m:t>
                    </m:r>
                    <m:r>
                      <a:rPr lang="fr-FR" sz="1600" b="1" i="1" smtClean="0">
                        <a:latin typeface="Cambria Math" panose="02040503050406030204" pitchFamily="18" charset="0"/>
                      </a:rPr>
                      <m:t>5 </m:t>
                    </m:r>
                    <m:r>
                      <m:rPr>
                        <m:sty m:val="p"/>
                      </m:rPr>
                      <a:rPr lang="fr-FR" sz="1600" b="1" i="1" smtClean="0">
                        <a:latin typeface="Cambria Math" panose="02040503050406030204" pitchFamily="18" charset="0"/>
                      </a:rPr>
                      <m:t>et</m:t>
                    </m:r>
                    <m:r>
                      <a:rPr lang="fr-FR" sz="1600" b="1" i="1" smtClean="0">
                        <a:latin typeface="Cambria Math" panose="02040503050406030204" pitchFamily="18" charset="0"/>
                      </a:rPr>
                      <m:t> </m:t>
                    </m:r>
                    <m:r>
                      <m:rPr>
                        <m:sty m:val="p"/>
                      </m:rPr>
                      <a:rPr lang="fr-FR" sz="1600" b="1" i="1" smtClean="0">
                        <a:latin typeface="Cambria Math" panose="02040503050406030204" pitchFamily="18" charset="0"/>
                      </a:rPr>
                      <m:t>σk</m:t>
                    </m:r>
                    <m:r>
                      <a:rPr lang="fr-FR" sz="1600" b="1" i="1" smtClean="0">
                        <a:latin typeface="Cambria Math" panose="02040503050406030204" pitchFamily="18" charset="0"/>
                      </a:rPr>
                      <m:t> = 2.5</m:t>
                    </m:r>
                    <m:r>
                      <a:rPr lang="en-US" sz="1600" b="1" i="1">
                        <a:latin typeface="Cambria Math" panose="02040503050406030204" pitchFamily="18" charset="0"/>
                      </a:rPr>
                      <m:t>⇒</m:t>
                    </m:r>
                    <m:sSub>
                      <m:sSubPr>
                        <m:ctrlPr>
                          <a:rPr lang="fr-FR" sz="1600" b="1" i="1" smtClean="0">
                            <a:latin typeface="Cambria Math" panose="02040503050406030204" pitchFamily="18" charset="0"/>
                          </a:rPr>
                        </m:ctrlPr>
                      </m:sSubPr>
                      <m:e>
                        <m:r>
                          <a:rPr lang="fr-FR" sz="1600" b="1" i="1" smtClean="0">
                            <a:latin typeface="Cambria Math" panose="02040503050406030204" pitchFamily="18" charset="0"/>
                          </a:rPr>
                          <m:t>𝒖</m:t>
                        </m:r>
                      </m:e>
                      <m:sub>
                        <m:r>
                          <a:rPr lang="fr-FR" sz="1600" b="1" i="1" smtClean="0">
                            <a:latin typeface="Cambria Math" panose="02040503050406030204" pitchFamily="18" charset="0"/>
                          </a:rPr>
                          <m:t>𝒗𝒂𝒍</m:t>
                        </m:r>
                      </m:sub>
                    </m:sSub>
                    <m:r>
                      <a:rPr lang="fr-FR" sz="1600" b="1" i="1" smtClean="0">
                        <a:latin typeface="Cambria Math" panose="02040503050406030204" pitchFamily="18" charset="0"/>
                      </a:rPr>
                      <m:t>=</m:t>
                    </m:r>
                    <m:r>
                      <a:rPr lang="fr-FR" sz="1600" b="1" i="1" smtClean="0">
                        <a:latin typeface="Cambria Math" panose="02040503050406030204" pitchFamily="18" charset="0"/>
                      </a:rPr>
                      <m:t>13.13 </m:t>
                    </m:r>
                    <m:r>
                      <a:rPr lang="fr-FR" sz="1600" b="1" i="1" smtClean="0">
                        <a:latin typeface="Cambria Math" panose="02040503050406030204" pitchFamily="18" charset="0"/>
                      </a:rPr>
                      <m:t>𝑲</m:t>
                    </m:r>
                  </m:oMath>
                </a14:m>
                <a:endParaRPr lang="en-US" sz="1600" dirty="0"/>
              </a:p>
              <a:p>
                <a:r>
                  <a:rPr lang="en-US" sz="1600" dirty="0"/>
                  <a:t> </a:t>
                </a:r>
                <a14:m>
                  <m:oMath xmlns:m="http://schemas.openxmlformats.org/officeDocument/2006/math">
                    <m:r>
                      <a:rPr lang="en-US" sz="1600" b="1" i="1">
                        <a:latin typeface="Cambria Math" panose="02040503050406030204" pitchFamily="18" charset="0"/>
                      </a:rPr>
                      <m:t>⇒</m:t>
                    </m:r>
                    <m:r>
                      <m:rPr>
                        <m:nor/>
                      </m:rPr>
                      <a:rPr lang="en-US" sz="1600" dirty="0"/>
                      <m:t>−</m:t>
                    </m:r>
                    <m:r>
                      <m:rPr>
                        <m:nor/>
                      </m:rPr>
                      <a:rPr lang="fr-FR" sz="1600" b="0" i="0" dirty="0" smtClean="0"/>
                      <m:t>14.5</m:t>
                    </m:r>
                    <m:r>
                      <m:rPr>
                        <m:nor/>
                      </m:rPr>
                      <a:rPr lang="en-US" sz="1600" dirty="0"/>
                      <m:t> </m:t>
                    </m:r>
                    <m:r>
                      <m:rPr>
                        <m:nor/>
                      </m:rPr>
                      <a:rPr lang="en-US" sz="1600" dirty="0"/>
                      <m:t>K</m:t>
                    </m:r>
                    <m:r>
                      <m:rPr>
                        <m:nor/>
                      </m:rPr>
                      <a:rPr lang="en-US" sz="1600" dirty="0"/>
                      <m:t> &lt;</m:t>
                    </m:r>
                    <m:sSub>
                      <m:sSubPr>
                        <m:ctrlPr>
                          <a:rPr lang="fr-FR" sz="1600" i="1">
                            <a:latin typeface="Cambria Math" panose="02040503050406030204" pitchFamily="18" charset="0"/>
                          </a:rPr>
                        </m:ctrlPr>
                      </m:sSubPr>
                      <m:e>
                        <m:r>
                          <a:rPr lang="fr-FR" sz="1600" b="0" i="1" smtClean="0">
                            <a:latin typeface="Cambria Math" panose="02040503050406030204" pitchFamily="18" charset="0"/>
                          </a:rPr>
                          <m:t> </m:t>
                        </m:r>
                        <m:r>
                          <m:rPr>
                            <m:sty m:val="p"/>
                          </m:rPr>
                          <a:rPr lang="fr-FR" sz="1600" b="0" i="1">
                            <a:latin typeface="Cambria Math" panose="02040503050406030204" pitchFamily="18" charset="0"/>
                          </a:rPr>
                          <m:t>δ</m:t>
                        </m:r>
                      </m:e>
                      <m:sub>
                        <m:r>
                          <m:rPr>
                            <m:sty m:val="p"/>
                          </m:rPr>
                          <a:rPr lang="fr-FR" sz="1600" b="0" i="1">
                            <a:latin typeface="Cambria Math" panose="02040503050406030204" pitchFamily="18" charset="0"/>
                          </a:rPr>
                          <m:t>model</m:t>
                        </m:r>
                      </m:sub>
                    </m:sSub>
                    <m:r>
                      <a:rPr lang="fr-FR" sz="1600" b="0">
                        <a:latin typeface="Cambria Math" panose="02040503050406030204" pitchFamily="18" charset="0"/>
                      </a:rPr>
                      <m:t>&lt;</m:t>
                    </m:r>
                    <m:r>
                      <a:rPr lang="fr-FR" sz="1600" b="0" i="1" smtClean="0">
                        <a:latin typeface="Cambria Math" panose="02040503050406030204" pitchFamily="18" charset="0"/>
                      </a:rPr>
                      <m:t>38.1</m:t>
                    </m:r>
                    <m:r>
                      <m:rPr>
                        <m:sty m:val="p"/>
                      </m:rPr>
                      <a:rPr lang="fr-FR" sz="1600" b="0" i="1">
                        <a:latin typeface="Cambria Math" panose="02040503050406030204" pitchFamily="18" charset="0"/>
                      </a:rPr>
                      <m:t>K</m:t>
                    </m:r>
                  </m:oMath>
                </a14:m>
                <a:r>
                  <a:rPr lang="en-US" sz="1600" dirty="0"/>
                  <a:t> </a:t>
                </a:r>
              </a:p>
            </p:txBody>
          </p:sp>
        </mc:Choice>
        <mc:Fallback>
          <p:sp>
            <p:nvSpPr>
              <p:cNvPr id="6" name="TextBox 5">
                <a:extLst>
                  <a:ext uri="{FF2B5EF4-FFF2-40B4-BE49-F238E27FC236}">
                    <a16:creationId xmlns:a16="http://schemas.microsoft.com/office/drawing/2014/main" id="{D0E9DB5F-EBD0-D834-D4ED-493307BE600E}"/>
                  </a:ext>
                </a:extLst>
              </p:cNvPr>
              <p:cNvSpPr txBox="1">
                <a:spLocks noRot="1" noChangeAspect="1" noMove="1" noResize="1" noEditPoints="1" noAdjustHandles="1" noChangeArrowheads="1" noChangeShapeType="1" noTextEdit="1"/>
              </p:cNvSpPr>
              <p:nvPr/>
            </p:nvSpPr>
            <p:spPr>
              <a:xfrm>
                <a:off x="501445" y="5642899"/>
                <a:ext cx="7076768" cy="849976"/>
              </a:xfrm>
              <a:prstGeom prst="rect">
                <a:avLst/>
              </a:prstGeom>
              <a:blipFill>
                <a:blip r:embed="rId4"/>
                <a:stretch>
                  <a:fillRect l="-431" t="-287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25D42C7E-25E3-AF65-F96B-BB8C9D734754}"/>
                  </a:ext>
                </a:extLst>
              </p:cNvPr>
              <p:cNvSpPr txBox="1"/>
              <p:nvPr/>
            </p:nvSpPr>
            <p:spPr>
              <a:xfrm>
                <a:off x="7973961" y="3429000"/>
                <a:ext cx="3883742" cy="2464521"/>
              </a:xfrm>
              <a:prstGeom prst="rect">
                <a:avLst/>
              </a:prstGeom>
              <a:noFill/>
            </p:spPr>
            <p:txBody>
              <a:bodyPr wrap="square" rtlCol="0">
                <a:spAutoFit/>
              </a:bodyPr>
              <a:lstStyle/>
              <a:p>
                <a:r>
                  <a:rPr lang="fr-FR" b="0" dirty="0">
                    <a:latin typeface="Cambria Math" panose="02040503050406030204" pitchFamily="18" charset="0"/>
                  </a:rPr>
                  <a:t>Dans le cas d’une loi normale : </a:t>
                </a:r>
              </a:p>
              <a:p>
                <a14:m>
                  <m:oMathPara xmlns:m="http://schemas.openxmlformats.org/officeDocument/2006/math">
                    <m:oMathParaPr>
                      <m:jc m:val="centerGroup"/>
                    </m:oMathParaPr>
                    <m:oMath xmlns:m="http://schemas.openxmlformats.org/officeDocument/2006/math">
                      <m:d>
                        <m:dPr>
                          <m:begChr m:val="["/>
                          <m:endChr m:val="]"/>
                          <m:ctrlPr>
                            <a:rPr lang="fr-FR" b="0" i="1" smtClean="0">
                              <a:latin typeface="Cambria Math" panose="02040503050406030204" pitchFamily="18" charset="0"/>
                            </a:rPr>
                          </m:ctrlPr>
                        </m:dPr>
                        <m:e>
                          <m:r>
                            <a:rPr lang="fr-FR" b="0" i="1" smtClean="0">
                              <a:latin typeface="Cambria Math" panose="02040503050406030204" pitchFamily="18" charset="0"/>
                            </a:rPr>
                            <m:t>𝑎</m:t>
                          </m:r>
                          <m:r>
                            <a:rPr lang="fr-FR" b="0" i="1" smtClean="0">
                              <a:latin typeface="Cambria Math" panose="02040503050406030204" pitchFamily="18" charset="0"/>
                            </a:rPr>
                            <m:t>,</m:t>
                          </m:r>
                          <m:r>
                            <a:rPr lang="fr-FR" b="0" i="1" smtClean="0">
                              <a:latin typeface="Cambria Math" panose="02040503050406030204" pitchFamily="18" charset="0"/>
                            </a:rPr>
                            <m:t>𝑏</m:t>
                          </m:r>
                        </m:e>
                      </m:d>
                      <m:r>
                        <a:rPr lang="fr-FR" b="0" i="1" smtClean="0">
                          <a:latin typeface="Cambria Math" panose="02040503050406030204" pitchFamily="18" charset="0"/>
                        </a:rPr>
                        <m:t>→</m:t>
                      </m:r>
                      <m:r>
                        <a:rPr lang="fr-FR" b="0" i="1" smtClean="0">
                          <a:latin typeface="Cambria Math" panose="02040503050406030204" pitchFamily="18" charset="0"/>
                        </a:rPr>
                        <m:t>𝜇</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m:rPr>
                              <m:sty m:val="p"/>
                            </m:rPr>
                            <a:rPr lang="fr-FR" b="0" i="1" smtClean="0">
                              <a:latin typeface="Cambria Math" panose="02040503050406030204" pitchFamily="18" charset="0"/>
                            </a:rPr>
                            <m:t>a</m:t>
                          </m:r>
                          <m:r>
                            <a:rPr lang="fr-FR" b="0" i="1" smtClean="0">
                              <a:latin typeface="Cambria Math" panose="02040503050406030204" pitchFamily="18" charset="0"/>
                            </a:rPr>
                            <m:t>+</m:t>
                          </m:r>
                          <m:r>
                            <m:rPr>
                              <m:sty m:val="p"/>
                            </m:rPr>
                            <a:rPr lang="fr-FR" b="0" i="1" smtClean="0">
                              <a:latin typeface="Cambria Math" panose="02040503050406030204" pitchFamily="18" charset="0"/>
                            </a:rPr>
                            <m:t>b</m:t>
                          </m:r>
                        </m:num>
                        <m:den>
                          <m:r>
                            <a:rPr lang="fr-FR" b="0" i="1" smtClean="0">
                              <a:latin typeface="Cambria Math" panose="02040503050406030204" pitchFamily="18" charset="0"/>
                            </a:rPr>
                            <m:t>2</m:t>
                          </m:r>
                        </m:den>
                      </m:f>
                    </m:oMath>
                  </m:oMathPara>
                </a14:m>
                <a:endParaRPr lang="fr-FR" b="0" dirty="0"/>
              </a:p>
              <a:p>
                <a:r>
                  <a:rPr lang="en-US" dirty="0"/>
                  <a:t>Pour </a:t>
                </a:r>
                <a:r>
                  <a:rPr lang="en-US" dirty="0" err="1"/>
                  <a:t>intervalle</a:t>
                </a:r>
                <a:r>
                  <a:rPr lang="en-US" dirty="0"/>
                  <a:t> de </a:t>
                </a:r>
                <a:r>
                  <a:rPr lang="en-US" dirty="0" err="1"/>
                  <a:t>confiance</a:t>
                </a:r>
                <a:r>
                  <a:rPr lang="en-US" dirty="0"/>
                  <a:t> à 95,4% :</a:t>
                </a:r>
              </a:p>
              <a:p>
                <a14:m>
                  <m:oMath xmlns:m="http://schemas.openxmlformats.org/officeDocument/2006/math">
                    <m:r>
                      <m:rPr>
                        <m:sty m:val="p"/>
                      </m:rPr>
                      <a:rPr lang="fr-FR" b="0" i="1" smtClean="0">
                        <a:latin typeface="Cambria Math" panose="02040503050406030204" pitchFamily="18" charset="0"/>
                      </a:rPr>
                      <m:t>σ</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m:rPr>
                            <m:sty m:val="p"/>
                          </m:rPr>
                          <a:rPr lang="fr-FR" b="0" i="1" smtClean="0">
                            <a:latin typeface="Cambria Math" panose="02040503050406030204" pitchFamily="18" charset="0"/>
                          </a:rPr>
                          <m:t>μ</m:t>
                        </m:r>
                        <m:r>
                          <a:rPr lang="fr-FR" b="0" i="1" smtClean="0">
                            <a:latin typeface="Cambria Math" panose="02040503050406030204" pitchFamily="18" charset="0"/>
                          </a:rPr>
                          <m:t>-</m:t>
                        </m:r>
                        <m:r>
                          <m:rPr>
                            <m:sty m:val="p"/>
                          </m:rPr>
                          <a:rPr lang="fr-FR" b="0" i="1" smtClean="0">
                            <a:latin typeface="Cambria Math" panose="02040503050406030204" pitchFamily="18" charset="0"/>
                          </a:rPr>
                          <m:t>a</m:t>
                        </m:r>
                      </m:num>
                      <m:den>
                        <m:r>
                          <a:rPr lang="fr-FR" b="0" i="1" smtClean="0">
                            <a:latin typeface="Cambria Math" panose="02040503050406030204" pitchFamily="18" charset="0"/>
                          </a:rPr>
                          <m:t>2</m:t>
                        </m:r>
                      </m:den>
                    </m:f>
                  </m:oMath>
                </a14:m>
                <a:r>
                  <a:rPr lang="en-US" dirty="0"/>
                  <a:t> </a:t>
                </a:r>
              </a:p>
              <a:p>
                <a:r>
                  <a:rPr lang="en-US" dirty="0"/>
                  <a:t>Pour </a:t>
                </a:r>
                <a:r>
                  <a:rPr lang="en-US" dirty="0" err="1"/>
                  <a:t>intervalle</a:t>
                </a:r>
                <a:r>
                  <a:rPr lang="en-US" dirty="0"/>
                  <a:t> de </a:t>
                </a:r>
                <a:r>
                  <a:rPr lang="en-US" dirty="0" err="1"/>
                  <a:t>confiance</a:t>
                </a:r>
                <a:r>
                  <a:rPr lang="en-US" dirty="0"/>
                  <a:t> à 99% :</a:t>
                </a:r>
              </a:p>
              <a:p>
                <a14:m>
                  <m:oMath xmlns:m="http://schemas.openxmlformats.org/officeDocument/2006/math">
                    <m:r>
                      <m:rPr>
                        <m:sty m:val="p"/>
                      </m:rPr>
                      <a:rPr lang="fr-FR" i="1">
                        <a:latin typeface="Cambria Math" panose="02040503050406030204" pitchFamily="18" charset="0"/>
                      </a:rPr>
                      <m:t>σ</m:t>
                    </m:r>
                    <m:r>
                      <a:rPr lang="fr-FR" i="1">
                        <a:latin typeface="Cambria Math" panose="02040503050406030204" pitchFamily="18" charset="0"/>
                      </a:rPr>
                      <m:t>= </m:t>
                    </m:r>
                    <m:f>
                      <m:fPr>
                        <m:ctrlPr>
                          <a:rPr lang="fr-FR" i="1">
                            <a:latin typeface="Cambria Math" panose="02040503050406030204" pitchFamily="18" charset="0"/>
                          </a:rPr>
                        </m:ctrlPr>
                      </m:fPr>
                      <m:num>
                        <m:r>
                          <m:rPr>
                            <m:sty m:val="p"/>
                          </m:rPr>
                          <a:rPr lang="fr-FR" i="1">
                            <a:latin typeface="Cambria Math" panose="02040503050406030204" pitchFamily="18" charset="0"/>
                          </a:rPr>
                          <m:t>μ</m:t>
                        </m:r>
                        <m:r>
                          <a:rPr lang="fr-FR" i="1">
                            <a:latin typeface="Cambria Math" panose="02040503050406030204" pitchFamily="18" charset="0"/>
                          </a:rPr>
                          <m:t>−</m:t>
                        </m:r>
                        <m:r>
                          <m:rPr>
                            <m:sty m:val="p"/>
                          </m:rPr>
                          <a:rPr lang="fr-FR" i="1">
                            <a:latin typeface="Cambria Math" panose="02040503050406030204" pitchFamily="18" charset="0"/>
                          </a:rPr>
                          <m:t>a</m:t>
                        </m:r>
                      </m:num>
                      <m:den>
                        <m:r>
                          <a:rPr lang="fr-FR" b="0" i="1" smtClean="0">
                            <a:latin typeface="Cambria Math" panose="02040503050406030204" pitchFamily="18" charset="0"/>
                          </a:rPr>
                          <m:t>5</m:t>
                        </m:r>
                      </m:den>
                    </m:f>
                  </m:oMath>
                </a14:m>
                <a:r>
                  <a:rPr lang="en-US" dirty="0"/>
                  <a:t> </a:t>
                </a:r>
              </a:p>
              <a:p>
                <a:endParaRPr lang="en-US" dirty="0"/>
              </a:p>
            </p:txBody>
          </p:sp>
        </mc:Choice>
        <mc:Fallback>
          <p:sp>
            <p:nvSpPr>
              <p:cNvPr id="7" name="TextBox 6">
                <a:extLst>
                  <a:ext uri="{FF2B5EF4-FFF2-40B4-BE49-F238E27FC236}">
                    <a16:creationId xmlns:a16="http://schemas.microsoft.com/office/drawing/2014/main" id="{25D42C7E-25E3-AF65-F96B-BB8C9D734754}"/>
                  </a:ext>
                </a:extLst>
              </p:cNvPr>
              <p:cNvSpPr txBox="1">
                <a:spLocks noRot="1" noChangeAspect="1" noMove="1" noResize="1" noEditPoints="1" noAdjustHandles="1" noChangeArrowheads="1" noChangeShapeType="1" noTextEdit="1"/>
              </p:cNvSpPr>
              <p:nvPr/>
            </p:nvSpPr>
            <p:spPr>
              <a:xfrm>
                <a:off x="7973961" y="3429000"/>
                <a:ext cx="3883742" cy="2464521"/>
              </a:xfrm>
              <a:prstGeom prst="rect">
                <a:avLst/>
              </a:prstGeom>
              <a:blipFill>
                <a:blip r:embed="rId5"/>
                <a:stretch>
                  <a:fillRect l="-1256" t="-1733" r="-1099"/>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7A2BFB8D-3C80-BD69-86E4-533DD007EAC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01445" y="3216721"/>
            <a:ext cx="6961239" cy="2261611"/>
          </a:xfrm>
          <a:prstGeom prst="rect">
            <a:avLst/>
          </a:prstGeom>
        </p:spPr>
      </p:pic>
    </p:spTree>
    <p:extLst>
      <p:ext uri="{BB962C8B-B14F-4D97-AF65-F5344CB8AC3E}">
        <p14:creationId xmlns:p14="http://schemas.microsoft.com/office/powerpoint/2010/main" val="1726723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15578-24AA-1A1D-99B9-0FD28C04FF50}"/>
              </a:ext>
            </a:extLst>
          </p:cNvPr>
          <p:cNvSpPr>
            <a:spLocks noGrp="1"/>
          </p:cNvSpPr>
          <p:nvPr>
            <p:ph type="title"/>
          </p:nvPr>
        </p:nvSpPr>
        <p:spPr/>
        <p:txBody>
          <a:bodyPr/>
          <a:lstStyle/>
          <a:p>
            <a:r>
              <a:rPr lang="fr-FR" dirty="0"/>
              <a:t>Validation – erreur du modèle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DABA39-902C-A6ED-B4EF-7E3705D66722}"/>
                  </a:ext>
                </a:extLst>
              </p:cNvPr>
              <p:cNvSpPr>
                <a:spLocks noGrp="1"/>
              </p:cNvSpPr>
              <p:nvPr>
                <p:ph idx="1"/>
              </p:nvPr>
            </p:nvSpPr>
            <p:spPr>
              <a:xfrm>
                <a:off x="838200" y="1855122"/>
                <a:ext cx="10515600" cy="4351338"/>
              </a:xfrm>
            </p:spPr>
            <p:txBody>
              <a:bodyPr/>
              <a:lstStyle/>
              <a:p>
                <a14:m>
                  <m:oMath xmlns:m="http://schemas.openxmlformats.org/officeDocument/2006/math">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r>
                      <a:rPr lang="fr-FR" i="1">
                        <a:latin typeface="Cambria Math" panose="02040503050406030204" pitchFamily="18" charset="0"/>
                      </a:rPr>
                      <m:t>≤</m:t>
                    </m:r>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oMath>
                </a14:m>
                <a:endParaRPr lang="fr-FR" dirty="0"/>
              </a:p>
              <a:p>
                <a:r>
                  <a:rPr lang="en-US" dirty="0" err="1"/>
                  <a:t>Où</a:t>
                </a:r>
                <a:r>
                  <a:rPr lang="en-US"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 </m:t>
                    </m:r>
                    <m:rad>
                      <m:radPr>
                        <m:degHide m:val="on"/>
                        <m:ctrlPr>
                          <a:rPr lang="fr-FR" b="0" i="1" smtClean="0">
                            <a:latin typeface="Cambria Math" panose="02040503050406030204" pitchFamily="18" charset="0"/>
                          </a:rPr>
                        </m:ctrlPr>
                      </m:radPr>
                      <m:deg/>
                      <m:e>
                        <m:sSup>
                          <m:sSupPr>
                            <m:ctrlPr>
                              <a:rPr lang="fr-FR" b="0" i="1" smtClean="0">
                                <a:latin typeface="Cambria Math" panose="02040503050406030204" pitchFamily="18" charset="0"/>
                              </a:rPr>
                            </m:ctrlPr>
                          </m:sSupPr>
                          <m:e>
                            <m:r>
                              <a:rPr lang="fr-FR" b="0" i="1" smtClean="0">
                                <a:latin typeface="Cambria Math" panose="02040503050406030204" pitchFamily="18" charset="0"/>
                              </a:rPr>
                              <m:t>0.87</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44.91</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i="1">
                                <a:latin typeface="Cambria Math" panose="02040503050406030204" pitchFamily="18" charset="0"/>
                                <a:sym typeface="Wingdings" panose="05000000000000000000" pitchFamily="2" charset="2"/>
                              </a:rPr>
                            </m:ctrlPr>
                          </m:sSupPr>
                          <m:e>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1,1</m:t>
                            </m:r>
                            <m:r>
                              <a:rPr lang="fr-FR" b="0" i="1" smtClean="0">
                                <a:latin typeface="Cambria Math" panose="02040503050406030204" pitchFamily="18" charset="0"/>
                                <a:sym typeface="Wingdings" panose="05000000000000000000" pitchFamily="2" charset="2"/>
                              </a:rPr>
                              <m:t>1</m:t>
                            </m:r>
                            <m:r>
                              <a:rPr lang="fr-FR" i="1">
                                <a:latin typeface="Cambria Math" panose="02040503050406030204" pitchFamily="18" charset="0"/>
                                <a:sym typeface="Wingdings" panose="05000000000000000000" pitchFamily="2" charset="2"/>
                              </a:rPr>
                              <m:t>×10</m:t>
                            </m:r>
                          </m:e>
                          <m:sup>
                            <m:r>
                              <a:rPr lang="fr-FR" i="1">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)²</m:t>
                        </m:r>
                      </m:e>
                    </m:rad>
                    <m:r>
                      <a:rPr lang="fr-FR" b="0" i="1" smtClean="0">
                        <a:latin typeface="Cambria Math" panose="02040503050406030204" pitchFamily="18" charset="0"/>
                      </a:rPr>
                      <m:t>= 44.92 </m:t>
                    </m:r>
                    <m:r>
                      <m:rPr>
                        <m:sty m:val="p"/>
                      </m:rPr>
                      <a:rPr lang="fr-FR" b="0" i="1" smtClean="0">
                        <a:latin typeface="Cambria Math" panose="02040503050406030204" pitchFamily="18" charset="0"/>
                      </a:rPr>
                      <m:t>K</m:t>
                    </m:r>
                  </m:oMath>
                </a14:m>
                <a:r>
                  <a:rPr lang="en-US" dirty="0"/>
                  <a:t>   </a:t>
                </a:r>
              </a:p>
              <a:p>
                <a:r>
                  <a:rPr lang="en-US" dirty="0"/>
                  <a:t>k =2 pour 95.4% de </a:t>
                </a:r>
                <a:r>
                  <a:rPr lang="en-US" dirty="0" err="1"/>
                  <a:t>confiance</a:t>
                </a:r>
                <a:r>
                  <a:rPr lang="en-US" dirty="0"/>
                  <a:t> </a:t>
                </a:r>
              </a:p>
              <a:p>
                <a:endParaRPr lang="en-US" dirty="0"/>
              </a:p>
              <a:p>
                <a:pPr marL="0" indent="0">
                  <a:buNone/>
                </a:pPr>
                <a14:m>
                  <m:oMath xmlns:m="http://schemas.openxmlformats.org/officeDocument/2006/math">
                    <m:r>
                      <a:rPr lang="fr-FR" b="1" i="0" smtClean="0">
                        <a:latin typeface="Cambria Math" panose="02040503050406030204" pitchFamily="18" charset="0"/>
                      </a:rPr>
                      <m:t>−</m:t>
                    </m:r>
                    <m:r>
                      <a:rPr lang="fr-FR" b="1" i="0" smtClean="0">
                        <a:latin typeface="Cambria Math" panose="02040503050406030204" pitchFamily="18" charset="0"/>
                      </a:rPr>
                      <m:t>𝟕𝟖</m:t>
                    </m:r>
                    <m:r>
                      <a:rPr lang="fr-FR" b="1" i="0" smtClean="0">
                        <a:latin typeface="Cambria Math" panose="02040503050406030204" pitchFamily="18" charset="0"/>
                      </a:rPr>
                      <m:t>.</m:t>
                    </m:r>
                    <m:r>
                      <a:rPr lang="fr-FR" b="1" i="0" smtClean="0">
                        <a:latin typeface="Cambria Math" panose="02040503050406030204" pitchFamily="18" charset="0"/>
                      </a:rPr>
                      <m:t>𝟎𝟒</m:t>
                    </m:r>
                    <m:r>
                      <a:rPr lang="fr-FR" b="1" i="0" smtClean="0">
                        <a:latin typeface="Cambria Math" panose="02040503050406030204" pitchFamily="18" charset="0"/>
                      </a:rPr>
                      <m:t> </m:t>
                    </m:r>
                    <m:r>
                      <a:rPr lang="fr-FR" b="1" i="0" smtClean="0">
                        <a:latin typeface="Cambria Math" panose="02040503050406030204" pitchFamily="18" charset="0"/>
                      </a:rPr>
                      <m:t>𝐊</m:t>
                    </m:r>
                    <m:r>
                      <a:rPr lang="fr-FR" b="1" i="0" smtClean="0">
                        <a:latin typeface="Cambria Math" panose="02040503050406030204" pitchFamily="18" charset="0"/>
                      </a:rPr>
                      <m:t>&lt;</m:t>
                    </m:r>
                    <m:sSub>
                      <m:sSubPr>
                        <m:ctrlPr>
                          <a:rPr lang="fr-FR" b="1" i="1">
                            <a:latin typeface="Cambria Math" panose="02040503050406030204" pitchFamily="18" charset="0"/>
                          </a:rPr>
                        </m:ctrlPr>
                      </m:sSubPr>
                      <m:e>
                        <m:r>
                          <a:rPr lang="fr-FR" b="1" i="0">
                            <a:latin typeface="Cambria Math" panose="02040503050406030204" pitchFamily="18" charset="0"/>
                          </a:rPr>
                          <m:t>𝛅</m:t>
                        </m:r>
                      </m:e>
                      <m:sub>
                        <m:r>
                          <a:rPr lang="fr-FR" b="1" i="0">
                            <a:latin typeface="Cambria Math" panose="02040503050406030204" pitchFamily="18" charset="0"/>
                          </a:rPr>
                          <m:t>𝐦𝐨𝐝𝐞𝐥</m:t>
                        </m:r>
                      </m:sub>
                    </m:sSub>
                    <m:r>
                      <a:rPr lang="fr-FR" b="1" i="0" smtClean="0">
                        <a:latin typeface="Cambria Math" panose="02040503050406030204" pitchFamily="18" charset="0"/>
                      </a:rPr>
                      <m:t> &lt;</m:t>
                    </m:r>
                    <m:r>
                      <a:rPr lang="fr-FR" b="1" i="0" smtClean="0">
                        <a:latin typeface="Cambria Math" panose="02040503050406030204" pitchFamily="18" charset="0"/>
                      </a:rPr>
                      <m:t>𝟏𝟎𝟏</m:t>
                    </m:r>
                    <m:r>
                      <a:rPr lang="fr-FR" b="1" i="0" smtClean="0">
                        <a:latin typeface="Cambria Math" panose="02040503050406030204" pitchFamily="18" charset="0"/>
                      </a:rPr>
                      <m:t>.</m:t>
                    </m:r>
                    <m:r>
                      <a:rPr lang="fr-FR" b="1" i="0" smtClean="0">
                        <a:latin typeface="Cambria Math" panose="02040503050406030204" pitchFamily="18" charset="0"/>
                      </a:rPr>
                      <m:t>𝟔𝟒</m:t>
                    </m:r>
                    <m:r>
                      <a:rPr lang="fr-FR" b="1" i="0" smtClean="0">
                        <a:latin typeface="Cambria Math" panose="02040503050406030204" pitchFamily="18" charset="0"/>
                      </a:rPr>
                      <m:t> </m:t>
                    </m:r>
                    <m:r>
                      <a:rPr lang="fr-FR" b="1" i="0" smtClean="0">
                        <a:latin typeface="Cambria Math" panose="02040503050406030204" pitchFamily="18" charset="0"/>
                      </a:rPr>
                      <m:t>𝐊</m:t>
                    </m:r>
                  </m:oMath>
                </a14:m>
                <a:r>
                  <a:rPr lang="en-US" b="1" dirty="0"/>
                  <a:t> </a:t>
                </a:r>
              </a:p>
              <a:p>
                <a:pPr marL="0" indent="0">
                  <a:buNone/>
                </a:pPr>
                <a:endParaRPr lang="en-US" b="1" dirty="0"/>
              </a:p>
              <a:p>
                <a:pPr marL="0" indent="0">
                  <a:buNone/>
                </a:pPr>
                <a14:m>
                  <m:oMath xmlns:m="http://schemas.openxmlformats.org/officeDocument/2006/math">
                    <m:r>
                      <a:rPr lang="en-US" b="1" i="1" smtClean="0">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Amélioration</a:t>
                </a:r>
                <a:r>
                  <a:rPr lang="en-US" b="1" dirty="0"/>
                  <a:t> sur </a:t>
                </a:r>
                <a:r>
                  <a:rPr lang="en-US" b="1" dirty="0" err="1"/>
                  <a:t>l’incertitude</a:t>
                </a:r>
                <a:r>
                  <a:rPr lang="en-US" b="1" dirty="0"/>
                  <a:t> de </a:t>
                </a:r>
                <a:r>
                  <a:rPr lang="en-US" b="1" dirty="0" err="1"/>
                  <a:t>l’émissivité</a:t>
                </a:r>
                <a:r>
                  <a:rPr lang="en-US" b="1" dirty="0"/>
                  <a:t> </a:t>
                </a:r>
                <a:r>
                  <a:rPr lang="en-US" b="1" dirty="0" err="1"/>
                  <a:t>nécessaire</a:t>
                </a:r>
                <a:endParaRPr lang="en-US" b="1" dirty="0"/>
              </a:p>
            </p:txBody>
          </p:sp>
        </mc:Choice>
        <mc:Fallback xmlns="">
          <p:sp>
            <p:nvSpPr>
              <p:cNvPr id="3" name="Content Placeholder 2">
                <a:extLst>
                  <a:ext uri="{FF2B5EF4-FFF2-40B4-BE49-F238E27FC236}">
                    <a16:creationId xmlns:a16="http://schemas.microsoft.com/office/drawing/2014/main" id="{41DABA39-902C-A6ED-B4EF-7E3705D66722}"/>
                  </a:ext>
                </a:extLst>
              </p:cNvPr>
              <p:cNvSpPr>
                <a:spLocks noGrp="1" noRot="1" noChangeAspect="1" noMove="1" noResize="1" noEditPoints="1" noAdjustHandles="1" noChangeArrowheads="1" noChangeShapeType="1" noTextEdit="1"/>
              </p:cNvSpPr>
              <p:nvPr>
                <p:ph idx="1"/>
              </p:nvPr>
            </p:nvSpPr>
            <p:spPr>
              <a:xfrm>
                <a:off x="838200" y="1855122"/>
                <a:ext cx="10515600" cy="4351338"/>
              </a:xfrm>
              <a:blipFill>
                <a:blip r:embed="rId2"/>
                <a:stretch>
                  <a:fillRect l="-104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806A440F-4525-4755-9716-F3DDCC775AB6}"/>
              </a:ext>
            </a:extLst>
          </p:cNvPr>
          <p:cNvSpPr/>
          <p:nvPr/>
        </p:nvSpPr>
        <p:spPr>
          <a:xfrm>
            <a:off x="838200" y="3932141"/>
            <a:ext cx="5312780" cy="48822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pic>
        <p:nvPicPr>
          <p:cNvPr id="6" name="Picture 5">
            <a:extLst>
              <a:ext uri="{FF2B5EF4-FFF2-40B4-BE49-F238E27FC236}">
                <a16:creationId xmlns:a16="http://schemas.microsoft.com/office/drawing/2014/main" id="{BA00158C-C960-342C-B0C7-9E64CB5F528C}"/>
              </a:ext>
            </a:extLst>
          </p:cNvPr>
          <p:cNvPicPr>
            <a:picLocks noChangeAspect="1"/>
          </p:cNvPicPr>
          <p:nvPr/>
        </p:nvPicPr>
        <p:blipFill>
          <a:blip r:embed="rId3"/>
          <a:srcRect l="10238" b="2376"/>
          <a:stretch>
            <a:fillRect/>
          </a:stretch>
        </p:blipFill>
        <p:spPr>
          <a:xfrm>
            <a:off x="6351639" y="3893193"/>
            <a:ext cx="5002161" cy="566116"/>
          </a:xfrm>
          <a:prstGeom prst="rect">
            <a:avLst/>
          </a:prstGeom>
        </p:spPr>
      </p:pic>
      <p:sp>
        <p:nvSpPr>
          <p:cNvPr id="5" name="Slide Number Placeholder 4">
            <a:extLst>
              <a:ext uri="{FF2B5EF4-FFF2-40B4-BE49-F238E27FC236}">
                <a16:creationId xmlns:a16="http://schemas.microsoft.com/office/drawing/2014/main" id="{7EAE2EA8-7F3E-29F7-BF38-BCFC5580D379}"/>
              </a:ext>
            </a:extLst>
          </p:cNvPr>
          <p:cNvSpPr>
            <a:spLocks noGrp="1"/>
          </p:cNvSpPr>
          <p:nvPr>
            <p:ph type="sldNum" sz="quarter" idx="12"/>
          </p:nvPr>
        </p:nvSpPr>
        <p:spPr/>
        <p:txBody>
          <a:bodyPr/>
          <a:lstStyle/>
          <a:p>
            <a:fld id="{FD85B578-4E75-4E1C-9BE3-D5DCC0715B13}" type="slidenum">
              <a:rPr lang="fr-FR" smtClean="0"/>
              <a:t>30</a:t>
            </a:fld>
            <a:endParaRPr lang="fr-FR"/>
          </a:p>
        </p:txBody>
      </p:sp>
    </p:spTree>
    <p:extLst>
      <p:ext uri="{BB962C8B-B14F-4D97-AF65-F5344CB8AC3E}">
        <p14:creationId xmlns:p14="http://schemas.microsoft.com/office/powerpoint/2010/main" val="31910331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8AFEF6-8EC2-0957-BC55-0F8F644E0B4A}"/>
              </a:ext>
            </a:extLst>
          </p:cNvPr>
          <p:cNvSpPr>
            <a:spLocks noGrp="1"/>
          </p:cNvSpPr>
          <p:nvPr>
            <p:ph type="title"/>
          </p:nvPr>
        </p:nvSpPr>
        <p:spPr/>
        <p:txBody>
          <a:bodyPr/>
          <a:lstStyle/>
          <a:p>
            <a:r>
              <a:rPr lang="fr-FR" dirty="0"/>
              <a:t>Analyse</a:t>
            </a:r>
            <a:endParaRPr lang="en-US" dirty="0"/>
          </a:p>
        </p:txBody>
      </p:sp>
      <p:pic>
        <p:nvPicPr>
          <p:cNvPr id="6" name="Content Placeholder 5">
            <a:extLst>
              <a:ext uri="{FF2B5EF4-FFF2-40B4-BE49-F238E27FC236}">
                <a16:creationId xmlns:a16="http://schemas.microsoft.com/office/drawing/2014/main" id="{A9B1EB5D-6BED-13E3-7B99-2FF5E8D02C0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96077" y="1847850"/>
            <a:ext cx="3565031" cy="4351338"/>
          </a:xfrm>
          <a:prstGeom prst="rect">
            <a:avLst/>
          </a:prstGeom>
        </p:spPr>
      </p:pic>
      <p:sp>
        <p:nvSpPr>
          <p:cNvPr id="4" name="Slide Number Placeholder 3">
            <a:extLst>
              <a:ext uri="{FF2B5EF4-FFF2-40B4-BE49-F238E27FC236}">
                <a16:creationId xmlns:a16="http://schemas.microsoft.com/office/drawing/2014/main" id="{8D57C330-FE28-8D25-5B72-A8BB2E6BC2C7}"/>
              </a:ext>
            </a:extLst>
          </p:cNvPr>
          <p:cNvSpPr>
            <a:spLocks noGrp="1"/>
          </p:cNvSpPr>
          <p:nvPr>
            <p:ph type="sldNum" sz="quarter" idx="12"/>
          </p:nvPr>
        </p:nvSpPr>
        <p:spPr/>
        <p:txBody>
          <a:bodyPr/>
          <a:lstStyle/>
          <a:p>
            <a:fld id="{FD85B578-4E75-4E1C-9BE3-D5DCC0715B13}" type="slidenum">
              <a:rPr lang="fr-FR" smtClean="0"/>
              <a:t>31</a:t>
            </a:fld>
            <a:endParaRPr lang="fr-FR"/>
          </a:p>
        </p:txBody>
      </p:sp>
      <p:sp>
        <p:nvSpPr>
          <p:cNvPr id="7" name="TextBox 6">
            <a:extLst>
              <a:ext uri="{FF2B5EF4-FFF2-40B4-BE49-F238E27FC236}">
                <a16:creationId xmlns:a16="http://schemas.microsoft.com/office/drawing/2014/main" id="{C1F03330-F29A-3AD5-1C0C-F14A10FA4C72}"/>
              </a:ext>
            </a:extLst>
          </p:cNvPr>
          <p:cNvSpPr txBox="1"/>
          <p:nvPr/>
        </p:nvSpPr>
        <p:spPr>
          <a:xfrm>
            <a:off x="696078" y="6199188"/>
            <a:ext cx="3565030" cy="461665"/>
          </a:xfrm>
          <a:prstGeom prst="rect">
            <a:avLst/>
          </a:prstGeom>
          <a:noFill/>
        </p:spPr>
        <p:txBody>
          <a:bodyPr wrap="square" rtlCol="0">
            <a:spAutoFit/>
          </a:bodyPr>
          <a:lstStyle/>
          <a:p>
            <a:pPr algn="ctr"/>
            <a:r>
              <a:rPr lang="fr-FR" sz="1200" dirty="0"/>
              <a:t>Diagramme TTT pour 4340, source : Thèse </a:t>
            </a:r>
            <a:r>
              <a:rPr lang="en-US" sz="1200" dirty="0"/>
              <a:t>Jean Christophe Hell</a:t>
            </a:r>
          </a:p>
        </p:txBody>
      </p:sp>
      <p:sp>
        <p:nvSpPr>
          <p:cNvPr id="8" name="TextBox 7">
            <a:extLst>
              <a:ext uri="{FF2B5EF4-FFF2-40B4-BE49-F238E27FC236}">
                <a16:creationId xmlns:a16="http://schemas.microsoft.com/office/drawing/2014/main" id="{07FFD53F-2E3A-C030-8C63-BCCF5F1B32A3}"/>
              </a:ext>
            </a:extLst>
          </p:cNvPr>
          <p:cNvSpPr txBox="1"/>
          <p:nvPr/>
        </p:nvSpPr>
        <p:spPr>
          <a:xfrm>
            <a:off x="4621161" y="1847850"/>
            <a:ext cx="7246374" cy="2585323"/>
          </a:xfrm>
          <a:prstGeom prst="rect">
            <a:avLst/>
          </a:prstGeom>
          <a:noFill/>
        </p:spPr>
        <p:txBody>
          <a:bodyPr wrap="square" rtlCol="0">
            <a:spAutoFit/>
          </a:bodyPr>
          <a:lstStyle/>
          <a:p>
            <a:r>
              <a:rPr lang="fr-FR" dirty="0"/>
              <a:t>Afin d’évaluer la pertinence du modèle pour l’application visée, cette erreur est comparée à un critère physique issu du diagramme TTT de l’acier 4340. Dans les zones critiques, une variation de l’ordre de 15°C entraîne des transformations de phase significativement différentes.</a:t>
            </a:r>
          </a:p>
          <a:p>
            <a:r>
              <a:rPr lang="fr-FR" dirty="0"/>
              <a:t>Ainsi, le modèle est considéré valide pour l’application si son erreur reste inférieure à cet ordre de grandeur.</a:t>
            </a:r>
          </a:p>
          <a:p>
            <a:endParaRPr lang="fr-FR" dirty="0"/>
          </a:p>
          <a:p>
            <a:r>
              <a:rPr lang="fr-FR" dirty="0"/>
              <a:t>Tout le travaille repose sur la caractérisation de l’écart type de l’émissivité. </a:t>
            </a:r>
          </a:p>
        </p:txBody>
      </p:sp>
    </p:spTree>
    <p:extLst>
      <p:ext uri="{BB962C8B-B14F-4D97-AF65-F5344CB8AC3E}">
        <p14:creationId xmlns:p14="http://schemas.microsoft.com/office/powerpoint/2010/main" val="37531551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1FAF8-D45E-B846-39C4-A2BDDFE609C9}"/>
              </a:ext>
            </a:extLst>
          </p:cNvPr>
          <p:cNvSpPr>
            <a:spLocks noGrp="1"/>
          </p:cNvSpPr>
          <p:nvPr>
            <p:ph type="title"/>
          </p:nvPr>
        </p:nvSpPr>
        <p:spPr/>
        <p:txBody>
          <a:bodyPr/>
          <a:lstStyle/>
          <a:p>
            <a:r>
              <a:rPr lang="fr-FR"/>
              <a:t>Améliorations possibles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9282C8-F6FB-A0A2-B31D-09362B254F0F}"/>
                  </a:ext>
                </a:extLst>
              </p:cNvPr>
              <p:cNvSpPr>
                <a:spLocks noGrp="1"/>
              </p:cNvSpPr>
              <p:nvPr>
                <p:ph idx="1"/>
              </p:nvPr>
            </p:nvSpPr>
            <p:spPr/>
            <p:txBody>
              <a:bodyPr/>
              <a:lstStyle/>
              <a:p>
                <a:r>
                  <a:rPr lang="fr-FR" dirty="0"/>
                  <a:t>Rajouter une erreur d’expérimentation à partir de la littérature d’une expérience similaire</a:t>
                </a:r>
                <a:r>
                  <a:rPr lang="fr-FR" dirty="0">
                    <a:sym typeface="Wingdings" panose="05000000000000000000" pitchFamily="2" charset="2"/>
                  </a:rPr>
                  <a:t> estimation plus concrète de </a:t>
                </a:r>
                <a14:m>
                  <m:oMath xmlns:m="http://schemas.openxmlformats.org/officeDocument/2006/math">
                    <m:r>
                      <m:rPr>
                        <m:sty m:val="p"/>
                      </m:rPr>
                      <a:rPr lang="fr-FR" i="1">
                        <a:latin typeface="Cambria Math" panose="02040503050406030204" pitchFamily="18" charset="0"/>
                      </a:rPr>
                      <m:t>u</m:t>
                    </m:r>
                    <m:r>
                      <m:rPr>
                        <m:sty m:val="p"/>
                      </m:rPr>
                      <a:rPr lang="fr-FR" i="1" baseline="-25000">
                        <a:latin typeface="Cambria Math" panose="02040503050406030204" pitchFamily="18" charset="0"/>
                      </a:rPr>
                      <m:t>D</m:t>
                    </m:r>
                    <m:r>
                      <a:rPr lang="fr-FR" i="1">
                        <a:latin typeface="Cambria Math" panose="02040503050406030204" pitchFamily="18" charset="0"/>
                      </a:rPr>
                      <m:t> </m:t>
                    </m:r>
                  </m:oMath>
                </a14:m>
                <a:endParaRPr lang="fr-FR" dirty="0"/>
              </a:p>
              <a:p>
                <a:r>
                  <a:rPr lang="fr-FR" dirty="0"/>
                  <a:t>Affiner le pas de temps et d’espace pour la simulation SolidWorks</a:t>
                </a:r>
                <a:r>
                  <a:rPr lang="fr-FR" dirty="0">
                    <a:sym typeface="Wingdings" panose="05000000000000000000" pitchFamily="2" charset="2"/>
                  </a:rPr>
                  <a:t> précision accrue sur l’erreur de simulation</a:t>
                </a:r>
              </a:p>
              <a:p>
                <a:r>
                  <a:rPr lang="fr-FR" dirty="0">
                    <a:sym typeface="Wingdings" panose="05000000000000000000" pitchFamily="2" charset="2"/>
                  </a:rPr>
                  <a:t>Calcul de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𝐸</m:t>
                        </m:r>
                      </m:e>
                      <m:sub>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𝐿</m:t>
                            </m:r>
                          </m:e>
                          <m:sub>
                            <m:r>
                              <a:rPr lang="fr-FR" b="0" i="1" smtClean="0">
                                <a:latin typeface="Cambria Math" panose="02040503050406030204" pitchFamily="18" charset="0"/>
                                <a:sym typeface="Wingdings" panose="05000000000000000000" pitchFamily="2" charset="2"/>
                              </a:rPr>
                              <m:t>2</m:t>
                            </m:r>
                          </m:sub>
                        </m:sSub>
                      </m:sub>
                    </m:sSub>
                  </m:oMath>
                </a14:m>
                <a:r>
                  <a:rPr lang="en-US" dirty="0"/>
                  <a:t> avec plus de points et </a:t>
                </a:r>
                <a:r>
                  <a:rPr lang="en-US" dirty="0" err="1"/>
                  <a:t>plusieurs</a:t>
                </a:r>
                <a:r>
                  <a:rPr lang="en-US" dirty="0"/>
                  <a:t> experiences pour </a:t>
                </a:r>
                <a:r>
                  <a:rPr lang="en-US" dirty="0" err="1"/>
                  <a:t>avoir</a:t>
                </a:r>
                <a:r>
                  <a:rPr lang="en-US" dirty="0"/>
                  <a:t> un </a:t>
                </a:r>
                <a:r>
                  <a:rPr lang="en-US" dirty="0" err="1"/>
                  <a:t>intervalle</a:t>
                </a:r>
                <a:r>
                  <a:rPr lang="en-US" dirty="0"/>
                  <a:t> de </a:t>
                </a:r>
                <a:r>
                  <a:rPr lang="en-US" dirty="0" err="1"/>
                  <a:t>confiance</a:t>
                </a:r>
                <a:r>
                  <a:rPr lang="en-US" dirty="0"/>
                  <a:t> sur E</a:t>
                </a:r>
              </a:p>
            </p:txBody>
          </p:sp>
        </mc:Choice>
        <mc:Fallback xmlns="">
          <p:sp>
            <p:nvSpPr>
              <p:cNvPr id="3" name="Content Placeholder 2">
                <a:extLst>
                  <a:ext uri="{FF2B5EF4-FFF2-40B4-BE49-F238E27FC236}">
                    <a16:creationId xmlns:a16="http://schemas.microsoft.com/office/drawing/2014/main" id="{DF9282C8-F6FB-A0A2-B31D-09362B254F0F}"/>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D7CA812-BFC4-E1E8-4507-25D4BC510B7C}"/>
              </a:ext>
            </a:extLst>
          </p:cNvPr>
          <p:cNvSpPr>
            <a:spLocks noGrp="1"/>
          </p:cNvSpPr>
          <p:nvPr>
            <p:ph type="sldNum" sz="quarter" idx="12"/>
          </p:nvPr>
        </p:nvSpPr>
        <p:spPr/>
        <p:txBody>
          <a:bodyPr/>
          <a:lstStyle/>
          <a:p>
            <a:fld id="{FD85B578-4E75-4E1C-9BE3-D5DCC0715B13}" type="slidenum">
              <a:rPr lang="fr-FR" smtClean="0"/>
              <a:t>32</a:t>
            </a:fld>
            <a:endParaRPr lang="fr-FR"/>
          </a:p>
        </p:txBody>
      </p:sp>
    </p:spTree>
    <p:extLst>
      <p:ext uri="{BB962C8B-B14F-4D97-AF65-F5344CB8AC3E}">
        <p14:creationId xmlns:p14="http://schemas.microsoft.com/office/powerpoint/2010/main" val="342660869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4267</TotalTime>
  <Words>2384</Words>
  <Application>Microsoft Office PowerPoint</Application>
  <PresentationFormat>Widescreen</PresentationFormat>
  <Paragraphs>375</Paragraphs>
  <Slides>32</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Aptos</vt:lpstr>
      <vt:lpstr>Aptos Display</vt:lpstr>
      <vt:lpstr>Arial</vt:lpstr>
      <vt:lpstr>Cambria</vt:lpstr>
      <vt:lpstr>Cambria Math</vt:lpstr>
      <vt:lpstr>Courier New</vt:lpstr>
      <vt:lpstr>Wingdings</vt:lpstr>
      <vt:lpstr>Thème Office</vt:lpstr>
      <vt:lpstr>MEC8211 – Projet final Vérification et Validation d’un solveur de différences finies réalisé dans le cadre du cours GCH2545 – Modélisation numérique en ingénierie</vt:lpstr>
      <vt:lpstr>Plan de la présentation</vt:lpstr>
      <vt:lpstr>Plan de la présentation</vt:lpstr>
      <vt:lpstr>Contexte</vt:lpstr>
      <vt:lpstr>Plan de la présentation</vt:lpstr>
      <vt:lpstr>Modélisation mathématique</vt:lpstr>
      <vt:lpstr>Modélisation mathématique</vt:lpstr>
      <vt:lpstr>Discrétisation : Milieu – Schéma d’Euler Explicite </vt:lpstr>
      <vt:lpstr>Discrétisation : frontières - Schéma d’Euler Explicite </vt:lpstr>
      <vt:lpstr>Calcul de l’ordre de convergence </vt:lpstr>
      <vt:lpstr>Calcul de l’ordre de convergence </vt:lpstr>
      <vt:lpstr>Plan de la présentation</vt:lpstr>
      <vt:lpstr>Description du code :</vt:lpstr>
      <vt:lpstr>Description du code – Algorithme de résolution</vt:lpstr>
      <vt:lpstr>Plan de la présentation</vt:lpstr>
      <vt:lpstr>Vérification de code - Méthodologie :</vt:lpstr>
      <vt:lpstr>Vérification de code - Résultats :</vt:lpstr>
      <vt:lpstr>Vérification de code – MMS – Méthodologie </vt:lpstr>
      <vt:lpstr>Vérification de code – MMS – Résultats :</vt:lpstr>
      <vt:lpstr>Vérification de code – MMS – Résultats :</vt:lpstr>
      <vt:lpstr>Plan de la présentation</vt:lpstr>
      <vt:lpstr>Validation – erreur simulation :</vt:lpstr>
      <vt:lpstr>Validation – erreur simulation :</vt:lpstr>
      <vt:lpstr>Validation – erreur simulation </vt:lpstr>
      <vt:lpstr>Validation – erreur simulation :</vt:lpstr>
      <vt:lpstr>Validation – incertitude numérique </vt:lpstr>
      <vt:lpstr>Validation – incertitude expérimentale</vt:lpstr>
      <vt:lpstr>Validation – incertitude u_input</vt:lpstr>
      <vt:lpstr>Validation – incertitude u_input</vt:lpstr>
      <vt:lpstr>Validation – erreur du modèle </vt:lpstr>
      <vt:lpstr>Analyse</vt:lpstr>
      <vt:lpstr>Améliorations possibles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Loïc Vignaud</cp:lastModifiedBy>
  <cp:revision>75</cp:revision>
  <dcterms:created xsi:type="dcterms:W3CDTF">2026-02-07T22:10:41Z</dcterms:created>
  <dcterms:modified xsi:type="dcterms:W3CDTF">2026-04-18T17:05:46Z</dcterms:modified>
</cp:coreProperties>
</file>