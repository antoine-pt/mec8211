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90" r:id="rId15"/>
    <p:sldId id="286" r:id="rId16"/>
    <p:sldId id="284" r:id="rId17"/>
    <p:sldId id="261" r:id="rId18"/>
    <p:sldId id="265" r:id="rId19"/>
    <p:sldId id="266" r:id="rId20"/>
    <p:sldId id="267" r:id="rId21"/>
    <p:sldId id="268" r:id="rId22"/>
    <p:sldId id="285" r:id="rId23"/>
    <p:sldId id="272" r:id="rId24"/>
    <p:sldId id="270" r:id="rId25"/>
    <p:sldId id="287" r:id="rId26"/>
    <p:sldId id="271" r:id="rId27"/>
    <p:sldId id="278" r:id="rId28"/>
    <p:sldId id="273" r:id="rId29"/>
    <p:sldId id="276" r:id="rId30"/>
    <p:sldId id="288" r:id="rId31"/>
    <p:sldId id="277" r:id="rId32"/>
    <p:sldId id="289" r:id="rId33"/>
    <p:sldId id="274" r:id="rId3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02" autoAdjust="0"/>
    <p:restoredTop sz="94782" autoAdjust="0"/>
  </p:normalViewPr>
  <p:slideViewPr>
    <p:cSldViewPr snapToGrid="0">
      <p:cViewPr varScale="1">
        <p:scale>
          <a:sx n="106" d="100"/>
          <a:sy n="106" d="100"/>
        </p:scale>
        <p:origin x="81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18/04/2026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‹N°›</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05186-0725-443C-BC59-E521425E81CD}" type="slidenum">
              <a:rPr lang="fr-FR" smtClean="0"/>
              <a:t>28</a:t>
            </a:fld>
            <a:endParaRPr lang="fr-FR"/>
          </a:p>
        </p:txBody>
      </p:sp>
    </p:spTree>
    <p:extLst>
      <p:ext uri="{BB962C8B-B14F-4D97-AF65-F5344CB8AC3E}">
        <p14:creationId xmlns:p14="http://schemas.microsoft.com/office/powerpoint/2010/main" val="1028688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18/04/2026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18/04/2026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18/04/2026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18/04/2026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18/04/2026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18/04/2026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18/04/2026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18/04/2026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18/04/2026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18/04/2026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18/04/2026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18/04/2026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doi.org/10.1038/s41598-020-59441-1"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xmlns="">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xmlns="">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869614"/>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=(0,1)</m:t>
                      </m:r>
                    </m:oMath>
                  </m:oMathPara>
                </a14:m>
                <a:endParaRPr lang="fr-CA" dirty="0">
                  <a:solidFill>
                    <a:srgbClr val="5B9BD5"/>
                  </a:solidFill>
                </a:endParaRPr>
              </a:p>
            </p:txBody>
          </p:sp>
        </mc:Choice>
        <mc:Fallback xmlns="">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869614"/>
              </a:xfrm>
              <a:prstGeom prst="rect">
                <a:avLst/>
              </a:prstGeom>
              <a:blipFill>
                <a:blip r:embed="rId5"/>
                <a:stretch>
                  <a:fillRect l="-794" t="-1303" b="-1954"/>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869614"/>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=(1,0)</m:t>
                      </m:r>
                    </m:oMath>
                  </m:oMathPara>
                </a14:m>
                <a:endParaRPr lang="fr-CA" dirty="0">
                  <a:solidFill>
                    <a:srgbClr val="6FAD46"/>
                  </a:solidFill>
                </a:endParaRPr>
              </a:p>
            </p:txBody>
          </p:sp>
        </mc:Choice>
        <mc:Fallback xmlns="">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869614"/>
              </a:xfrm>
              <a:prstGeom prst="rect">
                <a:avLst/>
              </a:prstGeom>
              <a:blipFill>
                <a:blip r:embed="rId6"/>
                <a:stretch>
                  <a:fillRect l="-873" t="-1629" b="-1629"/>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761800" y="2228850"/>
                <a:ext cx="6505775" cy="4011229"/>
              </a:xfrm>
            </p:spPr>
            <p:txBody>
              <a:bodyPr anchor="ctr">
                <a:normAutofit/>
              </a:bodyPr>
              <a:lstStyle/>
              <a:p>
                <a:r>
                  <a:rPr lang="fr-FR" sz="1300" dirty="0"/>
                  <a:t>main.py :</a:t>
                </a:r>
              </a:p>
              <a:p>
                <a:pPr lvl="1"/>
                <a:r>
                  <a:rPr lang="fr-FR" sz="1200" dirty="0"/>
                  <a:t>Usage typique du solveur pour une configuration prédéterminée (énoncé du problème).</a:t>
                </a:r>
              </a:p>
              <a:p>
                <a:pPr lvl="1"/>
                <a:r>
                  <a:rPr lang="fr-FR" sz="1200" dirty="0"/>
                  <a:t>Usage typique du solveur pour une configuration avec MMS.</a:t>
                </a:r>
              </a:p>
              <a:p>
                <a:r>
                  <a:rPr lang="fr-FR" sz="1300" dirty="0"/>
                  <a:t>fonctions.py : le cœur du code</a:t>
                </a:r>
              </a:p>
              <a:p>
                <a:pPr lvl="1"/>
                <a:r>
                  <a:rPr lang="fr-FR" sz="1300"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sz="1300" b="0" i="1">
                            <a:latin typeface="Cambria Math" panose="02040503050406030204" pitchFamily="18" charset="0"/>
                          </a:rPr>
                        </m:ctrlPr>
                      </m:sSubPr>
                      <m:e>
                        <m:r>
                          <a:rPr lang="fr-CA" sz="1300" b="0" i="1">
                            <a:latin typeface="Cambria Math" panose="02040503050406030204" pitchFamily="18" charset="0"/>
                          </a:rPr>
                          <m:t>𝑅</m:t>
                        </m:r>
                      </m:e>
                      <m:sub>
                        <m:r>
                          <a:rPr lang="fr-CA" sz="1300" b="0" i="1">
                            <a:latin typeface="Cambria Math" panose="02040503050406030204" pitchFamily="18" charset="0"/>
                          </a:rPr>
                          <m:t>𝑚𝑎𝑥</m:t>
                        </m:r>
                      </m:sub>
                    </m:sSub>
                    <m:r>
                      <a:rPr lang="fr-CA" sz="1300" b="0" i="1">
                        <a:latin typeface="Cambria Math" panose="02040503050406030204" pitchFamily="18" charset="0"/>
                      </a:rPr>
                      <m:t>,</m:t>
                    </m:r>
                    <m:r>
                      <a:rPr lang="fr-CA" sz="1300" b="0" i="1">
                        <a:latin typeface="Cambria Math" panose="02040503050406030204" pitchFamily="18" charset="0"/>
                      </a:rPr>
                      <m:t>𝜌</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𝐶</m:t>
                        </m:r>
                      </m:e>
                      <m:sub>
                        <m:r>
                          <a:rPr lang="fr-CA" sz="1300" b="0" i="1">
                            <a:latin typeface="Cambria Math" panose="02040503050406030204" pitchFamily="18" charset="0"/>
                          </a:rPr>
                          <m:t>𝑝</m:t>
                        </m:r>
                      </m:sub>
                    </m:sSub>
                    <m:r>
                      <a:rPr lang="fr-CA" sz="1300" b="0" i="1">
                        <a:latin typeface="Cambria Math" panose="02040503050406030204" pitchFamily="18" charset="0"/>
                      </a:rPr>
                      <m:t>, </m:t>
                    </m:r>
                    <m:r>
                      <a:rPr lang="fr-CA" sz="1300" b="0" i="1">
                        <a:latin typeface="Cambria Math" panose="02040503050406030204" pitchFamily="18" charset="0"/>
                      </a:rPr>
                      <m:t>𝑛𝑟</m:t>
                    </m:r>
                    <m:r>
                      <a:rPr lang="fr-CA" sz="1300" b="0" i="1">
                        <a:latin typeface="Cambria Math" panose="02040503050406030204" pitchFamily="18" charset="0"/>
                      </a:rPr>
                      <m:t>,</m:t>
                    </m:r>
                    <m:r>
                      <a:rPr lang="fr-CA" sz="1300" b="0" i="1">
                        <a:latin typeface="Cambria Math" panose="02040503050406030204" pitchFamily="18" charset="0"/>
                      </a:rPr>
                      <m:t>𝑛𝑧</m:t>
                    </m:r>
                    <m:r>
                      <a:rPr lang="fr-CA" sz="1300" b="0" i="1">
                        <a:latin typeface="Cambria Math" panose="02040503050406030204" pitchFamily="18" charset="0"/>
                      </a:rPr>
                      <m:t>,</m:t>
                    </m:r>
                    <m:r>
                      <a:rPr lang="fr-CA" sz="1300" b="0" i="1">
                        <a:latin typeface="Cambria Math" panose="02040503050406030204" pitchFamily="18" charset="0"/>
                      </a:rPr>
                      <m:t>𝑑𝑟</m:t>
                    </m:r>
                    <m:r>
                      <a:rPr lang="fr-CA" sz="1300" b="0" i="1">
                        <a:latin typeface="Cambria Math" panose="02040503050406030204" pitchFamily="18" charset="0"/>
                      </a:rPr>
                      <m:t>,</m:t>
                    </m:r>
                    <m:r>
                      <a:rPr lang="fr-CA" sz="1300" b="0" i="1">
                        <a:latin typeface="Cambria Math" panose="02040503050406030204" pitchFamily="18" charset="0"/>
                      </a:rPr>
                      <m:t>𝑑𝑧</m:t>
                    </m:r>
                    <m:r>
                      <a:rPr lang="fr-CA" sz="1300" b="0" i="1">
                        <a:latin typeface="Cambria Math" panose="02040503050406030204" pitchFamily="18" charset="0"/>
                      </a:rPr>
                      <m:t>,</m:t>
                    </m:r>
                    <m:r>
                      <a:rPr lang="fr-CA" sz="1300" b="0" i="1">
                        <a:latin typeface="Cambria Math" panose="02040503050406030204" pitchFamily="18" charset="0"/>
                      </a:rPr>
                      <m:t>𝑑𝑡</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𝑇</m:t>
                        </m:r>
                      </m:e>
                      <m:sub>
                        <m:r>
                          <a:rPr lang="fr-CA" sz="1300" i="1">
                            <a:latin typeface="Cambria Math" panose="02040503050406030204" pitchFamily="18" charset="0"/>
                            <a:ea typeface="Cambria Math" panose="02040503050406030204" pitchFamily="18" charset="0"/>
                          </a:rPr>
                          <m:t>∞</m:t>
                        </m:r>
                      </m:sub>
                    </m:sSub>
                    <m:r>
                      <a:rPr lang="fr-CA" sz="1300" b="0" i="1">
                        <a:latin typeface="Cambria Math" panose="02040503050406030204" pitchFamily="18" charset="0"/>
                      </a:rPr>
                      <m:t>,</m:t>
                    </m:r>
                    <m:r>
                      <a:rPr lang="fr-CA" sz="1300" b="0" i="1">
                        <a:latin typeface="Cambria Math" panose="02040503050406030204" pitchFamily="18" charset="0"/>
                      </a:rPr>
                      <m:t>𝑝𝑜𝑠𝑖𝑡𝑖𝑜𝑛</m:t>
                    </m:r>
                    <m:r>
                      <a:rPr lang="fr-CA" sz="1300" b="0" i="1">
                        <a:latin typeface="Cambria Math" panose="02040503050406030204" pitchFamily="18" charset="0"/>
                      </a:rPr>
                      <m:t>,</m:t>
                    </m:r>
                    <m:r>
                      <a:rPr lang="fr-CA" sz="1300" b="0" i="1">
                        <a:latin typeface="Cambria Math" panose="02040503050406030204" pitchFamily="18" charset="0"/>
                      </a:rPr>
                      <m:t>𝑀𝑀𝑆</m:t>
                    </m:r>
                    <m:r>
                      <a:rPr lang="fr-CA" sz="1300" b="0" i="1">
                        <a:latin typeface="Cambria Math" panose="02040503050406030204" pitchFamily="18" charset="0"/>
                      </a:rPr>
                      <m:t>,</m:t>
                    </m:r>
                    <m:r>
                      <a:rPr lang="fr-CA" sz="1300" b="0" i="1">
                        <a:latin typeface="Cambria Math" panose="02040503050406030204" pitchFamily="18" charset="0"/>
                      </a:rPr>
                      <m:t>𝑒𝑡𝑐</m:t>
                    </m:r>
                    <m:r>
                      <a:rPr lang="fr-CA" sz="1300" b="0" i="1">
                        <a:latin typeface="Cambria Math" panose="02040503050406030204" pitchFamily="18" charset="0"/>
                      </a:rPr>
                      <m:t>.</m:t>
                    </m:r>
                  </m:oMath>
                </a14:m>
                <a:endParaRPr lang="fr-CA" sz="1300" b="0" i="1" dirty="0">
                  <a:latin typeface="Cambria Math" panose="02040503050406030204" pitchFamily="18" charset="0"/>
                </a:endParaRPr>
              </a:p>
              <a:p>
                <a:pPr lvl="1"/>
                <a:r>
                  <a:rPr lang="fr-CA" sz="1300" b="0" dirty="0"/>
                  <a:t>Fonction Position : permet de générer les matrices de position des points du domaine </a:t>
                </a:r>
                <a:r>
                  <a:rPr lang="fr-CA" sz="1300" dirty="0"/>
                  <a:t>(</a:t>
                </a:r>
                <a:r>
                  <a:rPr lang="fr-CA" sz="1300" b="1" dirty="0"/>
                  <a:t>R </a:t>
                </a:r>
                <a:r>
                  <a:rPr lang="fr-CA" sz="1300" dirty="0"/>
                  <a:t>et </a:t>
                </a:r>
                <a:r>
                  <a:rPr lang="fr-CA" sz="1300" b="1" dirty="0"/>
                  <a:t>M</a:t>
                </a:r>
                <a:r>
                  <a:rPr lang="fr-CA" sz="1300" dirty="0"/>
                  <a:t>).</a:t>
                </a:r>
                <a14:m>
                  <m:oMath xmlns:m="http://schemas.openxmlformats.org/officeDocument/2006/math">
                    <m:r>
                      <a:rPr lang="fr-CA" sz="1300" b="0" i="1">
                        <a:latin typeface="Cambria Math" panose="02040503050406030204" pitchFamily="18" charset="0"/>
                      </a:rPr>
                      <m:t> </m:t>
                    </m:r>
                  </m:oMath>
                </a14:m>
                <a:endParaRPr lang="fr-CA" sz="1300" b="0" dirty="0"/>
              </a:p>
              <a:p>
                <a:pPr lvl="1"/>
                <a:r>
                  <a:rPr lang="fr-CA" sz="1300" dirty="0"/>
                  <a:t>Fonction Température : calcul l’état de la température au pas de temps suivant.</a:t>
                </a:r>
              </a:p>
              <a:p>
                <a:pPr lvl="2">
                  <a:buFont typeface="Courier New" panose="02070309020205020404" pitchFamily="49" charset="0"/>
                  <a:buChar char="o"/>
                </a:pPr>
                <a:r>
                  <a:rPr lang="fr-CA" sz="1300" b="0" dirty="0"/>
                  <a:t>Génère un état intermédiaire composé de l’état au temps </a:t>
                </a:r>
                <a:r>
                  <a:rPr lang="fr-CA" sz="1300" b="0" i="1" dirty="0"/>
                  <a:t>t</a:t>
                </a:r>
                <a:r>
                  <a:rPr lang="fr-CA" sz="1300" b="0" dirty="0"/>
                  <a:t> au milieu et l’état au temps </a:t>
                </a:r>
                <a14:m>
                  <m:oMath xmlns:m="http://schemas.openxmlformats.org/officeDocument/2006/math">
                    <m:r>
                      <a:rPr lang="fr-CA" sz="1300" b="0" i="1">
                        <a:latin typeface="Cambria Math" panose="02040503050406030204" pitchFamily="18" charset="0"/>
                      </a:rPr>
                      <m:t>𝑡</m:t>
                    </m:r>
                    <m:r>
                      <a:rPr lang="fr-CA" sz="1300" b="0" i="1">
                        <a:latin typeface="Cambria Math" panose="02040503050406030204" pitchFamily="18" charset="0"/>
                      </a:rPr>
                      <m:t>+∆</m:t>
                    </m:r>
                    <m:r>
                      <a:rPr lang="fr-CA" sz="1300" b="0" i="1">
                        <a:latin typeface="Cambria Math" panose="02040503050406030204" pitchFamily="18" charset="0"/>
                      </a:rPr>
                      <m:t>𝑡</m:t>
                    </m:r>
                  </m:oMath>
                </a14:m>
                <a:r>
                  <a:rPr lang="fr-CA" sz="1300" b="0" dirty="0"/>
                  <a:t> aux frontières.</a:t>
                </a:r>
              </a:p>
              <a:p>
                <a:pPr lvl="2">
                  <a:buFont typeface="Courier New" panose="02070309020205020404" pitchFamily="49" charset="0"/>
                  <a:buChar char="o"/>
                </a:pPr>
                <a:r>
                  <a:rPr lang="fr-CA" sz="1300" dirty="0"/>
                  <a:t>Appelle la fonction Milieu.</a:t>
                </a:r>
                <a:endParaRPr lang="fr-CA" sz="1300" b="0" dirty="0"/>
              </a:p>
              <a:p>
                <a:pPr lvl="1"/>
                <a:r>
                  <a:rPr lang="fr-FR" sz="1300" dirty="0"/>
                  <a:t>Fonction Milieu : permet de calculer l’état de la température au pas de temps suivant à l’aide de l’état intermédiaire fourni par la fonction Température</a:t>
                </a:r>
              </a:p>
            </p:txBody>
          </p:sp>
        </mc:Choice>
        <mc:Fallback xmlns="">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761800" y="2228850"/>
                <a:ext cx="6505775" cy="4011229"/>
              </a:xfrm>
              <a:blipFill>
                <a:blip r:embed="rId2"/>
                <a:stretch>
                  <a:fillRect l="-94"/>
                </a:stretch>
              </a:blipFill>
            </p:spPr>
            <p:txBody>
              <a:bodyPr/>
              <a:lstStyle/>
              <a:p>
                <a:r>
                  <a:rPr lang="fr-CA">
                    <a:noFill/>
                  </a:rPr>
                  <a:t> </a:t>
                </a:r>
              </a:p>
            </p:txBody>
          </p:sp>
        </mc:Fallback>
      </mc:AlternateContent>
      <p:pic>
        <p:nvPicPr>
          <p:cNvPr id="6" name="Picture 5" descr="101010 lignes de données vers l’infini">
            <a:extLst>
              <a:ext uri="{FF2B5EF4-FFF2-40B4-BE49-F238E27FC236}">
                <a16:creationId xmlns:a16="http://schemas.microsoft.com/office/drawing/2014/main" id="{85BD774B-D107-D5A0-F14C-393E37A0CED5}"/>
              </a:ext>
            </a:extLst>
          </p:cNvPr>
          <p:cNvPicPr>
            <a:picLocks noChangeAspect="1"/>
          </p:cNvPicPr>
          <p:nvPr/>
        </p:nvPicPr>
        <p:blipFill>
          <a:blip r:embed="rId3"/>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13</a:t>
            </a:fld>
            <a:endParaRPr lang="fr-FR">
              <a:solidFill>
                <a:srgbClr val="FFFFFF"/>
              </a:solidFill>
            </a:endParaRP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15C8-A273-7030-2A3F-6BDE9587055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33D28FB-7916-00FF-A0BA-554D31B7A321}"/>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p:sp>
        <p:nvSpPr>
          <p:cNvPr id="3" name="Espace réservé du contenu 2">
            <a:extLst>
              <a:ext uri="{FF2B5EF4-FFF2-40B4-BE49-F238E27FC236}">
                <a16:creationId xmlns:a16="http://schemas.microsoft.com/office/drawing/2014/main" id="{C313977C-A105-AC6E-44AE-ED95C34708DC}"/>
              </a:ext>
            </a:extLst>
          </p:cNvPr>
          <p:cNvSpPr>
            <a:spLocks noGrp="1"/>
          </p:cNvSpPr>
          <p:nvPr>
            <p:ph idx="1"/>
          </p:nvPr>
        </p:nvSpPr>
        <p:spPr>
          <a:xfrm>
            <a:off x="761800" y="2228850"/>
            <a:ext cx="6505775" cy="4011229"/>
          </a:xfrm>
        </p:spPr>
        <p:txBody>
          <a:bodyPr anchor="ctr">
            <a:normAutofit/>
          </a:bodyPr>
          <a:lstStyle/>
          <a:p>
            <a:r>
              <a:rPr lang="fr-FR" sz="1300" dirty="0"/>
              <a:t>convergence_generate_data.py : </a:t>
            </a:r>
          </a:p>
          <a:p>
            <a:pPr lvl="1"/>
            <a:r>
              <a:rPr lang="fr-FR" sz="1200" dirty="0"/>
              <a:t>Génère les solutions pour les configurations de discrétisation prescrites dans le fichier.</a:t>
            </a:r>
          </a:p>
          <a:p>
            <a:pPr lvl="1"/>
            <a:r>
              <a:rPr lang="fr-FR" sz="1200" dirty="0" err="1"/>
              <a:t>Dépendament</a:t>
            </a:r>
            <a:r>
              <a:rPr lang="fr-FR" sz="1200" dirty="0"/>
              <a:t> de la machine, peut prendre beaucoup de temps à s’exécuter.</a:t>
            </a:r>
          </a:p>
          <a:p>
            <a:pPr lvl="1"/>
            <a:r>
              <a:rPr lang="fr-FR" sz="1200" dirty="0"/>
              <a:t>Données des configurations enregistrées de manière Spatio-Temporelle en format .</a:t>
            </a:r>
            <a:r>
              <a:rPr lang="fr-FR" sz="1200" dirty="0" err="1"/>
              <a:t>npz</a:t>
            </a:r>
            <a:r>
              <a:rPr lang="fr-FR" sz="1200" dirty="0"/>
              <a:t> (</a:t>
            </a:r>
            <a:r>
              <a:rPr lang="fr-FR" sz="1200" dirty="0" err="1"/>
              <a:t>NumPy</a:t>
            </a:r>
            <a:r>
              <a:rPr lang="fr-FR" sz="1200" dirty="0"/>
              <a:t> zip) dans le dossier .</a:t>
            </a:r>
            <a:r>
              <a:rPr lang="fr-FR" sz="1200" dirty="0" err="1"/>
              <a:t>resultats</a:t>
            </a:r>
            <a:r>
              <a:rPr lang="fr-FR" sz="1200" dirty="0"/>
              <a:t>/ .</a:t>
            </a:r>
          </a:p>
          <a:p>
            <a:r>
              <a:rPr lang="fr-FR" sz="1300" dirty="0"/>
              <a:t>ordre_convergence_MMS.py : </a:t>
            </a:r>
          </a:p>
          <a:p>
            <a:pPr lvl="1"/>
            <a:r>
              <a:rPr lang="fr-CA" sz="1300" b="0" dirty="0"/>
              <a:t>Génère les graphiques et calcul l’ordre de convergence asymptotique de la discrétisation en temps (</a:t>
            </a:r>
            <a:r>
              <a:rPr lang="fr-CA" sz="1300" b="0" dirty="0" err="1"/>
              <a:t>dt</a:t>
            </a:r>
            <a:r>
              <a:rPr lang="fr-CA" sz="1300" dirty="0"/>
              <a:t>) ou en espace (</a:t>
            </a:r>
            <a:r>
              <a:rPr lang="fr-CA" sz="1300" dirty="0" err="1"/>
              <a:t>dr,dz</a:t>
            </a:r>
            <a:r>
              <a:rPr lang="fr-CA" sz="1300" dirty="0"/>
              <a:t>).</a:t>
            </a:r>
          </a:p>
          <a:p>
            <a:pPr lvl="1"/>
            <a:r>
              <a:rPr lang="fr-CA" sz="1300" b="0" dirty="0"/>
              <a:t>Ordre de convergence obtenus : final (dernier pas de temps) et spatio-temporel (tous les pas de temps)</a:t>
            </a:r>
          </a:p>
          <a:p>
            <a:pPr lvl="1"/>
            <a:r>
              <a:rPr lang="fr-CA" sz="1300" dirty="0"/>
              <a:t>L’utilisateur peut avoir à modifier certains paramètres dans ce fichier pour s’assurer de saisir l’ordre de convergence </a:t>
            </a:r>
            <a:r>
              <a:rPr lang="fr-CA" sz="1300" b="1" dirty="0"/>
              <a:t>asymptotique</a:t>
            </a:r>
            <a:r>
              <a:rPr lang="fr-CA" sz="1300" dirty="0"/>
              <a:t>.</a:t>
            </a:r>
          </a:p>
        </p:txBody>
      </p:sp>
      <p:pic>
        <p:nvPicPr>
          <p:cNvPr id="6" name="Picture 5" descr="101010 lignes de données vers l’infini">
            <a:extLst>
              <a:ext uri="{FF2B5EF4-FFF2-40B4-BE49-F238E27FC236}">
                <a16:creationId xmlns:a16="http://schemas.microsoft.com/office/drawing/2014/main" id="{E3EE24B8-9B25-AE46-02FD-B58AD315982A}"/>
              </a:ext>
            </a:extLst>
          </p:cNvPr>
          <p:cNvPicPr>
            <a:picLocks noChangeAspect="1"/>
          </p:cNvPicPr>
          <p:nvPr/>
        </p:nvPicPr>
        <p:blipFill>
          <a:blip r:embed="rId2"/>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2FF45D1D-53C5-7CBA-D775-3D774B54AB9A}"/>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14</a:t>
            </a:fld>
            <a:endParaRPr lang="fr-FR">
              <a:solidFill>
                <a:srgbClr val="FFFFFF"/>
              </a:solidFill>
            </a:endParaRPr>
          </a:p>
        </p:txBody>
      </p:sp>
    </p:spTree>
    <p:extLst>
      <p:ext uri="{BB962C8B-B14F-4D97-AF65-F5344CB8AC3E}">
        <p14:creationId xmlns:p14="http://schemas.microsoft.com/office/powerpoint/2010/main" val="1436084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Condition initiale dans le domaine.</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suivants aux frontières du domaine à l’aide de la solution courante.</a:t>
                </a:r>
              </a:p>
              <a:p>
                <a:pPr marL="971550" lvl="1" indent="-514350">
                  <a:buAutoNum type="arabicPeriod"/>
                </a:pPr>
                <a:r>
                  <a:rPr lang="fr-FR" dirty="0"/>
                  <a:t>Calcul des nœuds suivants au milieu du domaine à l’aide de la solution courante.</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1406409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492161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3778705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8458332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3708032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683629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8886473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0.6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0.3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xmlns="">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24</a:t>
            </a:fld>
            <a:endParaRPr lang="fr-FR"/>
          </a:p>
        </p:txBody>
      </p:sp>
    </p:spTree>
    <p:extLst>
      <p:ext uri="{BB962C8B-B14F-4D97-AF65-F5344CB8AC3E}">
        <p14:creationId xmlns:p14="http://schemas.microsoft.com/office/powerpoint/2010/main" val="28565026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a:t>
                </a:r>
                <a:r>
                  <a:rPr lang="en-US" b="1" dirty="0" err="1"/>
                  <a:t>consistant</a:t>
                </a:r>
                <a:r>
                  <a:rPr lang="en-US" b="1" dirty="0"/>
                  <a:t> et quasi </a:t>
                </a:r>
                <a:r>
                  <a:rPr lang="en-US" b="1" dirty="0" err="1"/>
                  <a:t>uniforme</a:t>
                </a:r>
                <a:endParaRPr lang="en-US" b="1" dirty="0"/>
              </a:p>
            </p:txBody>
          </p:sp>
        </mc:Choice>
        <mc:Fallback xmlns="">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25</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41625146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=1.25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809223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729601"/>
              </a:xfrm>
            </p:spPr>
            <p:txBody>
              <a:bodyPr>
                <a:normAutofit fontScale="92500" lnSpcReduction="10000"/>
              </a:bodyPr>
              <a:lstStyle/>
              <a:p>
                <a:pPr marL="0" indent="0">
                  <a:buNone/>
                </a:pPr>
                <a:r>
                  <a:rPr lang="fr-FR" dirty="0"/>
                  <a:t>Erreur épistémique d’un thermocouple classique : ±1.5 K*</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K</m:t>
                    </m:r>
                  </m:oMath>
                </a14:m>
                <a:r>
                  <a:rPr lang="fr-FR" dirty="0"/>
                  <a:t> </a:t>
                </a:r>
              </a:p>
              <a:p>
                <a:pPr marL="0" indent="0">
                  <a:buNone/>
                </a:pPr>
                <a:r>
                  <a:rPr lang="fr-FR" dirty="0"/>
                  <a:t> car distribution uniforme dans l’intervalle [-1.5,1.5] K.</a:t>
                </a:r>
              </a:p>
              <a:p>
                <a:pPr marL="0" indent="0">
                  <a:buNone/>
                </a:pPr>
                <a:endParaRPr lang="fr-FR" dirty="0"/>
              </a:p>
              <a:p>
                <a:pPr marL="0" indent="0">
                  <a:buNone/>
                </a:pPr>
                <a:r>
                  <a:rPr lang="fr-FR" dirty="0"/>
                  <a:t>Erreur aléatoire dans la distribution des mesures tiré de la littérature** :</a:t>
                </a:r>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al</m:t>
                      </m:r>
                      <m:r>
                        <a:rPr lang="fr-FR" b="0" i="1" smtClean="0">
                          <a:latin typeface="Cambria Math" panose="02040503050406030204" pitchFamily="18" charset="0"/>
                        </a:rPr>
                        <m:t> = 0.90 </m:t>
                      </m:r>
                      <m:r>
                        <m:rPr>
                          <m:sty m:val="p"/>
                        </m:rPr>
                        <a:rPr lang="fr-FR" b="0" i="1" smtClean="0">
                          <a:latin typeface="Cambria Math" panose="02040503050406030204" pitchFamily="18" charset="0"/>
                        </a:rPr>
                        <m:t>K</m:t>
                      </m:r>
                    </m:oMath>
                  </m:oMathPara>
                </a14:m>
                <a:endParaRPr lang="fr-FR" dirty="0"/>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m:rPr>
                              <m:sty m:val="p"/>
                            </m:rPr>
                            <a:rPr lang="fr-FR" b="0" i="1" smtClean="0">
                              <a:latin typeface="Cambria Math" panose="02040503050406030204" pitchFamily="18" charset="0"/>
                            </a:rPr>
                            <m:t>σal</m:t>
                          </m:r>
                          <m:r>
                            <a:rPr lang="fr-FR" b="0" i="1" smtClean="0">
                              <a:latin typeface="Cambria Math" panose="02040503050406030204" pitchFamily="18" charset="0"/>
                            </a:rPr>
                            <m:t>²</m:t>
                          </m:r>
                          <m:r>
                            <a:rPr lang="fr-FR" b="0" i="1" smtClean="0">
                              <a:highlight>
                                <a:srgbClr val="5B9BD5"/>
                              </a:highlight>
                              <a:latin typeface="Cambria Math" panose="02040503050406030204" pitchFamily="18" charset="0"/>
                            </a:rPr>
                            <m:t> </m:t>
                          </m:r>
                        </m:e>
                      </m:rad>
                      <m:r>
                        <a:rPr lang="fr-FR" b="0" i="1" smtClean="0">
                          <a:latin typeface="Cambria Math" panose="02040503050406030204" pitchFamily="18" charset="0"/>
                        </a:rPr>
                        <m:t>=1.25 </m:t>
                      </m:r>
                      <m:r>
                        <m:rPr>
                          <m:sty m:val="p"/>
                        </m:rPr>
                        <a:rPr lang="fr-FR" b="0" i="1" smtClean="0">
                          <a:latin typeface="Cambria Math" panose="02040503050406030204" pitchFamily="18" charset="0"/>
                        </a:rPr>
                        <m:t>K</m:t>
                      </m:r>
                    </m:oMath>
                  </m:oMathPara>
                </a14:m>
                <a:endParaRPr lang="fr-FR" dirty="0"/>
              </a:p>
              <a:p>
                <a:pPr marL="0" indent="0">
                  <a:buNone/>
                </a:pPr>
                <a:endParaRPr lang="fr-FR" dirty="0"/>
              </a:p>
            </p:txBody>
          </p:sp>
        </mc:Choice>
        <mc:Fallback xmlns="">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729601"/>
              </a:xfrm>
              <a:blipFill>
                <a:blip r:embed="rId3"/>
                <a:stretch>
                  <a:fillRect l="-1043" t="-326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646331"/>
          </a:xfrm>
          <a:prstGeom prst="rect">
            <a:avLst/>
          </a:prstGeom>
          <a:noFill/>
        </p:spPr>
        <p:txBody>
          <a:bodyPr wrap="square" rtlCol="0">
            <a:spAutoFit/>
          </a:bodyPr>
          <a:lstStyle/>
          <a:p>
            <a:r>
              <a:rPr lang="fr-FR" dirty="0"/>
              <a:t>*Source : tcsa.fr/thermocouple/type-k-thermocouple.html</a:t>
            </a:r>
          </a:p>
          <a:p>
            <a:r>
              <a:rPr lang="fr-FR" dirty="0"/>
              <a:t>** Source </a:t>
            </a:r>
            <a:r>
              <a:rPr lang="en-US" dirty="0" err="1"/>
              <a:t>doi</a:t>
            </a:r>
            <a:r>
              <a:rPr lang="en-US" dirty="0"/>
              <a:t>: </a:t>
            </a:r>
            <a:r>
              <a:rPr lang="en-US" u="sng" dirty="0">
                <a:hlinkClick r:id="rId4"/>
              </a:rPr>
              <a:t>10.1038/s41598-020-59441-1</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153986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418558"/>
                <a:ext cx="10515600" cy="1902313"/>
              </a:xfrm>
            </p:spPr>
            <p:txBody>
              <a:bodyPr>
                <a:normAutofit fontScale="47500" lnSpcReduction="20000"/>
              </a:bodyPr>
              <a:lstStyle/>
              <a:p>
                <a:r>
                  <a:rPr lang="fr-FR" sz="3300" dirty="0"/>
                  <a:t>Conductivité thermique du 4340 trouvé dans la littérature : </a:t>
                </a:r>
              </a:p>
              <a:p>
                <a:pPr marL="0" indent="0">
                  <a:buNone/>
                </a:pPr>
                <a14:m>
                  <m:oMath xmlns:m="http://schemas.openxmlformats.org/officeDocument/2006/math">
                    <m:r>
                      <a:rPr lang="fr-FR" sz="3300" b="0" i="0" smtClean="0">
                        <a:latin typeface="Cambria Math" panose="02040503050406030204" pitchFamily="18" charset="0"/>
                      </a:rPr>
                      <m:t>[35,50]</m:t>
                    </m:r>
                    <m:r>
                      <a:rPr lang="fr-FR" sz="3300" i="1">
                        <a:latin typeface="Cambria Math" panose="02040503050406030204" pitchFamily="18" charset="0"/>
                      </a:rPr>
                      <m:t>𝑊</m:t>
                    </m:r>
                    <m:r>
                      <m:rPr>
                        <m:lit/>
                      </m:rPr>
                      <a:rPr lang="fr-FR" sz="3300" i="1">
                        <a:latin typeface="Cambria Math" panose="02040503050406030204" pitchFamily="18" charset="0"/>
                      </a:rPr>
                      <m:t>/</m:t>
                    </m:r>
                    <m:r>
                      <a:rPr lang="fr-FR" sz="3300" i="1">
                        <a:latin typeface="Cambria Math" panose="02040503050406030204" pitchFamily="18" charset="0"/>
                      </a:rPr>
                      <m:t>(</m:t>
                    </m:r>
                    <m:r>
                      <a:rPr lang="fr-FR" sz="3300" i="1">
                        <a:latin typeface="Cambria Math" panose="02040503050406030204" pitchFamily="18" charset="0"/>
                      </a:rPr>
                      <m:t>𝑚</m:t>
                    </m:r>
                    <m:r>
                      <a:rPr lang="fr-FR" sz="3300" i="1">
                        <a:latin typeface="Cambria Math" panose="02040503050406030204" pitchFamily="18" charset="0"/>
                      </a:rPr>
                      <m:t>⋅</m:t>
                    </m:r>
                    <m:r>
                      <m:rPr>
                        <m:sty m:val="p"/>
                      </m:rPr>
                      <a:rPr lang="fr-FR" sz="3300" i="1">
                        <a:latin typeface="Cambria Math" panose="02040503050406030204" pitchFamily="18" charset="0"/>
                      </a:rPr>
                      <m:t>K</m:t>
                    </m:r>
                    <m:r>
                      <a:rPr lang="fr-FR" sz="3300" i="1">
                        <a:latin typeface="Cambria Math" panose="02040503050406030204" pitchFamily="18" charset="0"/>
                      </a:rPr>
                      <m:t>)</m:t>
                    </m:r>
                  </m:oMath>
                </a14:m>
                <a:r>
                  <a:rPr lang="fr-FR" sz="3300" dirty="0"/>
                  <a:t> </a:t>
                </a:r>
                <a:r>
                  <a:rPr lang="fr-FR" sz="3300" dirty="0">
                    <a:sym typeface="Wingdings" panose="05000000000000000000" pitchFamily="2" charset="2"/>
                  </a:rPr>
                  <a:t> intervalle de confiance de 95.4% pour une loi normale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fr-FR" sz="3300" dirty="0"/>
              </a:p>
              <a:p>
                <a:pPr marL="0" indent="0">
                  <a:buNone/>
                </a:pPr>
                <a14:m>
                  <m:oMathPara xmlns:m="http://schemas.openxmlformats.org/officeDocument/2006/math">
                    <m:oMathParaPr>
                      <m:jc m:val="centerGroup"/>
                    </m:oMathParaPr>
                    <m:oMath xmlns:m="http://schemas.openxmlformats.org/officeDocument/2006/math">
                      <m:r>
                        <a:rPr lang="fr-FR" sz="3300" b="0" i="0" smtClean="0">
                          <a:latin typeface="Cambria Math" panose="02040503050406030204" pitchFamily="18" charset="0"/>
                        </a:rPr>
                        <m:t>𝑘</m:t>
                      </m:r>
                      <m:r>
                        <a:rPr lang="fr-FR" sz="3300" b="0" i="1" smtClean="0">
                          <a:latin typeface="Cambria Math" panose="02040503050406030204" pitchFamily="18" charset="0"/>
                        </a:rPr>
                        <m:t> ∼</m:t>
                      </m:r>
                      <m:r>
                        <a:rPr lang="fr-FR" sz="3300" b="0" i="1" smtClean="0">
                          <a:latin typeface="Cambria Math" panose="02040503050406030204" pitchFamily="18" charset="0"/>
                        </a:rPr>
                        <m:t>𝒩</m:t>
                      </m:r>
                      <m:r>
                        <a:rPr lang="fr-FR" sz="3300" b="0" i="1" smtClean="0">
                          <a:latin typeface="Cambria Math" panose="02040503050406030204" pitchFamily="18" charset="0"/>
                        </a:rPr>
                        <m:t>(42.5,3.75) </m:t>
                      </m:r>
                      <m:r>
                        <a:rPr lang="fr-FR" sz="3300" b="0" i="1" smtClean="0">
                          <a:latin typeface="Cambria Math" panose="02040503050406030204" pitchFamily="18" charset="0"/>
                        </a:rPr>
                        <m:t>𝑊</m:t>
                      </m:r>
                      <m:r>
                        <m:rPr>
                          <m:lit/>
                        </m:rPr>
                        <a:rPr lang="fr-FR" sz="3300" b="0" i="1" smtClean="0">
                          <a:latin typeface="Cambria Math" panose="02040503050406030204" pitchFamily="18" charset="0"/>
                        </a:rPr>
                        <m:t>/</m:t>
                      </m:r>
                      <m:r>
                        <a:rPr lang="fr-FR" sz="3300" b="0" i="1" smtClean="0">
                          <a:latin typeface="Cambria Math" panose="02040503050406030204" pitchFamily="18" charset="0"/>
                        </a:rPr>
                        <m:t>(</m:t>
                      </m:r>
                      <m:r>
                        <a:rPr lang="fr-FR" sz="3300" b="0" i="1" smtClean="0">
                          <a:latin typeface="Cambria Math" panose="02040503050406030204" pitchFamily="18" charset="0"/>
                        </a:rPr>
                        <m:t>𝑚</m:t>
                      </m:r>
                      <m:r>
                        <a:rPr lang="fr-FR" sz="3300" b="0" i="1" smtClean="0">
                          <a:latin typeface="Cambria Math" panose="02040503050406030204" pitchFamily="18" charset="0"/>
                        </a:rPr>
                        <m:t>⋅</m:t>
                      </m:r>
                      <m:r>
                        <m:rPr>
                          <m:sty m:val="p"/>
                        </m:rPr>
                        <a:rPr lang="fr-FR" sz="3300" b="0" i="1" smtClean="0">
                          <a:latin typeface="Cambria Math" panose="02040503050406030204" pitchFamily="18" charset="0"/>
                        </a:rPr>
                        <m:t>K</m:t>
                      </m:r>
                      <m:r>
                        <a:rPr lang="fr-FR" sz="3300" b="0" i="1" smtClean="0">
                          <a:latin typeface="Cambria Math" panose="02040503050406030204" pitchFamily="18" charset="0"/>
                        </a:rPr>
                        <m:t>)</m:t>
                      </m:r>
                    </m:oMath>
                  </m:oMathPara>
                </a14:m>
                <a:endParaRPr lang="en-US" sz="3300" dirty="0"/>
              </a:p>
              <a:p>
                <a:r>
                  <a:rPr lang="en-US" sz="3300" dirty="0" err="1"/>
                  <a:t>Emissivité</a:t>
                </a:r>
                <a:r>
                  <a:rPr lang="en-US" sz="3300" dirty="0"/>
                  <a:t> d’un 4340 trouvé dans la </a:t>
                </a:r>
                <a:r>
                  <a:rPr lang="en-US" sz="3300" dirty="0" err="1"/>
                  <a:t>littérature</a:t>
                </a:r>
                <a:r>
                  <a:rPr lang="en-US" sz="3300" dirty="0"/>
                  <a:t> :</a:t>
                </a:r>
              </a:p>
              <a:p>
                <a:pPr marL="0" indent="0">
                  <a:buNone/>
                </a:pPr>
                <a:r>
                  <a:rPr lang="en-US" sz="3300" dirty="0"/>
                  <a:t>[0.15,0.9] </a:t>
                </a:r>
                <a:r>
                  <a:rPr lang="en-US" sz="3300" dirty="0">
                    <a:sym typeface="Wingdings" panose="05000000000000000000" pitchFamily="2" charset="2"/>
                  </a:rPr>
                  <a:t> </a:t>
                </a:r>
                <a:r>
                  <a:rPr lang="en-US" sz="3300" dirty="0" err="1">
                    <a:sym typeface="Wingdings" panose="05000000000000000000" pitchFamily="2" charset="2"/>
                  </a:rPr>
                  <a:t>intervalle</a:t>
                </a:r>
                <a:r>
                  <a:rPr lang="en-US" sz="3300" dirty="0">
                    <a:sym typeface="Wingdings" panose="05000000000000000000" pitchFamily="2" charset="2"/>
                  </a:rPr>
                  <a:t> de </a:t>
                </a:r>
                <a:r>
                  <a:rPr lang="en-US" sz="3300" dirty="0" err="1">
                    <a:sym typeface="Wingdings" panose="05000000000000000000" pitchFamily="2" charset="2"/>
                  </a:rPr>
                  <a:t>confiance</a:t>
                </a:r>
                <a:r>
                  <a:rPr lang="en-US" sz="3300" dirty="0">
                    <a:sym typeface="Wingdings" panose="05000000000000000000" pitchFamily="2" charset="2"/>
                  </a:rPr>
                  <a:t> à 95.4% pour </a:t>
                </a:r>
                <a:r>
                  <a:rPr lang="en-US" sz="3300" dirty="0" err="1">
                    <a:sym typeface="Wingdings" panose="05000000000000000000" pitchFamily="2" charset="2"/>
                  </a:rPr>
                  <a:t>une</a:t>
                </a:r>
                <a:r>
                  <a:rPr lang="en-US" sz="3300" dirty="0">
                    <a:sym typeface="Wingdings" panose="05000000000000000000" pitchFamily="2" charset="2"/>
                  </a:rPr>
                  <a:t> </a:t>
                </a:r>
                <a:r>
                  <a:rPr lang="en-US" sz="3300" dirty="0" err="1"/>
                  <a:t>loi</a:t>
                </a:r>
                <a:r>
                  <a:rPr lang="en-US" sz="3300" dirty="0"/>
                  <a:t> </a:t>
                </a:r>
                <a:r>
                  <a:rPr lang="en-US" sz="3300" dirty="0" err="1"/>
                  <a:t>normale</a:t>
                </a:r>
                <a:r>
                  <a:rPr lang="en-US" sz="3300" dirty="0"/>
                  <a:t>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en-US" sz="3300" dirty="0"/>
              </a:p>
              <a:p>
                <a:pPr marL="0" indent="0" algn="ctr">
                  <a:buNone/>
                </a:pPr>
                <a14:m>
                  <m:oMathPara xmlns:m="http://schemas.openxmlformats.org/officeDocument/2006/math">
                    <m:oMathParaPr>
                      <m:jc m:val="centerGroup"/>
                    </m:oMathParaPr>
                    <m:oMath xmlns:m="http://schemas.openxmlformats.org/officeDocument/2006/math">
                      <m:r>
                        <a:rPr lang="fr-FR" sz="3300" b="0" i="1" smtClean="0">
                          <a:latin typeface="Cambria Math" panose="02040503050406030204" pitchFamily="18" charset="0"/>
                        </a:rPr>
                        <m:t>𝜀</m:t>
                      </m:r>
                      <m:r>
                        <a:rPr lang="fr-FR" sz="3300" i="1">
                          <a:latin typeface="Cambria Math" panose="02040503050406030204" pitchFamily="18" charset="0"/>
                        </a:rPr>
                        <m:t>∼</m:t>
                      </m:r>
                      <m:r>
                        <a:rPr lang="fr-FR" sz="3300" i="1">
                          <a:latin typeface="Cambria Math" panose="02040503050406030204" pitchFamily="18" charset="0"/>
                        </a:rPr>
                        <m:t>𝒩</m:t>
                      </m:r>
                      <m:d>
                        <m:dPr>
                          <m:ctrlPr>
                            <a:rPr lang="fr-FR" sz="3300" b="0" i="1" smtClean="0">
                              <a:latin typeface="Cambria Math" panose="02040503050406030204" pitchFamily="18" charset="0"/>
                            </a:rPr>
                          </m:ctrlPr>
                        </m:dPr>
                        <m:e>
                          <m:r>
                            <a:rPr lang="fr-FR" sz="3300" b="0" i="1" smtClean="0">
                              <a:latin typeface="Cambria Math" panose="02040503050406030204" pitchFamily="18" charset="0"/>
                            </a:rPr>
                            <m:t>0.525,0.19</m:t>
                          </m:r>
                        </m:e>
                      </m:d>
                    </m:oMath>
                  </m:oMathPara>
                </a14:m>
                <a:endParaRPr lang="fr-FR" sz="3300" b="0" dirty="0"/>
              </a:p>
              <a:p>
                <a:pPr marL="0" indent="0">
                  <a:buNone/>
                </a:pPr>
                <a:r>
                  <a:rPr lang="fr-FR" sz="3300" dirty="0"/>
                  <a:t>Par la méthode de Monte Carlo en travaillant sur la température moyenne de surface :</a:t>
                </a:r>
                <a:endParaRPr lang="fr-FR" sz="3300" b="0"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418558"/>
                <a:ext cx="10515600" cy="1902313"/>
              </a:xfrm>
              <a:blipFill>
                <a:blip r:embed="rId3"/>
                <a:stretch>
                  <a:fillRect l="-348" t="-4167" b="-416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t="5346" r="67245"/>
          <a:stretch>
            <a:fillRect/>
          </a:stretch>
        </p:blipFill>
        <p:spPr>
          <a:xfrm>
            <a:off x="667378" y="3428999"/>
            <a:ext cx="3522785" cy="330739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29</a:t>
            </a:fld>
            <a:endParaRPr lang="fr-FR"/>
          </a:p>
        </p:txBody>
      </p:sp>
    </p:spTree>
    <p:extLst>
      <p:ext uri="{BB962C8B-B14F-4D97-AF65-F5344CB8AC3E}">
        <p14:creationId xmlns:p14="http://schemas.microsoft.com/office/powerpoint/2010/main" val="28109578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820A09-0F49-B31F-9AA1-11B0ABCFF4D4}"/>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66820A09-0F49-B31F-9AA1-11B0ABCFF4D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B71198-7608-579F-B3DD-7C7CBD28912F}"/>
                  </a:ext>
                </a:extLst>
              </p:cNvPr>
              <p:cNvSpPr>
                <a:spLocks noGrp="1"/>
              </p:cNvSpPr>
              <p:nvPr>
                <p:ph idx="1"/>
              </p:nvPr>
            </p:nvSpPr>
            <p:spPr>
              <a:xfrm>
                <a:off x="838200" y="1825625"/>
                <a:ext cx="10515600" cy="1462085"/>
              </a:xfrm>
            </p:spPr>
            <p:txBody>
              <a:bodyPr>
                <a:normAutofit fontScale="92500"/>
              </a:bodyPr>
              <a:lstStyle/>
              <a:p>
                <a:r>
                  <a:rPr lang="fr-FR" dirty="0"/>
                  <a:t>Par une méthode moins conservatrice en considérant les intervalles des valeurs trouvé dans la littérature comme des intervalles de confiance à 99% il est possible de réduire considérablement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3" name="Content Placeholder 2">
                <a:extLst>
                  <a:ext uri="{FF2B5EF4-FFF2-40B4-BE49-F238E27FC236}">
                    <a16:creationId xmlns:a16="http://schemas.microsoft.com/office/drawing/2014/main" id="{7BB71198-7608-579F-B3DD-7C7CBD28912F}"/>
                  </a:ext>
                </a:extLst>
              </p:cNvPr>
              <p:cNvSpPr>
                <a:spLocks noGrp="1" noRot="1" noChangeAspect="1" noMove="1" noResize="1" noEditPoints="1" noAdjustHandles="1" noChangeArrowheads="1" noChangeShapeType="1" noTextEdit="1"/>
              </p:cNvSpPr>
              <p:nvPr>
                <p:ph idx="1"/>
              </p:nvPr>
            </p:nvSpPr>
            <p:spPr>
              <a:xfrm>
                <a:off x="838200" y="1825625"/>
                <a:ext cx="10515600" cy="1462085"/>
              </a:xfrm>
              <a:blipFill>
                <a:blip r:embed="rId3"/>
                <a:stretch>
                  <a:fillRect l="-928" t="-625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1EA1BFD-A6AF-4A14-34C0-65467A1D021C}"/>
              </a:ext>
            </a:extLst>
          </p:cNvPr>
          <p:cNvSpPr>
            <a:spLocks noGrp="1"/>
          </p:cNvSpPr>
          <p:nvPr>
            <p:ph type="sldNum" sz="quarter" idx="12"/>
          </p:nvPr>
        </p:nvSpPr>
        <p:spPr/>
        <p:txBody>
          <a:bodyPr/>
          <a:lstStyle/>
          <a:p>
            <a:fld id="{FD85B578-4E75-4E1C-9BE3-D5DCC0715B13}" type="slidenum">
              <a:rPr lang="fr-FR" smtClean="0"/>
              <a:t>30</a:t>
            </a:fld>
            <a:endParaRPr lang="fr-FR"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0E9DB5F-EBD0-D834-D4ED-493307BE600E}"/>
                  </a:ext>
                </a:extLst>
              </p:cNvPr>
              <p:cNvSpPr txBox="1"/>
              <p:nvPr/>
            </p:nvSpPr>
            <p:spPr>
              <a:xfrm>
                <a:off x="501445" y="5642899"/>
                <a:ext cx="7076768" cy="849976"/>
              </a:xfrm>
              <a:prstGeom prst="rect">
                <a:avLst/>
              </a:prstGeom>
              <a:noFill/>
            </p:spPr>
            <p:txBody>
              <a:bodyPr wrap="square" rtlCol="0">
                <a:spAutoFit/>
              </a:bodyPr>
              <a:lstStyle/>
              <a:p>
                <a:r>
                  <a:rPr lang="fr-FR" sz="1600" b="0" i="1" dirty="0">
                    <a:latin typeface="Cambria Math" panose="02040503050406030204" pitchFamily="18" charset="0"/>
                  </a:rPr>
                  <a:t>Résultat pour intervalle de confian</a:t>
                </a:r>
                <a:r>
                  <a:rPr lang="fr-FR" sz="1600" i="1" dirty="0">
                    <a:latin typeface="Cambria Math" panose="02040503050406030204" pitchFamily="18" charset="0"/>
                  </a:rPr>
                  <a:t>ce à 99%</a:t>
                </a:r>
                <a:endParaRPr lang="fr-FR" sz="1600" b="0" i="1" dirty="0">
                  <a:latin typeface="Cambria Math" panose="02040503050406030204" pitchFamily="18" charset="0"/>
                </a:endParaRPr>
              </a:p>
              <a:p>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𝑢</m:t>
                        </m:r>
                      </m:e>
                      <m:sub>
                        <m:r>
                          <a:rPr lang="fr-FR" sz="1600" b="0" i="1" smtClean="0">
                            <a:latin typeface="Cambria Math" panose="02040503050406030204" pitchFamily="18" charset="0"/>
                          </a:rPr>
                          <m:t>𝑖𝑛𝑝𝑢𝑡</m:t>
                        </m:r>
                      </m:sub>
                    </m:sSub>
                    <m:r>
                      <a:rPr lang="fr-FR" sz="1600" b="0" i="1" smtClean="0">
                        <a:latin typeface="Cambria Math" panose="02040503050406030204" pitchFamily="18" charset="0"/>
                      </a:rPr>
                      <m:t>=13.1 </m:t>
                    </m:r>
                    <m:r>
                      <m:rPr>
                        <m:sty m:val="p"/>
                      </m:rPr>
                      <a:rPr lang="fr-FR" sz="1600" b="0" i="1" smtClean="0">
                        <a:latin typeface="Cambria Math" panose="02040503050406030204" pitchFamily="18" charset="0"/>
                      </a:rPr>
                      <m:t>K</m:t>
                    </m:r>
                  </m:oMath>
                </a14:m>
                <a:r>
                  <a:rPr lang="en-US" sz="1600" dirty="0"/>
                  <a:t> pour </a:t>
                </a:r>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𝜎</m:t>
                        </m:r>
                      </m:e>
                      <m:sub>
                        <m:r>
                          <a:rPr lang="fr-FR" sz="1600" b="0" i="1" smtClean="0">
                            <a:latin typeface="Cambria Math" panose="02040503050406030204" pitchFamily="18" charset="0"/>
                          </a:rPr>
                          <m:t>𝜀</m:t>
                        </m:r>
                      </m:sub>
                    </m:sSub>
                    <m:r>
                      <a:rPr lang="fr-FR" sz="1600" b="0" i="1" smtClean="0">
                        <a:latin typeface="Cambria Math" panose="02040503050406030204" pitchFamily="18" charset="0"/>
                      </a:rPr>
                      <m:t>=0.07</m:t>
                    </m:r>
                    <m:r>
                      <a:rPr lang="fr-FR" sz="1600" b="1" i="1" smtClean="0">
                        <a:latin typeface="Cambria Math" panose="02040503050406030204" pitchFamily="18" charset="0"/>
                      </a:rPr>
                      <m:t>5 </m:t>
                    </m:r>
                    <m:r>
                      <m:rPr>
                        <m:sty m:val="p"/>
                      </m:rPr>
                      <a:rPr lang="fr-FR" sz="1600" b="1" i="1" smtClean="0">
                        <a:latin typeface="Cambria Math" panose="02040503050406030204" pitchFamily="18" charset="0"/>
                      </a:rPr>
                      <m:t>et</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σk</m:t>
                    </m:r>
                    <m:r>
                      <a:rPr lang="fr-FR" sz="1600" b="1" i="1" smtClean="0">
                        <a:latin typeface="Cambria Math" panose="02040503050406030204" pitchFamily="18" charset="0"/>
                      </a:rPr>
                      <m:t> = 2.5⇒</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𝒖</m:t>
                        </m:r>
                      </m:e>
                      <m:sub>
                        <m:r>
                          <a:rPr lang="fr-FR" sz="1600" b="1" i="1" smtClean="0">
                            <a:latin typeface="Cambria Math" panose="02040503050406030204" pitchFamily="18" charset="0"/>
                          </a:rPr>
                          <m:t>𝒗𝒂𝒍</m:t>
                        </m:r>
                      </m:sub>
                    </m:sSub>
                    <m:r>
                      <a:rPr lang="fr-FR" sz="1600" b="1" i="1" smtClean="0">
                        <a:latin typeface="Cambria Math" panose="02040503050406030204" pitchFamily="18" charset="0"/>
                      </a:rPr>
                      <m:t>=13.16 </m:t>
                    </m:r>
                    <m:r>
                      <a:rPr lang="fr-FR" sz="1600" b="1" i="1" smtClean="0">
                        <a:latin typeface="Cambria Math" panose="02040503050406030204" pitchFamily="18" charset="0"/>
                      </a:rPr>
                      <m:t>𝑲</m:t>
                    </m:r>
                  </m:oMath>
                </a14:m>
                <a:endParaRPr lang="en-US" sz="1600" dirty="0"/>
              </a:p>
              <a:p>
                <a:r>
                  <a:rPr lang="en-US" sz="1600" dirty="0"/>
                  <a:t> </a:t>
                </a:r>
                <a14:m>
                  <m:oMath xmlns:m="http://schemas.openxmlformats.org/officeDocument/2006/math">
                    <m:r>
                      <a:rPr lang="en-US" sz="1600" b="1" i="1">
                        <a:latin typeface="Cambria Math" panose="02040503050406030204" pitchFamily="18" charset="0"/>
                      </a:rPr>
                      <m:t>⇒</m:t>
                    </m:r>
                    <m:r>
                      <m:rPr>
                        <m:nor/>
                      </m:rPr>
                      <a:rPr lang="en-US" sz="1600" dirty="0"/>
                      <m:t>−</m:t>
                    </m:r>
                    <m:r>
                      <m:rPr>
                        <m:nor/>
                      </m:rPr>
                      <a:rPr lang="fr-FR" sz="1600" b="0" i="0" dirty="0" smtClean="0"/>
                      <m:t>14.5</m:t>
                    </m:r>
                    <m:r>
                      <m:rPr>
                        <m:nor/>
                      </m:rPr>
                      <a:rPr lang="en-US" sz="1600" dirty="0"/>
                      <m:t> </m:t>
                    </m:r>
                    <m:r>
                      <m:rPr>
                        <m:nor/>
                      </m:rPr>
                      <a:rPr lang="en-US" sz="1600" dirty="0"/>
                      <m:t>K</m:t>
                    </m:r>
                    <m:r>
                      <m:rPr>
                        <m:nor/>
                      </m:rPr>
                      <a:rPr lang="en-US" sz="1600" dirty="0"/>
                      <m:t> &lt;</m:t>
                    </m:r>
                    <m:sSub>
                      <m:sSubPr>
                        <m:ctrlPr>
                          <a:rPr lang="fr-FR" sz="1600" i="1">
                            <a:latin typeface="Cambria Math" panose="02040503050406030204" pitchFamily="18" charset="0"/>
                          </a:rPr>
                        </m:ctrlPr>
                      </m:sSubPr>
                      <m:e>
                        <m:r>
                          <a:rPr lang="fr-FR" sz="1600" b="0" i="1" smtClean="0">
                            <a:latin typeface="Cambria Math" panose="02040503050406030204" pitchFamily="18" charset="0"/>
                          </a:rPr>
                          <m:t> </m:t>
                        </m:r>
                        <m:r>
                          <m:rPr>
                            <m:sty m:val="p"/>
                          </m:rPr>
                          <a:rPr lang="fr-FR" sz="1600" b="0" i="1">
                            <a:latin typeface="Cambria Math" panose="02040503050406030204" pitchFamily="18" charset="0"/>
                          </a:rPr>
                          <m:t>δ</m:t>
                        </m:r>
                      </m:e>
                      <m:sub>
                        <m:r>
                          <m:rPr>
                            <m:sty m:val="p"/>
                          </m:rPr>
                          <a:rPr lang="fr-FR" sz="1600" b="0" i="1">
                            <a:latin typeface="Cambria Math" panose="02040503050406030204" pitchFamily="18" charset="0"/>
                          </a:rPr>
                          <m:t>model</m:t>
                        </m:r>
                      </m:sub>
                    </m:sSub>
                    <m:r>
                      <a:rPr lang="fr-FR" sz="1600" b="0">
                        <a:latin typeface="Cambria Math" panose="02040503050406030204" pitchFamily="18" charset="0"/>
                      </a:rPr>
                      <m:t>&lt;</m:t>
                    </m:r>
                    <m:r>
                      <a:rPr lang="fr-FR" sz="1600" b="0" i="1" smtClean="0">
                        <a:latin typeface="Cambria Math" panose="02040503050406030204" pitchFamily="18" charset="0"/>
                      </a:rPr>
                      <m:t>38.1</m:t>
                    </m:r>
                    <m:r>
                      <m:rPr>
                        <m:sty m:val="p"/>
                      </m:rPr>
                      <a:rPr lang="fr-FR" sz="1600" b="0" i="1">
                        <a:latin typeface="Cambria Math" panose="02040503050406030204" pitchFamily="18" charset="0"/>
                      </a:rPr>
                      <m:t>K</m:t>
                    </m:r>
                  </m:oMath>
                </a14:m>
                <a:r>
                  <a:rPr lang="en-US" sz="1600" dirty="0"/>
                  <a:t> </a:t>
                </a:r>
              </a:p>
            </p:txBody>
          </p:sp>
        </mc:Choice>
        <mc:Fallback xmlns="">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501445" y="5642899"/>
                <a:ext cx="7076768" cy="849976"/>
              </a:xfrm>
              <a:prstGeom prst="rect">
                <a:avLst/>
              </a:prstGeom>
              <a:blipFill>
                <a:blip r:embed="rId4"/>
                <a:stretch>
                  <a:fillRect l="-431" t="-2878" b="-8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5D42C7E-25E3-AF65-F96B-BB8C9D734754}"/>
                  </a:ext>
                </a:extLst>
              </p:cNvPr>
              <p:cNvSpPr txBox="1"/>
              <p:nvPr/>
            </p:nvSpPr>
            <p:spPr>
              <a:xfrm>
                <a:off x="7973961" y="3429000"/>
                <a:ext cx="3883742" cy="2464521"/>
              </a:xfrm>
              <a:prstGeom prst="rect">
                <a:avLst/>
              </a:prstGeom>
              <a:noFill/>
            </p:spPr>
            <p:txBody>
              <a:bodyPr wrap="square" rtlCol="0">
                <a:spAutoFit/>
              </a:bodyPr>
              <a:lstStyle/>
              <a:p>
                <a:r>
                  <a:rPr lang="fr-FR" b="0" dirty="0">
                    <a:latin typeface="Cambria Math" panose="02040503050406030204" pitchFamily="18" charset="0"/>
                  </a:rPr>
                  <a:t>Dans le cas d’une loi normale : </a:t>
                </a:r>
              </a:p>
              <a:p>
                <a:pPr/>
                <a14:m>
                  <m:oMathPara xmlns:m="http://schemas.openxmlformats.org/officeDocument/2006/math">
                    <m:oMathParaPr>
                      <m:jc m:val="centerGroup"/>
                    </m:oMathParaPr>
                    <m:oMath xmlns:m="http://schemas.openxmlformats.org/officeDocument/2006/math">
                      <m:d>
                        <m:dPr>
                          <m:begChr m:val="["/>
                          <m:endChr m:val="]"/>
                          <m:ctrlPr>
                            <a:rPr lang="fr-FR" b="0" i="1" smtClean="0">
                              <a:latin typeface="Cambria Math" panose="02040503050406030204" pitchFamily="18" charset="0"/>
                            </a:rPr>
                          </m:ctrlPr>
                        </m:dPr>
                        <m:e>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𝑏</m:t>
                          </m:r>
                        </m:e>
                      </m:d>
                      <m:r>
                        <a:rPr lang="fr-FR" b="0" i="1" smtClean="0">
                          <a:latin typeface="Cambria Math" panose="02040503050406030204" pitchFamily="18" charset="0"/>
                        </a:rPr>
                        <m:t>→</m:t>
                      </m:r>
                      <m:r>
                        <a:rPr lang="fr-FR" b="0" i="1" smtClean="0">
                          <a:latin typeface="Cambria Math" panose="02040503050406030204" pitchFamily="18" charset="0"/>
                        </a:rPr>
                        <m:t>𝜇</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a</m:t>
                          </m:r>
                          <m:r>
                            <a:rPr lang="fr-FR" b="0" i="1" smtClean="0">
                              <a:latin typeface="Cambria Math" panose="02040503050406030204" pitchFamily="18" charset="0"/>
                            </a:rPr>
                            <m:t>+</m:t>
                          </m:r>
                          <m:r>
                            <m:rPr>
                              <m:sty m:val="p"/>
                            </m:rPr>
                            <a:rPr lang="fr-FR" b="0" i="1" smtClean="0">
                              <a:latin typeface="Cambria Math" panose="02040503050406030204" pitchFamily="18" charset="0"/>
                            </a:rPr>
                            <m:t>b</m:t>
                          </m:r>
                        </m:num>
                        <m:den>
                          <m:r>
                            <a:rPr lang="fr-FR" b="0" i="1" smtClean="0">
                              <a:latin typeface="Cambria Math" panose="02040503050406030204" pitchFamily="18" charset="0"/>
                            </a:rPr>
                            <m:t>2</m:t>
                          </m:r>
                        </m:den>
                      </m:f>
                    </m:oMath>
                  </m:oMathPara>
                </a14:m>
                <a:endParaRPr lang="fr-FR" b="0" dirty="0"/>
              </a:p>
              <a:p>
                <a:r>
                  <a:rPr lang="en-US" dirty="0"/>
                  <a:t>Pour </a:t>
                </a:r>
                <a:r>
                  <a:rPr lang="en-US" dirty="0" err="1"/>
                  <a:t>intervalle</a:t>
                </a:r>
                <a:r>
                  <a:rPr lang="en-US" dirty="0"/>
                  <a:t> de </a:t>
                </a:r>
                <a:r>
                  <a:rPr lang="en-US" dirty="0" err="1"/>
                  <a:t>confiance</a:t>
                </a:r>
                <a:r>
                  <a:rPr lang="en-US" dirty="0"/>
                  <a:t> à 95,4% :</a:t>
                </a:r>
              </a:p>
              <a:p>
                <a14:m>
                  <m:oMath xmlns:m="http://schemas.openxmlformats.org/officeDocument/2006/math">
                    <m:r>
                      <m:rPr>
                        <m:sty m:val="p"/>
                      </m:rPr>
                      <a:rPr lang="fr-FR" b="0" i="1" smtClean="0">
                        <a:latin typeface="Cambria Math" panose="02040503050406030204" pitchFamily="18" charset="0"/>
                      </a:rPr>
                      <m:t>σ</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μ</m:t>
                        </m:r>
                        <m:r>
                          <a:rPr lang="fr-FR" b="0" i="1" smtClean="0">
                            <a:latin typeface="Cambria Math" panose="02040503050406030204" pitchFamily="18" charset="0"/>
                          </a:rPr>
                          <m:t>−</m:t>
                        </m:r>
                        <m:r>
                          <m:rPr>
                            <m:sty m:val="p"/>
                          </m:rPr>
                          <a:rPr lang="fr-FR" b="0" i="1" smtClean="0">
                            <a:latin typeface="Cambria Math" panose="02040503050406030204" pitchFamily="18" charset="0"/>
                          </a:rPr>
                          <m:t>a</m:t>
                        </m:r>
                      </m:num>
                      <m:den>
                        <m:r>
                          <a:rPr lang="fr-FR" b="0" i="1" smtClean="0">
                            <a:latin typeface="Cambria Math" panose="02040503050406030204" pitchFamily="18" charset="0"/>
                          </a:rPr>
                          <m:t>2</m:t>
                        </m:r>
                      </m:den>
                    </m:f>
                  </m:oMath>
                </a14:m>
                <a:r>
                  <a:rPr lang="en-US" dirty="0"/>
                  <a:t> </a:t>
                </a:r>
              </a:p>
              <a:p>
                <a:r>
                  <a:rPr lang="en-US" dirty="0"/>
                  <a:t>Pour </a:t>
                </a:r>
                <a:r>
                  <a:rPr lang="en-US" dirty="0" err="1"/>
                  <a:t>intervalle</a:t>
                </a:r>
                <a:r>
                  <a:rPr lang="en-US" dirty="0"/>
                  <a:t> de </a:t>
                </a:r>
                <a:r>
                  <a:rPr lang="en-US" dirty="0" err="1"/>
                  <a:t>confiance</a:t>
                </a:r>
                <a:r>
                  <a:rPr lang="en-US" dirty="0"/>
                  <a:t> à 99% :</a:t>
                </a:r>
              </a:p>
              <a:p>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 </m:t>
                    </m:r>
                    <m:f>
                      <m:fPr>
                        <m:ctrlPr>
                          <a:rPr lang="fr-FR" i="1">
                            <a:latin typeface="Cambria Math" panose="02040503050406030204" pitchFamily="18" charset="0"/>
                          </a:rPr>
                        </m:ctrlPr>
                      </m:fPr>
                      <m:num>
                        <m:r>
                          <m:rPr>
                            <m:sty m:val="p"/>
                          </m:rPr>
                          <a:rPr lang="fr-FR" i="1">
                            <a:latin typeface="Cambria Math" panose="02040503050406030204" pitchFamily="18" charset="0"/>
                          </a:rPr>
                          <m:t>μ</m:t>
                        </m:r>
                        <m:r>
                          <a:rPr lang="fr-FR" i="1">
                            <a:latin typeface="Cambria Math" panose="02040503050406030204" pitchFamily="18" charset="0"/>
                          </a:rPr>
                          <m:t>−</m:t>
                        </m:r>
                        <m:r>
                          <m:rPr>
                            <m:sty m:val="p"/>
                          </m:rPr>
                          <a:rPr lang="fr-FR" i="1">
                            <a:latin typeface="Cambria Math" panose="02040503050406030204" pitchFamily="18" charset="0"/>
                          </a:rPr>
                          <m:t>a</m:t>
                        </m:r>
                      </m:num>
                      <m:den>
                        <m:r>
                          <a:rPr lang="fr-FR" b="0" i="1" smtClean="0">
                            <a:latin typeface="Cambria Math" panose="02040503050406030204" pitchFamily="18" charset="0"/>
                          </a:rPr>
                          <m:t>5</m:t>
                        </m:r>
                      </m:den>
                    </m:f>
                  </m:oMath>
                </a14:m>
                <a:r>
                  <a:rPr lang="en-US" dirty="0"/>
                  <a:t> </a:t>
                </a:r>
              </a:p>
              <a:p>
                <a:endParaRPr lang="en-US" dirty="0"/>
              </a:p>
            </p:txBody>
          </p:sp>
        </mc:Choice>
        <mc:Fallback xmlns="">
          <p:sp>
            <p:nvSpPr>
              <p:cNvPr id="7" name="TextBox 6">
                <a:extLst>
                  <a:ext uri="{FF2B5EF4-FFF2-40B4-BE49-F238E27FC236}">
                    <a16:creationId xmlns:a16="http://schemas.microsoft.com/office/drawing/2014/main" id="{25D42C7E-25E3-AF65-F96B-BB8C9D734754}"/>
                  </a:ext>
                </a:extLst>
              </p:cNvPr>
              <p:cNvSpPr txBox="1">
                <a:spLocks noRot="1" noChangeAspect="1" noMove="1" noResize="1" noEditPoints="1" noAdjustHandles="1" noChangeArrowheads="1" noChangeShapeType="1" noTextEdit="1"/>
              </p:cNvSpPr>
              <p:nvPr/>
            </p:nvSpPr>
            <p:spPr>
              <a:xfrm>
                <a:off x="7973961" y="3429000"/>
                <a:ext cx="3883742" cy="2464521"/>
              </a:xfrm>
              <a:prstGeom prst="rect">
                <a:avLst/>
              </a:prstGeom>
              <a:blipFill>
                <a:blip r:embed="rId5"/>
                <a:stretch>
                  <a:fillRect l="-1256" t="-1733" r="-1099"/>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A2BFB8D-3C80-BD69-86E4-533DD007EA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1445" y="3216721"/>
            <a:ext cx="6961239" cy="2261611"/>
          </a:xfrm>
          <a:prstGeom prst="rect">
            <a:avLst/>
          </a:prstGeom>
        </p:spPr>
      </p:pic>
    </p:spTree>
    <p:extLst>
      <p:ext uri="{BB962C8B-B14F-4D97-AF65-F5344CB8AC3E}">
        <p14:creationId xmlns:p14="http://schemas.microsoft.com/office/powerpoint/2010/main" val="1726723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1.25</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44.93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𝟎𝟓</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𝟔𝟓</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xmlns="">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31</a:t>
            </a:fld>
            <a:endParaRPr lang="fr-FR"/>
          </a:p>
        </p:txBody>
      </p:sp>
    </p:spTree>
    <p:extLst>
      <p:ext uri="{BB962C8B-B14F-4D97-AF65-F5344CB8AC3E}">
        <p14:creationId xmlns:p14="http://schemas.microsoft.com/office/powerpoint/2010/main" val="31910331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AFEF6-8EC2-0957-BC55-0F8F644E0B4A}"/>
              </a:ext>
            </a:extLst>
          </p:cNvPr>
          <p:cNvSpPr>
            <a:spLocks noGrp="1"/>
          </p:cNvSpPr>
          <p:nvPr>
            <p:ph type="title"/>
          </p:nvPr>
        </p:nvSpPr>
        <p:spPr/>
        <p:txBody>
          <a:bodyPr/>
          <a:lstStyle/>
          <a:p>
            <a:r>
              <a:rPr lang="fr-FR" dirty="0"/>
              <a:t>Analyse</a:t>
            </a:r>
            <a:endParaRPr lang="en-US" dirty="0"/>
          </a:p>
        </p:txBody>
      </p:sp>
      <p:pic>
        <p:nvPicPr>
          <p:cNvPr id="6" name="Content Placeholder 5">
            <a:extLst>
              <a:ext uri="{FF2B5EF4-FFF2-40B4-BE49-F238E27FC236}">
                <a16:creationId xmlns:a16="http://schemas.microsoft.com/office/drawing/2014/main" id="{A9B1EB5D-6BED-13E3-7B99-2FF5E8D02C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6077" y="1847850"/>
            <a:ext cx="3565031" cy="4351338"/>
          </a:xfrm>
          <a:prstGeom prst="rect">
            <a:avLst/>
          </a:prstGeom>
        </p:spPr>
      </p:pic>
      <p:sp>
        <p:nvSpPr>
          <p:cNvPr id="4" name="Slide Number Placeholder 3">
            <a:extLst>
              <a:ext uri="{FF2B5EF4-FFF2-40B4-BE49-F238E27FC236}">
                <a16:creationId xmlns:a16="http://schemas.microsoft.com/office/drawing/2014/main" id="{8D57C330-FE28-8D25-5B72-A8BB2E6BC2C7}"/>
              </a:ext>
            </a:extLst>
          </p:cNvPr>
          <p:cNvSpPr>
            <a:spLocks noGrp="1"/>
          </p:cNvSpPr>
          <p:nvPr>
            <p:ph type="sldNum" sz="quarter" idx="12"/>
          </p:nvPr>
        </p:nvSpPr>
        <p:spPr/>
        <p:txBody>
          <a:bodyPr/>
          <a:lstStyle/>
          <a:p>
            <a:fld id="{FD85B578-4E75-4E1C-9BE3-D5DCC0715B13}" type="slidenum">
              <a:rPr lang="fr-FR" smtClean="0"/>
              <a:t>32</a:t>
            </a:fld>
            <a:endParaRPr lang="fr-FR"/>
          </a:p>
        </p:txBody>
      </p:sp>
      <p:sp>
        <p:nvSpPr>
          <p:cNvPr id="7" name="TextBox 6">
            <a:extLst>
              <a:ext uri="{FF2B5EF4-FFF2-40B4-BE49-F238E27FC236}">
                <a16:creationId xmlns:a16="http://schemas.microsoft.com/office/drawing/2014/main" id="{C1F03330-F29A-3AD5-1C0C-F14A10FA4C72}"/>
              </a:ext>
            </a:extLst>
          </p:cNvPr>
          <p:cNvSpPr txBox="1"/>
          <p:nvPr/>
        </p:nvSpPr>
        <p:spPr>
          <a:xfrm>
            <a:off x="696078" y="6199188"/>
            <a:ext cx="3565030" cy="461665"/>
          </a:xfrm>
          <a:prstGeom prst="rect">
            <a:avLst/>
          </a:prstGeom>
          <a:noFill/>
        </p:spPr>
        <p:txBody>
          <a:bodyPr wrap="square" rtlCol="0">
            <a:spAutoFit/>
          </a:bodyPr>
          <a:lstStyle/>
          <a:p>
            <a:pPr algn="ctr"/>
            <a:r>
              <a:rPr lang="fr-FR" sz="1200" dirty="0"/>
              <a:t>Diagramme TTT pour 4340, source : Thèse </a:t>
            </a:r>
            <a:r>
              <a:rPr lang="en-US" sz="1200" dirty="0"/>
              <a:t>Jean Christophe Hell sur les </a:t>
            </a:r>
            <a:r>
              <a:rPr lang="en-US" sz="1200" dirty="0" err="1"/>
              <a:t>aciers</a:t>
            </a:r>
            <a:r>
              <a:rPr lang="en-US" sz="1200" dirty="0"/>
              <a:t> </a:t>
            </a:r>
            <a:r>
              <a:rPr lang="en-US" sz="1200" dirty="0" err="1"/>
              <a:t>bainitiques</a:t>
            </a:r>
            <a:endParaRPr lang="en-US" sz="1200" dirty="0"/>
          </a:p>
        </p:txBody>
      </p:sp>
      <p:sp>
        <p:nvSpPr>
          <p:cNvPr id="8" name="TextBox 7">
            <a:extLst>
              <a:ext uri="{FF2B5EF4-FFF2-40B4-BE49-F238E27FC236}">
                <a16:creationId xmlns:a16="http://schemas.microsoft.com/office/drawing/2014/main" id="{07FFD53F-2E3A-C030-8C63-BCCF5F1B32A3}"/>
              </a:ext>
            </a:extLst>
          </p:cNvPr>
          <p:cNvSpPr txBox="1"/>
          <p:nvPr/>
        </p:nvSpPr>
        <p:spPr>
          <a:xfrm>
            <a:off x="4621161" y="1847850"/>
            <a:ext cx="7246374" cy="2585323"/>
          </a:xfrm>
          <a:prstGeom prst="rect">
            <a:avLst/>
          </a:prstGeom>
          <a:noFill/>
        </p:spPr>
        <p:txBody>
          <a:bodyPr wrap="square" rtlCol="0">
            <a:spAutoFit/>
          </a:bodyPr>
          <a:lstStyle/>
          <a:p>
            <a:r>
              <a:rPr lang="fr-FR" dirty="0"/>
              <a:t>Afin d’évaluer la pertinence du modèle pour l’application visée, cette erreur est comparée à un critère physique issu du diagramme TTT de l’acier 4340. Dans les zones critiques, une variation de l’ordre de 15°C entraîne des transformations de phase significativement différentes.</a:t>
            </a:r>
          </a:p>
          <a:p>
            <a:r>
              <a:rPr lang="fr-FR" dirty="0"/>
              <a:t>Ainsi, le modèle est considéré valide pour l’application si son erreur reste inférieure à cet ordre de grandeur.</a:t>
            </a:r>
          </a:p>
          <a:p>
            <a:endParaRPr lang="fr-FR" dirty="0"/>
          </a:p>
          <a:p>
            <a:r>
              <a:rPr lang="fr-FR" dirty="0"/>
              <a:t>Tout le travaille repose sur la caractérisation de l’écart type de l’émissivité. </a:t>
            </a:r>
          </a:p>
        </p:txBody>
      </p:sp>
    </p:spTree>
    <p:extLst>
      <p:ext uri="{BB962C8B-B14F-4D97-AF65-F5344CB8AC3E}">
        <p14:creationId xmlns:p14="http://schemas.microsoft.com/office/powerpoint/2010/main" val="37531551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a:t>
                </a:r>
              </a:p>
            </p:txBody>
          </p:sp>
        </mc:Choice>
        <mc:Fallback xmlns="">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33</a:t>
            </a:fld>
            <a:endParaRPr lang="fr-FR"/>
          </a:p>
        </p:txBody>
      </p:sp>
    </p:spTree>
    <p:extLst>
      <p:ext uri="{BB962C8B-B14F-4D97-AF65-F5344CB8AC3E}">
        <p14:creationId xmlns:p14="http://schemas.microsoft.com/office/powerpoint/2010/main" val="342660869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4312</TotalTime>
  <Words>2514</Words>
  <Application>Microsoft Office PowerPoint</Application>
  <PresentationFormat>Grand écran</PresentationFormat>
  <Paragraphs>389</Paragraphs>
  <Slides>33</Slides>
  <Notes>4</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33</vt:i4>
      </vt:variant>
    </vt:vector>
  </HeadingPairs>
  <TitlesOfParts>
    <vt:vector size="41"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incertitude u_input</vt:lpstr>
      <vt:lpstr>Validation – erreur du modèle </vt:lpstr>
      <vt:lpstr>Analyse</vt:lpstr>
      <vt:lpstr>Améliorations possibles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79</cp:revision>
  <dcterms:created xsi:type="dcterms:W3CDTF">2026-02-07T22:10:41Z</dcterms:created>
  <dcterms:modified xsi:type="dcterms:W3CDTF">2026-04-18T20:04:31Z</dcterms:modified>
</cp:coreProperties>
</file>