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7" r:id="rId4"/>
    <p:sldId id="264" r:id="rId5"/>
    <p:sldId id="259" r:id="rId6"/>
    <p:sldId id="263" r:id="rId7"/>
    <p:sldId id="269" r:id="rId8"/>
    <p:sldId id="260" r:id="rId9"/>
    <p:sldId id="262" r:id="rId10"/>
    <p:sldId id="261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AD46"/>
    <a:srgbClr val="5B9BD5"/>
    <a:srgbClr val="FFBF00"/>
    <a:srgbClr val="EBE9E9"/>
    <a:srgbClr val="CBCBCB"/>
    <a:srgbClr val="F4EEEC"/>
    <a:srgbClr val="F7EFED"/>
    <a:srgbClr val="F8F0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2" autoAdjust="0"/>
    <p:restoredTop sz="94782" autoAdjust="0"/>
  </p:normalViewPr>
  <p:slideViewPr>
    <p:cSldViewPr snapToGrid="0">
      <p:cViewPr varScale="1">
        <p:scale>
          <a:sx n="84" d="100"/>
          <a:sy n="84" d="100"/>
        </p:scale>
        <p:origin x="67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B2023-C595-443A-8D8C-AB9DF5A28D48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05186-0725-443C-BC59-E521425E81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16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05186-0725-443C-BC59-E521425E81C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9825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05186-0725-443C-BC59-E521425E81CD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078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A5BB4-E065-36E2-E641-90C9FFDD7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2410028-CE57-DC42-95CE-01AA00C9DE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C76DD03-F160-73AB-38E7-83F367B7A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36A260-3B6F-7D51-9372-EBA998234B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05186-0725-443C-BC59-E521425E81CD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4227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F20FCA-9849-8D64-289F-FB7638BA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6829620-5708-DEC4-9272-A41F0A630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B910B6-110F-28F4-BC47-9CD148E6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4678E1-FCC5-EC25-725D-328119EFF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9387A6-A3E0-90B2-ED44-78CDF4F0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539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7288E-ECBA-99C4-1444-DA21DAB4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C74A79-D906-7648-DF71-F652B3D25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EB91EF-38F8-ABFB-87B4-57EDEDB9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709078-3A53-6606-B2E6-3BB4741E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92B805-A639-F55C-CC2B-178CB8A3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6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1E8AB-8B3D-7D2B-454D-A3D812AF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706EE7-1B52-6EDA-23CD-EBDC9D983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30CC76-8BA5-D53B-5774-461AC3B1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F6B1B4-70DA-80E0-6D01-F2E288534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9B155F-8FEC-FE08-D681-49F2C5AA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99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1296E-B96C-D9C9-2CF2-546C13B0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A025F0-4010-871A-FE66-218C9A904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4F2629-5962-80D6-CD5A-71A7AE333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F91979-03FE-8AD9-0EBF-A57A3804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B9C80A-4711-E7F6-E1DF-09CC03039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C0094B-8232-4889-218A-4184426E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246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79185-61FB-F46B-A0E2-1E53FE8F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1E42A4-57AD-B6A7-45F6-E65565DD1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1CECC0-8806-8386-0361-52FF2978D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357A7A8-EC71-9A58-7CA8-F66CE308B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404EC0-E68A-E4C9-B80D-BEEF06093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91D710-9103-9DB2-5B2C-59600B09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5A2E21-EC6F-BB4B-30CF-051112D6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91B0247-804A-34B5-9ABD-CF6115BF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6585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37AC3B-D109-33CB-4224-A617247A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F6FE45-B625-B3EB-8DE6-AE665E11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3647DC-4841-391E-4311-1CCF978C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64912E-487F-BB3C-29BD-B868B31C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65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6A390C-6CF6-6459-A357-00F3D73CB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E966711-8F45-F5F0-78CD-892DDBA2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C6A74F-9B43-9437-CA16-F699B0123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13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3010F-0A51-7184-A92A-FB55AE05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1D7753-D33B-ECA5-15CE-371E4C21E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0C5936-CC3F-C564-027C-7A158FB3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6D2F58-1DEC-05A4-9415-5505781E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1FDC0B-7A72-6AF2-D8F2-FD133D81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229BFA-2217-13B1-36D0-B45735FE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92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44F5C3-4D43-F330-AB2E-93F7856CD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D9E71D8-C483-7218-914B-8C438B7BD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0105DA-F2A5-AE7D-D2C7-8E9979454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4FC808-FEB6-7DC6-E162-509C39E16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C49D9E-6F71-6FFF-CC00-D84AF993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6CB61D-9EC9-D900-993A-D90CFEFB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3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F3AE0-0A4F-C73C-7312-C0332CB9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3595E3-1731-DBA8-5D73-6FBC0173D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B2046E-A47B-EEA8-B9CA-90559DF7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A06073-8B5C-0924-EB9B-46644CC41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3EE113-1D48-2091-06FD-0F833E57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241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F4B14AC-D335-199A-8275-8FEAD60781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C344906-2881-CA33-2AED-6CE33B906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BED21D-D702-70A0-6DFF-537C0E9E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B22F45-96A6-62D2-C024-4FBD1C07F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799B19-4092-7649-21ED-88451258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238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ECCE51-4F19-67BD-9ACF-7D67A65B3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4C1EA9-4ED2-C33A-D018-C0313920C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54EE32-0D00-5F0F-B543-C3A2D5CAA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1AFDA-D128-4B68-A211-269E2451E5DE}" type="datetimeFigureOut">
              <a:rPr lang="fr-FR" smtClean="0"/>
              <a:t>11/04/2026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04F246-AFA0-B777-83BA-CAECCDA95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044D50-2635-7742-456B-1A644C31F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270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ine-pt/MEC6212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C991BE-FE4B-ED26-E133-B40428832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3869"/>
            <a:ext cx="9144000" cy="1425131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MEC8211 – Projet final</a:t>
            </a:r>
            <a:br>
              <a:rPr lang="fr-FR" noProof="0" dirty="0"/>
            </a:br>
            <a:r>
              <a:rPr lang="fr-FR" sz="4400" noProof="0" dirty="0"/>
              <a:t>Vérification et Validation d’un solveur de différences finies réalisé dans le cadre du cours GCH2545 – Modélisation numérique en ingénierie</a:t>
            </a:r>
            <a:endParaRPr lang="fr-FR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AF6114-4134-51BE-88E4-DAEE360A6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6407"/>
            <a:ext cx="9144000" cy="1945747"/>
          </a:xfrm>
        </p:spPr>
        <p:txBody>
          <a:bodyPr>
            <a:normAutofit fontScale="92500" lnSpcReduction="10000"/>
          </a:bodyPr>
          <a:lstStyle/>
          <a:p>
            <a:r>
              <a:rPr lang="fr-FR" noProof="0" dirty="0"/>
              <a:t>Antoine Payette-Toupin (2090788)</a:t>
            </a:r>
          </a:p>
          <a:p>
            <a:r>
              <a:rPr lang="fr-FR" noProof="0" dirty="0"/>
              <a:t>Charlotte Sabrié (2485495)</a:t>
            </a:r>
          </a:p>
          <a:p>
            <a:r>
              <a:rPr lang="fr-FR" noProof="0" dirty="0"/>
              <a:t>Loïc Vignaud (2485146)</a:t>
            </a:r>
          </a:p>
          <a:p>
            <a:endParaRPr lang="fr-FR" dirty="0"/>
          </a:p>
          <a:p>
            <a:r>
              <a:rPr lang="fr-FR" sz="2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Répertoire </a:t>
            </a:r>
            <a:r>
              <a:rPr lang="fr-FR" sz="22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2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: </a:t>
            </a:r>
            <a:r>
              <a:rPr lang="fr-FR" sz="22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https://github.com/antoine-pt/MEC6212.git</a:t>
            </a:r>
            <a:endParaRPr lang="fr-FR" sz="2200" noProof="0" dirty="0"/>
          </a:p>
        </p:txBody>
      </p:sp>
    </p:spTree>
    <p:extLst>
      <p:ext uri="{BB962C8B-B14F-4D97-AF65-F5344CB8AC3E}">
        <p14:creationId xmlns:p14="http://schemas.microsoft.com/office/powerpoint/2010/main" val="191837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CC2017-DAAB-E539-D03A-0EAF47A6C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1B38F4B-B286-AB7C-64B1-7E3DB7D1D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992" y="1243584"/>
            <a:ext cx="5644896" cy="5248655"/>
          </a:xfrm>
        </p:spPr>
        <p:txBody>
          <a:bodyPr>
            <a:normAutofit lnSpcReduction="10000"/>
          </a:bodyPr>
          <a:lstStyle/>
          <a:p>
            <a:r>
              <a:rPr lang="fr-FR" dirty="0"/>
              <a:t>Vitesse de refroidissement influence les propriétés </a:t>
            </a:r>
          </a:p>
          <a:p>
            <a:pPr>
              <a:buFontTx/>
              <a:buChar char="-"/>
            </a:pPr>
            <a:r>
              <a:rPr lang="fr-FR" dirty="0"/>
              <a:t>Mécanique</a:t>
            </a:r>
          </a:p>
          <a:p>
            <a:pPr>
              <a:buFontTx/>
              <a:buChar char="-"/>
            </a:pPr>
            <a:r>
              <a:rPr lang="fr-FR" dirty="0"/>
              <a:t>Électrique</a:t>
            </a:r>
          </a:p>
          <a:p>
            <a:pPr>
              <a:buFontTx/>
              <a:buChar char="-"/>
            </a:pPr>
            <a:r>
              <a:rPr lang="fr-FR" dirty="0"/>
              <a:t>Thermique </a:t>
            </a:r>
          </a:p>
          <a:p>
            <a:pPr>
              <a:buFontTx/>
              <a:buChar char="-"/>
            </a:pPr>
            <a:endParaRPr lang="fr-FR" dirty="0"/>
          </a:p>
          <a:p>
            <a:r>
              <a:rPr lang="fr-FR" dirty="0"/>
              <a:t>Modéliser le refroidissement</a:t>
            </a:r>
          </a:p>
          <a:p>
            <a:pPr>
              <a:buFontTx/>
              <a:buChar char="-"/>
            </a:pPr>
            <a:r>
              <a:rPr lang="fr-FR" dirty="0"/>
              <a:t>Obtenir la vitesse de refroidissement</a:t>
            </a:r>
          </a:p>
          <a:p>
            <a:pPr>
              <a:buFontTx/>
              <a:buChar char="-"/>
            </a:pPr>
            <a:r>
              <a:rPr lang="fr-FR" dirty="0"/>
              <a:t>Connaître la composition du matériau final </a:t>
            </a:r>
          </a:p>
          <a:p>
            <a:pPr>
              <a:buFontTx/>
              <a:buChar char="-"/>
            </a:pPr>
            <a:r>
              <a:rPr lang="fr-FR" dirty="0"/>
              <a:t>Déduire ses propriétés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30176CA-BFB8-62B8-8124-3190FD696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883433"/>
            <a:ext cx="4839119" cy="56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026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7DC965-0D72-AE8E-8F68-A22FDD3D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fr-FR" dirty="0"/>
              <a:t>Modélisation mathématique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0B43374-E0C7-ED3F-B765-703070E6A6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5033"/>
                <a:ext cx="8177463" cy="5358062"/>
              </a:xfrm>
            </p:spPr>
            <p:txBody>
              <a:bodyPr>
                <a:normAutofit/>
              </a:bodyPr>
              <a:lstStyle/>
              <a:p>
                <a:pPr fontAlgn="base"/>
                <a:r>
                  <a:rPr lang="fr-FR" dirty="0"/>
                  <a:t>Refroidissement à l'air ambient d'un lingot métallique cylindrique </a:t>
                </a:r>
                <a:r>
                  <a:rPr lang="en-US" dirty="0"/>
                  <a:t>​</a:t>
                </a:r>
              </a:p>
              <a:p>
                <a:pPr fontAlgn="base"/>
                <a:r>
                  <a:rPr lang="fr-FR" dirty="0"/>
                  <a:t>Température initiale uniforme </a:t>
                </a:r>
                <a:r>
                  <a:rPr lang="en-US" dirty="0"/>
                  <a:t>​</a:t>
                </a:r>
              </a:p>
              <a:p>
                <a:pPr fontAlgn="base"/>
                <a:r>
                  <a:rPr lang="fr-FR" dirty="0"/>
                  <a:t>Modélisation mathématique :</a:t>
                </a:r>
              </a:p>
              <a:p>
                <a:pPr marL="0" indent="0" fontAlgn="base">
                  <a:spcBef>
                    <a:spcPts val="1800"/>
                  </a:spcBef>
                  <a:buNone/>
                </a:pPr>
                <a:r>
                  <a:rPr lang="fr-FR" dirty="0"/>
                  <a:t>Equation de la chaleur en 2D </a:t>
                </a:r>
                <a:endParaRPr lang="en-US" dirty="0"/>
              </a:p>
              <a:p>
                <a:pPr marL="0" indent="0"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ρ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fr-FR" dirty="0"/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fr-FR" dirty="0"/>
                  <a:t>Perte thermique surfacique </a:t>
                </a:r>
              </a:p>
              <a:p>
                <a:pPr marL="0" indent="0" algn="ctr"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  <m:r>
                                <m:rPr>
                                  <m:nor/>
                                </m:rPr>
                                <a:rPr lang="fr-FR" dirty="0"/>
                                <m:t> 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b="0" i="1" smtClean="0">
                          <a:latin typeface="Cambria Math" panose="02040503050406030204" pitchFamily="18" charset="0"/>
                        </a:rPr>
                        <m:t>ϵσ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/>
              </a:p>
              <a:p>
                <a:pPr marL="228600" marR="0" lvl="0" indent="-228600" algn="l" defTabSz="914400" rtl="0" eaLnBrk="1" fontAlgn="base" latinLnBrk="0" hangingPunct="1">
                  <a:lnSpc>
                    <a:spcPct val="90000"/>
                  </a:lnSpc>
                  <a:spcBef>
                    <a:spcPts val="24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fr-FR" dirty="0">
                    <a:solidFill>
                      <a:prstClr val="black"/>
                    </a:solidFill>
                    <a:latin typeface="Aptos" panose="02110004020202020204"/>
                  </a:rPr>
                  <a:t>Symétrie par rotation autour de l’axe central 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d>
                        <m:dPr>
                          <m:ctrl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  <m: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kumimoji="0" lang="fr-FR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θ</m:t>
                          </m:r>
                        </m:e>
                      </m:d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𝑇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(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𝑡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𝑧</m:t>
                      </m:r>
                      <m:r>
                        <a:rPr kumimoji="0" lang="fr-FR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)</m:t>
                      </m:r>
                    </m:oMath>
                  </m:oMathPara>
                </a14:m>
                <a:endParaRPr kumimoji="0" lang="fr-FR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  <a:p>
                <a:pPr marL="0" indent="0" algn="just">
                  <a:buNone/>
                </a:pPr>
                <a:endParaRPr lang="fr-FR" b="0" dirty="0"/>
              </a:p>
              <a:p>
                <a:pPr marL="0" indent="0" algn="ctr">
                  <a:buNone/>
                </a:pPr>
                <a:endParaRPr lang="fr-FR" b="0" dirty="0"/>
              </a:p>
              <a:p>
                <a:pPr marL="0" indent="0" algn="ctr">
                  <a:buNone/>
                </a:pPr>
                <a:endParaRPr lang="fr-FR" b="0" dirty="0"/>
              </a:p>
              <a:p>
                <a:pPr marL="0" indent="0" algn="ctr">
                  <a:buNone/>
                </a:pPr>
                <a:endParaRPr lang="fr-FR" b="0" dirty="0"/>
              </a:p>
              <a:p>
                <a:pPr marL="0" indent="0" algn="ctr">
                  <a:buNone/>
                </a:pPr>
                <a:endParaRPr lang="fr-FR" b="0" dirty="0"/>
              </a:p>
              <a:p>
                <a:pPr marL="0" indent="0" algn="ctr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0B43374-E0C7-ED3F-B765-703070E6A6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5033"/>
                <a:ext cx="8177463" cy="5358062"/>
              </a:xfrm>
              <a:blipFill>
                <a:blip r:embed="rId2"/>
                <a:stretch>
                  <a:fillRect l="-1566" t="-1934" b="-79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e image contenant croquis, dessin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315D7CC8-D87C-AF7A-933C-0B5D33649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9114" y="232980"/>
            <a:ext cx="2171199" cy="302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4134258-3467-C98F-64B0-DF4243CE6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852" y="3798791"/>
            <a:ext cx="3533376" cy="223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60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694C9-7099-3A84-9A6D-5B2A0879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EC12AB-5894-7E9F-0510-EB109BFCA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fr-FR" dirty="0"/>
              <a:t>Modélisation mathématique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073797C-3545-B398-B72A-5A62100200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55033"/>
                <a:ext cx="8177463" cy="535806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 fontAlgn="base">
                  <a:spcBef>
                    <a:spcPts val="1800"/>
                  </a:spcBef>
                  <a:buNone/>
                </a:pPr>
                <a:r>
                  <a:rPr lang="fr-FR" dirty="0"/>
                  <a:t>Equation de la chaleur en 2D </a:t>
                </a:r>
                <a:endParaRPr lang="en-US" dirty="0"/>
              </a:p>
              <a:p>
                <a:pPr marL="0" indent="0"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ρ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fr-FR" dirty="0"/>
                  <a:t>En cartésien, on a :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ρ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0" dirty="0"/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fr-FR" dirty="0"/>
                  <a:t>En cylindrique, on retrouve :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fr-CA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fr-CA">
                          <a:latin typeface="Cambria Math" panose="02040503050406030204" pitchFamily="18" charset="0"/>
                        </a:rPr>
                        <m:t>r</m:t>
                      </m:r>
                      <m:func>
                        <m:funcPr>
                          <m:ctrlPr>
                            <a:rPr lang="fr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CA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fr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fr-CA" i="1"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fr-CA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fr-CA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fr-FR" dirty="0"/>
              </a:p>
              <a:p>
                <a:pPr marL="0" indent="0" algn="ctr">
                  <a:spcBef>
                    <a:spcPts val="180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CA" i="1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fr-FR" dirty="0"/>
              </a:p>
              <a:p>
                <a:pPr marL="0" indent="0" algn="ctr">
                  <a:spcBef>
                    <a:spcPts val="1800"/>
                  </a:spcBef>
                  <a:buNone/>
                </a:pPr>
                <a:endParaRPr lang="fr-FR" dirty="0"/>
              </a:p>
              <a:p>
                <a:pPr marL="0" indent="0"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</a:rPr>
                        <m:t>ρ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CA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1800"/>
                  </a:spcBef>
                  <a:buNone/>
                </a:pPr>
                <a:endParaRPr lang="fr-FR" b="0" dirty="0"/>
              </a:p>
              <a:p>
                <a:pPr marL="0" indent="0" algn="ctr">
                  <a:buNone/>
                </a:pPr>
                <a:endParaRPr lang="fr-FR" b="0" dirty="0"/>
              </a:p>
              <a:p>
                <a:pPr marL="0" indent="0" algn="ctr">
                  <a:buNone/>
                </a:pPr>
                <a:endParaRPr lang="fr-FR" b="0" dirty="0"/>
              </a:p>
              <a:p>
                <a:pPr marL="0" indent="0" algn="ctr">
                  <a:buNone/>
                </a:pPr>
                <a:endParaRPr lang="fr-FR" b="0" dirty="0"/>
              </a:p>
              <a:p>
                <a:pPr marL="0" indent="0" algn="ctr">
                  <a:buNone/>
                </a:pPr>
                <a:endParaRPr lang="fr-FR" b="0" dirty="0"/>
              </a:p>
              <a:p>
                <a:pPr marL="0" indent="0" algn="ctr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073797C-3545-B398-B72A-5A62100200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55033"/>
                <a:ext cx="8177463" cy="5358062"/>
              </a:xfrm>
              <a:blipFill>
                <a:blip r:embed="rId2"/>
                <a:stretch>
                  <a:fillRect l="-1342" t="-227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8880BBA-A9C5-15DA-64A8-34FD76C6B27D}"/>
              </a:ext>
            </a:extLst>
          </p:cNvPr>
          <p:cNvSpPr/>
          <p:nvPr/>
        </p:nvSpPr>
        <p:spPr>
          <a:xfrm>
            <a:off x="2606040" y="5321808"/>
            <a:ext cx="4828032" cy="1325563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D3DAD9B-F895-38F3-7E66-F7CE93598C25}"/>
                  </a:ext>
                </a:extLst>
              </p:cNvPr>
              <p:cNvSpPr txBox="1"/>
              <p:nvPr/>
            </p:nvSpPr>
            <p:spPr>
              <a:xfrm>
                <a:off x="8054501" y="1155033"/>
                <a:ext cx="3920247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/>
                  <a:t>Schéma d’Euler Explicite :</a:t>
                </a:r>
              </a:p>
              <a:p>
                <a:endParaRPr lang="fr-CA" dirty="0"/>
              </a:p>
              <a:p>
                <a:r>
                  <a:rPr lang="fr-CA" dirty="0"/>
                  <a:t>On vient évaluer l’état d’un système à un temps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+∆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fr-CA" dirty="0"/>
                  <a:t> à l’aide de l’état de ce système au temps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fr-CA" dirty="0"/>
                  <a:t>.</a:t>
                </a:r>
              </a:p>
              <a:p>
                <a:endParaRPr lang="fr-CA" dirty="0"/>
              </a:p>
              <a:p>
                <a:r>
                  <a:rPr lang="fr-CA" dirty="0"/>
                  <a:t>Méthode directe (pas de système à résoudre) et peu coûteuse.</a:t>
                </a:r>
              </a:p>
              <a:p>
                <a:endParaRPr lang="fr-CA" dirty="0"/>
              </a:p>
              <a:p>
                <a:r>
                  <a:rPr lang="fr-CA" dirty="0"/>
                  <a:t>Problème de stabilité : la méthode d’Euler explicite nécessite de respecter un critère de stabilité entre la discrétisation en temps et en espace :</a:t>
                </a:r>
              </a:p>
              <a:p>
                <a:endParaRPr lang="fr-CA" dirty="0"/>
              </a:p>
              <a:p>
                <a:endParaRPr lang="fr-CA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0D3DAD9B-F895-38F3-7E66-F7CE93598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501" y="1155033"/>
                <a:ext cx="3920247" cy="4524315"/>
              </a:xfrm>
              <a:prstGeom prst="rect">
                <a:avLst/>
              </a:prstGeom>
              <a:blipFill>
                <a:blip r:embed="rId3"/>
                <a:stretch>
                  <a:fillRect l="-1244" t="-538" r="-46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7">
            <a:extLst>
              <a:ext uri="{FF2B5EF4-FFF2-40B4-BE49-F238E27FC236}">
                <a16:creationId xmlns:a16="http://schemas.microsoft.com/office/drawing/2014/main" id="{19BD9348-480B-8C6C-AE14-0653FA999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411" y="5073307"/>
            <a:ext cx="4258607" cy="91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4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003BD6-209D-95E8-105B-EEC2D5017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0"/>
            <a:ext cx="11353800" cy="1325563"/>
          </a:xfrm>
        </p:spPr>
        <p:txBody>
          <a:bodyPr/>
          <a:lstStyle/>
          <a:p>
            <a:r>
              <a:rPr lang="fr-FR" dirty="0"/>
              <a:t>Discrétisation : Milieu – Schéma d’Euler Explicite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439C4FB-5092-413C-C838-32069AD0E4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7" y="1331495"/>
                <a:ext cx="11930743" cy="5181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dirty="0"/>
                  <a:t>Hors des frontières (r-1, r+1, z-1, z+1 sont définis)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groupChr>
                      <m:groupChrPr>
                        <m:chr m:val="⇒"/>
                        <m:pos m:val="top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ch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m:rPr>
                            <m:sty m:val="p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groupCh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Δt</m:t>
                            </m:r>
                          </m:sup>
                        </m:sSub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Δt</m:t>
                        </m:r>
                        <m:r>
                          <m:rPr>
                            <m:nor/>
                          </m:rPr>
                          <a:rPr lang="fr-FR"/>
                          <m:t> </m:t>
                        </m:r>
                      </m:den>
                    </m:f>
                  </m:oMath>
                </a14:m>
                <a:r>
                  <a:rPr lang="fr-FR" dirty="0"/>
                  <a:t> , </a:t>
                </a: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ordre 1 </a:t>
                </a:r>
                <a:endParaRPr lang="fr-FR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groupChr>
                      <m:groupChrPr>
                        <m:chr m:val="⇒"/>
                        <m:pos m:val="top"/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ch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m:rPr>
                            <m:sty m:val="p"/>
                          </m:rPr>
                          <a:rPr lang="fr-FR" i="1"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groupCh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fr-FR" dirty="0"/>
                  <a:t>, </a:t>
                </a:r>
                <a:r>
                  <a:rPr lang="fr-FR" sz="24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ordre 2</a:t>
                </a:r>
                <a:endParaRPr lang="fr-FR" dirty="0"/>
              </a:p>
              <a:p>
                <a:endParaRPr lang="fr-FR" dirty="0"/>
              </a:p>
              <a:p>
                <a:pPr marL="0" indent="0">
                  <a:spcBef>
                    <a:spcPts val="1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i="1">
                          <a:latin typeface="Cambria Math" panose="02040503050406030204" pitchFamily="18" charset="0"/>
                        </a:rPr>
                        <m:t>ρ</m:t>
                      </m:r>
                      <m:sSub>
                        <m:sSub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fr-FR" sz="2400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fr-CA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CA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fr-CA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CA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CA" sz="2400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fr-FR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fr-CA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Δt</m:t>
                          </m:r>
                        </m:sup>
                      </m:sSub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</a:rPr>
                            <m:t>ρ</m:t>
                          </m:r>
                          <m:sSub>
                            <m:sSub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CA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CA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CA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CA" sz="2400" b="0" i="0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fr-FR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fr-FR" sz="2400"/>
                            <m:t> </m:t>
                          </m:r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CA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+1,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CA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num>
                        <m:den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fr-CA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CA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CA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r>
                            <a:rPr lang="fr-FR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fr-CA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fr-F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</m:num>
                        <m:den>
                          <m:r>
                            <m:rPr>
                              <m:sty m:val="p"/>
                            </m:rPr>
                            <a:rPr lang="fr-FR" sz="2400">
                              <a:latin typeface="Cambria Math" panose="02040503050406030204" pitchFamily="18" charset="0"/>
                            </a:rPr>
                            <m:t>Δ</m:t>
                          </m:r>
                          <m:sSup>
                            <m:sSupPr>
                              <m:ctrlPr>
                                <a:rPr lang="fr-F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fr-FR" sz="2400"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e>
                            <m:sup>
                              <m:r>
                                <a:rPr lang="fr-FR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fr-FR" sz="2400"/>
                            <m:t> </m:t>
                          </m:r>
                        </m:den>
                      </m:f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2400" b="0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E439C4FB-5092-413C-C838-32069AD0E4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331495"/>
                <a:ext cx="11930743" cy="5181600"/>
              </a:xfrm>
              <a:blipFill>
                <a:blip r:embed="rId2"/>
                <a:stretch>
                  <a:fillRect l="-1073" t="-200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0518746-3A15-2C27-5A6F-6AB51FC276FA}"/>
                  </a:ext>
                </a:extLst>
              </p:cNvPr>
              <p:cNvSpPr txBox="1"/>
              <p:nvPr/>
            </p:nvSpPr>
            <p:spPr>
              <a:xfrm>
                <a:off x="4869617" y="1595314"/>
                <a:ext cx="5362519" cy="1732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fr-FR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groupChr>
                      <m:groupChrPr>
                        <m:chr m:val="⇒"/>
                        <m:pos m:val="top"/>
                        <m:ctrlP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ch</m:t>
                        </m:r>
                        <m: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é</m:t>
                        </m:r>
                        <m:r>
                          <m:rPr>
                            <m:sty m:val="p"/>
                          </m:rP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ma</m:t>
                        </m:r>
                      </m:e>
                    </m:groupChr>
                    <m:f>
                      <m:fPr>
                        <m:ctrlP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fr-F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fr-FR" sz="26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CA" sz="26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fr-FR" sz="26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sz="260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fr-FR" sz="2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ordre 2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26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6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groupChr>
                      <m:groupChrPr>
                        <m:chr m:val="⇒"/>
                        <m:pos m:val="top"/>
                        <m:ctrlPr>
                          <a:rPr lang="fr-FR" sz="26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sty m:val="p"/>
                            <m:brk m:alnAt="1"/>
                          </m:rPr>
                          <a:rPr lang="fr-FR" sz="2600" i="1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fr-FR" sz="2600" i="1">
                            <a:latin typeface="Cambria Math" panose="02040503050406030204" pitchFamily="18" charset="0"/>
                          </a:rPr>
                          <m:t>ch</m:t>
                        </m:r>
                        <m:r>
                          <a:rPr lang="fr-FR" sz="2600" i="1">
                            <a:latin typeface="Cambria Math" panose="02040503050406030204" pitchFamily="18" charset="0"/>
                          </a:rPr>
                          <m:t>é</m:t>
                        </m:r>
                        <m:r>
                          <m:rPr>
                            <m:sty m:val="p"/>
                          </m:rPr>
                          <a:rPr lang="fr-FR" sz="2600" i="1">
                            <a:latin typeface="Cambria Math" panose="02040503050406030204" pitchFamily="18" charset="0"/>
                          </a:rPr>
                          <m:t>ma</m:t>
                        </m:r>
                      </m:e>
                    </m:groupChr>
                    <m:f>
                      <m:fPr>
                        <m:ctrlPr>
                          <a:rPr lang="fr-FR" sz="2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sz="2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fr-FR" sz="26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sz="2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fr-FR" sz="26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fr-FR" sz="2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6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fr-FR" sz="2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fr-FR" sz="26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60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p>
                            <m:r>
                              <a:rPr lang="fr-FR" sz="26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sz="2600"/>
                          <m:t> </m:t>
                        </m:r>
                      </m:den>
                    </m:f>
                  </m:oMath>
                </a14:m>
                <a:r>
                  <a:rPr lang="fr-FR" sz="2600" dirty="0"/>
                  <a:t>, </a:t>
                </a: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ordre 2</a:t>
                </a:r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10518746-3A15-2C27-5A6F-6AB51FC27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9617" y="1595314"/>
                <a:ext cx="5362519" cy="1732654"/>
              </a:xfrm>
              <a:prstGeom prst="rect">
                <a:avLst/>
              </a:prstGeom>
              <a:blipFill>
                <a:blip r:embed="rId3"/>
                <a:stretch>
                  <a:fillRect b="-211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Arc 5">
            <a:extLst>
              <a:ext uri="{FF2B5EF4-FFF2-40B4-BE49-F238E27FC236}">
                <a16:creationId xmlns:a16="http://schemas.microsoft.com/office/drawing/2014/main" id="{669E06E8-CC02-FA18-F417-BCEB210B1102}"/>
              </a:ext>
            </a:extLst>
          </p:cNvPr>
          <p:cNvSpPr/>
          <p:nvPr/>
        </p:nvSpPr>
        <p:spPr>
          <a:xfrm rot="241833" flipH="1">
            <a:off x="2857585" y="4094814"/>
            <a:ext cx="2152095" cy="1509192"/>
          </a:xfrm>
          <a:prstGeom prst="arc">
            <a:avLst/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28496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C5C6ED-CEB0-DF95-C2D4-5220839D0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" y="-30897"/>
            <a:ext cx="11945112" cy="1325563"/>
          </a:xfrm>
        </p:spPr>
        <p:txBody>
          <a:bodyPr/>
          <a:lstStyle/>
          <a:p>
            <a:r>
              <a:rPr lang="fr-FR" dirty="0"/>
              <a:t>Discrétisation : frontières - Schéma d’Euler Explicite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595270A-CFC5-DE88-BDE0-18625C38E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6619" y="4270193"/>
            <a:ext cx="4204606" cy="24879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F5871682-0B46-824A-AEFF-E8E2BCE778AB}"/>
                  </a:ext>
                </a:extLst>
              </p:cNvPr>
              <p:cNvSpPr txBox="1"/>
              <p:nvPr/>
            </p:nvSpPr>
            <p:spPr>
              <a:xfrm>
                <a:off x="667512" y="1343818"/>
                <a:ext cx="5897880" cy="1288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>
                    <a:solidFill>
                      <a:schemeClr val="accent2"/>
                    </a:solidFill>
                  </a:rPr>
                  <a:t>Condition de symétrie (Neumann) :</a:t>
                </a:r>
              </a:p>
              <a:p>
                <a:pPr algn="ctr"/>
                <a:r>
                  <a:rPr lang="fr-CA" dirty="0">
                    <a:solidFill>
                      <a:schemeClr val="accent2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</m:num>
                      <m:den>
                        <m:r>
                          <a:rPr lang="fr-C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r>
                      <a:rPr lang="fr-CA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CA" b="0" i="1" dirty="0">
                  <a:solidFill>
                    <a:schemeClr val="accent2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fr-CA" b="0" i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fr-CA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Sup>
                        <m:sSubSupPr>
                          <m:ctrlP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fr-CA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Sup>
                        <m:sSubSupPr>
                          <m:ctrlP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CA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fr-CA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fr-CA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F5871682-0B46-824A-AEFF-E8E2BCE77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12" y="1343818"/>
                <a:ext cx="5897880" cy="1288686"/>
              </a:xfrm>
              <a:prstGeom prst="rect">
                <a:avLst/>
              </a:prstGeom>
              <a:blipFill>
                <a:blip r:embed="rId3"/>
                <a:stretch>
                  <a:fillRect l="-931" t="-1887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35B26447-C369-915B-101D-E4FC7C5D7482}"/>
                  </a:ext>
                </a:extLst>
              </p:cNvPr>
              <p:cNvSpPr txBox="1"/>
              <p:nvPr/>
            </p:nvSpPr>
            <p:spPr>
              <a:xfrm>
                <a:off x="582168" y="2784657"/>
                <a:ext cx="5897880" cy="12886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>
                    <a:solidFill>
                      <a:srgbClr val="FFBF00"/>
                    </a:solidFill>
                  </a:rPr>
                  <a:t>Condition de symétrie (Neumann) :</a:t>
                </a:r>
              </a:p>
              <a:p>
                <a:pPr algn="ctr"/>
                <a:r>
                  <a:rPr lang="fr-CA" dirty="0">
                    <a:solidFill>
                      <a:srgbClr val="FFBF00"/>
                    </a:solidFill>
                  </a:rPr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A" b="0" i="1" smtClean="0">
                            <a:solidFill>
                              <a:srgbClr val="FFBF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solidFill>
                              <a:srgbClr val="FFBF00"/>
                            </a:solidFill>
                            <a:latin typeface="Cambria Math" panose="02040503050406030204" pitchFamily="18" charset="0"/>
                          </a:rPr>
                          <m:t>𝑑𝑇</m:t>
                        </m:r>
                      </m:num>
                      <m:den>
                        <m:r>
                          <a:rPr lang="fr-CA" b="0" i="1" smtClean="0">
                            <a:solidFill>
                              <a:srgbClr val="FFBF00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  <m:r>
                      <a:rPr lang="fr-CA" b="0" i="1" smtClean="0">
                        <a:solidFill>
                          <a:srgbClr val="FFBF00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fr-CA" b="0" i="1" dirty="0">
                  <a:solidFill>
                    <a:srgbClr val="FFBF00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  <m:sup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fr-CA" b="0" i="0" smtClean="0">
                          <a:solidFill>
                            <a:srgbClr val="FFB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0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fr-CA" b="0" i="0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Sup>
                        <m:sSubSupPr>
                          <m:ctrlP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  <m:sup>
                          <m: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  <m:r>
                        <a:rPr lang="fr-CA" b="0" i="1" smtClean="0">
                          <a:solidFill>
                            <a:srgbClr val="FFB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Sup>
                        <m:sSubSupPr>
                          <m:ctrlP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fr-CA" b="0" i="1" smtClean="0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fr-CA" i="1">
                              <a:solidFill>
                                <a:srgbClr val="FFBF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bSup>
                    </m:oMath>
                  </m:oMathPara>
                </a14:m>
                <a:endParaRPr lang="fr-CA" dirty="0">
                  <a:solidFill>
                    <a:srgbClr val="FFBF00"/>
                  </a:solidFill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35B26447-C369-915B-101D-E4FC7C5D7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168" y="2784657"/>
                <a:ext cx="5897880" cy="1288686"/>
              </a:xfrm>
              <a:prstGeom prst="rect">
                <a:avLst/>
              </a:prstGeom>
              <a:blipFill>
                <a:blip r:embed="rId4"/>
                <a:stretch>
                  <a:fillRect l="-931" t="-237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B81FF01E-407B-CE8F-80F4-CFC728E6CA10}"/>
                  </a:ext>
                </a:extLst>
              </p:cNvPr>
              <p:cNvSpPr txBox="1"/>
              <p:nvPr/>
            </p:nvSpPr>
            <p:spPr>
              <a:xfrm>
                <a:off x="5803392" y="1268922"/>
                <a:ext cx="6141720" cy="1869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>
                    <a:solidFill>
                      <a:srgbClr val="5B9BD5"/>
                    </a:solidFill>
                  </a:rPr>
                  <a:t>Condition de robin, convection-radiation :</a:t>
                </a:r>
              </a:p>
              <a:p>
                <a:pPr algn="ctr">
                  <a:spcBef>
                    <a:spcPts val="1800"/>
                  </a:spcBef>
                </a:pPr>
                <a:r>
                  <a:rPr lang="fr-CA" dirty="0">
                    <a:solidFill>
                      <a:srgbClr val="5B9BD5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i="1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fr-FR" i="1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fr-FR" i="1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i="1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fr-FR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fr-FR" i="1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  <m:r>
                              <m:rPr>
                                <m:nor/>
                              </m:rPr>
                              <a:rPr lang="fr-FR" dirty="0">
                                <a:solidFill>
                                  <a:srgbClr val="5B9BD5"/>
                                </a:solidFill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fr-FR" i="1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fr-FR" i="1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ϵσ</m:t>
                    </m:r>
                    <m:r>
                      <a:rPr lang="fr-FR" i="1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i="1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fr-FR" i="1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>
                  <a:solidFill>
                    <a:srgbClr val="5B9BD5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+∆</m:t>
                        </m:r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fr-CA" b="0" i="0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=[</m:t>
                    </m:r>
                    <m:d>
                      <m:dPr>
                        <m:ctrlP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CA" b="0" i="1" smtClean="0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0" smtClean="0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fr-CA" b="0" i="1" smtClean="0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fr-CA" b="0" i="0" smtClean="0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z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fr-CA" b="0" i="0" smtClean="0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den>
                        </m:f>
                      </m:e>
                    </m:d>
                    <m:r>
                      <a:rPr lang="fr-CA" b="0" i="0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∗(</m:t>
                    </m:r>
                    <m:r>
                      <m:rPr>
                        <m:sty m:val="p"/>
                      </m:rPr>
                      <a:rPr lang="fr-CA" b="0" i="0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fr-CA" b="0" i="0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fr-CA" dirty="0">
                    <a:solidFill>
                      <a:srgbClr val="5B9BD5"/>
                    </a:solidFill>
                  </a:rPr>
                  <a:t>-</a:t>
                </a:r>
                <a:r>
                  <a:rPr lang="fr-FR" dirty="0">
                    <a:solidFill>
                      <a:srgbClr val="5B9BD5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nor/>
                          </m:rPr>
                          <a:rPr lang="fr-FR" dirty="0">
                            <a:solidFill>
                              <a:srgbClr val="5B9BD5"/>
                            </a:solidFill>
                          </a:rPr>
                          <m:t> </m:t>
                        </m:r>
                      </m:sub>
                    </m:sSub>
                    <m:r>
                      <a:rPr lang="fr-CA" b="0" i="1" dirty="0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CA" dirty="0">
                    <a:solidFill>
                      <a:srgbClr val="5B9BD5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i="1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ϵσ</m:t>
                    </m:r>
                    <m:r>
                      <a:rPr lang="fr-FR" i="1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fr-CA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CA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CA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CA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CA" i="1">
                                <a:solidFill>
                                  <a:srgbClr val="5B9BD5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e>
                      <m:sup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i="1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FR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fr-FR" i="1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fr-CA" b="0" i="1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</a:rPr>
                      <m:t>) −</m:t>
                    </m:r>
                    <m:sSubSup>
                      <m:sSubSupPr>
                        <m:ctrlP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  <m:sup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fr-CA" b="0" i="1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sSubSup>
                      <m:sSubSupPr>
                        <m:ctrlP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fr-CA" b="0" i="1" smtClean="0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fr-CA" i="1">
                            <a:solidFill>
                              <a:srgbClr val="5B9BD5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fr-CA" b="0" i="1" smtClean="0">
                        <a:solidFill>
                          <a:srgbClr val="5B9BD5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)]÷3</m:t>
                    </m:r>
                  </m:oMath>
                </a14:m>
                <a:r>
                  <a:rPr lang="fr-CA" dirty="0">
                    <a:solidFill>
                      <a:srgbClr val="5B9BD5"/>
                    </a:solidFill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CA" i="1">
                              <a:solidFill>
                                <a:srgbClr val="5B9BD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fr-CA" b="0" i="1" smtClean="0">
                          <a:solidFill>
                            <a:srgbClr val="5B9BD5"/>
                          </a:solidFill>
                          <a:latin typeface="Cambria Math" panose="02040503050406030204" pitchFamily="18" charset="0"/>
                        </a:rPr>
                        <m:t>=(0,1)</m:t>
                      </m:r>
                    </m:oMath>
                  </m:oMathPara>
                </a14:m>
                <a:endParaRPr lang="fr-CA" dirty="0">
                  <a:solidFill>
                    <a:srgbClr val="5B9BD5"/>
                  </a:solidFill>
                </a:endParaRP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B81FF01E-407B-CE8F-80F4-CFC728E6C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392" y="1268922"/>
                <a:ext cx="6141720" cy="1869614"/>
              </a:xfrm>
              <a:prstGeom prst="rect">
                <a:avLst/>
              </a:prstGeom>
              <a:blipFill>
                <a:blip r:embed="rId5"/>
                <a:stretch>
                  <a:fillRect l="-794" t="-1303" b="-195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0DEE587-681A-1A82-80C1-940949F38F5B}"/>
                  </a:ext>
                </a:extLst>
              </p:cNvPr>
              <p:cNvSpPr txBox="1"/>
              <p:nvPr/>
            </p:nvSpPr>
            <p:spPr>
              <a:xfrm>
                <a:off x="5903976" y="3023260"/>
                <a:ext cx="6288024" cy="1869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CA" dirty="0">
                    <a:solidFill>
                      <a:srgbClr val="6FAD46"/>
                    </a:solidFill>
                  </a:rPr>
                  <a:t>Condition de robin, convection-radiation :</a:t>
                </a:r>
              </a:p>
              <a:p>
                <a:pPr algn="ctr">
                  <a:spcBef>
                    <a:spcPts val="1800"/>
                  </a:spcBef>
                </a:pPr>
                <a:r>
                  <a:rPr lang="fr-CA" dirty="0">
                    <a:solidFill>
                      <a:srgbClr val="6FAD46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fr-FR" i="1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fr-FR" i="1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fr-FR" i="1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fr-FR" i="1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i="1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fr-FR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a:rPr lang="fr-FR" i="1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  <m:r>
                              <m:rPr>
                                <m:nor/>
                              </m:rPr>
                              <a:rPr lang="fr-FR" dirty="0">
                                <a:solidFill>
                                  <a:srgbClr val="6FAD46"/>
                                </a:solidFill>
                              </a:rPr>
                              <m:t> </m:t>
                            </m:r>
                          </m:sub>
                        </m:sSub>
                      </m:e>
                    </m:d>
                    <m:r>
                      <a:rPr lang="fr-FR" i="1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fr-FR" i="1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ϵσ</m:t>
                    </m:r>
                    <m:r>
                      <a:rPr lang="fr-FR" i="1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i="1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fr-FR" i="1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>
                  <a:solidFill>
                    <a:srgbClr val="6FAD46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+∆</m:t>
                        </m:r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fr-CA" b="0" i="0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=[</m:t>
                    </m:r>
                    <m:d>
                      <m:dPr>
                        <m:ctrlP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fr-CA" b="0" i="1" smtClean="0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CA" b="0" i="0" smtClean="0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fr-CA" b="0" i="1" smtClean="0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∆</m:t>
                            </m:r>
                            <m:r>
                              <m:rPr>
                                <m:sty m:val="p"/>
                              </m:rPr>
                              <a:rPr lang="fr-CA" b="0" i="0" smtClean="0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fr-CA" b="0" i="0" smtClean="0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den>
                        </m:f>
                      </m:e>
                    </m:d>
                    <m:r>
                      <a:rPr lang="fr-CA" b="0" i="0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∗(</m:t>
                    </m:r>
                    <m:r>
                      <m:rPr>
                        <m:sty m:val="p"/>
                      </m:rPr>
                      <a:rPr lang="fr-CA" b="0" i="0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fr-CA" b="0" i="0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fr-CA" dirty="0">
                    <a:solidFill>
                      <a:srgbClr val="6FAD46"/>
                    </a:solidFill>
                  </a:rPr>
                  <a:t>-</a:t>
                </a:r>
                <a:r>
                  <a:rPr lang="fr-FR" dirty="0">
                    <a:solidFill>
                      <a:srgbClr val="6FAD46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nor/>
                          </m:rPr>
                          <a:rPr lang="fr-FR" dirty="0">
                            <a:solidFill>
                              <a:srgbClr val="6FAD46"/>
                            </a:solidFill>
                          </a:rPr>
                          <m:t> </m:t>
                        </m:r>
                      </m:sub>
                    </m:sSub>
                    <m:r>
                      <a:rPr lang="fr-CA" b="0" i="1" dirty="0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CA" dirty="0">
                    <a:solidFill>
                      <a:srgbClr val="6FAD46"/>
                    </a:solidFill>
                  </a:rPr>
                  <a:t>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i="1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ϵσ</m:t>
                    </m:r>
                    <m:r>
                      <a:rPr lang="fr-FR" i="1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Sup>
                          <m:sSubSupPr>
                            <m:ctrlPr>
                              <a:rPr lang="fr-CA" i="1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CA" i="1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i="1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CA" i="1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CA" i="1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CA" i="1">
                                <a:solidFill>
                                  <a:srgbClr val="6FAD4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e>
                      <m:sup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i="1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fr-FR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a:rPr lang="fr-FR" i="1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fr-CA" b="0" i="1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</a:rPr>
                      <m:t>) −</m:t>
                    </m:r>
                    <m:sSubSup>
                      <m:sSubSupPr>
                        <m:ctrlP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  <m:sup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fr-CA" b="0" i="1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+4</m:t>
                    </m:r>
                    <m:sSubSup>
                      <m:sSubSupPr>
                        <m:ctrlP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fr-CA" b="0" i="1" smtClean="0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fr-CA" i="1">
                            <a:solidFill>
                              <a:srgbClr val="6FAD4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fr-CA" b="0" i="1" smtClean="0">
                        <a:solidFill>
                          <a:srgbClr val="6FAD4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)]÷3</m:t>
                    </m:r>
                  </m:oMath>
                </a14:m>
                <a:r>
                  <a:rPr lang="fr-CA" dirty="0">
                    <a:solidFill>
                      <a:srgbClr val="6FAD46"/>
                    </a:solidFill>
                  </a:rPr>
                  <a:t>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>
                              <a:solidFill>
                                <a:srgbClr val="6FAD46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CA" i="1">
                              <a:solidFill>
                                <a:srgbClr val="6FAD46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acc>
                      <m:r>
                        <a:rPr lang="fr-CA" b="0" i="1" smtClean="0">
                          <a:solidFill>
                            <a:srgbClr val="6FAD46"/>
                          </a:solidFill>
                          <a:latin typeface="Cambria Math" panose="02040503050406030204" pitchFamily="18" charset="0"/>
                        </a:rPr>
                        <m:t>=(1,0)</m:t>
                      </m:r>
                    </m:oMath>
                  </m:oMathPara>
                </a14:m>
                <a:endParaRPr lang="fr-CA" dirty="0">
                  <a:solidFill>
                    <a:srgbClr val="6FAD46"/>
                  </a:solidFill>
                </a:endParaRP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A0DEE587-681A-1A82-80C1-940949F38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976" y="3023260"/>
                <a:ext cx="6288024" cy="1869614"/>
              </a:xfrm>
              <a:prstGeom prst="rect">
                <a:avLst/>
              </a:prstGeom>
              <a:blipFill>
                <a:blip r:embed="rId6"/>
                <a:stretch>
                  <a:fillRect l="-873" t="-1629" b="-1629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>
            <a:extLst>
              <a:ext uri="{FF2B5EF4-FFF2-40B4-BE49-F238E27FC236}">
                <a16:creationId xmlns:a16="http://schemas.microsoft.com/office/drawing/2014/main" id="{841669E0-8634-2A94-9DF2-325DD99B02AA}"/>
              </a:ext>
            </a:extLst>
          </p:cNvPr>
          <p:cNvSpPr txBox="1"/>
          <p:nvPr/>
        </p:nvSpPr>
        <p:spPr>
          <a:xfrm>
            <a:off x="5999988" y="500815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Dicrétisations</a:t>
            </a:r>
            <a:r>
              <a:rPr lang="fr-CA" dirty="0"/>
              <a:t> réalisées à l’aide des méthodes de </a:t>
            </a:r>
            <a:r>
              <a:rPr lang="fr-CA" dirty="0" err="1"/>
              <a:t>Gear</a:t>
            </a:r>
            <a:r>
              <a:rPr lang="fr-CA" dirty="0"/>
              <a:t>, d’ordre 2 :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32A8A863-AC5E-8C31-7C35-11133CCD28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03976" y="5752785"/>
            <a:ext cx="6096000" cy="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882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2072-1734-D724-EA81-E925334F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BB688C-D97C-481D-A291-13AA5890C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fr-FR" dirty="0"/>
              <a:t>Description du code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4B15E8C-4AC7-7351-4AC9-E6164AE5C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61258" y="1331494"/>
                <a:ext cx="11930742" cy="552650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fr-FR" dirty="0"/>
                  <a:t>main.py : fichier permettant d’exécuter le solveur pour une configuration prédéterminée.</a:t>
                </a:r>
              </a:p>
              <a:p>
                <a:r>
                  <a:rPr lang="fr-FR" dirty="0"/>
                  <a:t>fonctions.py : le cœur du code</a:t>
                </a:r>
              </a:p>
              <a:p>
                <a:pPr lvl="1"/>
                <a:r>
                  <a:rPr lang="fr-FR" dirty="0"/>
                  <a:t>Classe Paramètres : classe contenant la configuration du problème.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𝑛𝑟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𝑛𝑧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𝑑𝑟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𝑑𝑧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𝑑𝑡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𝑝𝑜𝑠𝑖𝑡𝑖𝑜𝑛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𝑀𝑀𝑆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𝑒𝑡𝑐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fr-CA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fr-CA" b="0" dirty="0"/>
                  <a:t>Fonction Position : permet de générer les matrices de position des points du domaine </a:t>
                </a:r>
                <a:r>
                  <a:rPr lang="fr-CA" dirty="0"/>
                  <a:t>(</a:t>
                </a:r>
                <a:r>
                  <a:rPr lang="fr-CA" b="1" dirty="0"/>
                  <a:t>R </a:t>
                </a:r>
                <a:r>
                  <a:rPr lang="fr-CA" dirty="0"/>
                  <a:t>et </a:t>
                </a:r>
                <a:r>
                  <a:rPr lang="fr-CA" b="1" dirty="0"/>
                  <a:t>M</a:t>
                </a:r>
                <a:r>
                  <a:rPr lang="fr-CA" dirty="0"/>
                  <a:t>).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fr-CA" b="0" dirty="0"/>
              </a:p>
              <a:p>
                <a:pPr lvl="1"/>
                <a:r>
                  <a:rPr lang="fr-CA" dirty="0"/>
                  <a:t>Fonction Température : calcul l’état de la température au pas de temps suivant.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fr-CA" b="0" dirty="0"/>
                  <a:t>Génère un état intermédiaire composé de l’état au temps </a:t>
                </a:r>
                <a:r>
                  <a:rPr lang="fr-CA" b="0" i="1" dirty="0"/>
                  <a:t>t</a:t>
                </a:r>
                <a:r>
                  <a:rPr lang="fr-CA" b="0" dirty="0"/>
                  <a:t> au milieu et l’état au temps </a:t>
                </a:r>
                <a14:m>
                  <m:oMath xmlns:m="http://schemas.openxmlformats.org/officeDocument/2006/math">
                    <m:r>
                      <a:rPr lang="fr-CA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+∆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fr-CA" b="0" dirty="0"/>
                  <a:t> aux frontières.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r>
                  <a:rPr lang="fr-CA" dirty="0"/>
                  <a:t>Appelle la fonction Milieu.</a:t>
                </a:r>
                <a:endParaRPr lang="fr-CA" b="0" dirty="0"/>
              </a:p>
              <a:p>
                <a:pPr lvl="1"/>
                <a:r>
                  <a:rPr lang="fr-FR" dirty="0"/>
                  <a:t>Fonction Milieu : permet de calculer l’état de la température au pas de temps suivant à l’aide de l’état intermédiaire fourni par la fonction Température.</a:t>
                </a:r>
              </a:p>
              <a:p>
                <a:pPr lvl="1"/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Résolution du système : on itère sur le temps en appelant la fonction Température, jusqu’à ce qu’on ait atteint le temps final.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B4B15E8C-4AC7-7351-4AC9-E6164AE5C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8" y="1331494"/>
                <a:ext cx="11930742" cy="5526505"/>
              </a:xfrm>
              <a:blipFill>
                <a:blip r:embed="rId2"/>
                <a:stretch>
                  <a:fillRect l="-920" t="-2205" r="-66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455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B0DE8D-01F9-F51A-DBBD-38671126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fr-FR" dirty="0"/>
              <a:t>Calcul de l’ordre de convergence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369A214-4D5D-715B-6640-CC12B4B650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0411" y="1605124"/>
                <a:ext cx="10515600" cy="5504688"/>
              </a:xfrm>
            </p:spPr>
            <p:txBody>
              <a:bodyPr>
                <a:normAutofit/>
              </a:bodyPr>
              <a:lstStyle/>
              <a:p>
                <a:r>
                  <a:rPr lang="fr-FR" dirty="0"/>
                  <a:t>Développement de Taylor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𝑜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𝑜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fr-FR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FR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b="0" i="0" dirty="0">
                    <a:latin typeface="Cambria Math" panose="02040503050406030204" pitchFamily="18" charset="0"/>
                  </a:rPr>
                  <a:t>Ordre 1 en temps 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fr-FR">
                                <a:latin typeface="Cambria Math" panose="02040503050406030204" pitchFamily="18" charset="0"/>
                              </a:rPr>
                              <m:t>Δt</m:t>
                            </m:r>
                          </m:sup>
                        </m:sSubSup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Δt</m:t>
                        </m:r>
                        <m:r>
                          <m:rPr>
                            <m:nor/>
                          </m:rPr>
                          <a:rPr lang="fr-FR"/>
                          <m:t> 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fr-FR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fr-F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b="0" i="0" dirty="0">
                    <a:latin typeface="Cambria Math" panose="02040503050406030204" pitchFamily="18" charset="0"/>
                  </a:rPr>
                  <a:t>)</a:t>
                </a:r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fr-FR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b="0" dirty="0"/>
                  <a:t>	          </a:t>
                </a:r>
                <a14:m>
                  <m:oMath xmlns:m="http://schemas.openxmlformats.org/officeDocument/2006/math">
                    <m:r>
                      <a:rPr lang="fr-FR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fr-FR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𝑜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b="0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369A214-4D5D-715B-6640-CC12B4B650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0411" y="1605124"/>
                <a:ext cx="10515600" cy="5504688"/>
              </a:xfrm>
              <a:blipFill>
                <a:blip r:embed="rId3"/>
                <a:stretch>
                  <a:fillRect l="-1217" t="-1883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024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4141-85F8-8321-5A47-F7279370D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7B92C8-7E5E-8CDA-7607-D5BFCF6E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fr-FR" dirty="0"/>
              <a:t>Calcul de l’ordre de convergence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A145214A-2ADA-193F-B05A-48501377A8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9768" y="1335057"/>
                <a:ext cx="11676888" cy="55046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fr-FR" sz="2400" b="0" i="0" dirty="0">
                    <a:latin typeface="Cambria Math" panose="02040503050406030204" pitchFamily="18" charset="0"/>
                  </a:rPr>
                  <a:t>Ordre 2 en espace (r et z) :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fr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fr-FR" sz="24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fr-FR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  <m:r>
                          <a:rPr lang="fr-FR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fr-FR" sz="240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CA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fr-FR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400" b="0" dirty="0">
                    <a:solidFill>
                      <a:srgbClr val="FF0000"/>
                    </a:solidFill>
                  </a:rPr>
                  <a:t>		           </a:t>
                </a:r>
                <a14:m>
                  <m:oMath xmlns:m="http://schemas.openxmlformats.org/officeDocument/2006/math"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2400" dirty="0"/>
                  <a:t>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sSub>
                      <m:sSubPr>
                        <m:ctrlPr>
                          <a:rPr lang="fr-F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fr-FR" sz="2400">
                        <a:latin typeface="Cambria Math" panose="02040503050406030204" pitchFamily="18" charset="0"/>
                      </a:rPr>
                      <m:t>Δ</m:t>
                    </m:r>
                    <m:r>
                      <a:rPr lang="fr-CA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</m:oMath>
                </a14:m>
                <a:r>
                  <a:rPr lang="fr-FR" sz="24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fr-FR" sz="2400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fr-FR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𝑜</m:t>
                    </m:r>
                    <m:d>
                      <m:d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fr-FR" sz="2400" b="0" i="0" dirty="0">
                    <a:latin typeface="Cambria Math" panose="02040503050406030204" pitchFamily="18" charset="0"/>
                  </a:rPr>
                  <a:t>)</a:t>
                </a:r>
                <a:endParaRPr lang="fr-FR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400" b="0" dirty="0"/>
                  <a:t>	          	   </a:t>
                </a:r>
                <a14:m>
                  <m:oMath xmlns:m="http://schemas.openxmlformats.org/officeDocument/2006/math"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CA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fr-FR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𝑜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40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fr-F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fr-F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400" b="0" i="0" dirty="0">
                  <a:latin typeface="Cambria Math" panose="02040503050406030204" pitchFamily="18" charset="0"/>
                </a:endParaRPr>
              </a:p>
              <a:p>
                <a:endParaRPr lang="fr-FR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fr-FR" sz="240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  <m:sup>
                            <m:r>
                              <a:rPr lang="fr-FR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fr-FR" sz="2400"/>
                          <m:t> 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fr-FR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fr-FR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  <m:sSup>
                              <m:sSupPr>
                                <m:ctrlPr>
                                  <a:rPr lang="fr-FR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fr-FR" sz="2400">
                                    <a:latin typeface="Cambria Math" panose="02040503050406030204" pitchFamily="18" charset="0"/>
                                  </a:rPr>
                                  <m:t>z</m:t>
                                </m:r>
                              </m:e>
                              <m:sup>
                                <m:r>
                                  <a:rPr lang="fr-FR" sz="2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fr-FR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fr-FR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fr-FR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</m:oMath>
                </a14:m>
                <a:endParaRPr lang="fr-FR" sz="2400" dirty="0"/>
              </a:p>
              <a:p>
                <a:pPr marL="0" indent="0">
                  <a:buNone/>
                </a:pPr>
                <a:r>
                  <a:rPr lang="fr-FR" sz="2400" b="0" dirty="0"/>
                  <a:t> 			</a:t>
                </a:r>
                <a:r>
                  <a:rPr lang="fr-FR" sz="2400" dirty="0"/>
                  <a:t> </a:t>
                </a:r>
                <a14:m>
                  <m:oMath xmlns:m="http://schemas.openxmlformats.org/officeDocument/2006/math"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fr-FR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fr-FR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fr-FR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fr-FR" sz="24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</m:oMath>
                </a14:m>
                <a:endParaRPr lang="fr-FR" sz="2000" b="0" dirty="0"/>
              </a:p>
              <a:p>
                <a:pPr marL="0" indent="0">
                  <a:buNone/>
                </a:pPr>
                <a:r>
                  <a:rPr lang="fr-FR" sz="2000" dirty="0"/>
                  <a:t>			      </a:t>
                </a:r>
                <a14:m>
                  <m:oMath xmlns:m="http://schemas.openxmlformats.org/officeDocument/2006/math">
                    <m:r>
                      <a:rPr lang="fr-F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fr-FR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FR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fr-F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fr-F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fr-FR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2400" b="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fr-FR" sz="2400" dirty="0"/>
                  <a:t>			 </a:t>
                </a:r>
                <a14:m>
                  <m:oMath xmlns:m="http://schemas.openxmlformats.org/officeDocument/2006/math">
                    <m:r>
                      <a:rPr lang="fr-FR" sz="20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fr-FR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fr-FR" sz="24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2</m:t>
                    </m:r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fr-FR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f>
                      <m:fPr>
                        <m:ctrlPr>
                          <a:rPr lang="fr-FR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fr-FR" sz="24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p>
                          <m:sSupPr>
                            <m:ctrlPr>
                              <a:rPr lang="fr-F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fr-FR" sz="2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fr-FR" sz="2400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𝑜</m:t>
                    </m:r>
                    <m:r>
                      <a:rPr lang="fr-F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fr-FR" sz="240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Δ</m:t>
                    </m:r>
                    <m:sSup>
                      <m:sSupPr>
                        <m:ctrlPr>
                          <a:rPr lang="fr-F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fr-FR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fr-F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sz="24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A145214A-2ADA-193F-B05A-48501377A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9768" y="1335057"/>
                <a:ext cx="11676888" cy="5504688"/>
              </a:xfrm>
              <a:blipFill>
                <a:blip r:embed="rId3"/>
                <a:stretch>
                  <a:fillRect l="-836" t="-1550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1290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0210F2-DE1D-E808-58AF-DFA01EAAB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Vérification de code - Méthodologie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013CAEC-1AC4-C17B-EAFA-EC1AB7DBA2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4000"/>
                  </a:lnSpc>
                </a:pPr>
                <a:r>
                  <a:rPr lang="fr-FR" dirty="0"/>
                  <a:t>Implémentation de divers tests avec le module </a:t>
                </a:r>
                <a:r>
                  <a:rPr lang="fr-FR" i="1" dirty="0" err="1"/>
                  <a:t>unittest</a:t>
                </a:r>
                <a:r>
                  <a:rPr lang="fr-FR" dirty="0"/>
                  <a:t> de python :</a:t>
                </a:r>
              </a:p>
              <a:p>
                <a:pPr lvl="1">
                  <a:lnSpc>
                    <a:spcPct val="124000"/>
                  </a:lnSpc>
                </a:pPr>
                <a:r>
                  <a:rPr lang="fr-FR" b="1" dirty="0"/>
                  <a:t>Tests unitaires </a:t>
                </a:r>
                <a:r>
                  <a:rPr lang="fr-FR" dirty="0"/>
                  <a:t>pour les différentes fonctions du code implémentés :</a:t>
                </a:r>
              </a:p>
              <a:p>
                <a:pPr lvl="2">
                  <a:lnSpc>
                    <a:spcPct val="124000"/>
                  </a:lnSpc>
                  <a:buFont typeface="Courier New" panose="02070309020205020404" pitchFamily="49" charset="0"/>
                  <a:buChar char="o"/>
                </a:pPr>
                <a:r>
                  <a:rPr lang="fr-FR" b="1" dirty="0" err="1"/>
                  <a:t>testPosition</a:t>
                </a:r>
                <a:r>
                  <a:rPr lang="fr-FR" dirty="0"/>
                  <a:t> : </a:t>
                </a:r>
                <a:r>
                  <a:rPr lang="fr-CA" dirty="0"/>
                  <a:t>Test la fonction Position avec des valeurs connues.</a:t>
                </a:r>
              </a:p>
              <a:p>
                <a:pPr lvl="2">
                  <a:lnSpc>
                    <a:spcPct val="124000"/>
                  </a:lnSpc>
                  <a:buFont typeface="Courier New" panose="02070309020205020404" pitchFamily="49" charset="0"/>
                  <a:buChar char="o"/>
                </a:pPr>
                <a:r>
                  <a:rPr lang="fr-CA" b="1" dirty="0" err="1"/>
                  <a:t>testMilieu</a:t>
                </a:r>
                <a:r>
                  <a:rPr lang="fr-CA" dirty="0"/>
                  <a:t> : Test la fonction Milieu avec des valeurs connues.</a:t>
                </a:r>
              </a:p>
              <a:p>
                <a:pPr lvl="2">
                  <a:lnSpc>
                    <a:spcPct val="124000"/>
                  </a:lnSpc>
                  <a:buFont typeface="Courier New" panose="02070309020205020404" pitchFamily="49" charset="0"/>
                  <a:buChar char="o"/>
                </a:pPr>
                <a:r>
                  <a:rPr lang="fr-CA" b="1" dirty="0" err="1"/>
                  <a:t>testTemperature</a:t>
                </a:r>
                <a:r>
                  <a:rPr lang="fr-CA" dirty="0"/>
                  <a:t> : Test la fonction </a:t>
                </a:r>
                <a:r>
                  <a:rPr lang="fr-CA" dirty="0" err="1"/>
                  <a:t>Temperature</a:t>
                </a:r>
                <a:r>
                  <a:rPr lang="fr-CA" dirty="0"/>
                  <a:t> avec des valeurs connues.</a:t>
                </a:r>
              </a:p>
              <a:p>
                <a:pPr lvl="1">
                  <a:lnSpc>
                    <a:spcPct val="124000"/>
                  </a:lnSpc>
                </a:pPr>
                <a:r>
                  <a:rPr lang="fr-CA" b="1" dirty="0"/>
                  <a:t>Tests de vérification de code </a:t>
                </a:r>
                <a:r>
                  <a:rPr lang="fr-CA" dirty="0"/>
                  <a:t>implémentés :</a:t>
                </a:r>
              </a:p>
              <a:p>
                <a:pPr lvl="2">
                  <a:lnSpc>
                    <a:spcPct val="124000"/>
                  </a:lnSpc>
                  <a:buFont typeface="Courier New" panose="02070309020205020404" pitchFamily="49" charset="0"/>
                  <a:buChar char="o"/>
                </a:pPr>
                <a:r>
                  <a:rPr lang="fr-CA" b="1" dirty="0" err="1"/>
                  <a:t>testSymetrie</a:t>
                </a:r>
                <a:r>
                  <a:rPr lang="fr-CA" dirty="0"/>
                  <a:t> : Test la simplification de la condition de symétrie en comparant le résultat symétrique au résultat du domaine complet.</a:t>
                </a:r>
              </a:p>
              <a:p>
                <a:pPr lvl="2">
                  <a:lnSpc>
                    <a:spcPct val="124000"/>
                  </a:lnSpc>
                  <a:buFont typeface="Courier New" panose="02070309020205020404" pitchFamily="49" charset="0"/>
                  <a:buChar char="o"/>
                </a:pPr>
                <a:r>
                  <a:rPr lang="fr-CA" b="1" dirty="0" err="1"/>
                  <a:t>testConservationEnergie</a:t>
                </a:r>
                <a:r>
                  <a:rPr lang="fr-CA" dirty="0"/>
                  <a:t> : Test la conservation de l'énergie du solveur en effectuant un bilan </a:t>
                </a:r>
                <a:r>
                  <a:rPr lang="fr-CA" dirty="0" err="1"/>
                  <a:t>énegérique</a:t>
                </a:r>
                <a:r>
                  <a:rPr lang="fr-CA" dirty="0"/>
                  <a:t> à l'intérieur du domaine et sur la frontière. On cherche :</a:t>
                </a:r>
                <a:br>
                  <a:rPr lang="fr-CA" dirty="0"/>
                </a:b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fr-CA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𝑖𝑛𝑡</m:t>
                            </m:r>
                          </m:sub>
                        </m:sSub>
                      </m:e>
                    </m:acc>
                    <m:r>
                      <a:rPr lang="fr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̇"/>
                        <m:ctrlPr>
                          <a:rPr lang="fr-CA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fr-CA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CA" i="1">
                                <a:latin typeface="Cambria Math" panose="02040503050406030204" pitchFamily="18" charset="0"/>
                              </a:rPr>
                              <m:t>𝑓𝑟𝑜𝑛𝑡</m:t>
                            </m:r>
                          </m:sub>
                        </m:sSub>
                      </m:e>
                    </m:acc>
                  </m:oMath>
                </a14:m>
                <a:endParaRPr lang="fr-CA" dirty="0"/>
              </a:p>
              <a:p>
                <a:pPr lvl="2">
                  <a:lnSpc>
                    <a:spcPct val="124000"/>
                  </a:lnSpc>
                  <a:buFont typeface="Courier New" panose="02070309020205020404" pitchFamily="49" charset="0"/>
                  <a:buChar char="o"/>
                </a:pPr>
                <a:r>
                  <a:rPr lang="fr-CA" b="1" dirty="0" err="1"/>
                  <a:t>testInvarianceGalileenne</a:t>
                </a:r>
                <a:r>
                  <a:rPr lang="fr-CA" dirty="0"/>
                  <a:t> : Test l’invariance galiléenne du solveur par translation des coordonnées.</a:t>
                </a:r>
              </a:p>
              <a:p>
                <a:pPr lvl="1">
                  <a:lnSpc>
                    <a:spcPct val="124000"/>
                  </a:lnSpc>
                </a:pPr>
                <a:r>
                  <a:rPr lang="fr-CA" dirty="0"/>
                  <a:t>Implémentation de la </a:t>
                </a:r>
                <a:r>
                  <a:rPr lang="fr-CA" b="1" dirty="0"/>
                  <a:t>MMS</a:t>
                </a:r>
                <a:r>
                  <a:rPr lang="fr-CA" dirty="0"/>
                  <a:t> pour évaluer l’ordre de convergence du solveur.</a:t>
                </a:r>
              </a:p>
              <a:p>
                <a:pPr lvl="2">
                  <a:buFont typeface="Courier New" panose="02070309020205020404" pitchFamily="49" charset="0"/>
                  <a:buChar char="o"/>
                </a:pPr>
                <a:endParaRPr lang="fr-CA" dirty="0"/>
              </a:p>
              <a:p>
                <a:pPr lvl="2">
                  <a:buFont typeface="Courier New" panose="02070309020205020404" pitchFamily="49" charset="0"/>
                  <a:buChar char="o"/>
                </a:pPr>
                <a:endParaRPr lang="fr-FR" dirty="0"/>
              </a:p>
              <a:p>
                <a:pPr lvl="2"/>
                <a:endParaRPr lang="fr-FR" dirty="0"/>
              </a:p>
              <a:p>
                <a:pPr lvl="2"/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013CAEC-1AC4-C17B-EAFA-EC1AB7DBA2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28376" cy="4351338"/>
              </a:xfrm>
              <a:blipFill>
                <a:blip r:embed="rId2"/>
                <a:stretch>
                  <a:fillRect l="-688" t="-700" r="-574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870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8461F-0ADA-F2B0-A6E7-097DBD122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CE1403-3D16-B3B5-E3F3-9368B3195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Vérification de code - Résultats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99FE2D-5448-2AC8-260C-B0D0A0501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101" y="1690688"/>
            <a:ext cx="11185187" cy="491564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34000"/>
              </a:lnSpc>
            </a:pPr>
            <a:r>
              <a:rPr lang="fr-FR" dirty="0"/>
              <a:t>Tests unitaires : rien de surprenant, objectif de conserver une pérennité et une stabilité du code malgré des changements.</a:t>
            </a:r>
          </a:p>
          <a:p>
            <a:pPr>
              <a:lnSpc>
                <a:spcPct val="134000"/>
              </a:lnSpc>
            </a:pPr>
            <a:r>
              <a:rPr lang="fr-FR" dirty="0"/>
              <a:t>Tests de vérification de code :</a:t>
            </a:r>
          </a:p>
          <a:p>
            <a:pPr lvl="1">
              <a:lnSpc>
                <a:spcPct val="134000"/>
              </a:lnSpc>
              <a:buFont typeface="Courier New" panose="02070309020205020404" pitchFamily="49" charset="0"/>
              <a:buChar char="o"/>
            </a:pPr>
            <a:r>
              <a:rPr lang="fr-FR" b="1" dirty="0" err="1"/>
              <a:t>testSymmetrie</a:t>
            </a:r>
            <a:r>
              <a:rPr lang="fr-FR" dirty="0"/>
              <a:t> :</a:t>
            </a:r>
          </a:p>
          <a:p>
            <a:pPr lvl="2">
              <a:lnSpc>
                <a:spcPct val="134000"/>
              </a:lnSpc>
              <a:buFont typeface="Courier New" panose="02070309020205020404" pitchFamily="49" charset="0"/>
              <a:buChar char="o"/>
            </a:pPr>
            <a:r>
              <a:rPr lang="fr-FR" dirty="0"/>
              <a:t> A révélé un </a:t>
            </a:r>
            <a:r>
              <a:rPr lang="fr-FR" i="1" dirty="0"/>
              <a:t>champ de mine</a:t>
            </a:r>
            <a:r>
              <a:rPr lang="fr-FR" dirty="0"/>
              <a:t> de </a:t>
            </a:r>
            <a:r>
              <a:rPr lang="fr-FR" b="1" dirty="0"/>
              <a:t>bugs</a:t>
            </a:r>
            <a:r>
              <a:rPr lang="fr-FR" dirty="0"/>
              <a:t> au sein du code.</a:t>
            </a:r>
          </a:p>
          <a:p>
            <a:pPr lvl="2">
              <a:lnSpc>
                <a:spcPct val="134000"/>
              </a:lnSpc>
              <a:buFont typeface="Courier New" panose="02070309020205020404" pitchFamily="49" charset="0"/>
              <a:buChar char="o"/>
            </a:pPr>
            <a:r>
              <a:rPr lang="fr-FR" dirty="0"/>
              <a:t>A permis de revisiter et de réécrire correctement les </a:t>
            </a:r>
            <a:r>
              <a:rPr lang="fr-FR" b="1" dirty="0"/>
              <a:t>équations de discrétisation </a:t>
            </a:r>
            <a:r>
              <a:rPr lang="fr-FR" dirty="0"/>
              <a:t>(que nous croyions déjà bonne).</a:t>
            </a:r>
          </a:p>
          <a:p>
            <a:pPr lvl="2">
              <a:lnSpc>
                <a:spcPct val="134000"/>
              </a:lnSpc>
              <a:buFont typeface="Courier New" panose="02070309020205020404" pitchFamily="49" charset="0"/>
              <a:buChar char="o"/>
            </a:pPr>
            <a:r>
              <a:rPr lang="fr-FR" dirty="0"/>
              <a:t>Problèmes </a:t>
            </a:r>
            <a:r>
              <a:rPr lang="fr-FR" b="1" dirty="0"/>
              <a:t>d’indexation des points</a:t>
            </a:r>
            <a:r>
              <a:rPr lang="fr-FR" dirty="0"/>
              <a:t>, notamment pour les conditions frontières aux </a:t>
            </a:r>
            <a:r>
              <a:rPr lang="fr-FR" i="1" dirty="0"/>
              <a:t>coins</a:t>
            </a:r>
            <a:r>
              <a:rPr lang="fr-FR" dirty="0"/>
              <a:t> du domaine.</a:t>
            </a:r>
          </a:p>
          <a:p>
            <a:pPr lvl="1">
              <a:lnSpc>
                <a:spcPct val="134000"/>
              </a:lnSpc>
              <a:buFont typeface="Courier New" panose="02070309020205020404" pitchFamily="49" charset="0"/>
              <a:buChar char="o"/>
            </a:pPr>
            <a:r>
              <a:rPr lang="fr-FR" b="1" dirty="0" err="1"/>
              <a:t>testInvarianceGaliléenne</a:t>
            </a:r>
            <a:r>
              <a:rPr lang="fr-FR" dirty="0"/>
              <a:t> :</a:t>
            </a:r>
          </a:p>
          <a:p>
            <a:pPr lvl="2">
              <a:lnSpc>
                <a:spcPct val="134000"/>
              </a:lnSpc>
              <a:buFont typeface="Courier New" panose="02070309020205020404" pitchFamily="49" charset="0"/>
              <a:buChar char="o"/>
            </a:pPr>
            <a:r>
              <a:rPr lang="fr-FR" dirty="0"/>
              <a:t>A révélé quelques subtilités du code qui on permis de l’améliorer, notamment la manière dont est calculé le rayon et la manière dont sont initialisés les paramètres.</a:t>
            </a:r>
          </a:p>
          <a:p>
            <a:pPr lvl="1">
              <a:lnSpc>
                <a:spcPct val="134000"/>
              </a:lnSpc>
              <a:buFont typeface="Courier New" panose="02070309020205020404" pitchFamily="49" charset="0"/>
              <a:buChar char="o"/>
            </a:pPr>
            <a:r>
              <a:rPr lang="fr-FR" b="1" dirty="0" err="1"/>
              <a:t>testConservationEnergie</a:t>
            </a:r>
            <a:r>
              <a:rPr lang="fr-FR" dirty="0"/>
              <a:t> :</a:t>
            </a:r>
          </a:p>
          <a:p>
            <a:pPr lvl="2">
              <a:lnSpc>
                <a:spcPct val="134000"/>
              </a:lnSpc>
              <a:buFont typeface="Courier New" panose="02070309020205020404" pitchFamily="49" charset="0"/>
              <a:buChar char="o"/>
            </a:pPr>
            <a:r>
              <a:rPr lang="fr-FR" dirty="0"/>
              <a:t>Un peu complexe à mettre en place. </a:t>
            </a:r>
          </a:p>
          <a:p>
            <a:pPr lvl="2">
              <a:lnSpc>
                <a:spcPct val="134000"/>
              </a:lnSpc>
              <a:buFont typeface="Courier New" panose="02070309020205020404" pitchFamily="49" charset="0"/>
              <a:buChar char="o"/>
            </a:pPr>
            <a:r>
              <a:rPr lang="fr-FR" dirty="0"/>
              <a:t>Flux de chaleur conservé de manière satisfaisante, au millième près.</a:t>
            </a:r>
          </a:p>
        </p:txBody>
      </p:sp>
    </p:spTree>
    <p:extLst>
      <p:ext uri="{BB962C8B-B14F-4D97-AF65-F5344CB8AC3E}">
        <p14:creationId xmlns:p14="http://schemas.microsoft.com/office/powerpoint/2010/main" val="845833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8B92D-CCAF-B970-4FDC-131895046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7134A-892B-0D3A-608A-3FB298A4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Vérification de code – MMS – Méthodologie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6B832D3-1AFE-0930-0EA6-79DF70C198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971179" cy="4964281"/>
              </a:xfrm>
            </p:spPr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34000"/>
                  </a:lnSpc>
                </a:pPr>
                <a:r>
                  <a:rPr lang="fr-FR" dirty="0"/>
                  <a:t>Implémentation de la méthode des solutions manufacturés. </a:t>
                </a:r>
              </a:p>
              <a:p>
                <a:pPr>
                  <a:lnSpc>
                    <a:spcPct val="134000"/>
                  </a:lnSpc>
                </a:pPr>
                <a:r>
                  <a:rPr lang="fr-FR" dirty="0"/>
                  <a:t>Changements nécessaires :</a:t>
                </a:r>
              </a:p>
              <a:p>
                <a:pPr lvl="1">
                  <a:lnSpc>
                    <a:spcPct val="134000"/>
                  </a:lnSpc>
                </a:pPr>
                <a:r>
                  <a:rPr lang="fr-FR" dirty="0"/>
                  <a:t>Implémentation de conditions de Dirichlet aux </a:t>
                </a:r>
                <a:r>
                  <a:rPr lang="fr-FR" b="1" dirty="0"/>
                  <a:t>frontières extérieures</a:t>
                </a:r>
                <a:r>
                  <a:rPr lang="fr-FR" dirty="0"/>
                  <a:t>:</a:t>
                </a:r>
                <a:br>
                  <a:rPr lang="fr-FR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+∆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𝑀𝑀𝑆</m:t>
                            </m:r>
                          </m:sub>
                        </m:sSub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+∆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endParaRPr lang="fr-FR" dirty="0"/>
              </a:p>
              <a:p>
                <a:pPr lvl="1">
                  <a:lnSpc>
                    <a:spcPct val="134000"/>
                  </a:lnSpc>
                </a:pPr>
                <a:r>
                  <a:rPr lang="fr-FR" dirty="0"/>
                  <a:t>Implémentation d’un terme source dans l’équation du milieu du domaine.</a:t>
                </a:r>
              </a:p>
              <a:p>
                <a:pPr lvl="1">
                  <a:lnSpc>
                    <a:spcPct val="134000"/>
                  </a:lnSpc>
                </a:pPr>
                <a:r>
                  <a:rPr lang="fr-FR" dirty="0"/>
                  <a:t>Repenser la classe </a:t>
                </a:r>
                <a:r>
                  <a:rPr lang="fr-FR" i="1" dirty="0"/>
                  <a:t>Paramètres</a:t>
                </a:r>
                <a:r>
                  <a:rPr lang="fr-FR" dirty="0"/>
                  <a:t> pour intégrer le tout et permettre à un utilisateur d’imposer une </a:t>
                </a:r>
                <a:r>
                  <a:rPr lang="fr-FR" i="1" dirty="0"/>
                  <a:t>MMS</a:t>
                </a:r>
                <a:r>
                  <a:rPr lang="fr-FR" dirty="0"/>
                  <a:t>, ou non.</a:t>
                </a:r>
              </a:p>
              <a:p>
                <a:pPr>
                  <a:lnSpc>
                    <a:spcPct val="134000"/>
                  </a:lnSpc>
                </a:pPr>
                <a:r>
                  <a:rPr lang="fr-FR" dirty="0"/>
                  <a:t>Équation choisie :</a:t>
                </a:r>
                <a:br>
                  <a:rPr lang="fr-FR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𝑀𝑀𝑆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fr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(−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sSub>
                          <m:sSub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fr-CA" b="0" i="1" smtClean="0">
                                <a:latin typeface="Cambria Math" panose="02040503050406030204" pitchFamily="18" charset="0"/>
                              </a:rPr>
                              <m:t>𝑓𝑖𝑛𝑎𝑙</m:t>
                            </m:r>
                          </m:sub>
                        </m:sSub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func>
                      <m:func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CA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fr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num>
                              <m:den>
                                <m:r>
                                  <a:rPr lang="fr-CA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m:rPr>
                        <m:sty m:val="p"/>
                      </m:rPr>
                      <a:rPr lang="fr-CA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fr-CA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lang="fr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fr-CA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den>
                    </m:f>
                    <m:r>
                      <a:rPr lang="fr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dirty="0"/>
              </a:p>
              <a:p>
                <a:pPr marL="914400" lvl="2" indent="0" algn="ctr">
                  <a:lnSpc>
                    <a:spcPct val="134000"/>
                  </a:lnSpc>
                  <a:buNone/>
                </a:pPr>
                <a:r>
                  <a:rPr lang="fr-FR" dirty="0"/>
                  <a:t>Ici, on choisit 2 cosinus de manière à forcer l’équation a être symétrique aux frontières r=0, z=0.</a:t>
                </a:r>
              </a:p>
              <a:p>
                <a:pPr>
                  <a:lnSpc>
                    <a:spcPct val="134000"/>
                  </a:lnSpc>
                </a:pPr>
                <a:r>
                  <a:rPr lang="fr-FR" dirty="0"/>
                  <a:t>Le calcul du terme source est fait à l’aide de la librairie </a:t>
                </a:r>
                <a:r>
                  <a:rPr lang="fr-FR" i="1" dirty="0" err="1"/>
                  <a:t>sympy</a:t>
                </a:r>
                <a:r>
                  <a:rPr lang="fr-FR" dirty="0"/>
                  <a:t> dans Python. Les développements ne seront donc pas présentés.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26B832D3-1AFE-0930-0EA6-79DF70C198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971179" cy="4964281"/>
              </a:xfrm>
              <a:blipFill>
                <a:blip r:embed="rId2"/>
                <a:stretch>
                  <a:fillRect l="-500" r="-445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8032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F47C-EA86-426C-9E31-441BF44D6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732BA4-6A05-72B7-DA5A-7F788E2CA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Vérification de code – MMS – Résultats :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C16CC2A3-774C-4A0E-8885-22E49233D8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354" y="1690688"/>
            <a:ext cx="8387292" cy="5032375"/>
          </a:xfrm>
          <a:prstGeom prst="rect">
            <a:avLst/>
          </a:prstGeom>
        </p:spPr>
      </p:pic>
      <p:grpSp>
        <p:nvGrpSpPr>
          <p:cNvPr id="10" name="Groupe 9">
            <a:extLst>
              <a:ext uri="{FF2B5EF4-FFF2-40B4-BE49-F238E27FC236}">
                <a16:creationId xmlns:a16="http://schemas.microsoft.com/office/drawing/2014/main" id="{0733C7CD-F52D-5C54-C2B4-44406B95C157}"/>
              </a:ext>
            </a:extLst>
          </p:cNvPr>
          <p:cNvGrpSpPr/>
          <p:nvPr/>
        </p:nvGrpSpPr>
        <p:grpSpPr>
          <a:xfrm>
            <a:off x="311285" y="5077838"/>
            <a:ext cx="3385226" cy="1448624"/>
            <a:chOff x="311285" y="5077838"/>
            <a:chExt cx="3385226" cy="14486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CB769F-2C76-74CB-5981-7343AE429DE5}"/>
                </a:ext>
              </a:extLst>
            </p:cNvPr>
            <p:cNvSpPr/>
            <p:nvPr/>
          </p:nvSpPr>
          <p:spPr>
            <a:xfrm>
              <a:off x="2373549" y="5077838"/>
              <a:ext cx="1322962" cy="398834"/>
            </a:xfrm>
            <a:prstGeom prst="rect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CEEDC86A-29FF-1B82-1333-62836274B581}"/>
                </a:ext>
              </a:extLst>
            </p:cNvPr>
            <p:cNvCxnSpPr>
              <a:stCxn id="6" idx="1"/>
            </p:cNvCxnSpPr>
            <p:nvPr/>
          </p:nvCxnSpPr>
          <p:spPr>
            <a:xfrm flipH="1">
              <a:off x="1322962" y="5277255"/>
              <a:ext cx="1050587" cy="3258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3AD781C3-D9E5-9A25-B650-D4D2A98A52FC}"/>
                </a:ext>
              </a:extLst>
            </p:cNvPr>
            <p:cNvSpPr txBox="1"/>
            <p:nvPr/>
          </p:nvSpPr>
          <p:spPr>
            <a:xfrm>
              <a:off x="311285" y="5603132"/>
              <a:ext cx="174125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Discrétisation spatiale prend le dessus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914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F719-4F8B-B0BF-A652-91D4A8E1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6CDAA5-638A-B4E8-6AFE-7C186CA43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Vérification de code – MMS – Résultats :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B8E9D59-8E3B-8479-E1C7-62F3A39A5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000" y="1690688"/>
            <a:ext cx="8388000" cy="5032800"/>
          </a:xfrm>
          <a:prstGeom prst="rect">
            <a:avLst/>
          </a:prstGeom>
        </p:spPr>
      </p:pic>
      <p:grpSp>
        <p:nvGrpSpPr>
          <p:cNvPr id="8" name="Groupe 7">
            <a:extLst>
              <a:ext uri="{FF2B5EF4-FFF2-40B4-BE49-F238E27FC236}">
                <a16:creationId xmlns:a16="http://schemas.microsoft.com/office/drawing/2014/main" id="{4C4CFFBA-3429-F2F4-7F11-D968906589E4}"/>
              </a:ext>
            </a:extLst>
          </p:cNvPr>
          <p:cNvGrpSpPr/>
          <p:nvPr/>
        </p:nvGrpSpPr>
        <p:grpSpPr>
          <a:xfrm>
            <a:off x="209387" y="3016251"/>
            <a:ext cx="3385226" cy="1725623"/>
            <a:chOff x="311285" y="5077838"/>
            <a:chExt cx="3385226" cy="172562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57A2EE6-1A05-1DB3-5DAA-1C28E8D82F63}"/>
                </a:ext>
              </a:extLst>
            </p:cNvPr>
            <p:cNvSpPr/>
            <p:nvPr/>
          </p:nvSpPr>
          <p:spPr>
            <a:xfrm>
              <a:off x="2373549" y="5077838"/>
              <a:ext cx="1322962" cy="398834"/>
            </a:xfrm>
            <a:prstGeom prst="rect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EE0D9918-4259-5FE5-2239-A38236148190}"/>
                </a:ext>
              </a:extLst>
            </p:cNvPr>
            <p:cNvCxnSpPr>
              <a:stCxn id="9" idx="1"/>
            </p:cNvCxnSpPr>
            <p:nvPr/>
          </p:nvCxnSpPr>
          <p:spPr>
            <a:xfrm flipH="1">
              <a:off x="1322962" y="5277255"/>
              <a:ext cx="1050587" cy="32587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FD1FA1AC-0CBB-05F3-2DE3-6DE994D15BDB}"/>
                </a:ext>
              </a:extLst>
            </p:cNvPr>
            <p:cNvSpPr txBox="1"/>
            <p:nvPr/>
          </p:nvSpPr>
          <p:spPr>
            <a:xfrm>
              <a:off x="311285" y="5603132"/>
              <a:ext cx="174125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Discrétisation temporelle prend le dessus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355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94C333-0F73-53F4-74F5-2F17FBB84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472" y="18255"/>
            <a:ext cx="10515600" cy="1325563"/>
          </a:xfrm>
        </p:spPr>
        <p:txBody>
          <a:bodyPr/>
          <a:lstStyle/>
          <a:p>
            <a:r>
              <a:rPr lang="fr-FR" dirty="0"/>
              <a:t>Evaluation de l’erreur numérique (GCI)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A8776E8C-A31D-1040-CF82-B10F1DDC45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216" y="1200912"/>
                <a:ext cx="10768584" cy="497605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fr-FR" dirty="0"/>
                  <a:t>Selon les 3 paramètres,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≤0,1</m:t>
                    </m:r>
                  </m:oMath>
                </a14:m>
                <a:endParaRPr lang="fr-FR" dirty="0"/>
              </a:p>
              <a:p>
                <a:pPr marL="0" indent="0">
                  <a:buNone/>
                </a:pPr>
                <a:r>
                  <a:rPr lang="fr-FR" dirty="0"/>
                  <a:t>Donc, pour le calcul du GCI,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fr-FR" b="0" dirty="0"/>
                  <a:t>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=1,25</m:t>
                    </m:r>
                  </m:oMath>
                </a14:m>
                <a:endParaRPr lang="fr-FR" b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b="0" dirty="0"/>
              </a:p>
              <a:p>
                <a:pPr marL="0" indent="0">
                  <a:buNone/>
                </a:pPr>
                <a:endParaRPr lang="fr-FR" dirty="0"/>
              </a:p>
              <a:p>
                <a:pPr marL="0" indent="0">
                  <a:buNone/>
                </a:pPr>
                <a:endParaRPr lang="fr-FR" b="0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A8776E8C-A31D-1040-CF82-B10F1DDC4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216" y="1200912"/>
                <a:ext cx="10768584" cy="4976051"/>
              </a:xfrm>
              <a:blipFill>
                <a:blip r:embed="rId2"/>
                <a:stretch>
                  <a:fillRect l="-11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28189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2773</TotalTime>
  <Words>1405</Words>
  <Application>Microsoft Office PowerPoint</Application>
  <PresentationFormat>Grand écran</PresentationFormat>
  <Paragraphs>167</Paragraphs>
  <Slides>15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Cambria</vt:lpstr>
      <vt:lpstr>Cambria Math</vt:lpstr>
      <vt:lpstr>Courier New</vt:lpstr>
      <vt:lpstr>Thème Office</vt:lpstr>
      <vt:lpstr>MEC8211 – Projet final Vérification et Validation d’un solveur de différences finies réalisé dans le cadre du cours GCH2545 – Modélisation numérique en ingénierie</vt:lpstr>
      <vt:lpstr>Contexte</vt:lpstr>
      <vt:lpstr>Modélisation mathématique</vt:lpstr>
      <vt:lpstr>Modélisation mathématique</vt:lpstr>
      <vt:lpstr>Discrétisation : Milieu – Schéma d’Euler Explicite </vt:lpstr>
      <vt:lpstr>Discrétisation : frontières - Schéma d’Euler Explicite </vt:lpstr>
      <vt:lpstr>Description du code :</vt:lpstr>
      <vt:lpstr>Calcul de l’ordre de convergence </vt:lpstr>
      <vt:lpstr>Calcul de l’ordre de convergence </vt:lpstr>
      <vt:lpstr>Vérification de code - Méthodologie :</vt:lpstr>
      <vt:lpstr>Vérification de code - Résultats :</vt:lpstr>
      <vt:lpstr>Vérification de code – MMS – Méthodologie </vt:lpstr>
      <vt:lpstr>Vérification de code – MMS – Résultats :</vt:lpstr>
      <vt:lpstr>Vérification de code – MMS – Résultats :</vt:lpstr>
      <vt:lpstr>Evaluation de l’erreur numérique (GCI)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Charlotte Sabrié</dc:creator>
  <cp:lastModifiedBy>Charlotte Sabrié</cp:lastModifiedBy>
  <cp:revision>43</cp:revision>
  <dcterms:created xsi:type="dcterms:W3CDTF">2026-02-07T22:10:41Z</dcterms:created>
  <dcterms:modified xsi:type="dcterms:W3CDTF">2026-04-11T20:04:04Z</dcterms:modified>
</cp:coreProperties>
</file>