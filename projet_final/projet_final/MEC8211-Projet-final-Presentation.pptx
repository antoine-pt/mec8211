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8" r:id="rId3"/>
    <p:sldId id="257" r:id="rId4"/>
    <p:sldId id="264" r:id="rId5"/>
    <p:sldId id="259" r:id="rId6"/>
    <p:sldId id="263" r:id="rId7"/>
    <p:sldId id="269" r:id="rId8"/>
    <p:sldId id="260" r:id="rId9"/>
    <p:sldId id="262" r:id="rId10"/>
    <p:sldId id="261" r:id="rId11"/>
    <p:sldId id="265" r:id="rId12"/>
    <p:sldId id="266" r:id="rId13"/>
    <p:sldId id="267" r:id="rId14"/>
    <p:sldId id="268" r:id="rId15"/>
    <p:sldId id="272" r:id="rId16"/>
    <p:sldId id="270" r:id="rId17"/>
    <p:sldId id="271" r:id="rId18"/>
    <p:sldId id="278" r:id="rId19"/>
    <p:sldId id="273" r:id="rId20"/>
    <p:sldId id="276" r:id="rId21"/>
    <p:sldId id="277" r:id="rId22"/>
    <p:sldId id="274" r:id="rId2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9BD5"/>
    <a:srgbClr val="6FAD46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 autoAdjust="0"/>
    <p:restoredTop sz="94782" autoAdjust="0"/>
  </p:normalViewPr>
  <p:slideViewPr>
    <p:cSldViewPr snapToGrid="0">
      <p:cViewPr varScale="1">
        <p:scale>
          <a:sx n="78" d="100"/>
          <a:sy n="78" d="100"/>
        </p:scale>
        <p:origin x="89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3869"/>
            <a:ext cx="9144000" cy="1425131"/>
          </a:xfrm>
        </p:spPr>
        <p:txBody>
          <a:bodyPr>
            <a:normAutofit fontScale="90000"/>
          </a:bodyPr>
          <a:lstStyle/>
          <a:p>
            <a:r>
              <a:rPr lang="fr-FR" noProof="0" dirty="0"/>
              <a:t>MEC8211 – Projet final</a:t>
            </a:r>
            <a:br>
              <a:rPr lang="fr-FR" noProof="0" dirty="0"/>
            </a:br>
            <a:r>
              <a:rPr lang="fr-FR" sz="4400" noProof="0" dirty="0"/>
              <a:t>Vérification et Validation d’un solveur de différences finies réalisé dans le cadre du cours GCH2545 – Modélisation numérique en ingénierie</a:t>
            </a:r>
            <a:endParaRPr lang="fr-FR" noProof="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/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/>
                  <a:t>Schéma d’Euler Explicite :</a:t>
                </a:r>
              </a:p>
              <a:p>
                <a:endParaRPr lang="fr-CA" dirty="0"/>
              </a:p>
              <a:p>
                <a:r>
                  <a:rPr lang="fr-CA" dirty="0"/>
                  <a:t>On vient évaluer l’état d’un système à un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 à l’aide de l’état de ce système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.</a:t>
                </a:r>
              </a:p>
              <a:p>
                <a:endParaRPr lang="fr-CA" dirty="0"/>
              </a:p>
              <a:p>
                <a:r>
                  <a:rPr lang="fr-CA" dirty="0"/>
                  <a:t>Méthode directe (pas de système à résoudre) et peu coûteuse.</a:t>
                </a:r>
              </a:p>
              <a:p>
                <a:endParaRPr lang="fr-CA" dirty="0"/>
              </a:p>
              <a:p>
                <a:r>
                  <a:rPr lang="fr-CA" dirty="0"/>
                  <a:t>Problème de stabilité : la méthode d’Euler explicite nécessite de respecter un critère de stabilité entre la discrétisation en temps et en espace :</a:t>
                </a:r>
              </a:p>
              <a:p>
                <a:endParaRPr lang="fr-CA" dirty="0"/>
              </a:p>
              <a:p>
                <a:endParaRPr lang="fr-CA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blipFill>
                <a:blip r:embed="rId3"/>
                <a:stretch>
                  <a:fillRect l="-1244" t="-538" r="-46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19BD9348-480B-8C6C-AE14-0653FA99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411" y="5073307"/>
            <a:ext cx="4258607" cy="91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0"/>
            <a:ext cx="11353800" cy="1325563"/>
          </a:xfrm>
        </p:spPr>
        <p:txBody>
          <a:bodyPr/>
          <a:lstStyle/>
          <a:p>
            <a:r>
              <a:rPr lang="fr-FR" dirty="0"/>
              <a:t>Discrétisation : Milieu – Schéma d’Euler Explicite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-30897"/>
            <a:ext cx="11945112" cy="1325563"/>
          </a:xfrm>
        </p:spPr>
        <p:txBody>
          <a:bodyPr/>
          <a:lstStyle/>
          <a:p>
            <a:r>
              <a:rPr lang="fr-FR" dirty="0"/>
              <a:t>Discrétisation : frontières - Schéma d’Euler Explicite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2072-1734-D724-EA81-E925334F5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688C-D97C-481D-A291-13AA5890C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main.py : fichier permettant d’exécuter le solveur pour une configuration prédéterminée.</a:t>
                </a:r>
              </a:p>
              <a:p>
                <a:r>
                  <a:rPr lang="fr-FR" dirty="0"/>
                  <a:t>fonctions.py : le cœur du code</a:t>
                </a:r>
              </a:p>
              <a:p>
                <a:pPr lvl="1"/>
                <a:r>
                  <a:rPr lang="fr-FR" dirty="0"/>
                  <a:t>Classe Paramètres : classe contenant la configuration du problème.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𝑀𝑀𝑆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CA" b="0" dirty="0"/>
                  <a:t>Fonction Position : permet de générer les matrices de position des points du domaine </a:t>
                </a:r>
                <a:r>
                  <a:rPr lang="fr-CA" dirty="0"/>
                  <a:t>(</a:t>
                </a:r>
                <a:r>
                  <a:rPr lang="fr-CA" b="1" dirty="0"/>
                  <a:t>R </a:t>
                </a:r>
                <a:r>
                  <a:rPr lang="fr-CA" dirty="0"/>
                  <a:t>et </a:t>
                </a:r>
                <a:r>
                  <a:rPr lang="fr-CA" b="1" dirty="0"/>
                  <a:t>M</a:t>
                </a:r>
                <a:r>
                  <a:rPr lang="fr-CA" dirty="0"/>
                  <a:t>).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CA" b="0" dirty="0"/>
              </a:p>
              <a:p>
                <a:pPr lvl="1"/>
                <a:r>
                  <a:rPr lang="fr-CA" dirty="0"/>
                  <a:t>Fonction Température : calcul l’état de la température au pas de temps suivant.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b="0" dirty="0"/>
                  <a:t>Génère un état intermédiaire composé de l’état au temps </a:t>
                </a:r>
                <a:r>
                  <a:rPr lang="fr-CA" b="0" i="1" dirty="0"/>
                  <a:t>t</a:t>
                </a:r>
                <a:r>
                  <a:rPr lang="fr-CA" b="0" dirty="0"/>
                  <a:t> au milieu et l’état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b="0" dirty="0"/>
                  <a:t> aux frontières.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dirty="0"/>
                  <a:t>Appelle la fonction Milieu.</a:t>
                </a:r>
                <a:endParaRPr lang="fr-CA" b="0" dirty="0"/>
              </a:p>
              <a:p>
                <a:pPr lvl="1"/>
                <a:r>
                  <a:rPr lang="fr-FR" dirty="0"/>
                  <a:t>Fonction Milieu : permet de calculer l’état de la température au pas de temps suivant à l’aide de l’état intermédiaire fourni par la fonction Température.</a:t>
                </a:r>
              </a:p>
              <a:p>
                <a:pPr lvl="1"/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Résolution du système : on itère sur le temps en appelant la fonction Température, jusqu’à ce qu’on ait atteint le temps final.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920" t="-2205" r="-6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7455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̃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ym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ye</m:t>
                      </m:r>
                    </m:oMath>
                  </m:oMathPara>
                </a14:m>
                <a:endParaRPr lang="fr-FR" sz="2000" baseline="-25000" dirty="0"/>
              </a:p>
              <a:p>
                <a:r>
                  <a:rPr lang="fr-FR" sz="2000" dirty="0"/>
                  <a:t>Problème : pas de valeur expérimentale (manque de précision dans la littérature)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Solution : passage par un code commercial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Modélisation du problème sous SolidWorks pour un métal AISI 4340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  <a:blipFill>
                <a:blip r:embed="rId2"/>
                <a:stretch>
                  <a:fillRect l="-7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2592D05-AA83-1726-AA8E-76EA7CE43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531" y="521767"/>
            <a:ext cx="3566469" cy="23471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00F7ED-BB1D-A4E9-64F3-B26EE6B57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7336" y="3704045"/>
            <a:ext cx="2997683" cy="29976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B50BF5-90A1-6B98-D3FC-7350FE4FB6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2846" y="3704044"/>
            <a:ext cx="3003714" cy="29976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A009A9-8BFC-1B9B-F910-FCE3DE41CC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4148806"/>
            <a:ext cx="3848433" cy="25529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A5E198-79E3-ED9B-9BBD-110FAE83354B}"/>
              </a:ext>
            </a:extLst>
          </p:cNvPr>
          <p:cNvSpPr txBox="1"/>
          <p:nvPr/>
        </p:nvSpPr>
        <p:spPr>
          <a:xfrm>
            <a:off x="1144371" y="3874770"/>
            <a:ext cx="2153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Température initiale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961D-8228-C8D9-8233-FE31E59D1AC9}"/>
              </a:ext>
            </a:extLst>
          </p:cNvPr>
          <p:cNvSpPr txBox="1"/>
          <p:nvPr/>
        </p:nvSpPr>
        <p:spPr>
          <a:xfrm>
            <a:off x="5955189" y="3427905"/>
            <a:ext cx="2299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Radiation : émissivité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C3AD7-E755-29F6-BDA8-03CAC197225B}"/>
              </a:ext>
            </a:extLst>
          </p:cNvPr>
          <p:cNvSpPr txBox="1"/>
          <p:nvPr/>
        </p:nvSpPr>
        <p:spPr>
          <a:xfrm>
            <a:off x="9912373" y="3427905"/>
            <a:ext cx="1327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Convection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5446CCA-7537-8071-3E29-39F463004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47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D1F89-F778-6C72-5829-94790C929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35" name="Content Placeholder 34">
            <a:extLst>
              <a:ext uri="{FF2B5EF4-FFF2-40B4-BE49-F238E27FC236}">
                <a16:creationId xmlns:a16="http://schemas.microsoft.com/office/drawing/2014/main" id="{B470CD96-A82E-E0EB-A3EC-1334F9C20B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70" y="4864715"/>
            <a:ext cx="764723" cy="153162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5C8037-549E-B941-FE25-FC8B83B3AE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81" y="4864715"/>
            <a:ext cx="770186" cy="153162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4695AF5-14C8-8B55-5D76-A5D9F788F6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287" y="4864715"/>
            <a:ext cx="775642" cy="153162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E5FD986-C902-A6A4-CE75-3F189ADA9EE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321" y="4864715"/>
            <a:ext cx="771257" cy="15316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4EFAB5C-E687-B58A-EE9E-79B9093375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810" y="4864715"/>
            <a:ext cx="764717" cy="153162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72B7175-DEBB-3BDD-18D7-21B44DE17A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095" y="4864715"/>
            <a:ext cx="752530" cy="15316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FEAD094-7ADB-7B93-230A-513191FA8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543" y="4864715"/>
            <a:ext cx="773458" cy="153162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0245B62-8CC7-E885-49A0-9C13DA3242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093" y="4864715"/>
            <a:ext cx="774537" cy="153162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1A5B0D7-2859-21E8-101F-3B1B9D1253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58" y="4864715"/>
            <a:ext cx="770161" cy="1531620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C9A4AC-38ED-A0E8-3543-95C8B64B194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60020" y="6533495"/>
            <a:ext cx="73380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/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S’assurer de la qualité des résultats de SolidWorks </a:t>
                </a:r>
                <a:r>
                  <a:rPr lang="fr-FR" dirty="0">
                    <a:sym typeface="Wingdings" panose="05000000000000000000" pitchFamily="2" charset="2"/>
                  </a:rPr>
                  <a:t> analyse de convergence (temps et espace)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Δt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Te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où Te désigne la taille des éléments (cm)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le pas de temps (s)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Analyse de convergence réalisé avec les paramètres :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fin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100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2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Condition : obtenir convergence des valeurs finales + symétrie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Obtention de résultat fiable pour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6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Te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3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blipFill>
                <a:blip r:embed="rId11"/>
                <a:stretch>
                  <a:fillRect l="-343" t="-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D1B8D06E-603C-C267-3757-24818DA1220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98081" y="6396335"/>
            <a:ext cx="77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Te (cm)</a:t>
            </a:r>
            <a:endParaRPr lang="en-US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7C65A6-DFDD-665B-F68B-741DFE0664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5608" y="6550223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1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D5B6F5-F7F2-D061-02CE-DBF9E04F57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38695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0.2</a:t>
            </a:r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2BD58C-6402-B763-16DB-A732584E4F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55159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0.6</a:t>
            </a:r>
            <a:endParaRPr lang="en-US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63B385C4-FDC5-27BD-D21F-1496ACB0F44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2504" y="3146976"/>
            <a:ext cx="4330546" cy="3247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502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98810-4DBB-A150-02D8-A72B03EB7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B7CBB9-6184-B33E-4584-B7B75F691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65125"/>
            <a:ext cx="4060801" cy="30456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/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dirty="0"/>
                  <a:t>Comparaison des champs de température pour </a:t>
                </a:r>
                <a:r>
                  <a:rPr lang="fr-FR" sz="2400" dirty="0" err="1"/>
                  <a:t>t</a:t>
                </a:r>
                <a:r>
                  <a:rPr lang="fr-FR" sz="2400" baseline="-25000" dirty="0" err="1"/>
                  <a:t>fin</a:t>
                </a:r>
                <a:r>
                  <a:rPr lang="fr-FR" sz="2400" baseline="-25000" dirty="0"/>
                  <a:t> </a:t>
                </a:r>
                <a:r>
                  <a:rPr lang="fr-FR" sz="2400" dirty="0"/>
                  <a:t>= 600s</a:t>
                </a:r>
              </a:p>
              <a:p>
                <a:endParaRPr lang="fr-FR" sz="2400" dirty="0"/>
              </a:p>
              <a:p>
                <a:endParaRPr lang="fr-F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sz="24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fr-FR" sz="2400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blipFill>
                <a:blip r:embed="rId3"/>
                <a:stretch>
                  <a:fillRect l="-2027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/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dirty="0">
                    <a:latin typeface="Cambria Math" panose="02040503050406030204" pitchFamily="18" charset="0"/>
                  </a:rPr>
                  <a:t>Paramètres utilisés : </a:t>
                </a: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7850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525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m:rPr>
                        <m:nor/>
                      </m:rP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W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𝑖𝑛𝑖𝑡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1118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𝑎𝑚𝑏𝑖𝑎𝑛𝑡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298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44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blipFill>
                <a:blip r:embed="rId4"/>
                <a:stretch>
                  <a:fillRect l="-2200" t="-1583" b="-34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44402B3-46AF-8558-B0C5-725A3070DC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8017" y="3971427"/>
            <a:ext cx="899238" cy="27434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/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i="0" dirty="0">
                    <a:latin typeface="Cambria Math" panose="02040503050406030204" pitchFamily="18" charset="0"/>
                  </a:rPr>
                  <a:t>Modèle python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𝑛𝑧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dt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025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r>
                  <a:rPr lang="fr-FR" b="0" i="0" dirty="0">
                    <a:latin typeface="Cambria Math" panose="02040503050406030204" pitchFamily="18" charset="0"/>
                  </a:rPr>
                  <a:t>Simulation pour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Te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cm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blipFill>
                <a:blip r:embed="rId6"/>
                <a:stretch>
                  <a:fillRect l="-2857" t="-2439" r="-25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766F6BA7-FB40-F5A0-46A1-686F83E064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971427"/>
            <a:ext cx="3035833" cy="2694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753BC-C2A4-D20F-34BD-5542121EF1D7}"/>
              </a:ext>
            </a:extLst>
          </p:cNvPr>
          <p:cNvSpPr txBox="1"/>
          <p:nvPr/>
        </p:nvSpPr>
        <p:spPr>
          <a:xfrm>
            <a:off x="94745" y="5996226"/>
            <a:ext cx="48812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</a:t>
            </a:r>
            <a:r>
              <a:rPr lang="en-US" sz="1600" dirty="0" err="1"/>
              <a:t>Calculé</a:t>
            </a:r>
            <a:r>
              <a:rPr lang="en-US" sz="1600" dirty="0"/>
              <a:t> pour 4 </a:t>
            </a:r>
            <a:r>
              <a:rPr lang="en-US" sz="1600" dirty="0" err="1"/>
              <a:t>valeurs</a:t>
            </a:r>
            <a:r>
              <a:rPr lang="en-US" sz="1600" dirty="0"/>
              <a:t> de temperatures et pour </a:t>
            </a:r>
            <a:r>
              <a:rPr lang="en-US" sz="1600" dirty="0" err="1"/>
              <a:t>une</a:t>
            </a:r>
            <a:r>
              <a:rPr lang="en-US" sz="1600" dirty="0"/>
              <a:t> </a:t>
            </a:r>
            <a:r>
              <a:rPr lang="en-US" sz="1600" dirty="0" err="1"/>
              <a:t>seule</a:t>
            </a:r>
            <a:r>
              <a:rPr lang="en-US" sz="1600" dirty="0"/>
              <a:t> “</a:t>
            </a:r>
            <a:r>
              <a:rPr lang="en-US" sz="1600" dirty="0" err="1"/>
              <a:t>expérience</a:t>
            </a:r>
            <a:r>
              <a:rPr lang="en-US" sz="1600" dirty="0"/>
              <a:t>”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514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FF1174-F757-BC98-CD45-EA7CDE51F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numérique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Discrétisation selon 3 dimensions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𝐺𝐶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̂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fr-FR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0.1</m:t>
                    </m:r>
                  </m:oMath>
                </a14:m>
                <a:r>
                  <a:rPr lang="fr-FR" dirty="0"/>
                  <a:t> </a:t>
                </a:r>
                <a:r>
                  <a:rPr lang="fr-FR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=1.25</m:t>
                    </m:r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SRQ : valeurs de température à t=2h</a:t>
                </a:r>
              </a:p>
              <a:p>
                <a:endParaRPr lang="fr-FR" dirty="0"/>
              </a:p>
              <a:p>
                <a:pPr>
                  <a:buFont typeface="Wingdings" panose="05000000000000000000" pitchFamily="2" charset="2"/>
                  <a:buChar char="à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1097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×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10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−3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𝐾</m:t>
                    </m:r>
                  </m:oMath>
                </a14:m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dirty="0"/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  <a:blipFill>
                <a:blip r:embed="rId2"/>
                <a:stretch>
                  <a:fillRect l="-1665" t="-30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873271AC-9B6F-EBC6-6CB6-88C22C841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7" y="2068513"/>
            <a:ext cx="4649965" cy="16115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4,9684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7,8557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2,0155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1105640"/>
                  </p:ext>
                </p:extLst>
              </p:nvPr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106349" r="-842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206349" r="-842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306349" r="-842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09223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439F-29E7-5985-9D89-DC076CF9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expérimentale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fr-FR" dirty="0"/>
                  <a:t>Erreur épistémique d’un thermocouple classique : ±1.5°C*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σ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</a:rPr>
                      <m:t>tc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= 0.87 °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dirty="0"/>
                  <a:t> </a:t>
                </a:r>
              </a:p>
              <a:p>
                <a:pPr marL="0" indent="0">
                  <a:buNone/>
                </a:pPr>
                <a:r>
                  <a:rPr lang="fr-FR" dirty="0"/>
                  <a:t> car distribution uniforme dans l’intervalle [-1.5,1.5]°C.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fr-FR" b="0" i="1" baseline="-2500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m:rPr>
                              <m:sty m:val="p"/>
                            </m:rPr>
                            <a:rPr lang="fr-FR" b="0" i="1" baseline="-25000" smtClean="0">
                              <a:latin typeface="Cambria Math" panose="02040503050406030204" pitchFamily="18" charset="0"/>
                            </a:rPr>
                            <m:t>tc</m:t>
                          </m:r>
                          <m:r>
                            <a:rPr lang="fr-FR" b="0" i="1" baseline="30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i="1">
                          <a:latin typeface="Cambria Math" panose="02040503050406030204" pitchFamily="18" charset="0"/>
                        </a:rPr>
                        <m:t>σ</m:t>
                      </m:r>
                      <m:r>
                        <m:rPr>
                          <m:sty m:val="p"/>
                        </m:rPr>
                        <a:rPr lang="fr-FR" i="1" baseline="-25000">
                          <a:latin typeface="Cambria Math" panose="02040503050406030204" pitchFamily="18" charset="0"/>
                        </a:rPr>
                        <m:t>tc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=0.87°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>
                    <a:highlight>
                      <a:srgbClr val="5B9BD5"/>
                    </a:highlight>
                  </a:rPr>
                  <a:t>On considère une incertitude sur la distribution des mesures par manque d’informations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  <a:blipFill>
                <a:blip r:embed="rId2"/>
                <a:stretch>
                  <a:fillRect l="-928" t="-4272" b="-2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CF3D44E-FDBD-44F9-D894-E056CB9F80B0}"/>
              </a:ext>
            </a:extLst>
          </p:cNvPr>
          <p:cNvSpPr txBox="1"/>
          <p:nvPr/>
        </p:nvSpPr>
        <p:spPr>
          <a:xfrm>
            <a:off x="838200" y="6126480"/>
            <a:ext cx="1123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*Source : tcsa.fr/thermocouple/type-k-thermocouple.html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66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fr-FR" dirty="0"/>
                  <a:t>Conductivité thermique suit une loi normale</a:t>
                </a:r>
              </a:p>
              <a:p>
                <a:pPr marL="0" indent="0" algn="ctr">
                  <a:buNone/>
                </a:pP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𝒩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42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75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Emissivité</a:t>
                </a:r>
                <a:r>
                  <a:rPr lang="en-US" dirty="0"/>
                  <a:t> suit </a:t>
                </a:r>
                <a:r>
                  <a:rPr lang="en-US" dirty="0" err="1"/>
                  <a:t>une</a:t>
                </a:r>
                <a:r>
                  <a:rPr lang="en-US" dirty="0"/>
                  <a:t> </a:t>
                </a:r>
                <a:r>
                  <a:rPr lang="en-US" dirty="0" err="1"/>
                  <a:t>loi</a:t>
                </a:r>
                <a:r>
                  <a:rPr lang="en-US" dirty="0"/>
                  <a:t> </a:t>
                </a:r>
                <a:r>
                  <a:rPr lang="en-US" dirty="0" err="1"/>
                  <a:t>normale</a:t>
                </a:r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525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r>
                  <a:rPr lang="fr-FR" dirty="0"/>
                  <a:t>Par la méthode de Monte Carlo en travaillant sur la température moyenne de surface :</a:t>
                </a:r>
                <a:endParaRPr lang="fr-FR" b="0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  <a:blipFill>
                <a:blip r:embed="rId3"/>
                <a:stretch>
                  <a:fillRect l="-754" t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ED20CE4-3C39-9D44-374C-AC20D7FBAB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245"/>
          <a:stretch>
            <a:fillRect/>
          </a:stretch>
        </p:blipFill>
        <p:spPr>
          <a:xfrm>
            <a:off x="667378" y="3242213"/>
            <a:ext cx="3522785" cy="34941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/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44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91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sz="2200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r>
                  <a:rPr lang="en-US" sz="2200" dirty="0"/>
                  <a:t>Effort à faire sur </a:t>
                </a:r>
                <a:r>
                  <a:rPr lang="en-US" sz="2200" dirty="0" err="1"/>
                  <a:t>l’incertitude</a:t>
                </a:r>
                <a:r>
                  <a:rPr lang="en-US" sz="2200" dirty="0"/>
                  <a:t>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2200" b="0" i="1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sz="22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blipFill>
                <a:blip r:embed="rId5"/>
                <a:stretch>
                  <a:fillRect l="-1328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E6568F1A-BFDC-4D6C-F765-4189481585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15" t="8282"/>
          <a:stretch>
            <a:fillRect/>
          </a:stretch>
        </p:blipFill>
        <p:spPr>
          <a:xfrm>
            <a:off x="5652467" y="4400835"/>
            <a:ext cx="5120148" cy="226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9578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15578-24AA-1A1D-99B9-0FD28C04F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erreur du modèle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5122"/>
                <a:ext cx="105156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en-US" dirty="0" err="1"/>
                  <a:t>Où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87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44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91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1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×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10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3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)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²</m:t>
                        </m:r>
                      </m:e>
                    </m:rad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44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92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  </a:t>
                </a:r>
              </a:p>
              <a:p>
                <a:r>
                  <a:rPr lang="en-US" dirty="0"/>
                  <a:t>k =2 pour 95.4% de </a:t>
                </a:r>
                <a:r>
                  <a:rPr lang="en-US" dirty="0" err="1"/>
                  <a:t>confiance</a:t>
                </a:r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fr-FR" b="1" i="0" smtClean="0">
                        <a:latin typeface="Cambria Math" panose="02040503050406030204" pitchFamily="18" charset="0"/>
                      </a:rPr>
                      <m:t>-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𝟕𝟖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𝟎𝟒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𝐊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fr-FR" b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0">
                            <a:latin typeface="Cambria Math" panose="02040503050406030204" pitchFamily="18" charset="0"/>
                          </a:rPr>
                          <m:t>𝛅</m:t>
                        </m:r>
                      </m:e>
                      <m:sub>
                        <m:r>
                          <a:rPr lang="fr-FR" b="1" i="0">
                            <a:latin typeface="Cambria Math" panose="02040503050406030204" pitchFamily="18" charset="0"/>
                          </a:rPr>
                          <m:t>𝐦𝐨𝐝𝐞𝐥</m:t>
                        </m:r>
                      </m:sub>
                    </m:sSub>
                    <m:r>
                      <a:rPr lang="fr-FR" b="1" i="0" smtClean="0">
                        <a:latin typeface="Cambria Math" panose="02040503050406030204" pitchFamily="18" charset="0"/>
                      </a:rPr>
                      <m:t> &lt;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𝟏𝟎𝟏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𝟔𝟒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𝐊</m:t>
                    </m:r>
                  </m:oMath>
                </a14:m>
                <a:r>
                  <a:rPr lang="en-US" b="1" dirty="0"/>
                  <a:t> 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Amélioration</a:t>
                </a:r>
                <a:r>
                  <a:rPr lang="en-US" b="1" dirty="0"/>
                  <a:t> sur </a:t>
                </a:r>
                <a:r>
                  <a:rPr lang="en-US" b="1" dirty="0" err="1"/>
                  <a:t>l’incertitude</a:t>
                </a:r>
                <a:r>
                  <a:rPr lang="en-US" b="1" dirty="0"/>
                  <a:t> de </a:t>
                </a:r>
                <a:r>
                  <a:rPr lang="en-US" b="1" dirty="0" err="1"/>
                  <a:t>l’émissivité</a:t>
                </a:r>
                <a:r>
                  <a:rPr lang="en-US" b="1" dirty="0"/>
                  <a:t> </a:t>
                </a:r>
                <a:r>
                  <a:rPr lang="en-US" b="1" dirty="0" err="1"/>
                  <a:t>nécessaire</a:t>
                </a:r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5122"/>
                <a:ext cx="10515600" cy="4351338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06A440F-4525-4755-9716-F3DDCC775AB6}"/>
              </a:ext>
            </a:extLst>
          </p:cNvPr>
          <p:cNvSpPr/>
          <p:nvPr/>
        </p:nvSpPr>
        <p:spPr>
          <a:xfrm>
            <a:off x="838200" y="3932141"/>
            <a:ext cx="5312780" cy="4882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00158C-C960-342C-B0C7-9E64CB5F52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38" b="2376"/>
          <a:stretch>
            <a:fillRect/>
          </a:stretch>
        </p:blipFill>
        <p:spPr>
          <a:xfrm>
            <a:off x="6351639" y="3893193"/>
            <a:ext cx="5002161" cy="566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0331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1FAF8-D45E-B846-39C4-A2BDDFE60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Amélioration possible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Rajouter une erreur d’expérimentation à partir de la littérature d’une expérience similaire</a:t>
                </a:r>
                <a:r>
                  <a:rPr lang="fr-FR" dirty="0">
                    <a:sym typeface="Wingdings" panose="05000000000000000000" pitchFamily="2" charset="2"/>
                  </a:rPr>
                  <a:t> estimation plus concrète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fr-FR" i="1" baseline="-25000">
                        <a:latin typeface="Cambria Math" panose="02040503050406030204" pitchFamily="18" charset="0"/>
                      </a:rPr>
                      <m:t>D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dirty="0"/>
              </a:p>
              <a:p>
                <a:r>
                  <a:rPr lang="fr-FR" dirty="0"/>
                  <a:t>Affiner le pas de temps et d’espace pour la simulation SolidWorks</a:t>
                </a:r>
                <a:r>
                  <a:rPr lang="fr-FR" dirty="0">
                    <a:sym typeface="Wingdings" panose="05000000000000000000" pitchFamily="2" charset="2"/>
                  </a:rPr>
                  <a:t> précision accrue sur l’erreur de simulation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Calcul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𝐿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avec plus de points et </a:t>
                </a:r>
                <a:r>
                  <a:rPr lang="en-US" dirty="0" err="1"/>
                  <a:t>plusieurs</a:t>
                </a:r>
                <a:r>
                  <a:rPr lang="en-US" dirty="0"/>
                  <a:t> experiences pour </a:t>
                </a:r>
                <a:r>
                  <a:rPr lang="en-US" dirty="0" err="1"/>
                  <a:t>avoir</a:t>
                </a:r>
                <a:r>
                  <a:rPr lang="en-US" dirty="0"/>
                  <a:t> un </a:t>
                </a:r>
                <a:r>
                  <a:rPr lang="en-US" dirty="0" err="1"/>
                  <a:t>intervalle</a:t>
                </a:r>
                <a:r>
                  <a:rPr lang="en-US" dirty="0"/>
                  <a:t> de </a:t>
                </a:r>
                <a:r>
                  <a:rPr lang="en-US" dirty="0" err="1"/>
                  <a:t>confiance</a:t>
                </a:r>
                <a:r>
                  <a:rPr lang="en-US" dirty="0"/>
                  <a:t> sur 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6086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3188</TotalTime>
  <Words>1886</Words>
  <Application>Microsoft Office PowerPoint</Application>
  <PresentationFormat>Widescreen</PresentationFormat>
  <Paragraphs>251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Aptos</vt:lpstr>
      <vt:lpstr>Aptos Display</vt:lpstr>
      <vt:lpstr>Arial</vt:lpstr>
      <vt:lpstr>Cambria</vt:lpstr>
      <vt:lpstr>Cambria Math</vt:lpstr>
      <vt:lpstr>Courier New</vt:lpstr>
      <vt:lpstr>Wingdings</vt:lpstr>
      <vt:lpstr>Thème Office</vt:lpstr>
      <vt:lpstr>MEC8211 – Projet final Vérification et Validation d’un solveur de différences finies réalisé dans le cadre du cours GCH2545 – Modélisation numérique en ingénierie</vt:lpstr>
      <vt:lpstr>Contexte</vt:lpstr>
      <vt:lpstr>Modélisation mathématique</vt:lpstr>
      <vt:lpstr>Modélisation mathématique</vt:lpstr>
      <vt:lpstr>Discrétisation : Milieu – Schéma d’Euler Explicite </vt:lpstr>
      <vt:lpstr>Discrétisation : frontières - Schéma d’Euler Explicite </vt:lpstr>
      <vt:lpstr>Description du code :</vt:lpstr>
      <vt:lpstr>Calcul de l’ordre de convergence </vt:lpstr>
      <vt:lpstr>Calcul de l’ordre de convergence 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  <vt:lpstr>Validation - erreur simulation :</vt:lpstr>
      <vt:lpstr>Validation - erreur simulation :</vt:lpstr>
      <vt:lpstr>Validation - erreur simulation :</vt:lpstr>
      <vt:lpstr>Validation – Incertitude numérique </vt:lpstr>
      <vt:lpstr>Validation – incertitude expérimentale</vt:lpstr>
      <vt:lpstr>Validation – incertitude u_input</vt:lpstr>
      <vt:lpstr>Validation – erreur du modèle </vt:lpstr>
      <vt:lpstr>Amélioration possible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Loïc Vignaud</cp:lastModifiedBy>
  <cp:revision>59</cp:revision>
  <dcterms:created xsi:type="dcterms:W3CDTF">2026-02-07T22:10:41Z</dcterms:created>
  <dcterms:modified xsi:type="dcterms:W3CDTF">2026-04-12T22:38:36Z</dcterms:modified>
</cp:coreProperties>
</file>