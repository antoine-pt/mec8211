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57" r:id="rId4"/>
    <p:sldId id="264" r:id="rId5"/>
    <p:sldId id="259" r:id="rId6"/>
    <p:sldId id="263" r:id="rId7"/>
    <p:sldId id="260" r:id="rId8"/>
    <p:sldId id="262" r:id="rId9"/>
    <p:sldId id="261" r:id="rId1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E9E9"/>
    <a:srgbClr val="CBCBCB"/>
    <a:srgbClr val="F4EEEC"/>
    <a:srgbClr val="F7EFED"/>
    <a:srgbClr val="F8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2" autoAdjust="0"/>
    <p:restoredTop sz="94782" autoAdjust="0"/>
  </p:normalViewPr>
  <p:slideViewPr>
    <p:cSldViewPr snapToGrid="0">
      <p:cViewPr varScale="1">
        <p:scale>
          <a:sx n="105" d="100"/>
          <a:sy n="105" d="100"/>
        </p:scale>
        <p:origin x="14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0B2023-C595-443A-8D8C-AB9DF5A28D48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05186-0725-443C-BC59-E521425E81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1166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98252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07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5BB4-E065-36E2-E641-90C9FFDD7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2410028-CE57-DC42-95CE-01AA00C9D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C76DD03-F160-73AB-38E7-83F367B7A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36A260-3B6F-7D51-9372-EBA998234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422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9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26463"/>
            <a:ext cx="9144000" cy="1425131"/>
          </a:xfrm>
        </p:spPr>
        <p:txBody>
          <a:bodyPr/>
          <a:lstStyle/>
          <a:p>
            <a:r>
              <a:rPr lang="fr-FR" noProof="0" dirty="0"/>
              <a:t>MEC8211 – Projet final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CC2017-DAAB-E539-D03A-0EAF47A6C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B38F4B-B286-AB7C-64B1-7E3DB7D1D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243584"/>
            <a:ext cx="5644896" cy="524865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Vitesse de refroidissement influence les propriétés </a:t>
            </a:r>
          </a:p>
          <a:p>
            <a:pPr>
              <a:buFontTx/>
              <a:buChar char="-"/>
            </a:pPr>
            <a:r>
              <a:rPr lang="fr-FR" dirty="0"/>
              <a:t>Mécanique</a:t>
            </a:r>
          </a:p>
          <a:p>
            <a:pPr>
              <a:buFontTx/>
              <a:buChar char="-"/>
            </a:pPr>
            <a:r>
              <a:rPr lang="fr-FR" dirty="0"/>
              <a:t>Électrique</a:t>
            </a:r>
          </a:p>
          <a:p>
            <a:pPr>
              <a:buFontTx/>
              <a:buChar char="-"/>
            </a:pPr>
            <a:r>
              <a:rPr lang="fr-FR" dirty="0"/>
              <a:t>Thermique </a:t>
            </a:r>
          </a:p>
          <a:p>
            <a:pPr>
              <a:buFontTx/>
              <a:buChar char="-"/>
            </a:pPr>
            <a:endParaRPr lang="fr-FR" dirty="0"/>
          </a:p>
          <a:p>
            <a:r>
              <a:rPr lang="fr-FR" dirty="0"/>
              <a:t>Modéliser le refroidissement</a:t>
            </a:r>
          </a:p>
          <a:p>
            <a:pPr>
              <a:buFontTx/>
              <a:buChar char="-"/>
            </a:pPr>
            <a:r>
              <a:rPr lang="fr-FR" dirty="0"/>
              <a:t>Obtenir la vitesse de refroidissement</a:t>
            </a:r>
          </a:p>
          <a:p>
            <a:pPr>
              <a:buFontTx/>
              <a:buChar char="-"/>
            </a:pPr>
            <a:r>
              <a:rPr lang="fr-FR" dirty="0"/>
              <a:t>Connaître la composition du matériau final </a:t>
            </a:r>
          </a:p>
          <a:p>
            <a:pPr>
              <a:buFontTx/>
              <a:buChar char="-"/>
            </a:pPr>
            <a:r>
              <a:rPr lang="fr-FR" dirty="0"/>
              <a:t>Déduire ses propriétés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0176CA-BFB8-62B8-8124-3190FD696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883433"/>
            <a:ext cx="4839119" cy="560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0268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7DC965-0D72-AE8E-8F68-A22FDD3D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/>
              </a:bodyPr>
              <a:lstStyle/>
              <a:p>
                <a:pPr fontAlgn="base"/>
                <a:r>
                  <a:rPr lang="fr-FR" dirty="0"/>
                  <a:t>Refroidissement à l'air ambient d'un lingot métallique cylindrique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Température initiale uniforme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Modélisation mathématique :</a:t>
                </a:r>
              </a:p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Perte thermique surfacique </a:t>
                </a:r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  <m:r>
                                <m:rPr>
                                  <m:nor/>
                                </m:rPr>
                                <a:rPr lang="fr-FR" dirty="0"/>
                                <m:t> </m:t>
                              </m:r>
                            </m:sub>
                          </m:sSub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ϵσ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  <a:p>
                <a:pPr marL="228600" marR="0" lvl="0" indent="-228600" algn="l" defTabSz="914400" rtl="0" eaLnBrk="1" fontAlgn="base" latinLnBrk="0" hangingPunct="1">
                  <a:lnSpc>
                    <a:spcPct val="90000"/>
                  </a:lnSpc>
                  <a:spcBef>
                    <a:spcPts val="24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fr-FR" dirty="0">
                    <a:solidFill>
                      <a:prstClr val="black"/>
                    </a:solidFill>
                    <a:latin typeface="Aptos" panose="02110004020202020204"/>
                  </a:rPr>
                  <a:t>Symétrie par rotation autour de l’axe central </a:t>
                </a: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d>
                        <m:dPr>
                          <m:ctrl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𝑧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𝑧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fr-FR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indent="0" algn="just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566" t="-1934" b="-79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e image contenant croquis, dessin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315D7CC8-D87C-AF7A-933C-0B5D33649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9114" y="232980"/>
            <a:ext cx="2171199" cy="302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4134258-3467-C98F-64B0-DF4243CE6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52" y="3798791"/>
            <a:ext cx="3533376" cy="223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860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694C9-7099-3A84-9A6D-5B2A0879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EC12AB-5894-7E9F-0510-EB109BFCA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cartésien, on a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cylindrique, on retrouve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CA">
                          <a:latin typeface="Cambria Math" panose="02040503050406030204" pitchFamily="18" charset="0"/>
                        </a:rPr>
                        <m:t>r</m:t>
                      </m:r>
                      <m:func>
                        <m:funcPr>
                          <m:ctrlPr>
                            <a:rPr lang="fr-CA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A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fr-CA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A" i="1">
                          <a:latin typeface="Cambria Math" panose="02040503050406030204" pitchFamily="18" charset="0"/>
                        </a:rPr>
                        <m:t>𝑒𝑡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1800"/>
                  </a:spcBef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342" t="-227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8880BBA-A9C5-15DA-64A8-34FD76C6B27D}"/>
              </a:ext>
            </a:extLst>
          </p:cNvPr>
          <p:cNvSpPr/>
          <p:nvPr/>
        </p:nvSpPr>
        <p:spPr>
          <a:xfrm>
            <a:off x="2606040" y="5321808"/>
            <a:ext cx="4828032" cy="1325563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80743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003BD6-209D-95E8-105B-EEC2D5017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fr-FR" dirty="0"/>
              <a:t>Discrétisation : Milieu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dirty="0"/>
                  <a:t>Hors des frontières (r-1, r+1, z-1, z+1 sont définis)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</m:oMath>
                </a14:m>
                <a:r>
                  <a:rPr lang="fr-FR" dirty="0"/>
                  <a:t> 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1 </a:t>
                </a:r>
                <a:endParaRPr lang="fr-FR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fr-FR" dirty="0"/>
                  <a:t>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  <a:endParaRPr lang="fr-FR" dirty="0"/>
              </a:p>
              <a:p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Δt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</a:rPr>
                            <m:t>ρ</m:t>
                          </m:r>
                          <m:sSub>
                            <m:sSub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CA" sz="2400" b="0" i="0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a:rPr lang="fr-F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sz="240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  <a:blipFill>
                <a:blip r:embed="rId2"/>
                <a:stretch>
                  <a:fillRect l="-1073" t="-20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/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fr-FR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CA" sz="2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fr-FR" sz="2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6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/>
                          <m:t> </m:t>
                        </m:r>
                      </m:den>
                    </m:f>
                  </m:oMath>
                </a14:m>
                <a:r>
                  <a:rPr lang="fr-FR" sz="2600" dirty="0"/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</p:txBody>
          </p:sp>
        </mc:Choice>
        <mc:Fallback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blipFill>
                <a:blip r:embed="rId3"/>
                <a:stretch>
                  <a:fillRect b="-211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5">
            <a:extLst>
              <a:ext uri="{FF2B5EF4-FFF2-40B4-BE49-F238E27FC236}">
                <a16:creationId xmlns:a16="http://schemas.microsoft.com/office/drawing/2014/main" id="{669E06E8-CC02-FA18-F417-BCEB210B1102}"/>
              </a:ext>
            </a:extLst>
          </p:cNvPr>
          <p:cNvSpPr/>
          <p:nvPr/>
        </p:nvSpPr>
        <p:spPr>
          <a:xfrm rot="241833" flipH="1">
            <a:off x="2857585" y="4094814"/>
            <a:ext cx="2152095" cy="1509192"/>
          </a:xfrm>
          <a:prstGeom prst="arc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8496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C5C6ED-CEB0-DF95-C2D4-5220839D0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Discrétisation : frontières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92A9C98-CDF3-02FE-6E21-30036838C3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00882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B0DE8D-01F9-F51A-DBBD-386711262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Développement de Taylor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i="0" dirty="0">
                    <a:latin typeface="Cambria Math" panose="02040503050406030204" pitchFamily="18" charset="0"/>
                  </a:rPr>
                  <a:t>Ordre 1 en temps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fr-F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b="0" i="0" dirty="0">
                    <a:latin typeface="Cambria Math" panose="02040503050406030204" pitchFamily="18" charset="0"/>
                  </a:rPr>
                  <a:t>)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dirty="0"/>
                  <a:t>	         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  <a:blipFill>
                <a:blip r:embed="rId3"/>
                <a:stretch>
                  <a:fillRect l="-1217" t="-188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024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C4141-85F8-8321-5A47-F7279370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7B92C8-7E5E-8CDA-7607-D5BFCF6EA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sz="2400" b="0" i="0" dirty="0">
                    <a:latin typeface="Cambria Math" panose="02040503050406030204" pitchFamily="18" charset="0"/>
                  </a:rPr>
                  <a:t>Ordre 2 en espace (R et z)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24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>
                    <a:solidFill>
                      <a:srgbClr val="FF0000"/>
                    </a:solidFill>
                  </a:rPr>
                  <a:t>		          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</m:oMath>
                </a14:m>
                <a:r>
                  <a:rPr lang="fr-FR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fr-FR" sz="2400" dirty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fr-FR" sz="2400" b="0" i="0" dirty="0">
                    <a:latin typeface="Cambria Math" panose="02040503050406030204" pitchFamily="18" charset="0"/>
                  </a:rPr>
                  <a:t>)</a:t>
                </a:r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/>
                  <a:t>	          	  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i="0" dirty="0">
                  <a:latin typeface="Cambria Math" panose="02040503050406030204" pitchFamily="18" charset="0"/>
                </a:endParaRPr>
              </a:p>
              <a:p>
                <a:endParaRPr lang="fr-FR" sz="24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400"/>
                          <m:t> 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p>
                                <m: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400" dirty="0"/>
              </a:p>
              <a:p>
                <a:pPr marL="0" indent="0">
                  <a:buNone/>
                </a:pPr>
                <a:r>
                  <a:rPr lang="fr-FR" sz="2400" b="0" dirty="0"/>
                  <a:t> 			</a:t>
                </a:r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000" b="0" dirty="0"/>
              </a:p>
              <a:p>
                <a:pPr marL="0" indent="0">
                  <a:buNone/>
                </a:pPr>
                <a:r>
                  <a:rPr lang="fr-FR" sz="2000" dirty="0"/>
                  <a:t>			      </a:t>
                </a:r>
                <a14:m>
                  <m:oMath xmlns:m="http://schemas.openxmlformats.org/officeDocument/2006/math"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fr-FR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b="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fr-FR" sz="2400" dirty="0"/>
                  <a:t>			 </a:t>
                </a:r>
                <a14:m>
                  <m:oMath xmlns:m="http://schemas.openxmlformats.org/officeDocument/2006/math">
                    <m:r>
                      <a:rPr lang="fr-FR" sz="20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2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  <a:blipFill>
                <a:blip r:embed="rId3"/>
                <a:stretch>
                  <a:fillRect l="-836" t="-155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12905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210F2-DE1D-E808-58AF-DFA01EAA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013CAEC-1AC4-C17B-EAFA-EC1AB7DBA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870510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2548</TotalTime>
  <Words>526</Words>
  <Application>Microsoft Office PowerPoint</Application>
  <PresentationFormat>Grand écran</PresentationFormat>
  <Paragraphs>90</Paragraphs>
  <Slides>9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Cambria</vt:lpstr>
      <vt:lpstr>Cambria Math</vt:lpstr>
      <vt:lpstr>Thème Office</vt:lpstr>
      <vt:lpstr>MEC8211 – Projet final</vt:lpstr>
      <vt:lpstr>Contexte</vt:lpstr>
      <vt:lpstr>Modélisation mathématique</vt:lpstr>
      <vt:lpstr>Modélisation mathématique</vt:lpstr>
      <vt:lpstr>Discrétisation : Milieu </vt:lpstr>
      <vt:lpstr>Discrétisation : frontières</vt:lpstr>
      <vt:lpstr>Calcul de l’ordre de convergence </vt:lpstr>
      <vt:lpstr>Calcul de l’ordre de convergence 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Antoine Payette-Toupin</cp:lastModifiedBy>
  <cp:revision>35</cp:revision>
  <dcterms:created xsi:type="dcterms:W3CDTF">2026-02-07T22:10:41Z</dcterms:created>
  <dcterms:modified xsi:type="dcterms:W3CDTF">2026-04-10T19:40:28Z</dcterms:modified>
</cp:coreProperties>
</file>