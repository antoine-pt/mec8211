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8" r:id="rId3"/>
    <p:sldId id="257" r:id="rId4"/>
    <p:sldId id="264" r:id="rId5"/>
    <p:sldId id="259" r:id="rId6"/>
    <p:sldId id="263" r:id="rId7"/>
    <p:sldId id="269" r:id="rId8"/>
    <p:sldId id="260" r:id="rId9"/>
    <p:sldId id="262" r:id="rId10"/>
    <p:sldId id="261" r:id="rId11"/>
    <p:sldId id="265" r:id="rId12"/>
    <p:sldId id="266" r:id="rId13"/>
    <p:sldId id="267" r:id="rId14"/>
    <p:sldId id="268" r:id="rId15"/>
    <p:sldId id="272" r:id="rId16"/>
    <p:sldId id="270" r:id="rId17"/>
    <p:sldId id="271" r:id="rId18"/>
    <p:sldId id="273" r:id="rId19"/>
    <p:sldId id="275" r:id="rId20"/>
    <p:sldId id="274" r:id="rId2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FAD46"/>
    <a:srgbClr val="5B9BD5"/>
    <a:srgbClr val="FFBF00"/>
    <a:srgbClr val="EBE9E9"/>
    <a:srgbClr val="CBCBCB"/>
    <a:srgbClr val="F4EEEC"/>
    <a:srgbClr val="F7EFED"/>
    <a:srgbClr val="F8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02" autoAdjust="0"/>
    <p:restoredTop sz="94782" autoAdjust="0"/>
  </p:normalViewPr>
  <p:slideViewPr>
    <p:cSldViewPr snapToGrid="0">
      <p:cViewPr varScale="1">
        <p:scale>
          <a:sx n="67" d="100"/>
          <a:sy n="67" d="100"/>
        </p:scale>
        <p:origin x="1027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0B2023-C595-443A-8D8C-AB9DF5A28D48}" type="datetimeFigureOut">
              <a:rPr lang="fr-FR" smtClean="0"/>
              <a:t>11/04/2026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05186-0725-443C-BC59-E521425E81CD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116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98252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07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5BB4-E065-36E2-E641-90C9FFDD7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2410028-CE57-DC42-95CE-01AA00C9D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C76DD03-F160-73AB-38E7-83F367B7A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36A260-3B6F-7D51-9372-EBA998234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422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11/04/2026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11/04/2026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11/04/2026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11/04/2026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11/04/2026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11/04/2026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9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11/04/2026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3869"/>
            <a:ext cx="9144000" cy="1425131"/>
          </a:xfrm>
        </p:spPr>
        <p:txBody>
          <a:bodyPr>
            <a:normAutofit fontScale="90000"/>
          </a:bodyPr>
          <a:lstStyle/>
          <a:p>
            <a:r>
              <a:rPr lang="fr-FR" noProof="0" dirty="0"/>
              <a:t>MEC8211 – Projet final</a:t>
            </a:r>
            <a:br>
              <a:rPr lang="fr-FR" noProof="0" dirty="0"/>
            </a:br>
            <a:r>
              <a:rPr lang="fr-FR" sz="4400" noProof="0" dirty="0"/>
              <a:t>Vérification et Validation d’un solveur de différences finies réalisé dans le cadre du cours GCH2545 – Modélisation numérique en ingénierie</a:t>
            </a:r>
            <a:endParaRPr lang="fr-FR" noProof="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CC2017-DAAB-E539-D03A-0EAF47A6C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B38F4B-B286-AB7C-64B1-7E3DB7D1D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243584"/>
            <a:ext cx="5644896" cy="524865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Vitesse de refroidissement influence les propriétés </a:t>
            </a:r>
          </a:p>
          <a:p>
            <a:pPr>
              <a:buFontTx/>
              <a:buChar char="-"/>
            </a:pPr>
            <a:r>
              <a:rPr lang="fr-FR" dirty="0"/>
              <a:t>Mécanique</a:t>
            </a:r>
          </a:p>
          <a:p>
            <a:pPr>
              <a:buFontTx/>
              <a:buChar char="-"/>
            </a:pPr>
            <a:r>
              <a:rPr lang="fr-FR" dirty="0"/>
              <a:t>Électrique</a:t>
            </a:r>
          </a:p>
          <a:p>
            <a:pPr>
              <a:buFontTx/>
              <a:buChar char="-"/>
            </a:pPr>
            <a:r>
              <a:rPr lang="fr-FR" dirty="0"/>
              <a:t>Thermique </a:t>
            </a:r>
          </a:p>
          <a:p>
            <a:pPr>
              <a:buFontTx/>
              <a:buChar char="-"/>
            </a:pPr>
            <a:endParaRPr lang="fr-FR" dirty="0"/>
          </a:p>
          <a:p>
            <a:r>
              <a:rPr lang="fr-FR" dirty="0"/>
              <a:t>Modéliser le refroidissement</a:t>
            </a:r>
          </a:p>
          <a:p>
            <a:pPr>
              <a:buFontTx/>
              <a:buChar char="-"/>
            </a:pPr>
            <a:r>
              <a:rPr lang="fr-FR" dirty="0"/>
              <a:t>Obtenir la vitesse de refroidissement</a:t>
            </a:r>
          </a:p>
          <a:p>
            <a:pPr>
              <a:buFontTx/>
              <a:buChar char="-"/>
            </a:pPr>
            <a:r>
              <a:rPr lang="fr-FR" dirty="0"/>
              <a:t>Connaître la composition du matériau final </a:t>
            </a:r>
          </a:p>
          <a:p>
            <a:pPr>
              <a:buFontTx/>
              <a:buChar char="-"/>
            </a:pPr>
            <a:r>
              <a:rPr lang="fr-FR" dirty="0"/>
              <a:t>Déduire ses propriétés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0176CA-BFB8-62B8-8124-3190FD69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883433"/>
            <a:ext cx="4839119" cy="56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026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7DC965-0D72-AE8E-8F68-A22FDD3D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/>
              </a:bodyPr>
              <a:lstStyle/>
              <a:p>
                <a:pPr fontAlgn="base"/>
                <a:r>
                  <a:rPr lang="fr-FR" dirty="0"/>
                  <a:t>Refroidissement à l'air ambient d'un lingot métallique cylindrique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Température initiale uniforme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Modélisation mathématique :</a:t>
                </a:r>
              </a:p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Perte thermique surfacique </a:t>
                </a:r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  <m:r>
                                <m:rPr>
                                  <m:nor/>
                                </m:rPr>
                                <a:rPr lang="fr-FR" dirty="0"/>
                                <m:t> </m:t>
                              </m:r>
                            </m:sub>
                          </m:sSub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ϵσ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  <a:p>
                <a:pPr marL="228600" marR="0" lvl="0" indent="-228600" algn="l" defTabSz="914400" rtl="0" eaLnBrk="1" fontAlgn="base" latinLnBrk="0" hangingPunct="1">
                  <a:lnSpc>
                    <a:spcPct val="90000"/>
                  </a:lnSpc>
                  <a:spcBef>
                    <a:spcPts val="24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fr-FR" dirty="0">
                    <a:solidFill>
                      <a:prstClr val="black"/>
                    </a:solidFill>
                    <a:latin typeface="Aptos" panose="02110004020202020204"/>
                  </a:rPr>
                  <a:t>Symétrie par rotation autour de l’axe central </a:t>
                </a: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d>
                        <m:dPr>
                          <m:ctrl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𝑧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𝑧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fr-FR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indent="0" algn="just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566" t="-1934" b="-79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315D7CC8-D87C-AF7A-933C-0B5D33649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9114" y="232980"/>
            <a:ext cx="2171199" cy="302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4134258-3467-C98F-64B0-DF4243CE6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52" y="3798791"/>
            <a:ext cx="3533376" cy="223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860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694C9-7099-3A84-9A6D-5B2A0879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EC12AB-5894-7E9F-0510-EB109BFCA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cartésien, on a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cylindrique, on retrouve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CA">
                          <a:latin typeface="Cambria Math" panose="02040503050406030204" pitchFamily="18" charset="0"/>
                        </a:rPr>
                        <m:t>r</m:t>
                      </m:r>
                      <m:func>
                        <m:funcPr>
                          <m:ctrlPr>
                            <a:rPr lang="fr-CA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A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A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A" i="1">
                          <a:latin typeface="Cambria Math" panose="02040503050406030204" pitchFamily="18" charset="0"/>
                        </a:rPr>
                        <m:t>𝑒𝑡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1800"/>
                  </a:spcBef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342" t="-227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8880BBA-A9C5-15DA-64A8-34FD76C6B27D}"/>
              </a:ext>
            </a:extLst>
          </p:cNvPr>
          <p:cNvSpPr/>
          <p:nvPr/>
        </p:nvSpPr>
        <p:spPr>
          <a:xfrm>
            <a:off x="2606040" y="5321808"/>
            <a:ext cx="4828032" cy="1325563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/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/>
                  <a:t>Schéma d’Euler Explicite :</a:t>
                </a:r>
              </a:p>
              <a:p>
                <a:endParaRPr lang="fr-CA" dirty="0"/>
              </a:p>
              <a:p>
                <a:r>
                  <a:rPr lang="fr-CA" dirty="0"/>
                  <a:t>On vient évaluer l’état d’un système à un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 à l’aide de l’état de ce système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dirty="0"/>
                  <a:t>.</a:t>
                </a:r>
              </a:p>
              <a:p>
                <a:endParaRPr lang="fr-CA" dirty="0"/>
              </a:p>
              <a:p>
                <a:r>
                  <a:rPr lang="fr-CA" dirty="0"/>
                  <a:t>Méthode directe (pas de système à résoudre) et peu coûteuse.</a:t>
                </a:r>
              </a:p>
              <a:p>
                <a:endParaRPr lang="fr-CA" dirty="0"/>
              </a:p>
              <a:p>
                <a:r>
                  <a:rPr lang="fr-CA" dirty="0"/>
                  <a:t>Problème de stabilité : la méthode d’Euler explicite nécessite de respecter un critère de stabilité entre la discrétisation en temps et en espace :</a:t>
                </a:r>
              </a:p>
              <a:p>
                <a:endParaRPr lang="fr-CA" dirty="0"/>
              </a:p>
              <a:p>
                <a:endParaRPr lang="fr-CA" dirty="0"/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D3DAD9B-F895-38F3-7E66-F7CE93598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4501" y="1155033"/>
                <a:ext cx="3920247" cy="4524315"/>
              </a:xfrm>
              <a:prstGeom prst="rect">
                <a:avLst/>
              </a:prstGeom>
              <a:blipFill>
                <a:blip r:embed="rId3"/>
                <a:stretch>
                  <a:fillRect l="-1244" t="-538" r="-46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 7">
            <a:extLst>
              <a:ext uri="{FF2B5EF4-FFF2-40B4-BE49-F238E27FC236}">
                <a16:creationId xmlns:a16="http://schemas.microsoft.com/office/drawing/2014/main" id="{19BD9348-480B-8C6C-AE14-0653FA999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6411" y="5073307"/>
            <a:ext cx="4258607" cy="91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743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003BD6-209D-95E8-105B-EEC2D501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0"/>
            <a:ext cx="11353800" cy="1325563"/>
          </a:xfrm>
        </p:spPr>
        <p:txBody>
          <a:bodyPr/>
          <a:lstStyle/>
          <a:p>
            <a:r>
              <a:rPr lang="fr-FR" dirty="0"/>
              <a:t>Discrétisation : Milieu – Schéma d’Euler Explicite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Hors des frontières (r-1, r+1, z-1, z+1 sont définis)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</m:oMath>
                </a14:m>
                <a:r>
                  <a:rPr lang="fr-FR" dirty="0"/>
                  <a:t> 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1 </a:t>
                </a:r>
                <a:endParaRPr lang="fr-FR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fr-FR" dirty="0"/>
                  <a:t>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  <a:endParaRPr lang="fr-FR" dirty="0"/>
              </a:p>
              <a:p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Δt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CA" sz="2400" b="0" i="0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a:rPr lang="fr-F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sz="240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  <a:blipFill>
                <a:blip r:embed="rId2"/>
                <a:stretch>
                  <a:fillRect l="-1073" t="-20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/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fr-FR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CA" sz="2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fr-FR" sz="2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6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/>
                          <m:t> </m:t>
                        </m:r>
                      </m:den>
                    </m:f>
                  </m:oMath>
                </a14:m>
                <a:r>
                  <a:rPr lang="fr-FR" sz="2600" dirty="0"/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</p:txBody>
          </p:sp>
        </mc:Choice>
        <mc:Fallback xmlns="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blipFill>
                <a:blip r:embed="rId3"/>
                <a:stretch>
                  <a:fillRect b="-211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5">
            <a:extLst>
              <a:ext uri="{FF2B5EF4-FFF2-40B4-BE49-F238E27FC236}">
                <a16:creationId xmlns:a16="http://schemas.microsoft.com/office/drawing/2014/main" id="{669E06E8-CC02-FA18-F417-BCEB210B1102}"/>
              </a:ext>
            </a:extLst>
          </p:cNvPr>
          <p:cNvSpPr/>
          <p:nvPr/>
        </p:nvSpPr>
        <p:spPr>
          <a:xfrm rot="241833" flipH="1">
            <a:off x="2857585" y="4094814"/>
            <a:ext cx="2152095" cy="1509192"/>
          </a:xfrm>
          <a:prstGeom prst="arc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8496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C5C6ED-CEB0-DF95-C2D4-5220839D0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" y="-30897"/>
            <a:ext cx="11945112" cy="1325563"/>
          </a:xfrm>
        </p:spPr>
        <p:txBody>
          <a:bodyPr/>
          <a:lstStyle/>
          <a:p>
            <a:r>
              <a:rPr lang="fr-FR" dirty="0"/>
              <a:t>Discrétisation : frontières - Schéma d’Euler Explicite 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4595270A-CFC5-DE88-BDE0-18625C38E1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6619" y="4270193"/>
            <a:ext cx="4204606" cy="24879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/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chemeClr val="accent2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chemeClr val="accent2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fr-CA" b="0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blipFill>
                <a:blip r:embed="rId3"/>
                <a:stretch>
                  <a:fillRect l="-931" t="-188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/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FFBF00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rgbClr val="FFBF00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fr-CA" b="0" i="1" dirty="0">
                  <a:solidFill>
                    <a:srgbClr val="FFBF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rgbClr val="FFBF00"/>
                  </a:solidFill>
                </a:endParaRPr>
              </a:p>
            </p:txBody>
          </p:sp>
        </mc:Choice>
        <mc:Fallback xmlns="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blipFill>
                <a:blip r:embed="rId4"/>
                <a:stretch>
                  <a:fillRect l="-931" t="-237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/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5B9BD5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5B9BD5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5B9BD5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5B9BD5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-</a:t>
                </a:r>
                <a:r>
                  <a:rPr lang="fr-FR" dirty="0">
                    <a:solidFill>
                      <a:srgbClr val="5B9BD5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5B9BD5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CA" dirty="0">
                  <a:solidFill>
                    <a:srgbClr val="5B9BD5"/>
                  </a:solidFill>
                </a:endParaRPr>
              </a:p>
            </p:txBody>
          </p:sp>
        </mc:Choice>
        <mc:Fallback xmlns="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blipFill>
                <a:blip r:embed="rId5"/>
                <a:stretch>
                  <a:fillRect l="-794" t="-1303" b="-195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/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6FAD46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6FAD46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6FAD46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6FAD46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-</a:t>
                </a:r>
                <a:r>
                  <a:rPr lang="fr-FR" dirty="0">
                    <a:solidFill>
                      <a:srgbClr val="6FAD46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6FAD46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CA" dirty="0">
                  <a:solidFill>
                    <a:srgbClr val="6FAD46"/>
                  </a:solidFill>
                </a:endParaRPr>
              </a:p>
            </p:txBody>
          </p:sp>
        </mc:Choice>
        <mc:Fallback xmlns="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blipFill>
                <a:blip r:embed="rId6"/>
                <a:stretch>
                  <a:fillRect l="-873" t="-1629" b="-1629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oneTexte 9">
            <a:extLst>
              <a:ext uri="{FF2B5EF4-FFF2-40B4-BE49-F238E27FC236}">
                <a16:creationId xmlns:a16="http://schemas.microsoft.com/office/drawing/2014/main" id="{841669E0-8634-2A94-9DF2-325DD99B02AA}"/>
              </a:ext>
            </a:extLst>
          </p:cNvPr>
          <p:cNvSpPr txBox="1"/>
          <p:nvPr/>
        </p:nvSpPr>
        <p:spPr>
          <a:xfrm>
            <a:off x="5999988" y="5008150"/>
            <a:ext cx="609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 err="1"/>
              <a:t>Dicrétisations</a:t>
            </a:r>
            <a:r>
              <a:rPr lang="fr-CA" dirty="0"/>
              <a:t> réalisées à l’aide des méthodes de </a:t>
            </a:r>
            <a:r>
              <a:rPr lang="fr-CA" dirty="0" err="1"/>
              <a:t>Gear</a:t>
            </a:r>
            <a:r>
              <a:rPr lang="fr-CA" dirty="0"/>
              <a:t>, d’ordre 2 :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32A8A863-AC5E-8C31-7C35-11133CCD28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3976" y="5752785"/>
            <a:ext cx="6096000" cy="97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882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D2072-1734-D724-EA81-E925334F5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BB688C-D97C-481D-A291-13AA5890C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/>
              <a:t>Description du code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fr-FR" dirty="0"/>
                  <a:t>main.py : fichier permettant d’exécuter le solveur pour une configuration prédéterminée.</a:t>
                </a:r>
              </a:p>
              <a:p>
                <a:r>
                  <a:rPr lang="fr-FR" dirty="0"/>
                  <a:t>fonctions.py : le cœur du code</a:t>
                </a:r>
              </a:p>
              <a:p>
                <a:pPr lvl="1"/>
                <a:r>
                  <a:rPr lang="fr-FR" dirty="0"/>
                  <a:t>Classe Paramètres : classe contenant la configuration du problème.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𝑛𝑧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𝑑𝑟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𝑑𝑧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𝑝𝑜𝑠𝑖𝑡𝑖𝑜𝑛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𝑀𝑀𝑆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𝑒𝑡𝑐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fr-CA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fr-CA" b="0" dirty="0"/>
                  <a:t>Fonction Position : permet de générer les matrices de position des points du domaine </a:t>
                </a:r>
                <a:r>
                  <a:rPr lang="fr-CA" dirty="0"/>
                  <a:t>(</a:t>
                </a:r>
                <a:r>
                  <a:rPr lang="fr-CA" b="1" dirty="0"/>
                  <a:t>R </a:t>
                </a:r>
                <a:r>
                  <a:rPr lang="fr-CA" dirty="0"/>
                  <a:t>et </a:t>
                </a:r>
                <a:r>
                  <a:rPr lang="fr-CA" b="1" dirty="0"/>
                  <a:t>M</a:t>
                </a:r>
                <a:r>
                  <a:rPr lang="fr-CA" dirty="0"/>
                  <a:t>).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CA" b="0" dirty="0"/>
              </a:p>
              <a:p>
                <a:pPr lvl="1"/>
                <a:r>
                  <a:rPr lang="fr-CA" dirty="0"/>
                  <a:t>Fonction Température : calcul l’état de la température au pas de temps suivant.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b="0" dirty="0"/>
                  <a:t>Génère un état intermédiaire composé de l’état au temps </a:t>
                </a:r>
                <a:r>
                  <a:rPr lang="fr-CA" b="0" i="1" dirty="0"/>
                  <a:t>t</a:t>
                </a:r>
                <a:r>
                  <a:rPr lang="fr-CA" b="0" dirty="0"/>
                  <a:t> au milieu et l’état au temps 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+∆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fr-CA" b="0" dirty="0"/>
                  <a:t> aux frontières.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fr-CA" dirty="0"/>
                  <a:t>Appelle la fonction Milieu.</a:t>
                </a:r>
                <a:endParaRPr lang="fr-CA" b="0" dirty="0"/>
              </a:p>
              <a:p>
                <a:pPr lvl="1"/>
                <a:r>
                  <a:rPr lang="fr-FR" dirty="0"/>
                  <a:t>Fonction Milieu : permet de calculer l’état de la température au pas de temps suivant à l’aide de l’état intermédiaire fourni par la fonction Température.</a:t>
                </a:r>
              </a:p>
              <a:p>
                <a:pPr lvl="1"/>
                <a:endParaRPr lang="fr-FR" dirty="0"/>
              </a:p>
              <a:p>
                <a:pPr marL="0" indent="0">
                  <a:buNone/>
                </a:pPr>
                <a:r>
                  <a:rPr lang="fr-FR" dirty="0"/>
                  <a:t>Résolution du système : on itère sur le temps en appelant la fonction Température, jusqu’à ce qu’on ait atteint le temps final.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4B15E8C-4AC7-7351-4AC9-E6164AE5C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8" y="1331494"/>
                <a:ext cx="11930742" cy="5526505"/>
              </a:xfrm>
              <a:blipFill>
                <a:blip r:embed="rId2"/>
                <a:stretch>
                  <a:fillRect l="-920" t="-2205" r="-6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74559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B0DE8D-01F9-F51A-DBBD-386711262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Développement de Taylor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i="0" dirty="0">
                    <a:latin typeface="Cambria Math" panose="02040503050406030204" pitchFamily="18" charset="0"/>
                  </a:rPr>
                  <a:t>Ordre 1 en temps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fr-F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b="0" i="0" dirty="0">
                    <a:latin typeface="Cambria Math" panose="02040503050406030204" pitchFamily="18" charset="0"/>
                  </a:rPr>
                  <a:t>)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dirty="0"/>
                  <a:t>	         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  <a:blipFill>
                <a:blip r:embed="rId3"/>
                <a:stretch>
                  <a:fillRect l="-1217" t="-188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024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C4141-85F8-8321-5A47-F7279370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7B92C8-7E5E-8CDA-7607-D5BFCF6EA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400" b="0" i="0" dirty="0">
                    <a:latin typeface="Cambria Math" panose="02040503050406030204" pitchFamily="18" charset="0"/>
                  </a:rPr>
                  <a:t>Ordre 2 en espace (r et z)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4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>
                    <a:solidFill>
                      <a:srgbClr val="FF0000"/>
                    </a:solidFill>
                  </a:rPr>
                  <a:t>		          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dirty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fr-FR" sz="2400" b="0" i="0" dirty="0">
                    <a:latin typeface="Cambria Math" panose="02040503050406030204" pitchFamily="18" charset="0"/>
                  </a:rPr>
                  <a:t>)</a:t>
                </a:r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/>
                  <a:t>	          	  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i="0" dirty="0">
                  <a:latin typeface="Cambria Math" panose="02040503050406030204" pitchFamily="18" charset="0"/>
                </a:endParaRPr>
              </a:p>
              <a:p>
                <a:endParaRPr lang="fr-FR" sz="24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400"/>
                          <m:t> 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p>
                                <m: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400" dirty="0"/>
              </a:p>
              <a:p>
                <a:pPr marL="0" indent="0">
                  <a:buNone/>
                </a:pPr>
                <a:r>
                  <a:rPr lang="fr-FR" sz="2400" b="0" dirty="0"/>
                  <a:t> 			</a:t>
                </a:r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000" b="0" dirty="0"/>
              </a:p>
              <a:p>
                <a:pPr marL="0" indent="0">
                  <a:buNone/>
                </a:pPr>
                <a:r>
                  <a:rPr lang="fr-FR" sz="2000" dirty="0"/>
                  <a:t>			      </a:t>
                </a:r>
                <a14:m>
                  <m:oMath xmlns:m="http://schemas.openxmlformats.org/officeDocument/2006/math"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fr-FR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fr-FR" sz="2400" dirty="0"/>
                  <a:t>			 </a:t>
                </a:r>
                <a14:m>
                  <m:oMath xmlns:m="http://schemas.openxmlformats.org/officeDocument/2006/math">
                    <m:r>
                      <a:rPr lang="fr-FR" sz="20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  <a:blipFill>
                <a:blip r:embed="rId3"/>
                <a:stretch>
                  <a:fillRect l="-836" t="-155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1290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210F2-DE1D-E808-58AF-DFA01EAA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Méthodologie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4000"/>
                  </a:lnSpc>
                </a:pPr>
                <a:r>
                  <a:rPr lang="fr-FR" dirty="0"/>
                  <a:t>Implémentation de divers tests avec le module </a:t>
                </a:r>
                <a:r>
                  <a:rPr lang="fr-FR" i="1" dirty="0" err="1"/>
                  <a:t>unittest</a:t>
                </a:r>
                <a:r>
                  <a:rPr lang="fr-FR" dirty="0"/>
                  <a:t> de python :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FR" b="1" dirty="0"/>
                  <a:t>Tests unitaires </a:t>
                </a:r>
                <a:r>
                  <a:rPr lang="fr-FR" dirty="0"/>
                  <a:t>pour les différentes fonctions du code 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FR" b="1" dirty="0" err="1"/>
                  <a:t>testPosition</a:t>
                </a:r>
                <a:r>
                  <a:rPr lang="fr-FR" dirty="0"/>
                  <a:t> : </a:t>
                </a:r>
                <a:r>
                  <a:rPr lang="fr-CA" dirty="0"/>
                  <a:t>Test la fonction Position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testMilieu</a:t>
                </a:r>
                <a:r>
                  <a:rPr lang="fr-CA" dirty="0"/>
                  <a:t> : Test la fonction Milieu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testTemperature</a:t>
                </a:r>
                <a:r>
                  <a:rPr lang="fr-CA" dirty="0"/>
                  <a:t> : Test la fonction </a:t>
                </a:r>
                <a:r>
                  <a:rPr lang="fr-CA" dirty="0" err="1"/>
                  <a:t>Temperature</a:t>
                </a:r>
                <a:r>
                  <a:rPr lang="fr-CA" dirty="0"/>
                  <a:t> avec des valeurs connues.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b="1" dirty="0"/>
                  <a:t>Tests de vérification de code </a:t>
                </a:r>
                <a:r>
                  <a:rPr lang="fr-CA" dirty="0"/>
                  <a:t>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testSymetrie</a:t>
                </a:r>
                <a:r>
                  <a:rPr lang="fr-CA" dirty="0"/>
                  <a:t> : Test la simplification de la condition de symétrie en comparant le résultat symétrique au résultat du domaine complet.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testConservationEnergie</a:t>
                </a:r>
                <a:r>
                  <a:rPr lang="fr-CA" dirty="0"/>
                  <a:t> : Test la conservation de l'énergie du solveur en effectuant un bilan </a:t>
                </a:r>
                <a:r>
                  <a:rPr lang="fr-CA" dirty="0" err="1"/>
                  <a:t>énegérique</a:t>
                </a:r>
                <a:r>
                  <a:rPr lang="fr-CA" dirty="0"/>
                  <a:t> à l'intérieur du domaine et sur la frontière. On cherche :</a:t>
                </a:r>
                <a:br>
                  <a:rPr lang="fr-CA" dirty="0"/>
                </a:b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CA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𝑖𝑛𝑡</m:t>
                            </m:r>
                          </m:sub>
                        </m:sSub>
                      </m:e>
                    </m:acc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̇"/>
                        <m:ctrlPr>
                          <a:rPr lang="fr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𝑓𝑟𝑜𝑛𝑡</m:t>
                            </m:r>
                          </m:sub>
                        </m:sSub>
                      </m:e>
                    </m:acc>
                  </m:oMath>
                </a14:m>
                <a:endParaRPr lang="fr-CA" dirty="0"/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testInvarianceGalileenne</a:t>
                </a:r>
                <a:r>
                  <a:rPr lang="fr-CA" dirty="0"/>
                  <a:t> : Test l’invariance galiléenne du solveur par translation des coordonnées.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dirty="0"/>
                  <a:t>Implémentation de la </a:t>
                </a:r>
                <a:r>
                  <a:rPr lang="fr-CA" b="1" dirty="0"/>
                  <a:t>MMS</a:t>
                </a:r>
                <a:r>
                  <a:rPr lang="fr-CA" dirty="0"/>
                  <a:t> pour évaluer l’ordre de convergence du solveur.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CA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FR" dirty="0"/>
              </a:p>
              <a:p>
                <a:pPr lvl="2"/>
                <a:endParaRPr lang="fr-FR" dirty="0"/>
              </a:p>
              <a:p>
                <a:pPr lvl="2"/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  <a:blipFill>
                <a:blip r:embed="rId2"/>
                <a:stretch>
                  <a:fillRect l="-688" t="-700" r="-57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705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461F-0ADA-F2B0-A6E7-097DBD122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CE1403-3D16-B3B5-E3F3-9368B3195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Résultats :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99FE2D-5448-2AC8-260C-B0D0A0501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3101" y="1690688"/>
            <a:ext cx="11185187" cy="4915643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34000"/>
              </a:lnSpc>
            </a:pPr>
            <a:r>
              <a:rPr lang="fr-FR" dirty="0"/>
              <a:t>Tests unitaires : rien de surprenant, objectif de conserver une pérennité et une stabilité du code malgré des changements.</a:t>
            </a:r>
          </a:p>
          <a:p>
            <a:pPr>
              <a:lnSpc>
                <a:spcPct val="134000"/>
              </a:lnSpc>
            </a:pPr>
            <a:r>
              <a:rPr lang="fr-FR" dirty="0"/>
              <a:t>Tests de vérification de code :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testSymmetrie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 A révélé un </a:t>
            </a:r>
            <a:r>
              <a:rPr lang="fr-FR" i="1" dirty="0"/>
              <a:t>champ de mine</a:t>
            </a:r>
            <a:r>
              <a:rPr lang="fr-FR" dirty="0"/>
              <a:t> de </a:t>
            </a:r>
            <a:r>
              <a:rPr lang="fr-FR" b="1" dirty="0"/>
              <a:t>bugs</a:t>
            </a:r>
            <a:r>
              <a:rPr lang="fr-FR" dirty="0"/>
              <a:t> au sein du code.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permis de revisiter et de réécrire correctement les </a:t>
            </a:r>
            <a:r>
              <a:rPr lang="fr-FR" b="1" dirty="0"/>
              <a:t>équations de discrétisation </a:t>
            </a:r>
            <a:r>
              <a:rPr lang="fr-FR" dirty="0"/>
              <a:t>(que nous croyions déjà bonne).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Problèmes </a:t>
            </a:r>
            <a:r>
              <a:rPr lang="fr-FR" b="1" dirty="0"/>
              <a:t>d’indexation des points</a:t>
            </a:r>
            <a:r>
              <a:rPr lang="fr-FR" dirty="0"/>
              <a:t>, notamment pour les conditions frontières aux </a:t>
            </a:r>
            <a:r>
              <a:rPr lang="fr-FR" i="1" dirty="0"/>
              <a:t>coins</a:t>
            </a:r>
            <a:r>
              <a:rPr lang="fr-FR" dirty="0"/>
              <a:t> du domaine.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testInvarianceGaliléenne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A révélé quelques subtilités du code qui on permis de l’améliorer, notamment la manière dont est calculé le rayon et la manière dont sont initialisés les paramètres.</a:t>
            </a:r>
          </a:p>
          <a:p>
            <a:pPr lvl="1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b="1" dirty="0" err="1"/>
              <a:t>testConservationEnergie</a:t>
            </a:r>
            <a:r>
              <a:rPr lang="fr-FR" dirty="0"/>
              <a:t> :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Un peu complexe à mettre en place. </a:t>
            </a:r>
          </a:p>
          <a:p>
            <a:pPr lvl="2">
              <a:lnSpc>
                <a:spcPct val="134000"/>
              </a:lnSpc>
              <a:buFont typeface="Courier New" panose="02070309020205020404" pitchFamily="49" charset="0"/>
              <a:buChar char="o"/>
            </a:pPr>
            <a:r>
              <a:rPr lang="fr-FR" dirty="0"/>
              <a:t>Flux de chaleur conservé de manière satisfaisante, au millième près.</a:t>
            </a:r>
          </a:p>
        </p:txBody>
      </p:sp>
    </p:spTree>
    <p:extLst>
      <p:ext uri="{BB962C8B-B14F-4D97-AF65-F5344CB8AC3E}">
        <p14:creationId xmlns:p14="http://schemas.microsoft.com/office/powerpoint/2010/main" val="845833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8B92D-CCAF-B970-4FDC-131895046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17134A-892B-0D3A-608A-3FB298A46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Méthodologie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</p:spPr>
            <p:txBody>
              <a:bodyPr>
                <a:normAutofit fontScale="70000" lnSpcReduction="20000"/>
              </a:bodyPr>
              <a:lstStyle/>
              <a:p>
                <a:pPr>
                  <a:lnSpc>
                    <a:spcPct val="134000"/>
                  </a:lnSpc>
                </a:pPr>
                <a:r>
                  <a:rPr lang="fr-FR" dirty="0"/>
                  <a:t>Implémentation de la méthode des solutions manufacturés. 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Changements nécessaires :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de conditions de Dirichlet aux </a:t>
                </a:r>
                <a:r>
                  <a:rPr lang="fr-FR" b="1" dirty="0"/>
                  <a:t>frontières extérieures</a:t>
                </a:r>
                <a:r>
                  <a:rPr lang="fr-FR" dirty="0"/>
                  <a:t>:</a:t>
                </a:r>
                <a:br>
                  <a:rPr lang="fr-FR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𝑀𝑀𝑆</m:t>
                            </m:r>
                          </m:sub>
                        </m:sSub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endParaRPr lang="fr-FR" dirty="0"/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Implémentation d’un terme source dans l’équation du milieu du domaine.</a:t>
                </a:r>
              </a:p>
              <a:p>
                <a:pPr lvl="1">
                  <a:lnSpc>
                    <a:spcPct val="134000"/>
                  </a:lnSpc>
                </a:pPr>
                <a:r>
                  <a:rPr lang="fr-FR" dirty="0"/>
                  <a:t>Repenser la classe </a:t>
                </a:r>
                <a:r>
                  <a:rPr lang="fr-FR" i="1" dirty="0"/>
                  <a:t>Paramètres</a:t>
                </a:r>
                <a:r>
                  <a:rPr lang="fr-FR" dirty="0"/>
                  <a:t> pour intégrer le tout et permettre à un utilisateur d’imposer une </a:t>
                </a:r>
                <a:r>
                  <a:rPr lang="fr-FR" i="1" dirty="0"/>
                  <a:t>MMS</a:t>
                </a:r>
                <a:r>
                  <a:rPr lang="fr-FR" dirty="0"/>
                  <a:t>, ou non.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Équation choisie :</a:t>
                </a:r>
                <a:br>
                  <a:rPr lang="fr-FR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𝑀𝑀𝑆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(−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func>
                      <m:func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CA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num>
                              <m:den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m:rPr>
                        <m:sty m:val="p"/>
                      </m:rPr>
                      <a:rPr lang="fr-CA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⁡(</m:t>
                    </m:r>
                    <m:f>
                      <m:f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den>
                    </m:f>
                    <m:r>
                      <a:rPr lang="fr-CA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  <a:p>
                <a:pPr marL="914400" lvl="2" indent="0" algn="ctr">
                  <a:lnSpc>
                    <a:spcPct val="134000"/>
                  </a:lnSpc>
                  <a:buNone/>
                </a:pPr>
                <a:r>
                  <a:rPr lang="fr-FR" dirty="0"/>
                  <a:t>Ici, on choisit 2 cosinus de manière à forcer l’équation a être symétrique aux frontières r=0, z=0.</a:t>
                </a:r>
              </a:p>
              <a:p>
                <a:pPr>
                  <a:lnSpc>
                    <a:spcPct val="134000"/>
                  </a:lnSpc>
                </a:pPr>
                <a:r>
                  <a:rPr lang="fr-FR" dirty="0"/>
                  <a:t>Le calcul du terme source est fait à l’aide de la librairie </a:t>
                </a:r>
                <a:r>
                  <a:rPr lang="fr-FR" i="1" dirty="0" err="1"/>
                  <a:t>sympy</a:t>
                </a:r>
                <a:r>
                  <a:rPr lang="fr-FR" dirty="0"/>
                  <a:t> dans Python. Les développements ne seront donc pas présentés.</a:t>
                </a:r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971179" cy="4964281"/>
              </a:xfrm>
              <a:blipFill>
                <a:blip r:embed="rId2"/>
                <a:stretch>
                  <a:fillRect l="-500" r="-44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8032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0F47C-EA86-426C-9E31-441BF44D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732BA4-6A05-72B7-DA5A-7F788E2C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C16CC2A3-774C-4A0E-8885-22E49233D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54" y="1690688"/>
            <a:ext cx="8387292" cy="5032375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0733C7CD-F52D-5C54-C2B4-44406B95C157}"/>
              </a:ext>
            </a:extLst>
          </p:cNvPr>
          <p:cNvGrpSpPr/>
          <p:nvPr/>
        </p:nvGrpSpPr>
        <p:grpSpPr>
          <a:xfrm>
            <a:off x="311285" y="5077838"/>
            <a:ext cx="3385226" cy="1448624"/>
            <a:chOff x="311285" y="5077838"/>
            <a:chExt cx="3385226" cy="14486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6CB769F-2C76-74CB-5981-7343AE429DE5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CEEDC86A-29FF-1B82-1333-62836274B581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3AD781C3-D9E5-9A25-B650-D4D2A98A52FC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spatiale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914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F719-4F8B-B0BF-A652-91D4A8E1C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6CDAA5-638A-B4E8-6AFE-7C186CA43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6B8E9D59-8E3B-8479-E1C7-62F3A39A5D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000" y="1690688"/>
            <a:ext cx="8388000" cy="5032800"/>
          </a:xfrm>
          <a:prstGeom prst="rect">
            <a:avLst/>
          </a:prstGeom>
        </p:spPr>
      </p:pic>
      <p:grpSp>
        <p:nvGrpSpPr>
          <p:cNvPr id="8" name="Groupe 7">
            <a:extLst>
              <a:ext uri="{FF2B5EF4-FFF2-40B4-BE49-F238E27FC236}">
                <a16:creationId xmlns:a16="http://schemas.microsoft.com/office/drawing/2014/main" id="{4C4CFFBA-3429-F2F4-7F11-D968906589E4}"/>
              </a:ext>
            </a:extLst>
          </p:cNvPr>
          <p:cNvGrpSpPr/>
          <p:nvPr/>
        </p:nvGrpSpPr>
        <p:grpSpPr>
          <a:xfrm>
            <a:off x="209387" y="3016251"/>
            <a:ext cx="3385226" cy="1725623"/>
            <a:chOff x="311285" y="5077838"/>
            <a:chExt cx="3385226" cy="172562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57A2EE6-1A05-1DB3-5DAA-1C28E8D82F63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EE0D9918-4259-5FE5-2239-A38236148190}"/>
                </a:ext>
              </a:extLst>
            </p:cNvPr>
            <p:cNvCxnSpPr>
              <a:stCxn id="9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FD1FA1AC-0CBB-05F3-2DE3-6DE994D15BDB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temporelle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3557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8AE09-663A-81B9-7889-A42F5868E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7894090" cy="808809"/>
          </a:xfrm>
        </p:spPr>
        <p:txBody>
          <a:bodyPr>
            <a:normAutofit/>
          </a:bodyPr>
          <a:lstStyle/>
          <a:p>
            <a:r>
              <a:rPr lang="fr-FR" dirty="0"/>
              <a:t>Validation – erreur de simulation	: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1491" y="1173934"/>
                <a:ext cx="7486650" cy="2347163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̃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ye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− </m:t>
                      </m:r>
                      <m:r>
                        <m:rPr>
                          <m:sty m:val="p"/>
                        </m:rPr>
                        <a:rPr lang="fr-FR" sz="2000" b="0" i="1" smtClean="0">
                          <a:latin typeface="Cambria Math" panose="02040503050406030204" pitchFamily="18" charset="0"/>
                        </a:rPr>
                        <m:t>ym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sz="2000" dirty="0"/>
              </a:p>
              <a:p>
                <a:endParaRPr lang="fr-FR" sz="2000" dirty="0"/>
              </a:p>
              <a:p>
                <a:r>
                  <a:rPr lang="fr-FR" sz="2000" dirty="0"/>
                  <a:t>Problème : pas de valeur expérimentale (manque de précision dans la littérature)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Solution : passage par un code commercial</a:t>
                </a:r>
              </a:p>
              <a:p>
                <a:r>
                  <a:rPr lang="fr-FR" sz="2000" dirty="0">
                    <a:sym typeface="Wingdings" panose="05000000000000000000" pitchFamily="2" charset="2"/>
                  </a:rPr>
                  <a:t>Modélisation du problème sous SolidWorks pour un métal AISI 4340</a:t>
                </a:r>
                <a:endParaRPr lang="en-US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C32232-D971-F63A-4322-D27F6CDB07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1491" y="1173934"/>
                <a:ext cx="7486650" cy="2347163"/>
              </a:xfrm>
              <a:blipFill>
                <a:blip r:embed="rId2"/>
                <a:stretch>
                  <a:fillRect l="-651" t="-779" r="-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2592D05-AA83-1726-AA8E-76EA7CE430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5531" y="521767"/>
            <a:ext cx="3566469" cy="23471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100F7ED-BB1D-A4E9-64F3-B26EE6B577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7336" y="3704045"/>
            <a:ext cx="2997683" cy="29976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B50BF5-90A1-6B98-D3FC-7350FE4FB6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2846" y="3704044"/>
            <a:ext cx="3003714" cy="29976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9A009A9-8BFC-1B9B-F910-FCE3DE41CC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32" y="4148806"/>
            <a:ext cx="3848433" cy="255292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6A5E198-79E3-ED9B-9BBD-110FAE83354B}"/>
              </a:ext>
            </a:extLst>
          </p:cNvPr>
          <p:cNvSpPr txBox="1"/>
          <p:nvPr/>
        </p:nvSpPr>
        <p:spPr>
          <a:xfrm>
            <a:off x="1144371" y="3874770"/>
            <a:ext cx="2153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Température initiale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FE961D-8228-C8D9-8233-FE31E59D1AC9}"/>
              </a:ext>
            </a:extLst>
          </p:cNvPr>
          <p:cNvSpPr txBox="1"/>
          <p:nvPr/>
        </p:nvSpPr>
        <p:spPr>
          <a:xfrm>
            <a:off x="5955189" y="3427905"/>
            <a:ext cx="2299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Radiation : émissivité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AC3AD7-E755-29F6-BDA8-03CAC197225B}"/>
              </a:ext>
            </a:extLst>
          </p:cNvPr>
          <p:cNvSpPr txBox="1"/>
          <p:nvPr/>
        </p:nvSpPr>
        <p:spPr>
          <a:xfrm>
            <a:off x="9912373" y="3427905"/>
            <a:ext cx="1327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Convection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86473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D1F89-F778-6C72-5829-94790C929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de simulation :</a:t>
            </a:r>
            <a:endParaRPr lang="en-US" dirty="0"/>
          </a:p>
        </p:txBody>
      </p:sp>
      <p:pic>
        <p:nvPicPr>
          <p:cNvPr id="35" name="Content Placeholder 34">
            <a:extLst>
              <a:ext uri="{FF2B5EF4-FFF2-40B4-BE49-F238E27FC236}">
                <a16:creationId xmlns:a16="http://schemas.microsoft.com/office/drawing/2014/main" id="{B470CD96-A82E-E0EB-A3EC-1334F9C20B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70" y="4864715"/>
            <a:ext cx="764723" cy="153162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D5C8037-549E-B941-FE25-FC8B83B3AE8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481" y="4864715"/>
            <a:ext cx="770186" cy="153162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4695AF5-14C8-8B55-5D76-A5D9F788F65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1287" y="4864715"/>
            <a:ext cx="775642" cy="153162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AE5FD986-C902-A6A4-CE75-3F189ADA9EE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321" y="4864715"/>
            <a:ext cx="771257" cy="153162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E4EFAB5C-E687-B58A-EE9E-79B9093375A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1810" y="4864715"/>
            <a:ext cx="764717" cy="153162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72B7175-DEBB-3BDD-18D7-21B44DE17A6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4095" y="4864715"/>
            <a:ext cx="752530" cy="153162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FEAD094-7ADB-7B93-230A-513191FA8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9543" y="4864715"/>
            <a:ext cx="773458" cy="153162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E0245B62-8CC7-E885-49A0-9C13DA3242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093" y="4864715"/>
            <a:ext cx="774537" cy="153162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51A5B0D7-2859-21E8-101F-3B1B9D12534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258" y="4864715"/>
            <a:ext cx="770161" cy="1531620"/>
          </a:xfrm>
          <a:prstGeom prst="rect">
            <a:avLst/>
          </a:prstGeom>
        </p:spPr>
      </p:pic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DC9A4AC-38ED-A0E8-3543-95C8B64B1948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60020" y="6533495"/>
            <a:ext cx="73380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/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/>
                  <a:t>S’assurer de la qualité des résultats de SolidWorks </a:t>
                </a:r>
                <a:r>
                  <a:rPr lang="fr-FR" dirty="0">
                    <a:sym typeface="Wingdings" panose="05000000000000000000" pitchFamily="2" charset="2"/>
                  </a:rPr>
                  <a:t> analyse de convergence (temps et espace)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h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</m:t>
                    </m:r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Δt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  <a:sym typeface="Wingdings" panose="05000000000000000000" pitchFamily="2" charset="2"/>
                          </a:rPr>
                          <m:t>Te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où Te désigne la taille des éléments (cm)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le pas de temps (s)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Analyse de convergence réalisé avec les paramètres : 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fin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100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,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h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=2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Condition : obtenir convergence des valeurs finales + symétrie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dirty="0">
                  <a:sym typeface="Wingdings" panose="05000000000000000000" pitchFamily="2" charset="2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>
                    <a:sym typeface="Wingdings" panose="05000000000000000000" pitchFamily="2" charset="2"/>
                  </a:rPr>
                  <a:t>Obtention de résultat fiable pour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Δt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= 0.6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s</m:t>
                    </m:r>
                  </m:oMath>
                </a14:m>
                <a:r>
                  <a:rPr lang="fr-FR" dirty="0">
                    <a:sym typeface="Wingdings" panose="05000000000000000000" pitchFamily="2" charset="2"/>
                  </a:rPr>
                  <a:t>  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Te</m:t>
                    </m:r>
                    <m:r>
                      <a:rPr lang="fr-FR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 = 0.3</m:t>
                    </m:r>
                  </m:oMath>
                </a14:m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  <a:p>
                <a:endParaRPr lang="fr-FR" dirty="0">
                  <a:sym typeface="Wingdings" panose="05000000000000000000" pitchFamily="2" charset="2"/>
                </a:endParaRPr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CEAB3DF-E113-A48A-4976-5362A80A0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860" y="1690688"/>
                <a:ext cx="10651970" cy="2986459"/>
              </a:xfrm>
              <a:prstGeom prst="rect">
                <a:avLst/>
              </a:prstGeom>
              <a:blipFill>
                <a:blip r:embed="rId11"/>
                <a:stretch>
                  <a:fillRect l="-343" t="-1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D1B8D06E-603C-C267-3757-24818DA1220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498081" y="6396335"/>
            <a:ext cx="771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Te (cm)</a:t>
            </a:r>
            <a:endParaRPr lang="en-US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77C65A6-DFDD-665B-F68B-741DFE0664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5608" y="6550223"/>
            <a:ext cx="2808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1</a:t>
            </a:r>
            <a:endParaRPr 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8D5B6F5-F7F2-D061-02CE-DBF9E04F574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838695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0.2</a:t>
            </a:r>
            <a:endParaRPr 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2BD58C-6402-B763-16DB-A732584E4F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55159" y="6550223"/>
            <a:ext cx="428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0.6</a:t>
            </a:r>
            <a:endParaRPr lang="en-US" dirty="0"/>
          </a:p>
        </p:txBody>
      </p:sp>
      <p:pic>
        <p:nvPicPr>
          <p:cNvPr id="64" name="Picture 63">
            <a:extLst>
              <a:ext uri="{FF2B5EF4-FFF2-40B4-BE49-F238E27FC236}">
                <a16:creationId xmlns:a16="http://schemas.microsoft.com/office/drawing/2014/main" id="{63B385C4-FDC5-27BD-D21F-1496ACB0F44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8852" y="4120909"/>
            <a:ext cx="3239085" cy="2429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5026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98810-4DBB-A150-02D8-A72B03EB7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- erreur expérimentale :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BB7CBB9-6184-B33E-4584-B7B75F6910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455" y="1279180"/>
            <a:ext cx="4060801" cy="30456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D4F830D-AEB1-FC20-2BEA-EE909DD911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9409" y="4324781"/>
            <a:ext cx="3334892" cy="285848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/>
              <p:nvPr/>
            </p:nvSpPr>
            <p:spPr>
              <a:xfrm>
                <a:off x="838200" y="1968560"/>
                <a:ext cx="6614160" cy="53249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dirty="0"/>
                  <a:t>Comparaison des champs de température pour </a:t>
                </a:r>
                <a:r>
                  <a:rPr lang="fr-FR" dirty="0" err="1"/>
                  <a:t>t</a:t>
                </a:r>
                <a:r>
                  <a:rPr lang="fr-FR" baseline="-25000" dirty="0" err="1"/>
                  <a:t>fin</a:t>
                </a:r>
                <a:r>
                  <a:rPr lang="fr-FR" baseline="-25000" dirty="0"/>
                  <a:t> </a:t>
                </a:r>
                <a:r>
                  <a:rPr lang="fr-FR" dirty="0"/>
                  <a:t>= 600s</a:t>
                </a:r>
              </a:p>
              <a:p>
                <a:endParaRPr lang="fr-FR" dirty="0"/>
              </a:p>
              <a:p>
                <a:endParaRPr lang="fr-FR" dirty="0"/>
              </a:p>
              <a:p>
                <a:endParaRPr lang="fr-FR" dirty="0"/>
              </a:p>
              <a:p>
                <a:endParaRPr lang="fr-FR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fr-FR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fr-F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fr-F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r-FR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fr-FR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  <m:r>
                                            <a:rPr lang="fr-FR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fr-F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  <m:t>𝑦𝑚</m:t>
                                      </m:r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fr-F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fr-F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fr-FR" dirty="0"/>
              </a:p>
              <a:p>
                <a:endParaRPr lang="fr-FR" dirty="0"/>
              </a:p>
              <a:p>
                <a:endParaRPr lang="fr-FR" dirty="0"/>
              </a:p>
              <a:p>
                <a:endParaRPr lang="fr-FR" dirty="0"/>
              </a:p>
              <a:p>
                <a:endParaRPr lang="fr-FR" dirty="0"/>
              </a:p>
              <a:p>
                <a:endParaRPr lang="fr-FR" dirty="0"/>
              </a:p>
              <a:p>
                <a:endParaRPr lang="fr-FR" dirty="0"/>
              </a:p>
              <a:p>
                <a:endParaRPr lang="fr-FR" dirty="0"/>
              </a:p>
              <a:p>
                <a:endParaRPr lang="fr-FR" dirty="0"/>
              </a:p>
              <a:p>
                <a:endParaRPr lang="fr-FR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B13BC59-1CF5-FBB2-63DD-9DDC99704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68560"/>
                <a:ext cx="6614160" cy="5324919"/>
              </a:xfrm>
              <a:prstGeom prst="rect">
                <a:avLst/>
              </a:prstGeom>
              <a:blipFill>
                <a:blip r:embed="rId4"/>
                <a:stretch>
                  <a:fillRect l="-829" t="-5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625146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6439F-29E7-5985-9D89-DC076CF91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erreur expérimentale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Erreur épistémique d’un thermocouple classique : ±1.5°C*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σ</m:t>
                    </m:r>
                    <m:r>
                      <m:rPr>
                        <m:sty m:val="p"/>
                      </m:rPr>
                      <a:rPr lang="fr-FR" b="0" i="1" baseline="-25000" smtClean="0">
                        <a:latin typeface="Cambria Math" panose="02040503050406030204" pitchFamily="18" charset="0"/>
                      </a:rPr>
                      <m:t>tc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87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°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dirty="0"/>
                  <a:t> </a:t>
                </a:r>
              </a:p>
              <a:p>
                <a:pPr marL="0" indent="0">
                  <a:buNone/>
                </a:pPr>
                <a:r>
                  <a:rPr lang="fr-FR" dirty="0"/>
                  <a:t> car distribution normale dans cet intervalle </a:t>
                </a:r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fr-FR" b="0" i="1" baseline="-2500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m:rPr>
                              <m:sty m:val="p"/>
                            </m:rPr>
                            <a:rPr lang="fr-FR" b="0" i="1" baseline="-25000" smtClean="0">
                              <a:latin typeface="Cambria Math" panose="02040503050406030204" pitchFamily="18" charset="0"/>
                            </a:rPr>
                            <m:t>tc</m:t>
                          </m:r>
                          <m:r>
                            <a:rPr lang="fr-FR" b="0" i="1" baseline="3000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+ 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02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FR" i="1">
                          <a:latin typeface="Cambria Math" panose="02040503050406030204" pitchFamily="18" charset="0"/>
                        </a:rPr>
                        <m:t>σ</m:t>
                      </m:r>
                      <m:r>
                        <m:rPr>
                          <m:sty m:val="p"/>
                        </m:rPr>
                        <a:rPr lang="fr-FR" i="1" baseline="-25000">
                          <a:latin typeface="Cambria Math" panose="02040503050406030204" pitchFamily="18" charset="0"/>
                        </a:rPr>
                        <m:t>tc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87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°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659431-7107-A76B-E208-96EAABE1F9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134995"/>
              </a:xfrm>
              <a:blipFill>
                <a:blip r:embed="rId2"/>
                <a:stretch>
                  <a:fillRect l="-1217" t="-33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CF3D44E-FDBD-44F9-D894-E056CB9F80B0}"/>
              </a:ext>
            </a:extLst>
          </p:cNvPr>
          <p:cNvSpPr txBox="1"/>
          <p:nvPr/>
        </p:nvSpPr>
        <p:spPr>
          <a:xfrm>
            <a:off x="838200" y="6126480"/>
            <a:ext cx="11231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*Source : tcsa.fr/thermocouple/type-k-thermocouple.html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9866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6E061-A18D-9828-5D8A-6DB04AFF1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Validation – erreur numérique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30E620-26B7-5449-95D5-A34047E15D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fonction de la valeur de GCI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470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1FAF8-D45E-B846-39C4-A2BDDFE60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Amélioration possible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Rajouter une erreur d’expérimentation à partir de la littérature d’une expérience similaire</a:t>
                </a:r>
                <a:r>
                  <a:rPr lang="fr-FR" dirty="0">
                    <a:sym typeface="Wingdings" panose="05000000000000000000" pitchFamily="2" charset="2"/>
                  </a:rPr>
                  <a:t> estimation plus concrète 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latin typeface="Cambria Math" panose="02040503050406030204" pitchFamily="18" charset="0"/>
                      </a:rPr>
                      <m:t>u</m:t>
                    </m:r>
                    <m:r>
                      <m:rPr>
                        <m:sty m:val="p"/>
                      </m:rPr>
                      <a:rPr lang="fr-FR" i="1" baseline="-25000">
                        <a:latin typeface="Cambria Math" panose="02040503050406030204" pitchFamily="18" charset="0"/>
                      </a:rPr>
                      <m:t>D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FR" dirty="0"/>
              </a:p>
              <a:p>
                <a:r>
                  <a:rPr lang="fr-FR" dirty="0"/>
                  <a:t>Affiner le pas de temps et d’espace pour la simulation SolidWorks</a:t>
                </a:r>
                <a:r>
                  <a:rPr lang="fr-FR" dirty="0">
                    <a:sym typeface="Wingdings" panose="05000000000000000000" pitchFamily="2" charset="2"/>
                  </a:rPr>
                  <a:t> précision accrue sur l’erreur de simulation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9282C8-F6FB-A0A2-B31D-09362B254F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660869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2802</TotalTime>
  <Words>1628</Words>
  <Application>Microsoft Office PowerPoint</Application>
  <PresentationFormat>Widescreen</PresentationFormat>
  <Paragraphs>211</Paragraphs>
  <Slides>20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Aptos</vt:lpstr>
      <vt:lpstr>Aptos Display</vt:lpstr>
      <vt:lpstr>Arial</vt:lpstr>
      <vt:lpstr>Cambria</vt:lpstr>
      <vt:lpstr>Cambria Math</vt:lpstr>
      <vt:lpstr>Courier New</vt:lpstr>
      <vt:lpstr>Wingdings</vt:lpstr>
      <vt:lpstr>Thème Office</vt:lpstr>
      <vt:lpstr>MEC8211 – Projet final Vérification et Validation d’un solveur de différences finies réalisé dans le cadre du cours GCH2545 – Modélisation numérique en ingénierie</vt:lpstr>
      <vt:lpstr>Contexte</vt:lpstr>
      <vt:lpstr>Modélisation mathématique</vt:lpstr>
      <vt:lpstr>Modélisation mathématique</vt:lpstr>
      <vt:lpstr>Discrétisation : Milieu – Schéma d’Euler Explicite </vt:lpstr>
      <vt:lpstr>Discrétisation : frontières - Schéma d’Euler Explicite </vt:lpstr>
      <vt:lpstr>Description du code :</vt:lpstr>
      <vt:lpstr>Calcul de l’ordre de convergence </vt:lpstr>
      <vt:lpstr>Calcul de l’ordre de convergence </vt:lpstr>
      <vt:lpstr>Vérification de code - Méthodologie :</vt:lpstr>
      <vt:lpstr>Vérification de code - Résultats :</vt:lpstr>
      <vt:lpstr>Vérification de code – MMS – Méthodologie </vt:lpstr>
      <vt:lpstr>Vérification de code – MMS – Résultats :</vt:lpstr>
      <vt:lpstr>Vérification de code – MMS – Résultats :</vt:lpstr>
      <vt:lpstr>Validation – erreur de simulation :</vt:lpstr>
      <vt:lpstr>Validation - erreur de simulation :</vt:lpstr>
      <vt:lpstr>Validation - erreur expérimentale :</vt:lpstr>
      <vt:lpstr>Validation – erreur expérimentale</vt:lpstr>
      <vt:lpstr>Validation – erreur numérique</vt:lpstr>
      <vt:lpstr>Amélioration possible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Loïc Vignaud</cp:lastModifiedBy>
  <cp:revision>43</cp:revision>
  <dcterms:created xsi:type="dcterms:W3CDTF">2026-02-07T22:10:41Z</dcterms:created>
  <dcterms:modified xsi:type="dcterms:W3CDTF">2026-04-12T00:59:10Z</dcterms:modified>
</cp:coreProperties>
</file>