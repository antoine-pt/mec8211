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7" r:id="rId4"/>
    <p:sldId id="264" r:id="rId5"/>
    <p:sldId id="259" r:id="rId6"/>
    <p:sldId id="263" r:id="rId7"/>
    <p:sldId id="260" r:id="rId8"/>
    <p:sldId id="262" r:id="rId9"/>
    <p:sldId id="261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FAD46"/>
    <a:srgbClr val="5B9BD5"/>
    <a:srgbClr val="FFBF00"/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02" autoAdjust="0"/>
    <p:restoredTop sz="94782" autoAdjust="0"/>
  </p:normalViewPr>
  <p:slideViewPr>
    <p:cSldViewPr snapToGrid="0">
      <p:cViewPr varScale="1">
        <p:scale>
          <a:sx n="98" d="100"/>
          <a:sy n="98" d="100"/>
        </p:scale>
        <p:origin x="90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26463"/>
            <a:ext cx="9144000" cy="1425131"/>
          </a:xfrm>
        </p:spPr>
        <p:txBody>
          <a:bodyPr/>
          <a:lstStyle/>
          <a:p>
            <a:r>
              <a:rPr lang="fr-FR" noProof="0" dirty="0"/>
              <a:t>MEC8211 – Projet final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fr-FR" dirty="0"/>
              <a:t>Discrétisation : Milieu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Discrétisation : frontières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595270A-CFC5-DE88-BDE0-18625C38E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619" y="4270193"/>
            <a:ext cx="4204606" cy="248797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/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chemeClr val="accent2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chemeClr val="accent2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blipFill>
                <a:blip r:embed="rId3"/>
                <a:stretch>
                  <a:fillRect l="-931" t="-188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/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FFBF00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rgbClr val="FFBF00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rgbClr val="FFBF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rgbClr val="FFBF00"/>
                  </a:solidFill>
                </a:endParaRPr>
              </a:p>
            </p:txBody>
          </p:sp>
        </mc:Choice>
        <mc:Fallback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blipFill>
                <a:blip r:embed="rId4"/>
                <a:stretch>
                  <a:fillRect l="-931" t="-237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/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5B9BD5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5B9BD5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5B9BD5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5B9BD5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[</m:t>
                    </m:r>
                    <m:d>
                      <m:dPr>
                        <m:ctrlPr>
                          <a:rPr lang="fr-CA" b="0" i="0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-</a:t>
                </a:r>
                <a:r>
                  <a:rPr lang="fr-FR" dirty="0">
                    <a:solidFill>
                      <a:srgbClr val="5B9BD5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5B9BD5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=(0,1)</m:t>
                      </m:r>
                    </m:oMath>
                  </m:oMathPara>
                </a14:m>
                <a:endParaRPr lang="fr-CA" dirty="0">
                  <a:solidFill>
                    <a:srgbClr val="5B9BD5"/>
                  </a:solidFill>
                </a:endParaRPr>
              </a:p>
            </p:txBody>
          </p:sp>
        </mc:Choice>
        <mc:Fallback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blipFill>
                <a:blip r:embed="rId5"/>
                <a:stretch>
                  <a:fillRect l="-794" t="-1303" b="-195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/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6FAD46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6FAD46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6FAD46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6FAD46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-</a:t>
                </a:r>
                <a:r>
                  <a:rPr lang="fr-FR" dirty="0">
                    <a:solidFill>
                      <a:srgbClr val="6FAD46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6FAD46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CA" dirty="0">
                  <a:solidFill>
                    <a:srgbClr val="6FAD46"/>
                  </a:solidFill>
                </a:endParaRPr>
              </a:p>
            </p:txBody>
          </p:sp>
        </mc:Choice>
        <mc:Fallback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blipFill>
                <a:blip r:embed="rId6"/>
                <a:stretch>
                  <a:fillRect l="-873" t="-1629" b="-1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>
            <a:extLst>
              <a:ext uri="{FF2B5EF4-FFF2-40B4-BE49-F238E27FC236}">
                <a16:creationId xmlns:a16="http://schemas.microsoft.com/office/drawing/2014/main" id="{841669E0-8634-2A94-9DF2-325DD99B02AA}"/>
              </a:ext>
            </a:extLst>
          </p:cNvPr>
          <p:cNvSpPr txBox="1"/>
          <p:nvPr/>
        </p:nvSpPr>
        <p:spPr>
          <a:xfrm>
            <a:off x="5999988" y="500815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 err="1"/>
              <a:t>Dicrétisations</a:t>
            </a:r>
            <a:r>
              <a:rPr lang="fr-CA" dirty="0"/>
              <a:t> réalisées à l’aide des méthodes de </a:t>
            </a:r>
            <a:r>
              <a:rPr lang="fr-CA" dirty="0" err="1"/>
              <a:t>Gear</a:t>
            </a:r>
            <a:r>
              <a:rPr lang="fr-CA" dirty="0"/>
              <a:t>, d’ordre 2 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2A8A863-AC5E-8C31-7C35-11133CCD28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3976" y="5752785"/>
            <a:ext cx="609600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Méthodologie 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4000"/>
                  </a:lnSpc>
                </a:pPr>
                <a:r>
                  <a:rPr lang="fr-FR" dirty="0"/>
                  <a:t>Implémentation de divers tests avec le module </a:t>
                </a:r>
                <a:r>
                  <a:rPr lang="fr-FR" i="1" dirty="0" err="1"/>
                  <a:t>unittest</a:t>
                </a:r>
                <a:r>
                  <a:rPr lang="fr-FR" dirty="0"/>
                  <a:t> de python :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FR" b="1" dirty="0"/>
                  <a:t>Tests unitaires </a:t>
                </a:r>
                <a:r>
                  <a:rPr lang="fr-FR" dirty="0"/>
                  <a:t>pour les différentes fonctions du code 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FR" b="1" dirty="0" err="1"/>
                  <a:t>testPosition</a:t>
                </a:r>
                <a:r>
                  <a:rPr lang="fr-FR" dirty="0"/>
                  <a:t> : </a:t>
                </a:r>
                <a:r>
                  <a:rPr lang="fr-CA" dirty="0"/>
                  <a:t>Test la fonction Position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testMilieu</a:t>
                </a:r>
                <a:r>
                  <a:rPr lang="fr-CA" dirty="0"/>
                  <a:t> : Test la fonction Milieu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testTemperature</a:t>
                </a:r>
                <a:r>
                  <a:rPr lang="fr-CA" dirty="0"/>
                  <a:t> : Test la fonction </a:t>
                </a:r>
                <a:r>
                  <a:rPr lang="fr-CA" dirty="0" err="1"/>
                  <a:t>Temperature</a:t>
                </a:r>
                <a:r>
                  <a:rPr lang="fr-CA" dirty="0"/>
                  <a:t> avec des valeurs connues.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b="1" dirty="0"/>
                  <a:t>Tests de vérification de code </a:t>
                </a:r>
                <a:r>
                  <a:rPr lang="fr-CA" dirty="0"/>
                  <a:t>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testSymetrie</a:t>
                </a:r>
                <a:r>
                  <a:rPr lang="fr-CA" dirty="0"/>
                  <a:t> : Test la simplification de la condition de symétrie en comparant le résultat symétrique au résultat du domaine complet.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testConservationEnergie</a:t>
                </a:r>
                <a:r>
                  <a:rPr lang="fr-CA" dirty="0"/>
                  <a:t> : Test la conservation de l'énergie du solveur en effectuant un bilan </a:t>
                </a:r>
                <a:r>
                  <a:rPr lang="fr-CA" dirty="0" err="1"/>
                  <a:t>énegérique</a:t>
                </a:r>
                <a:r>
                  <a:rPr lang="fr-CA" dirty="0"/>
                  <a:t> à l'intérieur du domaine et sur la frontière. On cherche :</a:t>
                </a:r>
                <a:br>
                  <a:rPr lang="fr-CA" dirty="0"/>
                </a:b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𝑖𝑛𝑡</m:t>
                            </m:r>
                          </m:sub>
                        </m:sSub>
                      </m:e>
                    </m:acc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𝑓𝑟𝑜𝑛𝑡</m:t>
                            </m:r>
                          </m:sub>
                        </m:sSub>
                      </m:e>
                    </m:acc>
                  </m:oMath>
                </a14:m>
                <a:endParaRPr lang="fr-CA" dirty="0"/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testInvarianceGalileenne</a:t>
                </a:r>
                <a:r>
                  <a:rPr lang="fr-CA" dirty="0"/>
                  <a:t> : Test l’invariance galiléenne du solveur par translation des coordonnées.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dirty="0"/>
                  <a:t>Implémentation de la </a:t>
                </a:r>
                <a:r>
                  <a:rPr lang="fr-CA" b="1" dirty="0"/>
                  <a:t>MMS</a:t>
                </a:r>
                <a:r>
                  <a:rPr lang="fr-CA" dirty="0"/>
                  <a:t> pour évaluer l’ordre de convergence du solveur.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CA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  <a:blipFill>
                <a:blip r:embed="rId2"/>
                <a:stretch>
                  <a:fillRect l="-688" t="-700" r="-5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461F-0ADA-F2B0-A6E7-097DBD12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CE1403-3D16-B3B5-E3F3-9368B3195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Résultats 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99FE2D-5448-2AC8-260C-B0D0A0501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101" y="1690688"/>
            <a:ext cx="11185187" cy="4915643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34000"/>
              </a:lnSpc>
            </a:pPr>
            <a:r>
              <a:rPr lang="fr-FR" dirty="0"/>
              <a:t>Tests unitaires : rien de surprenant, objectif de conserver une pérennité et une stabilité du code malgré des changements.</a:t>
            </a:r>
          </a:p>
          <a:p>
            <a:pPr>
              <a:lnSpc>
                <a:spcPct val="134000"/>
              </a:lnSpc>
            </a:pPr>
            <a:r>
              <a:rPr lang="fr-FR" dirty="0"/>
              <a:t>Tests de vérification de code :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testSymmetrie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 A révélé un </a:t>
            </a:r>
            <a:r>
              <a:rPr lang="fr-FR" i="1" dirty="0"/>
              <a:t>champ de mine</a:t>
            </a:r>
            <a:r>
              <a:rPr lang="fr-FR" dirty="0"/>
              <a:t> de </a:t>
            </a:r>
            <a:r>
              <a:rPr lang="fr-FR" b="1" dirty="0"/>
              <a:t>bugs</a:t>
            </a:r>
            <a:r>
              <a:rPr lang="fr-FR" dirty="0"/>
              <a:t> au sein du code.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permis de revisiter et de réécrire correctement les </a:t>
            </a:r>
            <a:r>
              <a:rPr lang="fr-FR" b="1" dirty="0"/>
              <a:t>équations de discrétisation </a:t>
            </a:r>
            <a:r>
              <a:rPr lang="fr-FR" dirty="0"/>
              <a:t>(que nous croyions déjà bonne).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Problèmes </a:t>
            </a:r>
            <a:r>
              <a:rPr lang="fr-FR" b="1" dirty="0"/>
              <a:t>d’indexation des points</a:t>
            </a:r>
            <a:r>
              <a:rPr lang="fr-FR" dirty="0"/>
              <a:t>, notamment pour les conditions frontières aux </a:t>
            </a:r>
            <a:r>
              <a:rPr lang="fr-FR" i="1" dirty="0"/>
              <a:t>coins</a:t>
            </a:r>
            <a:r>
              <a:rPr lang="fr-FR" dirty="0"/>
              <a:t> du domaine.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testInvarianceGaliléenne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révélé quelques subtilités du code qui on permis de l’améliorer, notamment la manière dont est calculé le rayon et la manière dont sont initialisés les paramètres.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testConservationEnergie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Un peu complexe à mettre en place. 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Flux de chaleur conservé de manière satisfaisante, au millième près.</a:t>
            </a:r>
          </a:p>
        </p:txBody>
      </p:sp>
    </p:spTree>
    <p:extLst>
      <p:ext uri="{BB962C8B-B14F-4D97-AF65-F5344CB8AC3E}">
        <p14:creationId xmlns:p14="http://schemas.microsoft.com/office/powerpoint/2010/main" val="845833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B92D-CCAF-B970-4FDC-13189504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7134A-892B-0D3A-608A-3FB298A4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Méthodologie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34000"/>
                  </a:lnSpc>
                </a:pPr>
                <a:r>
                  <a:rPr lang="fr-FR" dirty="0"/>
                  <a:t>Implémentation de la méthode des solutions manufacturés. 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Changements nécessaires :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de conditions de Dirichlet aux </a:t>
                </a:r>
                <a:r>
                  <a:rPr lang="fr-FR" b="1" dirty="0"/>
                  <a:t>frontières extérieures</a:t>
                </a:r>
                <a:r>
                  <a:rPr lang="fr-FR" dirty="0"/>
                  <a:t>:</a:t>
                </a:r>
                <a:br>
                  <a:rPr lang="fr-FR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𝑀𝑀𝑆</m:t>
                            </m:r>
                          </m:sub>
                        </m:sSub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endParaRPr lang="fr-FR" dirty="0"/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d’un terme source dans l’équation du milieu du domaine.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Repenser la classe </a:t>
                </a:r>
                <a:r>
                  <a:rPr lang="fr-FR" i="1" dirty="0"/>
                  <a:t>Paramètres</a:t>
                </a:r>
                <a:r>
                  <a:rPr lang="fr-FR" dirty="0"/>
                  <a:t> pour intégrer le tout et permettre à un utilisateur d’imposer une </a:t>
                </a:r>
                <a:r>
                  <a:rPr lang="fr-FR" i="1" dirty="0"/>
                  <a:t>MMS</a:t>
                </a:r>
                <a:r>
                  <a:rPr lang="fr-FR" dirty="0"/>
                  <a:t>, ou non.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Équation choisie :</a:t>
                </a:r>
                <a:br>
                  <a:rPr lang="fr-FR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𝑀𝑀𝑆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func>
                      <m:func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CA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num>
                              <m:den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fr-CA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den>
                    </m:f>
                    <m:r>
                      <a:rPr lang="fr-CA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914400" lvl="2" indent="0" algn="ctr">
                  <a:lnSpc>
                    <a:spcPct val="134000"/>
                  </a:lnSpc>
                  <a:buNone/>
                </a:pPr>
                <a:r>
                  <a:rPr lang="fr-FR" dirty="0"/>
                  <a:t>Ici, on choisit 2 cosinus de manière à forcer l’équation a être symétrique aux frontières r=0, z=0.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Le calcul du terme source est fait à l’aide de la librairie </a:t>
                </a:r>
                <a:r>
                  <a:rPr lang="fr-FR" i="1" dirty="0" err="1"/>
                  <a:t>sympy</a:t>
                </a:r>
                <a:r>
                  <a:rPr lang="fr-FR" dirty="0"/>
                  <a:t> dans Python. Les développements ne seront donc pas présentés.</a:t>
                </a:r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  <a:blipFill>
                <a:blip r:embed="rId2"/>
                <a:stretch>
                  <a:fillRect l="-500" r="-44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80325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0F47C-EA86-426C-9E31-441BF44D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732BA4-6A05-72B7-DA5A-7F788E2C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16CC2A3-774C-4A0E-8885-22E49233D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54" y="1690688"/>
            <a:ext cx="8387292" cy="5032375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733C7CD-F52D-5C54-C2B4-44406B95C157}"/>
              </a:ext>
            </a:extLst>
          </p:cNvPr>
          <p:cNvGrpSpPr/>
          <p:nvPr/>
        </p:nvGrpSpPr>
        <p:grpSpPr>
          <a:xfrm>
            <a:off x="311285" y="5077838"/>
            <a:ext cx="3385226" cy="1448624"/>
            <a:chOff x="311285" y="5077838"/>
            <a:chExt cx="3385226" cy="14486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CB769F-2C76-74CB-5981-7343AE429DE5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CEEDC86A-29FF-1B82-1333-62836274B581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3AD781C3-D9E5-9A25-B650-D4D2A98A52FC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spatiale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914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F719-4F8B-B0BF-A652-91D4A8E1C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6CDAA5-638A-B4E8-6AFE-7C186CA43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6B8E9D59-8E3B-8479-E1C7-62F3A39A5D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000" y="1690688"/>
            <a:ext cx="8388000" cy="5032800"/>
          </a:xfrm>
          <a:prstGeom prst="rect">
            <a:avLst/>
          </a:prstGeom>
        </p:spPr>
      </p:pic>
      <p:grpSp>
        <p:nvGrpSpPr>
          <p:cNvPr id="8" name="Groupe 7">
            <a:extLst>
              <a:ext uri="{FF2B5EF4-FFF2-40B4-BE49-F238E27FC236}">
                <a16:creationId xmlns:a16="http://schemas.microsoft.com/office/drawing/2014/main" id="{4C4CFFBA-3429-F2F4-7F11-D968906589E4}"/>
              </a:ext>
            </a:extLst>
          </p:cNvPr>
          <p:cNvGrpSpPr/>
          <p:nvPr/>
        </p:nvGrpSpPr>
        <p:grpSpPr>
          <a:xfrm>
            <a:off x="209387" y="3016251"/>
            <a:ext cx="3385226" cy="1725623"/>
            <a:chOff x="311285" y="5077838"/>
            <a:chExt cx="3385226" cy="172562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A2EE6-1A05-1DB3-5DAA-1C28E8D82F63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EE0D9918-4259-5FE5-2239-A38236148190}"/>
                </a:ext>
              </a:extLst>
            </p:cNvPr>
            <p:cNvCxnSpPr>
              <a:stCxn id="9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FD1FA1AC-0CBB-05F3-2DE3-6DE994D15BDB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temporelle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55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2630</TotalTime>
  <Words>1110</Words>
  <Application>Microsoft Office PowerPoint</Application>
  <PresentationFormat>Grand écran</PresentationFormat>
  <Paragraphs>143</Paragraphs>
  <Slides>13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20" baseType="lpstr">
      <vt:lpstr>Aptos</vt:lpstr>
      <vt:lpstr>Aptos Display</vt:lpstr>
      <vt:lpstr>Arial</vt:lpstr>
      <vt:lpstr>Cambria</vt:lpstr>
      <vt:lpstr>Cambria Math</vt:lpstr>
      <vt:lpstr>Courier New</vt:lpstr>
      <vt:lpstr>Thème Office</vt:lpstr>
      <vt:lpstr>MEC8211 – Projet final</vt:lpstr>
      <vt:lpstr>Contexte</vt:lpstr>
      <vt:lpstr>Modélisation mathématique</vt:lpstr>
      <vt:lpstr>Modélisation mathématique</vt:lpstr>
      <vt:lpstr>Discrétisation : Milieu </vt:lpstr>
      <vt:lpstr>Discrétisation : frontières</vt:lpstr>
      <vt:lpstr>Calcul de l’ordre de convergence </vt:lpstr>
      <vt:lpstr>Calcul de l’ordre de convergence </vt:lpstr>
      <vt:lpstr>Vérification de code - Méthodologie :</vt:lpstr>
      <vt:lpstr>Vérification de code - Résultats :</vt:lpstr>
      <vt:lpstr>Vérification de code – MMS – Méthodologie </vt:lpstr>
      <vt:lpstr>Vérification de code – MMS – Résultats :</vt:lpstr>
      <vt:lpstr>Vérification de code – MMS – Résultats 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Antoine Payette-Toupin</cp:lastModifiedBy>
  <cp:revision>40</cp:revision>
  <dcterms:created xsi:type="dcterms:W3CDTF">2026-02-07T22:10:41Z</dcterms:created>
  <dcterms:modified xsi:type="dcterms:W3CDTF">2026-04-10T21:02:14Z</dcterms:modified>
</cp:coreProperties>
</file>