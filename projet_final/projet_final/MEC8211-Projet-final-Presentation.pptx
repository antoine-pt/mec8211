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80" r:id="rId3"/>
    <p:sldId id="281" r:id="rId4"/>
    <p:sldId id="258" r:id="rId5"/>
    <p:sldId id="282" r:id="rId6"/>
    <p:sldId id="257" r:id="rId7"/>
    <p:sldId id="264" r:id="rId8"/>
    <p:sldId id="259" r:id="rId9"/>
    <p:sldId id="263" r:id="rId10"/>
    <p:sldId id="260" r:id="rId11"/>
    <p:sldId id="262" r:id="rId12"/>
    <p:sldId id="283" r:id="rId13"/>
    <p:sldId id="269" r:id="rId14"/>
    <p:sldId id="290" r:id="rId15"/>
    <p:sldId id="286" r:id="rId16"/>
    <p:sldId id="284" r:id="rId17"/>
    <p:sldId id="261" r:id="rId18"/>
    <p:sldId id="265" r:id="rId19"/>
    <p:sldId id="266" r:id="rId20"/>
    <p:sldId id="267" r:id="rId21"/>
    <p:sldId id="268" r:id="rId22"/>
    <p:sldId id="285" r:id="rId23"/>
    <p:sldId id="272" r:id="rId24"/>
    <p:sldId id="270" r:id="rId25"/>
    <p:sldId id="287" r:id="rId26"/>
    <p:sldId id="271" r:id="rId27"/>
    <p:sldId id="278" r:id="rId28"/>
    <p:sldId id="273" r:id="rId29"/>
    <p:sldId id="276" r:id="rId30"/>
    <p:sldId id="288" r:id="rId31"/>
    <p:sldId id="277" r:id="rId32"/>
    <p:sldId id="289" r:id="rId33"/>
    <p:sldId id="274" r:id="rId3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6FAD46"/>
    <a:srgbClr val="FFBF00"/>
    <a:srgbClr val="EBE9E9"/>
    <a:srgbClr val="CBCBCB"/>
    <a:srgbClr val="F4EEEC"/>
    <a:srgbClr val="F7EFED"/>
    <a:srgbClr val="F8F0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02" autoAdjust="0"/>
    <p:restoredTop sz="94782" autoAdjust="0"/>
  </p:normalViewPr>
  <p:slideViewPr>
    <p:cSldViewPr snapToGrid="0">
      <p:cViewPr varScale="1">
        <p:scale>
          <a:sx n="106" d="100"/>
          <a:sy n="106" d="100"/>
        </p:scale>
        <p:origin x="81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18/04/2026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‹N°›</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1309825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31240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A5BB4-E065-36E2-E641-90C9FFDD783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2410028-CE57-DC42-95CE-01AA00C9DE1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76DD03-F160-73AB-38E7-83F367B7A56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636A260-3B6F-7D51-9372-EBA998234BA9}"/>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119422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05186-0725-443C-BC59-E521425E81CD}" type="slidenum">
              <a:rPr lang="fr-FR" smtClean="0"/>
              <a:t>28</a:t>
            </a:fld>
            <a:endParaRPr lang="fr-FR"/>
          </a:p>
        </p:txBody>
      </p:sp>
    </p:spTree>
    <p:extLst>
      <p:ext uri="{BB962C8B-B14F-4D97-AF65-F5344CB8AC3E}">
        <p14:creationId xmlns:p14="http://schemas.microsoft.com/office/powerpoint/2010/main" val="1028688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E29E3EF2-BB98-40F8-97FA-C4A3F82A773E}" type="datetime1">
              <a:rPr lang="fr-FR" smtClean="0"/>
              <a:t>18/04/2026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A212A586-A44F-4832-86AD-F3953D03CDFD}" type="datetime1">
              <a:rPr lang="fr-FR" smtClean="0"/>
              <a:t>18/04/2026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5F8470F2-053A-49C8-975F-D66A9D98776B}" type="datetime1">
              <a:rPr lang="fr-FR" smtClean="0"/>
              <a:t>18/04/2026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E16153F4-9539-487A-AAD9-7CDB222E0065}" type="datetime1">
              <a:rPr lang="fr-FR" smtClean="0"/>
              <a:t>18/04/2026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336F1CD1-F040-4758-8097-CF709F1D3BD2}" type="datetime1">
              <a:rPr lang="fr-FR" smtClean="0"/>
              <a:t>18/04/2026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3757EA93-3E66-43EA-9968-19C091DEE6B2}" type="datetime1">
              <a:rPr lang="fr-FR" smtClean="0"/>
              <a:t>18/04/2026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780D0892-96A3-401F-9540-0D0F4005E0BA}" type="datetime1">
              <a:rPr lang="fr-FR" smtClean="0"/>
              <a:t>18/04/2026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D2E4351D-395D-4EA4-B21E-7BFE1F4E205E}" type="datetime1">
              <a:rPr lang="fr-FR" smtClean="0"/>
              <a:t>18/04/2026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EADED27B-925F-4DEA-AB38-A034A10A1BE9}" type="datetime1">
              <a:rPr lang="fr-FR" smtClean="0"/>
              <a:t>18/04/2026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7A3D4F6E-E469-42CC-A5EB-D2CD9317FE9F}" type="datetime1">
              <a:rPr lang="fr-FR" smtClean="0"/>
              <a:t>18/04/2026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22E65B0F-6D1C-4B44-AEC8-DA6E37704C0A}" type="datetime1">
              <a:rPr lang="fr-FR" smtClean="0"/>
              <a:t>18/04/2026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BE9E9"/>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6CD994-6CF5-4070-B12A-5121E0D5A99F}" type="datetime1">
              <a:rPr lang="fr-FR" smtClean="0"/>
              <a:t>18/04/2026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390.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0.png"/><Relationship Id="rId5" Type="http://schemas.openxmlformats.org/officeDocument/2006/relationships/image" Target="../media/image43.png"/><Relationship Id="rId4" Type="http://schemas.openxmlformats.org/officeDocument/2006/relationships/image" Target="../media/image400.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2.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doi.org/10.1038/s41598-020-59441-1"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image" Target="../media/image450.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2003869"/>
            <a:ext cx="9144000" cy="1425131"/>
          </a:xfrm>
        </p:spPr>
        <p:txBody>
          <a:bodyPr>
            <a:normAutofit fontScale="90000"/>
          </a:bodyPr>
          <a:lstStyle/>
          <a:p>
            <a:r>
              <a:rPr lang="fr-FR" noProof="0" dirty="0"/>
              <a:t>MEC8211 – Projet final</a:t>
            </a:r>
            <a:br>
              <a:rPr lang="fr-FR" noProof="0" dirty="0"/>
            </a:br>
            <a:r>
              <a:rPr lang="fr-FR" sz="4400" noProof="0" dirty="0"/>
              <a:t>Vérification et Validation d’un solveur de différences finies réalisé dans le cadre du cours GCH2545 – Modélisation numérique en ingénierie</a:t>
            </a:r>
            <a:endParaRPr lang="fr-FR" noProof="0" dirty="0"/>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
        <p:nvSpPr>
          <p:cNvPr id="4" name="Slide Number Placeholder 3">
            <a:extLst>
              <a:ext uri="{FF2B5EF4-FFF2-40B4-BE49-F238E27FC236}">
                <a16:creationId xmlns:a16="http://schemas.microsoft.com/office/drawing/2014/main" id="{2248DCB1-A052-E9CC-ABC2-98BFD46A6AA7}"/>
              </a:ext>
            </a:extLst>
          </p:cNvPr>
          <p:cNvSpPr>
            <a:spLocks noGrp="1"/>
          </p:cNvSpPr>
          <p:nvPr>
            <p:ph type="sldNum" sz="quarter" idx="12"/>
          </p:nvPr>
        </p:nvSpPr>
        <p:spPr/>
        <p:txBody>
          <a:bodyPr/>
          <a:lstStyle/>
          <a:p>
            <a:fld id="{FD85B578-4E75-4E1C-9BE3-D5DCC0715B13}" type="slidenum">
              <a:rPr lang="fr-FR" smtClean="0"/>
              <a:t>1</a:t>
            </a:fld>
            <a:endParaRPr lang="fr-F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3741A-D670-05A1-AC08-A3CC97C8B7FC}"/>
            </a:ext>
          </a:extLst>
        </p:cNvPr>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A580AE8-1AA9-0663-5536-13AA633FDB5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769EC833-0136-6D99-E575-107B4A54AF11}"/>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2A82AE03-F803-8375-47FB-094E58C9B57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D28731A7-2B3F-2A40-1FA2-C7FEA7F115ED}"/>
              </a:ext>
            </a:extLst>
          </p:cNvPr>
          <p:cNvSpPr>
            <a:spLocks noGrp="1"/>
          </p:cNvSpPr>
          <p:nvPr>
            <p:ph type="sldNum" sz="quarter" idx="12"/>
          </p:nvPr>
        </p:nvSpPr>
        <p:spPr/>
        <p:txBody>
          <a:bodyPr/>
          <a:lstStyle/>
          <a:p>
            <a:fld id="{FD85B578-4E75-4E1C-9BE3-D5DCC0715B13}" type="slidenum">
              <a:rPr lang="fr-FR" smtClean="0"/>
              <a:t>2</a:t>
            </a:fld>
            <a:endParaRPr lang="fr-FR"/>
          </a:p>
        </p:txBody>
      </p:sp>
    </p:spTree>
    <p:extLst>
      <p:ext uri="{BB962C8B-B14F-4D97-AF65-F5344CB8AC3E}">
        <p14:creationId xmlns:p14="http://schemas.microsoft.com/office/powerpoint/2010/main" val="3477038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4A0F-0F40-D5BC-2927-F489832CA25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C9E7FA-56C9-AE1D-8AB5-608B544D484C}"/>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16DFF84-D54C-C36A-10BB-00EA092552D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b="1" dirty="0" err="1">
                <a:latin typeface="+mn-lt"/>
                <a:ea typeface="+mn-ea"/>
                <a:cs typeface="+mn-cs"/>
              </a:rPr>
              <a:t>Contexte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56BA1E48-524F-C15A-3A1C-59CAC6CC0AA7}"/>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CA5019B5-B3A0-A3EC-7A9C-1755EEA56886}"/>
              </a:ext>
            </a:extLst>
          </p:cNvPr>
          <p:cNvSpPr>
            <a:spLocks noGrp="1"/>
          </p:cNvSpPr>
          <p:nvPr>
            <p:ph type="sldNum" sz="quarter" idx="12"/>
          </p:nvPr>
        </p:nvSpPr>
        <p:spPr/>
        <p:txBody>
          <a:bodyPr/>
          <a:lstStyle/>
          <a:p>
            <a:fld id="{FD85B578-4E75-4E1C-9BE3-D5DCC0715B13}" type="slidenum">
              <a:rPr lang="fr-FR" smtClean="0"/>
              <a:t>3</a:t>
            </a:fld>
            <a:endParaRPr lang="fr-FR"/>
          </a:p>
        </p:txBody>
      </p:sp>
    </p:spTree>
    <p:extLst>
      <p:ext uri="{BB962C8B-B14F-4D97-AF65-F5344CB8AC3E}">
        <p14:creationId xmlns:p14="http://schemas.microsoft.com/office/powerpoint/2010/main" val="372266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CC2017-DAAB-E539-D03A-0EAF47A6CAA9}"/>
              </a:ext>
            </a:extLst>
          </p:cNvPr>
          <p:cNvSpPr>
            <a:spLocks noGrp="1"/>
          </p:cNvSpPr>
          <p:nvPr>
            <p:ph type="title"/>
          </p:nvPr>
        </p:nvSpPr>
        <p:spPr>
          <a:xfrm>
            <a:off x="838200" y="18255"/>
            <a:ext cx="10515600" cy="1325563"/>
          </a:xfrm>
        </p:spPr>
        <p:txBody>
          <a:bodyPr/>
          <a:lstStyle/>
          <a:p>
            <a:r>
              <a:rPr lang="fr-FR" dirty="0"/>
              <a:t>Contexte</a:t>
            </a:r>
          </a:p>
        </p:txBody>
      </p:sp>
      <p:sp>
        <p:nvSpPr>
          <p:cNvPr id="3" name="Espace réservé du contenu 2">
            <a:extLst>
              <a:ext uri="{FF2B5EF4-FFF2-40B4-BE49-F238E27FC236}">
                <a16:creationId xmlns:a16="http://schemas.microsoft.com/office/drawing/2014/main" id="{31B38F4B-B286-AB7C-64B1-7E3DB7D1D346}"/>
              </a:ext>
            </a:extLst>
          </p:cNvPr>
          <p:cNvSpPr>
            <a:spLocks noGrp="1"/>
          </p:cNvSpPr>
          <p:nvPr>
            <p:ph idx="1"/>
          </p:nvPr>
        </p:nvSpPr>
        <p:spPr>
          <a:xfrm>
            <a:off x="316992" y="1243584"/>
            <a:ext cx="5644896" cy="5248655"/>
          </a:xfrm>
        </p:spPr>
        <p:txBody>
          <a:bodyPr>
            <a:normAutofit lnSpcReduction="10000"/>
          </a:bodyPr>
          <a:lstStyle/>
          <a:p>
            <a:r>
              <a:rPr lang="fr-FR" dirty="0"/>
              <a:t>Vitesse de refroidissement influence les propriétés </a:t>
            </a:r>
          </a:p>
          <a:p>
            <a:pPr>
              <a:buFontTx/>
              <a:buChar char="-"/>
            </a:pPr>
            <a:r>
              <a:rPr lang="fr-FR" dirty="0"/>
              <a:t>Mécanique</a:t>
            </a:r>
          </a:p>
          <a:p>
            <a:pPr>
              <a:buFontTx/>
              <a:buChar char="-"/>
            </a:pPr>
            <a:r>
              <a:rPr lang="fr-FR" dirty="0"/>
              <a:t>Électrique</a:t>
            </a:r>
          </a:p>
          <a:p>
            <a:pPr>
              <a:buFontTx/>
              <a:buChar char="-"/>
            </a:pPr>
            <a:r>
              <a:rPr lang="fr-FR" dirty="0"/>
              <a:t>Thermique </a:t>
            </a:r>
          </a:p>
          <a:p>
            <a:pPr>
              <a:buFontTx/>
              <a:buChar char="-"/>
            </a:pPr>
            <a:endParaRPr lang="fr-FR" dirty="0"/>
          </a:p>
          <a:p>
            <a:r>
              <a:rPr lang="fr-FR" dirty="0"/>
              <a:t>Modéliser le refroidissement</a:t>
            </a:r>
          </a:p>
          <a:p>
            <a:pPr>
              <a:buFontTx/>
              <a:buChar char="-"/>
            </a:pPr>
            <a:r>
              <a:rPr lang="fr-FR" dirty="0"/>
              <a:t>Obtenir la vitesse de refroidissement</a:t>
            </a:r>
          </a:p>
          <a:p>
            <a:pPr>
              <a:buFontTx/>
              <a:buChar char="-"/>
            </a:pPr>
            <a:r>
              <a:rPr lang="fr-FR" dirty="0"/>
              <a:t>Connaître la composition du matériau final </a:t>
            </a:r>
          </a:p>
          <a:p>
            <a:pPr>
              <a:buFontTx/>
              <a:buChar char="-"/>
            </a:pPr>
            <a:r>
              <a:rPr lang="fr-FR" dirty="0"/>
              <a:t>Déduire ses propriétés </a:t>
            </a:r>
          </a:p>
        </p:txBody>
      </p:sp>
      <p:pic>
        <p:nvPicPr>
          <p:cNvPr id="5" name="Image 4">
            <a:extLst>
              <a:ext uri="{FF2B5EF4-FFF2-40B4-BE49-F238E27FC236}">
                <a16:creationId xmlns:a16="http://schemas.microsoft.com/office/drawing/2014/main" id="{A30176CA-BFB8-62B8-8124-3190FD696E28}"/>
              </a:ext>
            </a:extLst>
          </p:cNvPr>
          <p:cNvPicPr>
            <a:picLocks noChangeAspect="1"/>
          </p:cNvPicPr>
          <p:nvPr/>
        </p:nvPicPr>
        <p:blipFill>
          <a:blip r:embed="rId3"/>
          <a:stretch>
            <a:fillRect/>
          </a:stretch>
        </p:blipFill>
        <p:spPr>
          <a:xfrm>
            <a:off x="6483096" y="883433"/>
            <a:ext cx="4839119" cy="5608806"/>
          </a:xfrm>
          <a:prstGeom prst="rect">
            <a:avLst/>
          </a:prstGeom>
        </p:spPr>
      </p:pic>
      <p:sp>
        <p:nvSpPr>
          <p:cNvPr id="4" name="Slide Number Placeholder 3">
            <a:extLst>
              <a:ext uri="{FF2B5EF4-FFF2-40B4-BE49-F238E27FC236}">
                <a16:creationId xmlns:a16="http://schemas.microsoft.com/office/drawing/2014/main" id="{2769009E-BDF1-3202-1C66-42A44C6CCB2C}"/>
              </a:ext>
            </a:extLst>
          </p:cNvPr>
          <p:cNvSpPr>
            <a:spLocks noGrp="1"/>
          </p:cNvSpPr>
          <p:nvPr>
            <p:ph type="sldNum" sz="quarter" idx="12"/>
          </p:nvPr>
        </p:nvSpPr>
        <p:spPr/>
        <p:txBody>
          <a:bodyPr/>
          <a:lstStyle/>
          <a:p>
            <a:fld id="{FD85B578-4E75-4E1C-9BE3-D5DCC0715B13}" type="slidenum">
              <a:rPr lang="fr-FR" smtClean="0"/>
              <a:t>4</a:t>
            </a:fld>
            <a:endParaRPr lang="fr-FR"/>
          </a:p>
        </p:txBody>
      </p:sp>
    </p:spTree>
    <p:extLst>
      <p:ext uri="{BB962C8B-B14F-4D97-AF65-F5344CB8AC3E}">
        <p14:creationId xmlns:p14="http://schemas.microsoft.com/office/powerpoint/2010/main" val="63502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CA42-48D1-B6A9-E369-4768900366B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0094CF-DF10-F5BA-E586-A30A3E25DCF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89A1A2BC-DF47-2146-7BC9-DFFEAC11E914}"/>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err="1">
                <a:latin typeface="+mn-lt"/>
                <a:ea typeface="+mn-ea"/>
                <a:cs typeface="+mn-cs"/>
              </a:rPr>
              <a:t>Modélisation</a:t>
            </a:r>
            <a:r>
              <a:rPr lang="en-US" sz="2000" b="1" dirty="0">
                <a:latin typeface="+mn-lt"/>
                <a:ea typeface="+mn-ea"/>
                <a:cs typeface="+mn-cs"/>
              </a:rPr>
              <a:t> </a:t>
            </a:r>
            <a:r>
              <a:rPr lang="en-US" sz="2000" b="1" dirty="0" err="1">
                <a:latin typeface="+mn-lt"/>
                <a:ea typeface="+mn-ea"/>
                <a:cs typeface="+mn-cs"/>
              </a:rPr>
              <a:t>Mathématique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A67FF553-B74C-97DD-6327-944F8FA436E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0C19C76F-D2CD-F37B-0BA6-4D40F6D23259}"/>
              </a:ext>
            </a:extLst>
          </p:cNvPr>
          <p:cNvSpPr>
            <a:spLocks noGrp="1"/>
          </p:cNvSpPr>
          <p:nvPr>
            <p:ph type="sldNum" sz="quarter" idx="12"/>
          </p:nvPr>
        </p:nvSpPr>
        <p:spPr/>
        <p:txBody>
          <a:bodyPr/>
          <a:lstStyle/>
          <a:p>
            <a:fld id="{FD85B578-4E75-4E1C-9BE3-D5DCC0715B13}" type="slidenum">
              <a:rPr lang="fr-FR" smtClean="0"/>
              <a:t>5</a:t>
            </a:fld>
            <a:endParaRPr lang="fr-FR"/>
          </a:p>
        </p:txBody>
      </p:sp>
    </p:spTree>
    <p:extLst>
      <p:ext uri="{BB962C8B-B14F-4D97-AF65-F5344CB8AC3E}">
        <p14:creationId xmlns:p14="http://schemas.microsoft.com/office/powerpoint/2010/main" val="2668913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7DC965-0D72-AE8E-8F68-A22FDD3D8CDE}"/>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D0B43374-E0C7-ED3F-B765-703070E6A6FC}"/>
                  </a:ext>
                </a:extLst>
              </p:cNvPr>
              <p:cNvSpPr>
                <a:spLocks noGrp="1"/>
              </p:cNvSpPr>
              <p:nvPr>
                <p:ph idx="1"/>
              </p:nvPr>
            </p:nvSpPr>
            <p:spPr>
              <a:xfrm>
                <a:off x="838200" y="1155033"/>
                <a:ext cx="8177463" cy="5358062"/>
              </a:xfrm>
            </p:spPr>
            <p:txBody>
              <a:bodyPr>
                <a:normAutofit/>
              </a:bodyPr>
              <a:lstStyle/>
              <a:p>
                <a:pPr fontAlgn="base"/>
                <a:r>
                  <a:rPr lang="fr-FR" dirty="0"/>
                  <a:t>Refroidissement à l'air ambient d'un lingot métallique cylindrique </a:t>
                </a:r>
                <a:r>
                  <a:rPr lang="en-US" dirty="0"/>
                  <a:t>​</a:t>
                </a:r>
              </a:p>
              <a:p>
                <a:pPr fontAlgn="base"/>
                <a:r>
                  <a:rPr lang="fr-FR" dirty="0"/>
                  <a:t>Température initiale uniforme </a:t>
                </a:r>
                <a:r>
                  <a:rPr lang="en-US" dirty="0"/>
                  <a:t>​</a:t>
                </a:r>
              </a:p>
              <a:p>
                <a:pPr fontAlgn="base"/>
                <a:r>
                  <a:rPr lang="fr-FR" dirty="0"/>
                  <a:t>Modélisation mathématique :</a:t>
                </a:r>
              </a:p>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dirty="0"/>
              </a:p>
              <a:p>
                <a:pPr marL="0" indent="0">
                  <a:spcBef>
                    <a:spcPts val="1800"/>
                  </a:spcBef>
                  <a:buNone/>
                </a:pPr>
                <a:r>
                  <a:rPr lang="fr-FR" dirty="0"/>
                  <a:t>Perte thermique surfacique </a:t>
                </a:r>
              </a:p>
              <a:p>
                <a:pPr marL="0" indent="0" algn="ctr">
                  <a:spcBef>
                    <a:spcPts val="1800"/>
                  </a:spcBef>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m:t>
                      </m:r>
                      <m:r>
                        <a:rPr lang="fr-FR" b="0" i="1" smtClean="0">
                          <a:latin typeface="Cambria Math" panose="02040503050406030204" pitchFamily="18" charset="0"/>
                        </a:rPr>
                        <m:t>𝑘</m:t>
                      </m:r>
                      <m:r>
                        <m:rPr>
                          <m:sty m:val="p"/>
                        </m:rPr>
                        <a:rPr lang="fr-FR" b="0" i="1" smtClean="0">
                          <a:latin typeface="Cambria Math" panose="02040503050406030204" pitchFamily="18" charset="0"/>
                        </a:rPr>
                        <m:t>∇</m:t>
                      </m:r>
                      <m:r>
                        <a:rPr lang="fr-FR" b="0" i="1" smtClean="0">
                          <a:latin typeface="Cambria Math" panose="02040503050406030204" pitchFamily="18" charset="0"/>
                        </a:rPr>
                        <m:t>𝑇</m:t>
                      </m:r>
                      <m:r>
                        <a:rPr lang="fr-FR" b="0" i="1" smtClean="0">
                          <a:latin typeface="Cambria Math" panose="02040503050406030204" pitchFamily="18" charset="0"/>
                        </a:rPr>
                        <m:t>.</m:t>
                      </m:r>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rPr>
                        <m:t>h</m:t>
                      </m:r>
                      <m:d>
                        <m:dPr>
                          <m:ctrlPr>
                            <a:rPr lang="fr-FR" b="0" i="1" smtClean="0">
                              <a:latin typeface="Cambria Math" panose="02040503050406030204" pitchFamily="18" charset="0"/>
                            </a:rPr>
                          </m:ctrlPr>
                        </m:dPr>
                        <m:e>
                          <m:r>
                            <a:rPr lang="fr-FR" b="0" i="1" smtClean="0">
                              <a:latin typeface="Cambria Math" panose="02040503050406030204" pitchFamily="18" charset="0"/>
                            </a:rPr>
                            <m:t>𝑇</m:t>
                          </m:r>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b="0" i="1" smtClean="0">
                                  <a:latin typeface="Cambria Math" panose="02040503050406030204" pitchFamily="18" charset="0"/>
                                </a:rPr>
                                <m:t>𝑇</m:t>
                              </m:r>
                            </m:e>
                            <m:sub>
                              <m:r>
                                <a:rPr lang="fr-FR" i="1">
                                  <a:latin typeface="Cambria Math" panose="02040503050406030204" pitchFamily="18" charset="0"/>
                                </a:rPr>
                                <m:t>∞</m:t>
                              </m:r>
                              <m:r>
                                <m:rPr>
                                  <m:nor/>
                                </m:rPr>
                                <a:rPr lang="fr-FR" dirty="0"/>
                                <m:t> </m:t>
                              </m:r>
                            </m:sub>
                          </m:sSub>
                        </m:e>
                      </m:d>
                      <m:r>
                        <a:rPr lang="fr-FR" b="0" i="1" smtClean="0">
                          <a:latin typeface="Cambria Math" panose="02040503050406030204" pitchFamily="18" charset="0"/>
                        </a:rPr>
                        <m:t>+</m:t>
                      </m:r>
                      <m:r>
                        <m:rPr>
                          <m:sty m:val="p"/>
                        </m:rPr>
                        <a:rPr lang="fr-FR" b="0" i="1" smtClean="0">
                          <a:latin typeface="Cambria Math" panose="02040503050406030204" pitchFamily="18" charset="0"/>
                        </a:rPr>
                        <m:t>ϵσ</m:t>
                      </m:r>
                      <m:r>
                        <a:rPr lang="fr-FR" b="0" i="1" smtClean="0">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𝑇</m:t>
                          </m:r>
                        </m:e>
                        <m:sup>
                          <m:r>
                            <a:rPr lang="fr-FR" b="0" i="1" smtClean="0">
                              <a:latin typeface="Cambria Math" panose="02040503050406030204" pitchFamily="18" charset="0"/>
                            </a:rPr>
                            <m:t>4</m:t>
                          </m:r>
                        </m:sup>
                      </m:s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FR" i="1">
                              <a:latin typeface="Cambria Math" panose="02040503050406030204" pitchFamily="18" charset="0"/>
                            </a:rPr>
                            <m:t>∞</m:t>
                          </m:r>
                        </m:sub>
                        <m:sup>
                          <m:r>
                            <a:rPr lang="fr-FR" i="1">
                              <a:latin typeface="Cambria Math" panose="02040503050406030204" pitchFamily="18" charset="0"/>
                            </a:rPr>
                            <m:t>4</m:t>
                          </m:r>
                        </m:sup>
                      </m:sSubSup>
                      <m:r>
                        <a:rPr lang="fr-FR" b="0" i="1" smtClean="0">
                          <a:latin typeface="Cambria Math" panose="02040503050406030204" pitchFamily="18" charset="0"/>
                        </a:rPr>
                        <m:t>)</m:t>
                      </m:r>
                    </m:oMath>
                  </m:oMathPara>
                </a14:m>
                <a:endParaRPr lang="fr-FR" dirty="0"/>
              </a:p>
              <a:p>
                <a:pPr marL="228600" marR="0" lvl="0" indent="-228600" algn="l" defTabSz="914400" rtl="0" eaLnBrk="1" fontAlgn="base" latinLnBrk="0" hangingPunct="1">
                  <a:lnSpc>
                    <a:spcPct val="90000"/>
                  </a:lnSpc>
                  <a:spcBef>
                    <a:spcPts val="24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Symétrie par rotation autour de l’axe central </a:t>
                </a:r>
              </a:p>
              <a:p>
                <a:pPr marL="0" marR="0" lvl="0" indent="0" algn="ctr" defTabSz="914400" rtl="0" eaLnBrk="1" fontAlgn="base" latinLnBrk="0" hangingPunct="1">
                  <a:lnSpc>
                    <a:spcPct val="90000"/>
                  </a:lnSpc>
                  <a:spcBef>
                    <a:spcPts val="1000"/>
                  </a:spcBef>
                  <a:spcAft>
                    <a:spcPts val="0"/>
                  </a:spcAft>
                  <a:buClrTx/>
                  <a:buSzTx/>
                  <a:buNone/>
                  <a:tabLst/>
                  <a:defRPr/>
                </a:pPr>
                <a14:m>
                  <m:oMathPara xmlns:m="http://schemas.openxmlformats.org/officeDocument/2006/math">
                    <m:oMathParaPr>
                      <m:jc m:val="centerGroup"/>
                    </m:oMathParaPr>
                    <m:oMath xmlns:m="http://schemas.openxmlformats.org/officeDocument/2006/math">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d>
                        <m:dPr>
                          <m:ctrl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sty m:val="p"/>
                            </m:r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θ</m:t>
                          </m:r>
                        </m:e>
                      </m:d>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m:oMathPara>
                </a14:m>
                <a:endPar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rtl="0" eaLnBrk="1" fontAlgn="base" latinLnBrk="0" hangingPunct="1">
                  <a:lnSpc>
                    <a:spcPct val="90000"/>
                  </a:lnSpc>
                  <a:spcBef>
                    <a:spcPts val="1000"/>
                  </a:spcBef>
                  <a:spcAft>
                    <a:spcPts val="0"/>
                  </a:spcAft>
                  <a:buClrTx/>
                  <a:buSzTx/>
                  <a:buNone/>
                  <a:tabLst/>
                  <a:defRPr/>
                </a:pP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indent="0" algn="just">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D0B43374-E0C7-ED3F-B765-703070E6A6FC}"/>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566" t="-1934" b="-796"/>
                </a:stretch>
              </a:blipFill>
            </p:spPr>
            <p:txBody>
              <a:bodyPr/>
              <a:lstStyle/>
              <a:p>
                <a:r>
                  <a:rPr lang="fr-CA">
                    <a:noFill/>
                  </a:rPr>
                  <a:t> </a:t>
                </a:r>
              </a:p>
            </p:txBody>
          </p:sp>
        </mc:Fallback>
      </mc:AlternateContent>
      <p:pic>
        <p:nvPicPr>
          <p:cNvPr id="1026" name="Picture 2" descr="Une image contenant croquis, dessin, conception, illustration&#10;&#10;Le contenu généré par l’IA peut être incorrect.">
            <a:extLst>
              <a:ext uri="{FF2B5EF4-FFF2-40B4-BE49-F238E27FC236}">
                <a16:creationId xmlns:a16="http://schemas.microsoft.com/office/drawing/2014/main" id="{315D7CC8-D87C-AF7A-933C-0B5D336491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9114" y="232980"/>
            <a:ext cx="2171199" cy="3021902"/>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44134258-3467-C98F-64B0-DF4243CE64E0}"/>
              </a:ext>
            </a:extLst>
          </p:cNvPr>
          <p:cNvPicPr>
            <a:picLocks noChangeAspect="1"/>
          </p:cNvPicPr>
          <p:nvPr/>
        </p:nvPicPr>
        <p:blipFill>
          <a:blip r:embed="rId4"/>
          <a:stretch>
            <a:fillRect/>
          </a:stretch>
        </p:blipFill>
        <p:spPr>
          <a:xfrm>
            <a:off x="8372852" y="3798791"/>
            <a:ext cx="3533376" cy="2233360"/>
          </a:xfrm>
          <a:prstGeom prst="rect">
            <a:avLst/>
          </a:prstGeom>
        </p:spPr>
      </p:pic>
      <p:sp>
        <p:nvSpPr>
          <p:cNvPr id="4" name="Slide Number Placeholder 3">
            <a:extLst>
              <a:ext uri="{FF2B5EF4-FFF2-40B4-BE49-F238E27FC236}">
                <a16:creationId xmlns:a16="http://schemas.microsoft.com/office/drawing/2014/main" id="{0729C1A6-27F8-6BFF-4EEE-C72E36B60348}"/>
              </a:ext>
            </a:extLst>
          </p:cNvPr>
          <p:cNvSpPr>
            <a:spLocks noGrp="1"/>
          </p:cNvSpPr>
          <p:nvPr>
            <p:ph type="sldNum" sz="quarter" idx="12"/>
          </p:nvPr>
        </p:nvSpPr>
        <p:spPr/>
        <p:txBody>
          <a:bodyPr/>
          <a:lstStyle/>
          <a:p>
            <a:fld id="{FD85B578-4E75-4E1C-9BE3-D5DCC0715B13}" type="slidenum">
              <a:rPr lang="fr-FR" smtClean="0"/>
              <a:t>6</a:t>
            </a:fld>
            <a:endParaRPr lang="fr-FR"/>
          </a:p>
        </p:txBody>
      </p:sp>
    </p:spTree>
    <p:extLst>
      <p:ext uri="{BB962C8B-B14F-4D97-AF65-F5344CB8AC3E}">
        <p14:creationId xmlns:p14="http://schemas.microsoft.com/office/powerpoint/2010/main" val="2862860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94C9-7099-3A84-9A6D-5B2A0879B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EC12AB-5894-7E9F-0510-EB109BFCA985}"/>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073797C-3545-B398-B72A-5A621002005D}"/>
                  </a:ext>
                </a:extLst>
              </p:cNvPr>
              <p:cNvSpPr>
                <a:spLocks noGrp="1"/>
              </p:cNvSpPr>
              <p:nvPr>
                <p:ph idx="1"/>
              </p:nvPr>
            </p:nvSpPr>
            <p:spPr>
              <a:xfrm>
                <a:off x="838200" y="1155033"/>
                <a:ext cx="8177463" cy="5358062"/>
              </a:xfrm>
            </p:spPr>
            <p:txBody>
              <a:bodyPr>
                <a:normAutofit fontScale="92500" lnSpcReduction="10000"/>
              </a:bodyPr>
              <a:lstStyle/>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b="0" dirty="0"/>
              </a:p>
              <a:p>
                <a:pPr marL="0" indent="0">
                  <a:spcBef>
                    <a:spcPts val="1800"/>
                  </a:spcBef>
                  <a:buNone/>
                </a:pPr>
                <a:r>
                  <a:rPr lang="fr-FR" dirty="0"/>
                  <a:t>En cartésien, on a :</a:t>
                </a:r>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𝑥</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𝑦</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b="0" dirty="0"/>
              </a:p>
              <a:p>
                <a:pPr marL="0" indent="0">
                  <a:spcBef>
                    <a:spcPts val="1800"/>
                  </a:spcBef>
                  <a:buNone/>
                </a:pPr>
                <a:r>
                  <a:rPr lang="fr-FR" dirty="0"/>
                  <a:t>En cylindrique, on retrouve :</a:t>
                </a:r>
              </a:p>
              <a:p>
                <a:pPr marL="0" indent="0">
                  <a:spcBef>
                    <a:spcPts val="1800"/>
                  </a:spcBef>
                  <a:buNone/>
                </a:pPr>
                <a14:m>
                  <m:oMathPara xmlns:m="http://schemas.openxmlformats.org/officeDocument/2006/math">
                    <m:oMathParaPr>
                      <m:jc m:val="centerGroup"/>
                    </m:oMathParaPr>
                    <m:oMath xmlns:m="http://schemas.openxmlformats.org/officeDocument/2006/math">
                      <m:r>
                        <a:rPr lang="fr-CA" b="0" i="1" smtClean="0">
                          <a:latin typeface="Cambria Math" panose="02040503050406030204" pitchFamily="18" charset="0"/>
                        </a:rPr>
                        <m:t>𝑥</m:t>
                      </m:r>
                      <m:r>
                        <a:rPr lang="fr-CA" i="1">
                          <a:latin typeface="Cambria Math" panose="02040503050406030204" pitchFamily="18" charset="0"/>
                        </a:rPr>
                        <m:t>=</m:t>
                      </m:r>
                      <m:r>
                        <m:rPr>
                          <m:sty m:val="p"/>
                        </m:rPr>
                        <a:rPr lang="fr-CA">
                          <a:latin typeface="Cambria Math" panose="02040503050406030204" pitchFamily="18" charset="0"/>
                        </a:rPr>
                        <m:t>r</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𝜃</m:t>
                              </m:r>
                            </m:e>
                          </m:d>
                        </m:e>
                      </m:func>
                      <m:r>
                        <a:rPr lang="fr-CA" i="1">
                          <a:latin typeface="Cambria Math" panose="02040503050406030204" pitchFamily="18" charset="0"/>
                        </a:rPr>
                        <m:t>𝑒𝑡</m:t>
                      </m:r>
                      <m:r>
                        <a:rPr lang="fr-CA" i="1">
                          <a:latin typeface="Cambria Math" panose="02040503050406030204" pitchFamily="18" charset="0"/>
                        </a:rPr>
                        <m:t> </m:t>
                      </m:r>
                      <m:r>
                        <a:rPr lang="fr-CA" i="1">
                          <a:latin typeface="Cambria Math" panose="02040503050406030204" pitchFamily="18" charset="0"/>
                        </a:rPr>
                        <m:t>𝑦</m:t>
                      </m:r>
                      <m:r>
                        <a:rPr lang="fr-CA" i="1">
                          <a:latin typeface="Cambria Math" panose="02040503050406030204" pitchFamily="18" charset="0"/>
                        </a:rPr>
                        <m:t>=</m:t>
                      </m:r>
                      <m:r>
                        <a:rPr lang="fr-CA" b="0" i="1" smtClean="0">
                          <a:latin typeface="Cambria Math" panose="02040503050406030204" pitchFamily="18" charset="0"/>
                        </a:rPr>
                        <m:t>𝑧</m:t>
                      </m:r>
                      <m:r>
                        <a:rPr lang="fr-CA" b="0" i="1" smtClean="0">
                          <a:latin typeface="Cambria Math" panose="02040503050406030204" pitchFamily="18" charset="0"/>
                        </a:rPr>
                        <m:t>, </m:t>
                      </m:r>
                      <m:r>
                        <a:rPr lang="fr-CA" b="0" i="1" smtClean="0">
                          <a:latin typeface="Cambria Math" panose="02040503050406030204" pitchFamily="18" charset="0"/>
                        </a:rPr>
                        <m:t>𝜃</m:t>
                      </m:r>
                      <m:r>
                        <a:rPr lang="fr-CA" b="0" i="1" smtClean="0">
                          <a:latin typeface="Cambria Math" panose="02040503050406030204" pitchFamily="18" charset="0"/>
                        </a:rPr>
                        <m:t>=0</m:t>
                      </m:r>
                    </m:oMath>
                  </m:oMathPara>
                </a14:m>
                <a:endParaRPr lang="fr-FR" dirty="0"/>
              </a:p>
              <a:p>
                <a:pPr marL="0" indent="0" algn="ctr">
                  <a:spcBef>
                    <a:spcPts val="1800"/>
                  </a:spcBef>
                  <a:buNone/>
                </a:pPr>
                <a14:m>
                  <m:oMath xmlns:m="http://schemas.openxmlformats.org/officeDocument/2006/math">
                    <m:sSup>
                      <m:sSupPr>
                        <m:ctrlPr>
                          <a:rPr lang="fr-FR" i="1">
                            <a:latin typeface="Cambria Math" panose="02040503050406030204" pitchFamily="18" charset="0"/>
                          </a:rPr>
                        </m:ctrlPr>
                      </m:sSupPr>
                      <m:e>
                        <m:r>
                          <m:rPr>
                            <m:sty m:val="p"/>
                          </m:rP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oMath>
                </a14:m>
                <a:r>
                  <a:rPr lang="fr-FR" dirty="0"/>
                  <a:t> = </a:t>
                </a:r>
                <a14:m>
                  <m:oMath xmlns:m="http://schemas.openxmlformats.org/officeDocument/2006/math">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oMath>
                </a14:m>
                <a:endParaRPr lang="fr-FR" dirty="0"/>
              </a:p>
              <a:p>
                <a:pPr marL="0" indent="0" algn="ctr">
                  <a:spcBef>
                    <a:spcPts val="1800"/>
                  </a:spcBef>
                  <a:buNone/>
                </a:pPr>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FR" i="1">
                          <a:latin typeface="Cambria Math" panose="02040503050406030204" pitchFamily="18" charset="0"/>
                        </a:rPr>
                        <m:t> </m:t>
                      </m:r>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i="1" dirty="0">
                  <a:latin typeface="Cambria Math" panose="02040503050406030204" pitchFamily="18" charset="0"/>
                </a:endParaRPr>
              </a:p>
              <a:p>
                <a:pPr marL="0" indent="0">
                  <a:spcBef>
                    <a:spcPts val="1800"/>
                  </a:spcBef>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073797C-3545-B398-B72A-5A621002005D}"/>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342" t="-2275"/>
                </a:stretch>
              </a:blipFill>
            </p:spPr>
            <p:txBody>
              <a:bodyPr/>
              <a:lstStyle/>
              <a:p>
                <a:r>
                  <a:rPr lang="fr-CA">
                    <a:noFill/>
                  </a:rPr>
                  <a:t> </a:t>
                </a:r>
              </a:p>
            </p:txBody>
          </p:sp>
        </mc:Fallback>
      </mc:AlternateContent>
      <p:sp>
        <p:nvSpPr>
          <p:cNvPr id="4" name="Rectangle 3">
            <a:extLst>
              <a:ext uri="{FF2B5EF4-FFF2-40B4-BE49-F238E27FC236}">
                <a16:creationId xmlns:a16="http://schemas.microsoft.com/office/drawing/2014/main" id="{D8880BBA-A9C5-15DA-64A8-34FD76C6B27D}"/>
              </a:ext>
            </a:extLst>
          </p:cNvPr>
          <p:cNvSpPr/>
          <p:nvPr/>
        </p:nvSpPr>
        <p:spPr>
          <a:xfrm>
            <a:off x="2606040" y="5321808"/>
            <a:ext cx="4828032" cy="1325563"/>
          </a:xfrm>
          <a:prstGeom prst="rect">
            <a:avLst/>
          </a:prstGeom>
          <a:noFill/>
          <a:ln>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0D3DAD9B-F895-38F3-7E66-F7CE93598C25}"/>
                  </a:ext>
                </a:extLst>
              </p:cNvPr>
              <p:cNvSpPr txBox="1"/>
              <p:nvPr/>
            </p:nvSpPr>
            <p:spPr>
              <a:xfrm>
                <a:off x="8054501" y="1155033"/>
                <a:ext cx="3920247" cy="4524315"/>
              </a:xfrm>
              <a:prstGeom prst="rect">
                <a:avLst/>
              </a:prstGeom>
              <a:noFill/>
            </p:spPr>
            <p:txBody>
              <a:bodyPr wrap="square" rtlCol="0">
                <a:spAutoFit/>
              </a:bodyPr>
              <a:lstStyle/>
              <a:p>
                <a:r>
                  <a:rPr lang="fr-CA" dirty="0"/>
                  <a:t>Schéma d’Euler Explicite :</a:t>
                </a:r>
              </a:p>
              <a:p>
                <a:endParaRPr lang="fr-CA" dirty="0"/>
              </a:p>
              <a:p>
                <a:r>
                  <a:rPr lang="fr-CA" dirty="0"/>
                  <a:t>On vient évaluer l’état d’un système à un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dirty="0"/>
                  <a:t> à l’aide de l’état de ce système au temps </a:t>
                </a:r>
                <a14:m>
                  <m:oMath xmlns:m="http://schemas.openxmlformats.org/officeDocument/2006/math">
                    <m:r>
                      <a:rPr lang="fr-CA" b="0" i="1" smtClean="0">
                        <a:latin typeface="Cambria Math" panose="02040503050406030204" pitchFamily="18" charset="0"/>
                      </a:rPr>
                      <m:t>𝑡</m:t>
                    </m:r>
                  </m:oMath>
                </a14:m>
                <a:r>
                  <a:rPr lang="fr-CA" dirty="0"/>
                  <a:t>.</a:t>
                </a:r>
              </a:p>
              <a:p>
                <a:endParaRPr lang="fr-CA" dirty="0"/>
              </a:p>
              <a:p>
                <a:r>
                  <a:rPr lang="fr-CA" dirty="0"/>
                  <a:t>Méthode directe (pas de système à résoudre) et peu coûteuse.</a:t>
                </a:r>
              </a:p>
              <a:p>
                <a:endParaRPr lang="fr-CA" dirty="0"/>
              </a:p>
              <a:p>
                <a:r>
                  <a:rPr lang="fr-CA" dirty="0"/>
                  <a:t>Problème de stabilité : la méthode d’Euler explicite nécessite de respecter un critère de stabilité entre la discrétisation en temps et en espace :</a:t>
                </a:r>
              </a:p>
              <a:p>
                <a:endParaRPr lang="fr-CA" dirty="0"/>
              </a:p>
              <a:p>
                <a:endParaRPr lang="fr-CA" dirty="0"/>
              </a:p>
            </p:txBody>
          </p:sp>
        </mc:Choice>
        <mc:Fallback xmlns="">
          <p:sp>
            <p:nvSpPr>
              <p:cNvPr id="6" name="ZoneTexte 5">
                <a:extLst>
                  <a:ext uri="{FF2B5EF4-FFF2-40B4-BE49-F238E27FC236}">
                    <a16:creationId xmlns:a16="http://schemas.microsoft.com/office/drawing/2014/main" id="{0D3DAD9B-F895-38F3-7E66-F7CE93598C25}"/>
                  </a:ext>
                </a:extLst>
              </p:cNvPr>
              <p:cNvSpPr txBox="1">
                <a:spLocks noRot="1" noChangeAspect="1" noMove="1" noResize="1" noEditPoints="1" noAdjustHandles="1" noChangeArrowheads="1" noChangeShapeType="1" noTextEdit="1"/>
              </p:cNvSpPr>
              <p:nvPr/>
            </p:nvSpPr>
            <p:spPr>
              <a:xfrm>
                <a:off x="8054501" y="1155033"/>
                <a:ext cx="3920247" cy="4524315"/>
              </a:xfrm>
              <a:prstGeom prst="rect">
                <a:avLst/>
              </a:prstGeom>
              <a:blipFill>
                <a:blip r:embed="rId3"/>
                <a:stretch>
                  <a:fillRect l="-1244" t="-538" r="-467"/>
                </a:stretch>
              </a:blipFill>
            </p:spPr>
            <p:txBody>
              <a:bodyPr/>
              <a:lstStyle/>
              <a:p>
                <a:r>
                  <a:rPr lang="fr-CA">
                    <a:noFill/>
                  </a:rPr>
                  <a:t> </a:t>
                </a:r>
              </a:p>
            </p:txBody>
          </p:sp>
        </mc:Fallback>
      </mc:AlternateContent>
      <p:pic>
        <p:nvPicPr>
          <p:cNvPr id="8" name="Image 7">
            <a:extLst>
              <a:ext uri="{FF2B5EF4-FFF2-40B4-BE49-F238E27FC236}">
                <a16:creationId xmlns:a16="http://schemas.microsoft.com/office/drawing/2014/main" id="{19BD9348-480B-8C6C-AE14-0653FA999484}"/>
              </a:ext>
            </a:extLst>
          </p:cNvPr>
          <p:cNvPicPr>
            <a:picLocks noChangeAspect="1"/>
          </p:cNvPicPr>
          <p:nvPr/>
        </p:nvPicPr>
        <p:blipFill>
          <a:blip r:embed="rId4"/>
          <a:stretch>
            <a:fillRect/>
          </a:stretch>
        </p:blipFill>
        <p:spPr>
          <a:xfrm>
            <a:off x="7846411" y="5073307"/>
            <a:ext cx="4258607" cy="911282"/>
          </a:xfrm>
          <a:prstGeom prst="rect">
            <a:avLst/>
          </a:prstGeom>
        </p:spPr>
      </p:pic>
      <p:sp>
        <p:nvSpPr>
          <p:cNvPr id="5" name="Slide Number Placeholder 4">
            <a:extLst>
              <a:ext uri="{FF2B5EF4-FFF2-40B4-BE49-F238E27FC236}">
                <a16:creationId xmlns:a16="http://schemas.microsoft.com/office/drawing/2014/main" id="{E0DE6FBB-2566-B96F-4BE2-49B684EDFBCD}"/>
              </a:ext>
            </a:extLst>
          </p:cNvPr>
          <p:cNvSpPr>
            <a:spLocks noGrp="1"/>
          </p:cNvSpPr>
          <p:nvPr>
            <p:ph type="sldNum" sz="quarter" idx="12"/>
          </p:nvPr>
        </p:nvSpPr>
        <p:spPr/>
        <p:txBody>
          <a:bodyPr/>
          <a:lstStyle/>
          <a:p>
            <a:fld id="{FD85B578-4E75-4E1C-9BE3-D5DCC0715B13}" type="slidenum">
              <a:rPr lang="fr-FR" smtClean="0"/>
              <a:t>7</a:t>
            </a:fld>
            <a:endParaRPr lang="fr-FR"/>
          </a:p>
        </p:txBody>
      </p:sp>
    </p:spTree>
    <p:extLst>
      <p:ext uri="{BB962C8B-B14F-4D97-AF65-F5344CB8AC3E}">
        <p14:creationId xmlns:p14="http://schemas.microsoft.com/office/powerpoint/2010/main" val="980743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003BD6-209D-95E8-105B-EEC2D5017383}"/>
              </a:ext>
            </a:extLst>
          </p:cNvPr>
          <p:cNvSpPr>
            <a:spLocks noGrp="1"/>
          </p:cNvSpPr>
          <p:nvPr>
            <p:ph type="title"/>
          </p:nvPr>
        </p:nvSpPr>
        <p:spPr>
          <a:xfrm>
            <a:off x="419100" y="0"/>
            <a:ext cx="11353800" cy="1325563"/>
          </a:xfrm>
        </p:spPr>
        <p:txBody>
          <a:bodyPr/>
          <a:lstStyle/>
          <a:p>
            <a:r>
              <a:rPr lang="fr-FR" dirty="0"/>
              <a:t>Discrétisation : Milieu – Schéma d’Euler Explicite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439C4FB-5092-413C-C838-32069AD0E474}"/>
                  </a:ext>
                </a:extLst>
              </p:cNvPr>
              <p:cNvSpPr>
                <a:spLocks noGrp="1"/>
              </p:cNvSpPr>
              <p:nvPr>
                <p:ph idx="1"/>
              </p:nvPr>
            </p:nvSpPr>
            <p:spPr>
              <a:xfrm>
                <a:off x="261257" y="1331495"/>
                <a:ext cx="11930743" cy="5181600"/>
              </a:xfrm>
            </p:spPr>
            <p:txBody>
              <a:bodyPr>
                <a:normAutofit/>
              </a:bodyPr>
              <a:lstStyle/>
              <a:p>
                <a:pPr marL="0" indent="0">
                  <a:buNone/>
                </a:pPr>
                <a:r>
                  <a:rPr lang="fr-FR" dirty="0"/>
                  <a:t>Hors des frontières (r-1, r+1, z-1, z+1 sont définis)</a:t>
                </a: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r>
                              <a:rPr lang="fr-FR" b="0" i="1" smtClean="0">
                                <a:latin typeface="Cambria Math" panose="02040503050406030204" pitchFamily="18" charset="0"/>
                              </a:rPr>
                              <m:t>+</m:t>
                            </m:r>
                            <m:r>
                              <m:rPr>
                                <m:sty m:val="p"/>
                              </m:rPr>
                              <a:rPr lang="fr-FR">
                                <a:latin typeface="Cambria Math" panose="02040503050406030204" pitchFamily="18" charset="0"/>
                              </a:rPr>
                              <m:t>Δt</m:t>
                            </m:r>
                          </m:sup>
                        </m:sSub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oMath>
                </a14:m>
                <a:r>
                  <a:rPr lang="fr-FR" dirty="0"/>
                  <a:t> , </a:t>
                </a:r>
                <a:r>
                  <a:rPr lang="fr-FR" sz="2400" dirty="0">
                    <a:latin typeface="Cambria" panose="02040503050406030204" pitchFamily="18" charset="0"/>
                    <a:ea typeface="Cambria" panose="02040503050406030204" pitchFamily="18" charset="0"/>
                  </a:rPr>
                  <a:t>ordre 1 </a:t>
                </a:r>
                <a:endParaRPr lang="fr-FR" dirty="0">
                  <a:latin typeface="Cambria" panose="02040503050406030204" pitchFamily="18" charset="0"/>
                  <a:ea typeface="Cambria" panose="02040503050406030204" pitchFamily="18" charset="0"/>
                </a:endParaRP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b="0" i="1" smtClean="0">
                            <a:latin typeface="Cambria Math" panose="02040503050406030204" pitchFamily="18" charset="0"/>
                          </a:rPr>
                          <m:t>𝑟</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a:rPr lang="fr-FR" b="0" i="0" smtClean="0">
                            <a:latin typeface="Cambria Math" panose="02040503050406030204" pitchFamily="18" charset="0"/>
                          </a:rPr>
                          <m:t>2</m:t>
                        </m:r>
                        <m:r>
                          <m:rPr>
                            <m:sty m:val="p"/>
                          </m:rPr>
                          <a:rPr lang="fr-FR">
                            <a:latin typeface="Cambria Math" panose="02040503050406030204" pitchFamily="18" charset="0"/>
                          </a:rPr>
                          <m:t>Δ</m:t>
                        </m:r>
                        <m:r>
                          <a:rPr lang="fr-CA" b="0" i="1" smtClean="0">
                            <a:latin typeface="Cambria Math" panose="02040503050406030204" pitchFamily="18" charset="0"/>
                          </a:rPr>
                          <m:t>𝑟</m:t>
                        </m:r>
                      </m:den>
                    </m:f>
                  </m:oMath>
                </a14:m>
                <a:r>
                  <a:rPr lang="fr-FR" dirty="0"/>
                  <a:t>, </a:t>
                </a:r>
                <a:r>
                  <a:rPr lang="fr-FR" sz="2400" dirty="0">
                    <a:latin typeface="Cambria" panose="02040503050406030204" pitchFamily="18" charset="0"/>
                    <a:ea typeface="Cambria" panose="02040503050406030204" pitchFamily="18" charset="0"/>
                  </a:rPr>
                  <a:t>ordre 2</a:t>
                </a:r>
                <a:endParaRPr lang="fr-FR" dirty="0"/>
              </a:p>
              <a:p>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r>
                        <a:rPr lang="fr-FR" sz="2400" i="1">
                          <a:latin typeface="Cambria Math" panose="02040503050406030204" pitchFamily="18" charset="0"/>
                        </a:rPr>
                        <m:t> </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r>
                        <a:rPr lang="fr-FR" sz="2400" i="1">
                          <a:latin typeface="Cambria Math" panose="02040503050406030204" pitchFamily="18" charset="0"/>
                        </a:rPr>
                        <m:t> </m:t>
                      </m:r>
                      <m:r>
                        <a:rPr lang="fr-CA" sz="2400" i="1">
                          <a:latin typeface="Cambria Math" panose="02040503050406030204" pitchFamily="18" charset="0"/>
                        </a:rPr>
                        <m:t>=</m:t>
                      </m:r>
                      <m:r>
                        <a:rPr lang="fr-CA" sz="2400" b="0" i="1" smtClean="0">
                          <a:latin typeface="Cambria Math" panose="02040503050406030204" pitchFamily="18" charset="0"/>
                        </a:rPr>
                        <m:t>𝑘</m:t>
                      </m:r>
                      <m:r>
                        <a:rPr lang="fr-CA"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i="1">
                                  <a:latin typeface="Cambria Math" panose="02040503050406030204" pitchFamily="18" charset="0"/>
                                </a:rPr>
                                <m:t>𝑟</m:t>
                              </m:r>
                            </m:e>
                            <m:sup>
                              <m:r>
                                <a:rPr lang="fr-FR" sz="2400" i="1">
                                  <a:latin typeface="Cambria Math" panose="02040503050406030204" pitchFamily="18" charset="0"/>
                                </a:rPr>
                                <m:t>2</m:t>
                              </m:r>
                            </m:sup>
                          </m:sSup>
                        </m:den>
                      </m:f>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i="1">
                              <a:latin typeface="Cambria Math" panose="02040503050406030204" pitchFamily="18" charset="0"/>
                            </a:rPr>
                            <m:t>𝑟</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r>
                        <a:rPr lang="fr-CA" sz="2400" b="0" i="1" smtClean="0">
                          <a:latin typeface="Cambria Math" panose="02040503050406030204" pitchFamily="18" charset="0"/>
                        </a:rPr>
                        <m:t>)</m:t>
                      </m:r>
                    </m:oMath>
                  </m:oMathPara>
                </a14:m>
                <a:endParaRPr lang="fr-FR" sz="2400" i="1" dirty="0">
                  <a:latin typeface="Cambria Math" panose="02040503050406030204" pitchFamily="18" charset="0"/>
                </a:endParaRPr>
              </a:p>
              <a:p>
                <a:pPr marL="0" indent="0">
                  <a:buNone/>
                </a:pPr>
                <a:endParaRPr lang="fr-F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r>
                            <a:rPr lang="fr-FR" sz="2400" i="1">
                              <a:latin typeface="Cambria Math" panose="02040503050406030204" pitchFamily="18" charset="0"/>
                            </a:rPr>
                            <m:t>+</m:t>
                          </m:r>
                          <m:r>
                            <m:rPr>
                              <m:sty m:val="p"/>
                            </m:rPr>
                            <a:rPr lang="fr-FR" sz="2400">
                              <a:latin typeface="Cambria Math" panose="02040503050406030204" pitchFamily="18" charset="0"/>
                            </a:rPr>
                            <m:t>Δt</m:t>
                          </m:r>
                        </m:sup>
                      </m:sSubSup>
                      <m:r>
                        <a:rPr lang="fr-FR" sz="2400" b="0" i="1" smtClean="0">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b="0" i="1" smtClean="0">
                              <a:latin typeface="Cambria Math" panose="02040503050406030204" pitchFamily="18" charset="0"/>
                            </a:rPr>
                            <m:t>𝑘</m:t>
                          </m:r>
                        </m:num>
                        <m:den>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CA" sz="2400" b="0" i="0" smtClean="0">
                                  <a:latin typeface="Cambria Math" panose="02040503050406030204" pitchFamily="18" charset="0"/>
                                </a:rPr>
                                <m:t>r</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oMath>
                  </m:oMathPara>
                </a14:m>
                <a:endParaRPr lang="fr-FR" sz="2400" b="0" dirty="0"/>
              </a:p>
              <a:p>
                <a:pPr marL="0" indent="0">
                  <a:buNone/>
                </a:pPr>
                <a:endParaRPr lang="fr-FR"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E439C4FB-5092-413C-C838-32069AD0E474}"/>
                  </a:ext>
                </a:extLst>
              </p:cNvPr>
              <p:cNvSpPr>
                <a:spLocks noGrp="1" noRot="1" noChangeAspect="1" noMove="1" noResize="1" noEditPoints="1" noAdjustHandles="1" noChangeArrowheads="1" noChangeShapeType="1" noTextEdit="1"/>
              </p:cNvSpPr>
              <p:nvPr>
                <p:ph idx="1"/>
              </p:nvPr>
            </p:nvSpPr>
            <p:spPr>
              <a:xfrm>
                <a:off x="261257" y="1331495"/>
                <a:ext cx="11930743" cy="5181600"/>
              </a:xfrm>
              <a:blipFill>
                <a:blip r:embed="rId2"/>
                <a:stretch>
                  <a:fillRect l="-1073" t="-200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10518746-3A15-2C27-5A6F-6AB51FC276FA}"/>
                  </a:ext>
                </a:extLst>
              </p:cNvPr>
              <p:cNvSpPr txBox="1"/>
              <p:nvPr/>
            </p:nvSpPr>
            <p:spPr>
              <a:xfrm>
                <a:off x="4869617" y="1595314"/>
                <a:ext cx="5362519" cy="1732654"/>
              </a:xfrm>
              <a:prstGeom prst="rect">
                <a:avLst/>
              </a:prstGeom>
              <a:noFill/>
            </p:spPr>
            <p:txBody>
              <a:bodyPr wrap="square" rtlCol="0">
                <a:spAutoFit/>
              </a:bodyPr>
              <a:lstStyle/>
              <a:p>
                <a:endParaRPr lang="fr-FR" dirty="0"/>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ea typeface="Cambria Math" panose="02040503050406030204" pitchFamily="18" charset="0"/>
                          </a:rPr>
                        </m:ctrlPr>
                      </m:fPr>
                      <m:num>
                        <m:sSup>
                          <m:sSupPr>
                            <m:ctrlPr>
                              <a:rPr lang="fr-FR" sz="2600" i="1">
                                <a:latin typeface="Cambria Math" panose="02040503050406030204" pitchFamily="18" charset="0"/>
                                <a:ea typeface="Cambria Math" panose="02040503050406030204" pitchFamily="18" charset="0"/>
                              </a:rPr>
                            </m:ctrlPr>
                          </m:sSupPr>
                          <m:e>
                            <m:r>
                              <a:rPr lang="fr-FR" sz="2600" i="1">
                                <a:latin typeface="Cambria Math" panose="02040503050406030204" pitchFamily="18" charset="0"/>
                                <a:ea typeface="Cambria Math" panose="02040503050406030204" pitchFamily="18" charset="0"/>
                              </a:rPr>
                              <m:t>𝜕</m:t>
                            </m:r>
                          </m:e>
                          <m:sup>
                            <m:r>
                              <a:rPr lang="fr-FR" sz="2600" i="1">
                                <a:latin typeface="Cambria Math" panose="02040503050406030204" pitchFamily="18" charset="0"/>
                                <a:ea typeface="Cambria Math" panose="02040503050406030204" pitchFamily="18" charset="0"/>
                              </a:rPr>
                              <m:t>2</m:t>
                            </m:r>
                          </m:sup>
                        </m:sSup>
                        <m:r>
                          <a:rPr lang="fr-FR" sz="2600" i="1">
                            <a:latin typeface="Cambria Math" panose="02040503050406030204" pitchFamily="18" charset="0"/>
                            <a:ea typeface="Cambria Math" panose="02040503050406030204" pitchFamily="18" charset="0"/>
                          </a:rPr>
                          <m:t>𝑇</m:t>
                        </m:r>
                      </m:num>
                      <m:den>
                        <m:r>
                          <a:rPr lang="fr-FR" sz="2600" i="1">
                            <a:latin typeface="Cambria Math" panose="02040503050406030204" pitchFamily="18" charset="0"/>
                            <a:ea typeface="Cambria Math" panose="02040503050406030204" pitchFamily="18" charset="0"/>
                          </a:rPr>
                          <m:t>𝜕</m:t>
                        </m:r>
                        <m:sSup>
                          <m:sSupPr>
                            <m:ctrlPr>
                              <a:rPr lang="fr-FR" sz="2600" i="1">
                                <a:latin typeface="Cambria Math" panose="02040503050406030204" pitchFamily="18" charset="0"/>
                                <a:ea typeface="Cambria Math" panose="02040503050406030204" pitchFamily="18" charset="0"/>
                              </a:rPr>
                            </m:ctrlPr>
                          </m:sSupPr>
                          <m:e>
                            <m:r>
                              <a:rPr lang="fr-CA" sz="2600" b="0" i="1" smtClean="0">
                                <a:latin typeface="Cambria Math" panose="02040503050406030204" pitchFamily="18" charset="0"/>
                                <a:ea typeface="Cambria Math" panose="02040503050406030204" pitchFamily="18" charset="0"/>
                              </a:rPr>
                              <m:t>𝑟</m:t>
                            </m:r>
                          </m:e>
                          <m:sup>
                            <m:r>
                              <a:rPr lang="fr-FR" sz="2600" i="1">
                                <a:latin typeface="Cambria Math" panose="02040503050406030204" pitchFamily="18" charset="0"/>
                                <a:ea typeface="Cambria Math" panose="02040503050406030204" pitchFamily="18" charset="0"/>
                              </a:rPr>
                              <m:t>2</m:t>
                            </m:r>
                          </m:sup>
                        </m:sSup>
                      </m:den>
                    </m:f>
                    <m:groupChr>
                      <m:groupChrPr>
                        <m:chr m:val="⇒"/>
                        <m:pos m:val="top"/>
                        <m:ctrlPr>
                          <a:rPr lang="fr-FR" sz="2600" i="1">
                            <a:latin typeface="Cambria Math" panose="02040503050406030204" pitchFamily="18" charset="0"/>
                            <a:ea typeface="Cambria Math" panose="02040503050406030204" pitchFamily="18" charset="0"/>
                          </a:rPr>
                        </m:ctrlPr>
                      </m:groupChrPr>
                      <m:e>
                        <m:r>
                          <m:rPr>
                            <m:sty m:val="p"/>
                            <m:brk m:alnAt="1"/>
                          </m:rPr>
                          <a:rPr lang="fr-FR" sz="2600" i="1">
                            <a:latin typeface="Cambria Math" panose="02040503050406030204" pitchFamily="18" charset="0"/>
                            <a:ea typeface="Cambria Math" panose="02040503050406030204" pitchFamily="18" charset="0"/>
                          </a:rPr>
                          <m:t>s</m:t>
                        </m:r>
                        <m:r>
                          <m:rPr>
                            <m:sty m:val="p"/>
                          </m:rPr>
                          <a:rPr lang="fr-FR" sz="2600" i="1">
                            <a:latin typeface="Cambria Math" panose="02040503050406030204" pitchFamily="18" charset="0"/>
                            <a:ea typeface="Cambria Math" panose="02040503050406030204" pitchFamily="18" charset="0"/>
                          </a:rPr>
                          <m:t>ch</m:t>
                        </m:r>
                        <m:r>
                          <a:rPr lang="fr-FR" sz="2600" i="1">
                            <a:latin typeface="Cambria Math" panose="02040503050406030204" pitchFamily="18" charset="0"/>
                            <a:ea typeface="Cambria Math" panose="02040503050406030204" pitchFamily="18" charset="0"/>
                          </a:rPr>
                          <m:t>é</m:t>
                        </m:r>
                        <m:r>
                          <m:rPr>
                            <m:sty m:val="p"/>
                          </m:rPr>
                          <a:rPr lang="fr-FR" sz="2600" i="1">
                            <a:latin typeface="Cambria Math" panose="02040503050406030204" pitchFamily="18" charset="0"/>
                            <a:ea typeface="Cambria Math" panose="02040503050406030204" pitchFamily="18" charset="0"/>
                          </a:rPr>
                          <m:t>ma</m:t>
                        </m:r>
                      </m:e>
                    </m:groupChr>
                    <m:f>
                      <m:fPr>
                        <m:ctrlPr>
                          <a:rPr lang="fr-FR" sz="2600" i="1">
                            <a:latin typeface="Cambria Math" panose="02040503050406030204" pitchFamily="18" charset="0"/>
                            <a:ea typeface="Cambria Math" panose="02040503050406030204" pitchFamily="18" charset="0"/>
                          </a:rPr>
                        </m:ctrlPr>
                      </m:fPr>
                      <m:num>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2</m:t>
                            </m:r>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num>
                      <m:den>
                        <m:r>
                          <m:rPr>
                            <m:sty m:val="p"/>
                          </m:rPr>
                          <a:rPr lang="fr-FR" sz="2600">
                            <a:latin typeface="Cambria Math" panose="02040503050406030204" pitchFamily="18" charset="0"/>
                            <a:ea typeface="Cambria Math" panose="02040503050406030204" pitchFamily="18" charset="0"/>
                          </a:rPr>
                          <m:t>Δ</m:t>
                        </m:r>
                        <m:sSup>
                          <m:sSupPr>
                            <m:ctrlPr>
                              <a:rPr lang="fr-FR" sz="2600" i="1">
                                <a:latin typeface="Cambria Math" panose="02040503050406030204" pitchFamily="18" charset="0"/>
                                <a:ea typeface="Cambria Math" panose="02040503050406030204" pitchFamily="18" charset="0"/>
                              </a:rPr>
                            </m:ctrlPr>
                          </m:sSupPr>
                          <m:e>
                            <m:r>
                              <m:rPr>
                                <m:sty m:val="p"/>
                              </m:rPr>
                              <a:rPr lang="fr-CA" sz="2600" b="0" i="0" smtClean="0">
                                <a:latin typeface="Cambria Math" panose="02040503050406030204" pitchFamily="18" charset="0"/>
                                <a:ea typeface="Cambria Math" panose="02040503050406030204" pitchFamily="18" charset="0"/>
                              </a:rPr>
                              <m:t>r</m:t>
                            </m:r>
                          </m:e>
                          <m:sup>
                            <m:r>
                              <a:rPr lang="fr-FR" sz="2600">
                                <a:latin typeface="Cambria Math" panose="02040503050406030204" pitchFamily="18" charset="0"/>
                                <a:ea typeface="Cambria Math" panose="02040503050406030204" pitchFamily="18" charset="0"/>
                              </a:rPr>
                              <m:t>2</m:t>
                            </m:r>
                          </m:sup>
                        </m:sSup>
                        <m:r>
                          <m:rPr>
                            <m:nor/>
                          </m:rPr>
                          <a:rPr lang="fr-FR" sz="2600">
                            <a:latin typeface="Cambria" panose="02040503050406030204" pitchFamily="18" charset="0"/>
                            <a:ea typeface="Cambria" panose="02040503050406030204" pitchFamily="18" charset="0"/>
                          </a:rPr>
                          <m:t> </m:t>
                        </m:r>
                      </m:den>
                    </m:f>
                  </m:oMath>
                </a14:m>
                <a:r>
                  <a:rPr lang="fr-FR" sz="2600" dirty="0">
                    <a:latin typeface="Cambria" panose="02040503050406030204" pitchFamily="18" charset="0"/>
                    <a:ea typeface="Cambria" panose="02040503050406030204" pitchFamily="18" charset="0"/>
                  </a:rPr>
                  <a:t>, </a:t>
                </a:r>
                <a:r>
                  <a:rPr lang="fr-FR" sz="2000" dirty="0">
                    <a:latin typeface="Cambria" panose="02040503050406030204" pitchFamily="18" charset="0"/>
                    <a:ea typeface="Cambria" panose="02040503050406030204" pitchFamily="18" charset="0"/>
                  </a:rPr>
                  <a:t>ordre 2</a:t>
                </a:r>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rPr>
                        </m:ctrlPr>
                      </m:fPr>
                      <m:num>
                        <m:sSup>
                          <m:sSupPr>
                            <m:ctrlPr>
                              <a:rPr lang="fr-FR" sz="2600" i="1">
                                <a:latin typeface="Cambria Math" panose="02040503050406030204" pitchFamily="18" charset="0"/>
                              </a:rPr>
                            </m:ctrlPr>
                          </m:sSupPr>
                          <m:e>
                            <m:r>
                              <a:rPr lang="fr-FR" sz="2600" i="1">
                                <a:latin typeface="Cambria Math" panose="02040503050406030204" pitchFamily="18" charset="0"/>
                              </a:rPr>
                              <m:t>𝜕</m:t>
                            </m:r>
                          </m:e>
                          <m:sup>
                            <m:r>
                              <a:rPr lang="fr-FR" sz="2600" i="1">
                                <a:latin typeface="Cambria Math" panose="02040503050406030204" pitchFamily="18" charset="0"/>
                              </a:rPr>
                              <m:t>2</m:t>
                            </m:r>
                          </m:sup>
                        </m:sSup>
                        <m:r>
                          <a:rPr lang="fr-FR" sz="2600" i="1">
                            <a:latin typeface="Cambria Math" panose="02040503050406030204" pitchFamily="18" charset="0"/>
                          </a:rPr>
                          <m:t>𝑇</m:t>
                        </m:r>
                      </m:num>
                      <m:den>
                        <m:r>
                          <a:rPr lang="fr-FR" sz="2600" i="1">
                            <a:latin typeface="Cambria Math" panose="02040503050406030204" pitchFamily="18" charset="0"/>
                          </a:rPr>
                          <m:t>𝜕</m:t>
                        </m:r>
                        <m:sSup>
                          <m:sSupPr>
                            <m:ctrlPr>
                              <a:rPr lang="fr-FR" sz="2600" i="1">
                                <a:latin typeface="Cambria Math" panose="02040503050406030204" pitchFamily="18" charset="0"/>
                              </a:rPr>
                            </m:ctrlPr>
                          </m:sSupPr>
                          <m:e>
                            <m:r>
                              <a:rPr lang="fr-FR" sz="2600" i="1">
                                <a:latin typeface="Cambria Math" panose="02040503050406030204" pitchFamily="18" charset="0"/>
                              </a:rPr>
                              <m:t>𝑧</m:t>
                            </m:r>
                          </m:e>
                          <m:sup>
                            <m:r>
                              <a:rPr lang="fr-FR" sz="2600" i="1">
                                <a:latin typeface="Cambria Math" panose="02040503050406030204" pitchFamily="18" charset="0"/>
                              </a:rPr>
                              <m:t>2</m:t>
                            </m:r>
                          </m:sup>
                        </m:sSup>
                      </m:den>
                    </m:f>
                    <m:groupChr>
                      <m:groupChrPr>
                        <m:chr m:val="⇒"/>
                        <m:pos m:val="top"/>
                        <m:ctrlPr>
                          <a:rPr lang="fr-FR" sz="2600" i="1">
                            <a:latin typeface="Cambria Math" panose="02040503050406030204" pitchFamily="18" charset="0"/>
                          </a:rPr>
                        </m:ctrlPr>
                      </m:groupChrPr>
                      <m:e>
                        <m:r>
                          <m:rPr>
                            <m:sty m:val="p"/>
                            <m:brk m:alnAt="1"/>
                          </m:rPr>
                          <a:rPr lang="fr-FR" sz="2600" i="1">
                            <a:latin typeface="Cambria Math" panose="02040503050406030204" pitchFamily="18" charset="0"/>
                          </a:rPr>
                          <m:t>s</m:t>
                        </m:r>
                        <m:r>
                          <m:rPr>
                            <m:sty m:val="p"/>
                          </m:rPr>
                          <a:rPr lang="fr-FR" sz="2600" i="1">
                            <a:latin typeface="Cambria Math" panose="02040503050406030204" pitchFamily="18" charset="0"/>
                          </a:rPr>
                          <m:t>ch</m:t>
                        </m:r>
                        <m:r>
                          <a:rPr lang="fr-FR" sz="2600" i="1">
                            <a:latin typeface="Cambria Math" panose="02040503050406030204" pitchFamily="18" charset="0"/>
                          </a:rPr>
                          <m:t>é</m:t>
                        </m:r>
                        <m:r>
                          <m:rPr>
                            <m:sty m:val="p"/>
                          </m:rPr>
                          <a:rPr lang="fr-FR" sz="2600" i="1">
                            <a:latin typeface="Cambria Math" panose="02040503050406030204" pitchFamily="18" charset="0"/>
                          </a:rPr>
                          <m:t>ma</m:t>
                        </m:r>
                      </m:e>
                    </m:groupChr>
                    <m:f>
                      <m:fPr>
                        <m:ctrlPr>
                          <a:rPr lang="fr-FR" sz="2600" i="1">
                            <a:latin typeface="Cambria Math" panose="02040503050406030204" pitchFamily="18" charset="0"/>
                          </a:rPr>
                        </m:ctrlPr>
                      </m:fPr>
                      <m:num>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2</m:t>
                            </m:r>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num>
                      <m:den>
                        <m:r>
                          <m:rPr>
                            <m:sty m:val="p"/>
                          </m:rPr>
                          <a:rPr lang="fr-FR" sz="2600">
                            <a:latin typeface="Cambria Math" panose="02040503050406030204" pitchFamily="18" charset="0"/>
                          </a:rPr>
                          <m:t>Δ</m:t>
                        </m:r>
                        <m:sSup>
                          <m:sSupPr>
                            <m:ctrlPr>
                              <a:rPr lang="fr-FR" sz="2600" i="1">
                                <a:latin typeface="Cambria Math" panose="02040503050406030204" pitchFamily="18" charset="0"/>
                              </a:rPr>
                            </m:ctrlPr>
                          </m:sSupPr>
                          <m:e>
                            <m:r>
                              <m:rPr>
                                <m:sty m:val="p"/>
                              </m:rPr>
                              <a:rPr lang="fr-FR" sz="2600">
                                <a:latin typeface="Cambria Math" panose="02040503050406030204" pitchFamily="18" charset="0"/>
                              </a:rPr>
                              <m:t>z</m:t>
                            </m:r>
                          </m:e>
                          <m:sup>
                            <m:r>
                              <a:rPr lang="fr-FR" sz="2600">
                                <a:latin typeface="Cambria Math" panose="02040503050406030204" pitchFamily="18" charset="0"/>
                              </a:rPr>
                              <m:t>2</m:t>
                            </m:r>
                          </m:sup>
                        </m:sSup>
                        <m:r>
                          <m:rPr>
                            <m:nor/>
                          </m:rPr>
                          <a:rPr lang="fr-FR" sz="2600"/>
                          <m:t> </m:t>
                        </m:r>
                      </m:den>
                    </m:f>
                  </m:oMath>
                </a14:m>
                <a:r>
                  <a:rPr lang="fr-FR" sz="2600" dirty="0"/>
                  <a:t>, </a:t>
                </a:r>
                <a:r>
                  <a:rPr lang="fr-FR" sz="2000" dirty="0">
                    <a:latin typeface="Cambria" panose="02040503050406030204" pitchFamily="18" charset="0"/>
                    <a:ea typeface="Cambria" panose="02040503050406030204" pitchFamily="18" charset="0"/>
                  </a:rPr>
                  <a:t>ordre 2</a:t>
                </a:r>
              </a:p>
            </p:txBody>
          </p:sp>
        </mc:Choice>
        <mc:Fallback xmlns="">
          <p:sp>
            <p:nvSpPr>
              <p:cNvPr id="5" name="ZoneTexte 4">
                <a:extLst>
                  <a:ext uri="{FF2B5EF4-FFF2-40B4-BE49-F238E27FC236}">
                    <a16:creationId xmlns:a16="http://schemas.microsoft.com/office/drawing/2014/main" id="{10518746-3A15-2C27-5A6F-6AB51FC276FA}"/>
                  </a:ext>
                </a:extLst>
              </p:cNvPr>
              <p:cNvSpPr txBox="1">
                <a:spLocks noRot="1" noChangeAspect="1" noMove="1" noResize="1" noEditPoints="1" noAdjustHandles="1" noChangeArrowheads="1" noChangeShapeType="1" noTextEdit="1"/>
              </p:cNvSpPr>
              <p:nvPr/>
            </p:nvSpPr>
            <p:spPr>
              <a:xfrm>
                <a:off x="4869617" y="1595314"/>
                <a:ext cx="5362519" cy="1732654"/>
              </a:xfrm>
              <a:prstGeom prst="rect">
                <a:avLst/>
              </a:prstGeom>
              <a:blipFill>
                <a:blip r:embed="rId3"/>
                <a:stretch>
                  <a:fillRect b="-2113"/>
                </a:stretch>
              </a:blipFill>
            </p:spPr>
            <p:txBody>
              <a:bodyPr/>
              <a:lstStyle/>
              <a:p>
                <a:r>
                  <a:rPr lang="fr-CA">
                    <a:noFill/>
                  </a:rPr>
                  <a:t> </a:t>
                </a:r>
              </a:p>
            </p:txBody>
          </p:sp>
        </mc:Fallback>
      </mc:AlternateContent>
      <p:sp>
        <p:nvSpPr>
          <p:cNvPr id="6" name="Arc 5">
            <a:extLst>
              <a:ext uri="{FF2B5EF4-FFF2-40B4-BE49-F238E27FC236}">
                <a16:creationId xmlns:a16="http://schemas.microsoft.com/office/drawing/2014/main" id="{669E06E8-CC02-FA18-F417-BCEB210B1102}"/>
              </a:ext>
            </a:extLst>
          </p:cNvPr>
          <p:cNvSpPr/>
          <p:nvPr/>
        </p:nvSpPr>
        <p:spPr>
          <a:xfrm rot="241833" flipH="1">
            <a:off x="2857585" y="4094814"/>
            <a:ext cx="2152095" cy="1509192"/>
          </a:xfrm>
          <a:prstGeom prst="arc">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a:p>
        </p:txBody>
      </p:sp>
      <p:sp>
        <p:nvSpPr>
          <p:cNvPr id="4" name="Slide Number Placeholder 3">
            <a:extLst>
              <a:ext uri="{FF2B5EF4-FFF2-40B4-BE49-F238E27FC236}">
                <a16:creationId xmlns:a16="http://schemas.microsoft.com/office/drawing/2014/main" id="{5EC7E4F8-A240-C289-A35B-85F4B15932E4}"/>
              </a:ext>
            </a:extLst>
          </p:cNvPr>
          <p:cNvSpPr>
            <a:spLocks noGrp="1"/>
          </p:cNvSpPr>
          <p:nvPr>
            <p:ph type="sldNum" sz="quarter" idx="12"/>
          </p:nvPr>
        </p:nvSpPr>
        <p:spPr/>
        <p:txBody>
          <a:bodyPr/>
          <a:lstStyle/>
          <a:p>
            <a:fld id="{FD85B578-4E75-4E1C-9BE3-D5DCC0715B13}" type="slidenum">
              <a:rPr lang="fr-FR" smtClean="0"/>
              <a:t>8</a:t>
            </a:fld>
            <a:endParaRPr lang="fr-FR"/>
          </a:p>
        </p:txBody>
      </p:sp>
    </p:spTree>
    <p:extLst>
      <p:ext uri="{BB962C8B-B14F-4D97-AF65-F5344CB8AC3E}">
        <p14:creationId xmlns:p14="http://schemas.microsoft.com/office/powerpoint/2010/main" val="412849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5C6ED-CEB0-DF95-C2D4-5220839D039C}"/>
              </a:ext>
            </a:extLst>
          </p:cNvPr>
          <p:cNvSpPr>
            <a:spLocks noGrp="1"/>
          </p:cNvSpPr>
          <p:nvPr>
            <p:ph type="title"/>
          </p:nvPr>
        </p:nvSpPr>
        <p:spPr>
          <a:xfrm>
            <a:off x="150876" y="-30897"/>
            <a:ext cx="11945112" cy="1325563"/>
          </a:xfrm>
        </p:spPr>
        <p:txBody>
          <a:bodyPr/>
          <a:lstStyle/>
          <a:p>
            <a:r>
              <a:rPr lang="fr-FR" dirty="0"/>
              <a:t>Discrétisation : frontières - Schéma d’Euler Explicite </a:t>
            </a:r>
          </a:p>
        </p:txBody>
      </p:sp>
      <p:pic>
        <p:nvPicPr>
          <p:cNvPr id="5" name="Espace réservé du contenu 4">
            <a:extLst>
              <a:ext uri="{FF2B5EF4-FFF2-40B4-BE49-F238E27FC236}">
                <a16:creationId xmlns:a16="http://schemas.microsoft.com/office/drawing/2014/main" id="{4595270A-CFC5-DE88-BDE0-18625C38E140}"/>
              </a:ext>
            </a:extLst>
          </p:cNvPr>
          <p:cNvPicPr>
            <a:picLocks noGrp="1" noChangeAspect="1"/>
          </p:cNvPicPr>
          <p:nvPr>
            <p:ph idx="1"/>
          </p:nvPr>
        </p:nvPicPr>
        <p:blipFill>
          <a:blip r:embed="rId2"/>
          <a:stretch>
            <a:fillRect/>
          </a:stretch>
        </p:blipFill>
        <p:spPr>
          <a:xfrm>
            <a:off x="1016619" y="4270193"/>
            <a:ext cx="4204606" cy="248797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F5871682-0B46-824A-AEFF-E8E2BCE778AB}"/>
                  </a:ext>
                </a:extLst>
              </p:cNvPr>
              <p:cNvSpPr txBox="1"/>
              <p:nvPr/>
            </p:nvSpPr>
            <p:spPr>
              <a:xfrm>
                <a:off x="667512" y="1343818"/>
                <a:ext cx="5897880" cy="1288686"/>
              </a:xfrm>
              <a:prstGeom prst="rect">
                <a:avLst/>
              </a:prstGeom>
              <a:noFill/>
            </p:spPr>
            <p:txBody>
              <a:bodyPr wrap="square" rtlCol="0">
                <a:spAutoFit/>
              </a:bodyPr>
              <a:lstStyle/>
              <a:p>
                <a:r>
                  <a:rPr lang="fr-CA" dirty="0">
                    <a:solidFill>
                      <a:schemeClr val="accent2"/>
                    </a:solidFill>
                  </a:rPr>
                  <a:t>Condition de symétrie (Neumann) :</a:t>
                </a:r>
              </a:p>
              <a:p>
                <a:pPr algn="ctr"/>
                <a:r>
                  <a:rPr lang="fr-CA" dirty="0">
                    <a:solidFill>
                      <a:schemeClr val="accent2"/>
                    </a:solidFill>
                  </a:rPr>
                  <a:t>	</a:t>
                </a:r>
                <a14:m>
                  <m:oMath xmlns:m="http://schemas.openxmlformats.org/officeDocument/2006/math">
                    <m:f>
                      <m:fPr>
                        <m:ctrlPr>
                          <a:rPr lang="fr-CA" b="0" i="1" smtClean="0">
                            <a:solidFill>
                              <a:schemeClr val="accent2"/>
                            </a:solidFill>
                            <a:latin typeface="Cambria Math" panose="02040503050406030204" pitchFamily="18" charset="0"/>
                          </a:rPr>
                        </m:ctrlPr>
                      </m:fPr>
                      <m:num>
                        <m:r>
                          <a:rPr lang="fr-CA" b="0" i="1" smtClean="0">
                            <a:solidFill>
                              <a:schemeClr val="accent2"/>
                            </a:solidFill>
                            <a:latin typeface="Cambria Math" panose="02040503050406030204" pitchFamily="18" charset="0"/>
                          </a:rPr>
                          <m:t>𝑑𝑇</m:t>
                        </m:r>
                      </m:num>
                      <m:den>
                        <m:r>
                          <a:rPr lang="fr-CA" b="0" i="1" smtClean="0">
                            <a:solidFill>
                              <a:schemeClr val="accent2"/>
                            </a:solidFill>
                            <a:latin typeface="Cambria Math" panose="02040503050406030204" pitchFamily="18" charset="0"/>
                          </a:rPr>
                          <m:t>𝑑𝑧</m:t>
                        </m:r>
                      </m:den>
                    </m:f>
                    <m:r>
                      <a:rPr lang="fr-CA" b="0" i="1" smtClean="0">
                        <a:solidFill>
                          <a:schemeClr val="accent2"/>
                        </a:solidFill>
                        <a:latin typeface="Cambria Math" panose="02040503050406030204" pitchFamily="18" charset="0"/>
                      </a:rPr>
                      <m:t>=0</m:t>
                    </m:r>
                  </m:oMath>
                </a14:m>
                <a:endParaRPr lang="fr-CA" b="0" i="1" dirty="0">
                  <a:solidFill>
                    <a:schemeClr val="accent2"/>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chemeClr val="accent2"/>
                              </a:solidFill>
                              <a:latin typeface="Cambria Math" panose="02040503050406030204" pitchFamily="18" charset="0"/>
                            </a:rPr>
                          </m:ctrlPr>
                        </m:sSubSupPr>
                        <m:e>
                          <m:r>
                            <a:rPr lang="fr-CA" b="0" i="1" smtClean="0">
                              <a:solidFill>
                                <a:schemeClr val="accent2"/>
                              </a:solidFill>
                              <a:latin typeface="Cambria Math" panose="02040503050406030204" pitchFamily="18" charset="0"/>
                            </a:rPr>
                            <m:t>𝑇</m:t>
                          </m:r>
                        </m:e>
                        <m:sub>
                          <m:r>
                            <a:rPr lang="fr-CA" b="0" i="1" smtClean="0">
                              <a:solidFill>
                                <a:schemeClr val="accent2"/>
                              </a:solidFill>
                              <a:latin typeface="Cambria Math" panose="02040503050406030204" pitchFamily="18" charset="0"/>
                            </a:rPr>
                            <m:t>𝑟</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𝑧</m:t>
                          </m:r>
                        </m:sub>
                        <m:sup>
                          <m:r>
                            <a:rPr lang="fr-CA" b="0" i="1" smtClean="0">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ea typeface="Cambria Math" panose="02040503050406030204" pitchFamily="18" charset="0"/>
                            </a:rPr>
                            <m:t>𝑡</m:t>
                          </m:r>
                        </m:sup>
                      </m:sSubSup>
                      <m:r>
                        <a:rPr lang="fr-CA" b="0" i="0" smtClean="0">
                          <a:solidFill>
                            <a:schemeClr val="accent2"/>
                          </a:solidFill>
                          <a:latin typeface="Cambria Math" panose="02040503050406030204" pitchFamily="18" charset="0"/>
                        </a:rPr>
                        <m:t>=</m:t>
                      </m:r>
                      <m:f>
                        <m:fPr>
                          <m:ctrlPr>
                            <a:rPr lang="fr-CA" b="0" i="1" smtClean="0">
                              <a:solidFill>
                                <a:schemeClr val="accent2"/>
                              </a:solidFill>
                              <a:latin typeface="Cambria Math" panose="02040503050406030204" pitchFamily="18" charset="0"/>
                            </a:rPr>
                          </m:ctrlPr>
                        </m:fPr>
                        <m:num>
                          <m:r>
                            <a:rPr lang="fr-CA" b="0" i="0" smtClean="0">
                              <a:solidFill>
                                <a:schemeClr val="accent2"/>
                              </a:solidFill>
                              <a:latin typeface="Cambria Math" panose="02040503050406030204" pitchFamily="18" charset="0"/>
                            </a:rPr>
                            <m:t>−1</m:t>
                          </m:r>
                        </m:num>
                        <m:den>
                          <m:r>
                            <a:rPr lang="fr-CA" b="0" i="0" smtClean="0">
                              <a:solidFill>
                                <a:schemeClr val="accent2"/>
                              </a:solidFill>
                              <a:latin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+2</m:t>
                          </m:r>
                        </m:sub>
                        <m:sup>
                          <m:r>
                            <a:rPr lang="fr-CA" i="1">
                              <a:solidFill>
                                <a:schemeClr val="accent2"/>
                              </a:solidFill>
                              <a:latin typeface="Cambria Math" panose="02040503050406030204" pitchFamily="18" charset="0"/>
                            </a:rPr>
                            <m:t>𝑡</m:t>
                          </m:r>
                        </m:sup>
                      </m:sSubSup>
                      <m:r>
                        <a:rPr lang="fr-CA" b="0" i="1" smtClean="0">
                          <a:solidFill>
                            <a:schemeClr val="accent2"/>
                          </a:solidFill>
                          <a:latin typeface="Cambria Math" panose="02040503050406030204" pitchFamily="18" charset="0"/>
                          <a:ea typeface="Cambria Math" panose="02040503050406030204" pitchFamily="18" charset="0"/>
                        </a:rPr>
                        <m:t>+</m:t>
                      </m:r>
                      <m:f>
                        <m:fPr>
                          <m:ctrlPr>
                            <a:rPr lang="fr-CA" b="0" i="1" smtClean="0">
                              <a:solidFill>
                                <a:schemeClr val="accent2"/>
                              </a:solidFill>
                              <a:latin typeface="Cambria Math" panose="02040503050406030204" pitchFamily="18" charset="0"/>
                              <a:ea typeface="Cambria Math" panose="02040503050406030204" pitchFamily="18" charset="0"/>
                            </a:rPr>
                          </m:ctrlPr>
                        </m:fPr>
                        <m:num>
                          <m:r>
                            <a:rPr lang="fr-CA" b="0" i="1" smtClean="0">
                              <a:solidFill>
                                <a:schemeClr val="accent2"/>
                              </a:solidFill>
                              <a:latin typeface="Cambria Math" panose="02040503050406030204" pitchFamily="18" charset="0"/>
                              <a:ea typeface="Cambria Math" panose="02040503050406030204" pitchFamily="18" charset="0"/>
                            </a:rPr>
                            <m:t>4</m:t>
                          </m:r>
                        </m:num>
                        <m:den>
                          <m:r>
                            <a:rPr lang="fr-CA" b="0" i="1" smtClean="0">
                              <a:solidFill>
                                <a:schemeClr val="accent2"/>
                              </a:solidFill>
                              <a:latin typeface="Cambria Math" panose="02040503050406030204" pitchFamily="18" charset="0"/>
                              <a:ea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+1</m:t>
                          </m:r>
                        </m:sub>
                        <m:sup>
                          <m:r>
                            <a:rPr lang="fr-CA" i="1">
                              <a:solidFill>
                                <a:schemeClr val="accent2"/>
                              </a:solidFill>
                              <a:latin typeface="Cambria Math" panose="02040503050406030204" pitchFamily="18" charset="0"/>
                            </a:rPr>
                            <m:t>𝑡</m:t>
                          </m:r>
                        </m:sup>
                      </m:sSubSup>
                    </m:oMath>
                  </m:oMathPara>
                </a14:m>
                <a:endParaRPr lang="fr-CA" dirty="0">
                  <a:solidFill>
                    <a:schemeClr val="accent2"/>
                  </a:solidFill>
                </a:endParaRPr>
              </a:p>
            </p:txBody>
          </p:sp>
        </mc:Choice>
        <mc:Fallback xmlns="">
          <p:sp>
            <p:nvSpPr>
              <p:cNvPr id="6" name="ZoneTexte 5">
                <a:extLst>
                  <a:ext uri="{FF2B5EF4-FFF2-40B4-BE49-F238E27FC236}">
                    <a16:creationId xmlns:a16="http://schemas.microsoft.com/office/drawing/2014/main" id="{F5871682-0B46-824A-AEFF-E8E2BCE778AB}"/>
                  </a:ext>
                </a:extLst>
              </p:cNvPr>
              <p:cNvSpPr txBox="1">
                <a:spLocks noRot="1" noChangeAspect="1" noMove="1" noResize="1" noEditPoints="1" noAdjustHandles="1" noChangeArrowheads="1" noChangeShapeType="1" noTextEdit="1"/>
              </p:cNvSpPr>
              <p:nvPr/>
            </p:nvSpPr>
            <p:spPr>
              <a:xfrm>
                <a:off x="667512" y="1343818"/>
                <a:ext cx="5897880" cy="1288686"/>
              </a:xfrm>
              <a:prstGeom prst="rect">
                <a:avLst/>
              </a:prstGeom>
              <a:blipFill>
                <a:blip r:embed="rId3"/>
                <a:stretch>
                  <a:fillRect l="-931" t="-1887"/>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7" name="ZoneTexte 6">
                <a:extLst>
                  <a:ext uri="{FF2B5EF4-FFF2-40B4-BE49-F238E27FC236}">
                    <a16:creationId xmlns:a16="http://schemas.microsoft.com/office/drawing/2014/main" id="{35B26447-C369-915B-101D-E4FC7C5D7482}"/>
                  </a:ext>
                </a:extLst>
              </p:cNvPr>
              <p:cNvSpPr txBox="1"/>
              <p:nvPr/>
            </p:nvSpPr>
            <p:spPr>
              <a:xfrm>
                <a:off x="582168" y="2784657"/>
                <a:ext cx="5897880" cy="1288686"/>
              </a:xfrm>
              <a:prstGeom prst="rect">
                <a:avLst/>
              </a:prstGeom>
              <a:noFill/>
            </p:spPr>
            <p:txBody>
              <a:bodyPr wrap="square" rtlCol="0">
                <a:spAutoFit/>
              </a:bodyPr>
              <a:lstStyle/>
              <a:p>
                <a:r>
                  <a:rPr lang="fr-CA" dirty="0">
                    <a:solidFill>
                      <a:srgbClr val="FFBF00"/>
                    </a:solidFill>
                  </a:rPr>
                  <a:t>Condition de symétrie (Neumann) :</a:t>
                </a:r>
              </a:p>
              <a:p>
                <a:pPr algn="ctr"/>
                <a:r>
                  <a:rPr lang="fr-CA" dirty="0">
                    <a:solidFill>
                      <a:srgbClr val="FFBF00"/>
                    </a:solidFill>
                  </a:rPr>
                  <a:t>	</a:t>
                </a:r>
                <a14:m>
                  <m:oMath xmlns:m="http://schemas.openxmlformats.org/officeDocument/2006/math">
                    <m:f>
                      <m:fPr>
                        <m:ctrlPr>
                          <a:rPr lang="fr-CA" b="0" i="1" smtClean="0">
                            <a:solidFill>
                              <a:srgbClr val="FFBF00"/>
                            </a:solidFill>
                            <a:latin typeface="Cambria Math" panose="02040503050406030204" pitchFamily="18" charset="0"/>
                          </a:rPr>
                        </m:ctrlPr>
                      </m:fPr>
                      <m:num>
                        <m:r>
                          <a:rPr lang="fr-CA" b="0" i="1" smtClean="0">
                            <a:solidFill>
                              <a:srgbClr val="FFBF00"/>
                            </a:solidFill>
                            <a:latin typeface="Cambria Math" panose="02040503050406030204" pitchFamily="18" charset="0"/>
                          </a:rPr>
                          <m:t>𝑑𝑇</m:t>
                        </m:r>
                      </m:num>
                      <m:den>
                        <m:r>
                          <a:rPr lang="fr-CA" b="0" i="1" smtClean="0">
                            <a:solidFill>
                              <a:srgbClr val="FFBF00"/>
                            </a:solidFill>
                            <a:latin typeface="Cambria Math" panose="02040503050406030204" pitchFamily="18" charset="0"/>
                          </a:rPr>
                          <m:t>𝑑𝑧</m:t>
                        </m:r>
                      </m:den>
                    </m:f>
                    <m:r>
                      <a:rPr lang="fr-CA" b="0" i="1" smtClean="0">
                        <a:solidFill>
                          <a:srgbClr val="FFBF00"/>
                        </a:solidFill>
                        <a:latin typeface="Cambria Math" panose="02040503050406030204" pitchFamily="18" charset="0"/>
                      </a:rPr>
                      <m:t>=0</m:t>
                    </m:r>
                  </m:oMath>
                </a14:m>
                <a:endParaRPr lang="fr-CA" b="0" i="1" dirty="0">
                  <a:solidFill>
                    <a:srgbClr val="FFBF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rgbClr val="FFBF00"/>
                              </a:solidFill>
                              <a:latin typeface="Cambria Math" panose="02040503050406030204" pitchFamily="18" charset="0"/>
                            </a:rPr>
                          </m:ctrlPr>
                        </m:sSubSupPr>
                        <m:e>
                          <m:r>
                            <a:rPr lang="fr-CA" b="0" i="1" smtClean="0">
                              <a:solidFill>
                                <a:srgbClr val="FFBF00"/>
                              </a:solidFill>
                              <a:latin typeface="Cambria Math" panose="02040503050406030204" pitchFamily="18" charset="0"/>
                            </a:rPr>
                            <m:t>𝑇</m:t>
                          </m:r>
                        </m:e>
                        <m:sub>
                          <m:r>
                            <a:rPr lang="fr-CA" b="0" i="1" smtClean="0">
                              <a:solidFill>
                                <a:srgbClr val="FFBF00"/>
                              </a:solidFill>
                              <a:latin typeface="Cambria Math" panose="02040503050406030204" pitchFamily="18" charset="0"/>
                            </a:rPr>
                            <m:t>𝑟</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𝑧</m:t>
                          </m:r>
                        </m:sub>
                        <m:sup>
                          <m:r>
                            <a:rPr lang="fr-CA" b="0" i="1" smtClean="0">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ea typeface="Cambria Math" panose="02040503050406030204" pitchFamily="18" charset="0"/>
                            </a:rPr>
                            <m:t>𝑡</m:t>
                          </m:r>
                        </m:sup>
                      </m:sSubSup>
                      <m:r>
                        <a:rPr lang="fr-CA" b="0" i="0" smtClean="0">
                          <a:solidFill>
                            <a:srgbClr val="FFBF00"/>
                          </a:solidFill>
                          <a:latin typeface="Cambria Math" panose="02040503050406030204" pitchFamily="18" charset="0"/>
                        </a:rPr>
                        <m:t>=</m:t>
                      </m:r>
                      <m:f>
                        <m:fPr>
                          <m:ctrlPr>
                            <a:rPr lang="fr-CA" b="0" i="1" smtClean="0">
                              <a:solidFill>
                                <a:srgbClr val="FFBF00"/>
                              </a:solidFill>
                              <a:latin typeface="Cambria Math" panose="02040503050406030204" pitchFamily="18" charset="0"/>
                            </a:rPr>
                          </m:ctrlPr>
                        </m:fPr>
                        <m:num>
                          <m:r>
                            <a:rPr lang="fr-CA" b="0" i="0" smtClean="0">
                              <a:solidFill>
                                <a:srgbClr val="FFBF00"/>
                              </a:solidFill>
                              <a:latin typeface="Cambria Math" panose="02040503050406030204" pitchFamily="18" charset="0"/>
                            </a:rPr>
                            <m:t>−1</m:t>
                          </m:r>
                        </m:num>
                        <m:den>
                          <m:r>
                            <a:rPr lang="fr-CA" b="0" i="0" smtClean="0">
                              <a:solidFill>
                                <a:srgbClr val="FFBF00"/>
                              </a:solidFill>
                              <a:latin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+2</m:t>
                          </m:r>
                        </m:sub>
                        <m:sup>
                          <m:r>
                            <a:rPr lang="fr-CA" i="1">
                              <a:solidFill>
                                <a:srgbClr val="FFBF00"/>
                              </a:solidFill>
                              <a:latin typeface="Cambria Math" panose="02040503050406030204" pitchFamily="18" charset="0"/>
                            </a:rPr>
                            <m:t>𝑡</m:t>
                          </m:r>
                        </m:sup>
                      </m:sSubSup>
                      <m:r>
                        <a:rPr lang="fr-CA" b="0" i="1" smtClean="0">
                          <a:solidFill>
                            <a:srgbClr val="FFBF00"/>
                          </a:solidFill>
                          <a:latin typeface="Cambria Math" panose="02040503050406030204" pitchFamily="18" charset="0"/>
                          <a:ea typeface="Cambria Math" panose="02040503050406030204" pitchFamily="18" charset="0"/>
                        </a:rPr>
                        <m:t>+</m:t>
                      </m:r>
                      <m:f>
                        <m:fPr>
                          <m:ctrlPr>
                            <a:rPr lang="fr-CA" b="0" i="1" smtClean="0">
                              <a:solidFill>
                                <a:srgbClr val="FFBF00"/>
                              </a:solidFill>
                              <a:latin typeface="Cambria Math" panose="02040503050406030204" pitchFamily="18" charset="0"/>
                              <a:ea typeface="Cambria Math" panose="02040503050406030204" pitchFamily="18" charset="0"/>
                            </a:rPr>
                          </m:ctrlPr>
                        </m:fPr>
                        <m:num>
                          <m:r>
                            <a:rPr lang="fr-CA" b="0" i="1" smtClean="0">
                              <a:solidFill>
                                <a:srgbClr val="FFBF00"/>
                              </a:solidFill>
                              <a:latin typeface="Cambria Math" panose="02040503050406030204" pitchFamily="18" charset="0"/>
                              <a:ea typeface="Cambria Math" panose="02040503050406030204" pitchFamily="18" charset="0"/>
                            </a:rPr>
                            <m:t>4</m:t>
                          </m:r>
                        </m:num>
                        <m:den>
                          <m:r>
                            <a:rPr lang="fr-CA" b="0" i="1" smtClean="0">
                              <a:solidFill>
                                <a:srgbClr val="FFBF00"/>
                              </a:solidFill>
                              <a:latin typeface="Cambria Math" panose="02040503050406030204" pitchFamily="18" charset="0"/>
                              <a:ea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+1</m:t>
                          </m:r>
                        </m:sub>
                        <m:sup>
                          <m:r>
                            <a:rPr lang="fr-CA" i="1">
                              <a:solidFill>
                                <a:srgbClr val="FFBF00"/>
                              </a:solidFill>
                              <a:latin typeface="Cambria Math" panose="02040503050406030204" pitchFamily="18" charset="0"/>
                            </a:rPr>
                            <m:t>𝑡</m:t>
                          </m:r>
                        </m:sup>
                      </m:sSubSup>
                    </m:oMath>
                  </m:oMathPara>
                </a14:m>
                <a:endParaRPr lang="fr-CA" dirty="0">
                  <a:solidFill>
                    <a:srgbClr val="FFBF00"/>
                  </a:solidFill>
                </a:endParaRPr>
              </a:p>
            </p:txBody>
          </p:sp>
        </mc:Choice>
        <mc:Fallback xmlns="">
          <p:sp>
            <p:nvSpPr>
              <p:cNvPr id="7" name="ZoneTexte 6">
                <a:extLst>
                  <a:ext uri="{FF2B5EF4-FFF2-40B4-BE49-F238E27FC236}">
                    <a16:creationId xmlns:a16="http://schemas.microsoft.com/office/drawing/2014/main" id="{35B26447-C369-915B-101D-E4FC7C5D7482}"/>
                  </a:ext>
                </a:extLst>
              </p:cNvPr>
              <p:cNvSpPr txBox="1">
                <a:spLocks noRot="1" noChangeAspect="1" noMove="1" noResize="1" noEditPoints="1" noAdjustHandles="1" noChangeArrowheads="1" noChangeShapeType="1" noTextEdit="1"/>
              </p:cNvSpPr>
              <p:nvPr/>
            </p:nvSpPr>
            <p:spPr>
              <a:xfrm>
                <a:off x="582168" y="2784657"/>
                <a:ext cx="5897880" cy="1288686"/>
              </a:xfrm>
              <a:prstGeom prst="rect">
                <a:avLst/>
              </a:prstGeom>
              <a:blipFill>
                <a:blip r:embed="rId4"/>
                <a:stretch>
                  <a:fillRect l="-931" t="-237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B81FF01E-407B-CE8F-80F4-CFC728E6CA10}"/>
                  </a:ext>
                </a:extLst>
              </p:cNvPr>
              <p:cNvSpPr txBox="1"/>
              <p:nvPr/>
            </p:nvSpPr>
            <p:spPr>
              <a:xfrm>
                <a:off x="5803392" y="1268922"/>
                <a:ext cx="6141720" cy="1869614"/>
              </a:xfrm>
              <a:prstGeom prst="rect">
                <a:avLst/>
              </a:prstGeom>
              <a:noFill/>
            </p:spPr>
            <p:txBody>
              <a:bodyPr wrap="square" rtlCol="0">
                <a:spAutoFit/>
              </a:bodyPr>
              <a:lstStyle/>
              <a:p>
                <a:r>
                  <a:rPr lang="fr-CA" dirty="0">
                    <a:solidFill>
                      <a:srgbClr val="5B9BD5"/>
                    </a:solidFill>
                  </a:rPr>
                  <a:t>Condition de robin, convection-radiation :</a:t>
                </a:r>
              </a:p>
              <a:p>
                <a:pPr algn="ctr">
                  <a:spcBef>
                    <a:spcPts val="1800"/>
                  </a:spcBef>
                </a:pPr>
                <a:r>
                  <a:rPr lang="fr-CA" dirty="0">
                    <a:solidFill>
                      <a:srgbClr val="5B9BD5"/>
                    </a:solidFill>
                  </a:rPr>
                  <a:t>	</a:t>
                </a:r>
                <a14:m>
                  <m:oMath xmlns:m="http://schemas.openxmlformats.org/officeDocument/2006/math">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𝑘</m:t>
                    </m:r>
                    <m:r>
                      <m:rPr>
                        <m:sty m:val="p"/>
                      </m:rP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𝑇</m:t>
                    </m:r>
                    <m:r>
                      <a:rPr lang="fr-FR" i="1" smtClean="0">
                        <a:solidFill>
                          <a:srgbClr val="5B9BD5"/>
                        </a:solidFill>
                        <a:latin typeface="Cambria Math" panose="02040503050406030204" pitchFamily="18" charset="0"/>
                      </a:rPr>
                      <m:t>.</m:t>
                    </m:r>
                    <m:acc>
                      <m:accPr>
                        <m:chr m:val="⃗"/>
                        <m:ctrlPr>
                          <a:rPr lang="fr-FR" i="1" smtClean="0">
                            <a:solidFill>
                              <a:srgbClr val="5B9BD5"/>
                            </a:solidFill>
                            <a:latin typeface="Cambria Math" panose="02040503050406030204" pitchFamily="18" charset="0"/>
                          </a:rPr>
                        </m:ctrlPr>
                      </m:accPr>
                      <m:e>
                        <m:r>
                          <a:rPr lang="fr-CA" b="0" i="1" smtClean="0">
                            <a:solidFill>
                              <a:srgbClr val="5B9BD5"/>
                            </a:solidFill>
                            <a:latin typeface="Cambria Math" panose="02040503050406030204" pitchFamily="18" charset="0"/>
                          </a:rPr>
                          <m:t>𝑛</m:t>
                        </m:r>
                      </m:e>
                    </m:acc>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h</m:t>
                    </m:r>
                    <m:d>
                      <m:dPr>
                        <m:ctrlPr>
                          <a:rPr lang="fr-FR" i="1">
                            <a:solidFill>
                              <a:srgbClr val="5B9BD5"/>
                            </a:solidFill>
                            <a:latin typeface="Cambria Math" panose="02040503050406030204" pitchFamily="18" charset="0"/>
                          </a:rPr>
                        </m:ctrlPr>
                      </m:dPr>
                      <m:e>
                        <m:r>
                          <a:rPr lang="fr-FR" i="1">
                            <a:solidFill>
                              <a:srgbClr val="5B9BD5"/>
                            </a:solidFill>
                            <a:latin typeface="Cambria Math" panose="02040503050406030204" pitchFamily="18" charset="0"/>
                          </a:rPr>
                          <m:t>𝑇</m:t>
                        </m:r>
                        <m:r>
                          <a:rPr lang="fr-FR" i="1">
                            <a:solidFill>
                              <a:srgbClr val="5B9BD5"/>
                            </a:solidFill>
                            <a:latin typeface="Cambria Math" panose="02040503050406030204" pitchFamily="18" charset="0"/>
                          </a:rPr>
                          <m:t>−</m:t>
                        </m:r>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e>
                    </m:d>
                    <m:r>
                      <a:rPr lang="fr-FR" i="1">
                        <a:solidFill>
                          <a:srgbClr val="5B9BD5"/>
                        </a:solidFill>
                        <a:latin typeface="Cambria Math" panose="02040503050406030204" pitchFamily="18" charset="0"/>
                      </a:rPr>
                      <m:t>+</m:t>
                    </m:r>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r>
                          <a:rPr lang="fr-FR" i="1">
                            <a:solidFill>
                              <a:srgbClr val="5B9BD5"/>
                            </a:solidFill>
                            <a:latin typeface="Cambria Math" panose="02040503050406030204" pitchFamily="18" charset="0"/>
                          </a:rPr>
                          <m:t>𝑇</m:t>
                        </m:r>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oMath>
                </a14:m>
                <a:endParaRPr lang="fr-FR" dirty="0">
                  <a:solidFill>
                    <a:srgbClr val="5B9BD5"/>
                  </a:solidFill>
                </a:endParaRPr>
              </a:p>
              <a:p>
                <a:pPr algn="ctr"/>
                <a14:m>
                  <m:oMath xmlns:m="http://schemas.openxmlformats.org/officeDocument/2006/math">
                    <m:sSubSup>
                      <m:sSubSupPr>
                        <m:ctrlPr>
                          <a:rPr lang="fr-CA" b="0" i="1" smtClean="0">
                            <a:solidFill>
                              <a:srgbClr val="5B9BD5"/>
                            </a:solidFill>
                            <a:latin typeface="Cambria Math" panose="02040503050406030204" pitchFamily="18" charset="0"/>
                          </a:rPr>
                        </m:ctrlPr>
                      </m:sSubSupPr>
                      <m:e>
                        <m:r>
                          <a:rPr lang="fr-CA" b="0" i="1" smtClean="0">
                            <a:solidFill>
                              <a:srgbClr val="5B9BD5"/>
                            </a:solidFill>
                            <a:latin typeface="Cambria Math" panose="02040503050406030204" pitchFamily="18" charset="0"/>
                          </a:rPr>
                          <m:t>𝑇</m:t>
                        </m:r>
                      </m:e>
                      <m:sub>
                        <m:r>
                          <a:rPr lang="fr-CA" b="0" i="1" smtClean="0">
                            <a:solidFill>
                              <a:srgbClr val="5B9BD5"/>
                            </a:solidFill>
                            <a:latin typeface="Cambria Math" panose="02040503050406030204" pitchFamily="18" charset="0"/>
                          </a:rPr>
                          <m:t>𝑟</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𝑡</m:t>
                        </m:r>
                      </m:sup>
                    </m:sSubSup>
                    <m:r>
                      <a:rPr lang="fr-CA" b="0" i="0" smtClean="0">
                        <a:solidFill>
                          <a:srgbClr val="5B9BD5"/>
                        </a:solidFill>
                        <a:latin typeface="Cambria Math" panose="02040503050406030204" pitchFamily="18" charset="0"/>
                      </a:rPr>
                      <m:t>=[</m:t>
                    </m:r>
                    <m:d>
                      <m:dPr>
                        <m:ctrlPr>
                          <a:rPr lang="fr-CA" b="0" i="1" smtClean="0">
                            <a:solidFill>
                              <a:srgbClr val="5B9BD5"/>
                            </a:solidFill>
                            <a:latin typeface="Cambria Math" panose="02040503050406030204" pitchFamily="18" charset="0"/>
                          </a:rPr>
                        </m:ctrlPr>
                      </m:dPr>
                      <m:e>
                        <m:f>
                          <m:fPr>
                            <m:ctrlPr>
                              <a:rPr lang="fr-CA" b="0" i="1" smtClean="0">
                                <a:solidFill>
                                  <a:srgbClr val="5B9BD5"/>
                                </a:solidFill>
                                <a:latin typeface="Cambria Math" panose="02040503050406030204" pitchFamily="18" charset="0"/>
                              </a:rPr>
                            </m:ctrlPr>
                          </m:fPr>
                          <m:num>
                            <m:r>
                              <a:rPr lang="fr-CA" b="0" i="0" smtClean="0">
                                <a:solidFill>
                                  <a:srgbClr val="5B9BD5"/>
                                </a:solidFill>
                                <a:latin typeface="Cambria Math" panose="02040503050406030204" pitchFamily="18" charset="0"/>
                              </a:rPr>
                              <m:t>−2</m:t>
                            </m:r>
                            <m:r>
                              <a:rPr lang="fr-CA" b="0" i="1"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z</m:t>
                            </m:r>
                          </m:num>
                          <m:den>
                            <m:r>
                              <m:rPr>
                                <m:sty m:val="p"/>
                              </m:rPr>
                              <a:rPr lang="fr-CA" b="0" i="0" smtClean="0">
                                <a:solidFill>
                                  <a:srgbClr val="5B9BD5"/>
                                </a:solidFill>
                                <a:latin typeface="Cambria Math" panose="02040503050406030204" pitchFamily="18" charset="0"/>
                              </a:rPr>
                              <m:t>k</m:t>
                            </m:r>
                          </m:den>
                        </m:f>
                      </m:e>
                    </m:d>
                    <m:r>
                      <a:rPr lang="fr-CA" b="0" i="0"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h</m:t>
                    </m:r>
                    <m:r>
                      <a:rPr lang="fr-CA" b="0" i="0" smtClean="0">
                        <a:solidFill>
                          <a:srgbClr val="5B9BD5"/>
                        </a:solidFill>
                        <a:latin typeface="Cambria Math" panose="02040503050406030204" pitchFamily="18" charset="0"/>
                      </a:rPr>
                      <m:t>(</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sup>
                    </m:sSubSup>
                  </m:oMath>
                </a14:m>
                <a:r>
                  <a:rPr lang="fr-CA" dirty="0">
                    <a:solidFill>
                      <a:srgbClr val="5B9BD5"/>
                    </a:solidFill>
                  </a:rPr>
                  <a:t>-</a:t>
                </a:r>
                <a:r>
                  <a:rPr lang="fr-FR" dirty="0">
                    <a:solidFill>
                      <a:srgbClr val="5B9BD5"/>
                    </a:solidFill>
                  </a:rPr>
                  <a:t> </a:t>
                </a:r>
                <a14:m>
                  <m:oMath xmlns:m="http://schemas.openxmlformats.org/officeDocument/2006/math">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r>
                      <a:rPr lang="fr-CA" b="0" i="1" dirty="0" smtClean="0">
                        <a:solidFill>
                          <a:srgbClr val="5B9BD5"/>
                        </a:solidFill>
                        <a:latin typeface="Cambria Math" panose="02040503050406030204" pitchFamily="18" charset="0"/>
                      </a:rPr>
                      <m:t>)</m:t>
                    </m:r>
                  </m:oMath>
                </a14:m>
                <a:r>
                  <a:rPr lang="fr-CA" dirty="0">
                    <a:solidFill>
                      <a:srgbClr val="5B9BD5"/>
                    </a:solidFill>
                  </a:rPr>
                  <a:t> + </a:t>
                </a:r>
                <a14:m>
                  <m:oMath xmlns:m="http://schemas.openxmlformats.org/officeDocument/2006/math">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i="1">
                                <a:solidFill>
                                  <a:srgbClr val="5B9BD5"/>
                                </a:solidFill>
                                <a:latin typeface="Cambria Math" panose="02040503050406030204" pitchFamily="18" charset="0"/>
                              </a:rPr>
                              <m:t>𝑡</m:t>
                            </m:r>
                          </m:sup>
                        </m:sSubSup>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 −</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−2</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+4</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−1</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)]÷3</m:t>
                    </m:r>
                  </m:oMath>
                </a14:m>
                <a:r>
                  <a:rPr lang="fr-CA" dirty="0">
                    <a:solidFill>
                      <a:srgbClr val="5B9BD5"/>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5B9BD5"/>
                              </a:solidFill>
                              <a:latin typeface="Cambria Math" panose="02040503050406030204" pitchFamily="18" charset="0"/>
                            </a:rPr>
                          </m:ctrlPr>
                        </m:accPr>
                        <m:e>
                          <m:r>
                            <a:rPr lang="fr-CA" i="1">
                              <a:solidFill>
                                <a:srgbClr val="5B9BD5"/>
                              </a:solidFill>
                              <a:latin typeface="Cambria Math" panose="02040503050406030204" pitchFamily="18" charset="0"/>
                            </a:rPr>
                            <m:t>𝑛</m:t>
                          </m:r>
                        </m:e>
                      </m:acc>
                      <m:r>
                        <a:rPr lang="fr-CA" b="0" i="1" smtClean="0">
                          <a:solidFill>
                            <a:srgbClr val="5B9BD5"/>
                          </a:solidFill>
                          <a:latin typeface="Cambria Math" panose="02040503050406030204" pitchFamily="18" charset="0"/>
                        </a:rPr>
                        <m:t>=(0,1)</m:t>
                      </m:r>
                    </m:oMath>
                  </m:oMathPara>
                </a14:m>
                <a:endParaRPr lang="fr-CA" dirty="0">
                  <a:solidFill>
                    <a:srgbClr val="5B9BD5"/>
                  </a:solidFill>
                </a:endParaRPr>
              </a:p>
            </p:txBody>
          </p:sp>
        </mc:Choice>
        <mc:Fallback xmlns="">
          <p:sp>
            <p:nvSpPr>
              <p:cNvPr id="8" name="ZoneTexte 7">
                <a:extLst>
                  <a:ext uri="{FF2B5EF4-FFF2-40B4-BE49-F238E27FC236}">
                    <a16:creationId xmlns:a16="http://schemas.microsoft.com/office/drawing/2014/main" id="{B81FF01E-407B-CE8F-80F4-CFC728E6CA10}"/>
                  </a:ext>
                </a:extLst>
              </p:cNvPr>
              <p:cNvSpPr txBox="1">
                <a:spLocks noRot="1" noChangeAspect="1" noMove="1" noResize="1" noEditPoints="1" noAdjustHandles="1" noChangeArrowheads="1" noChangeShapeType="1" noTextEdit="1"/>
              </p:cNvSpPr>
              <p:nvPr/>
            </p:nvSpPr>
            <p:spPr>
              <a:xfrm>
                <a:off x="5803392" y="1268922"/>
                <a:ext cx="6141720" cy="1869614"/>
              </a:xfrm>
              <a:prstGeom prst="rect">
                <a:avLst/>
              </a:prstGeom>
              <a:blipFill>
                <a:blip r:embed="rId5"/>
                <a:stretch>
                  <a:fillRect l="-794" t="-1303" b="-1954"/>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0DEE587-681A-1A82-80C1-940949F38F5B}"/>
                  </a:ext>
                </a:extLst>
              </p:cNvPr>
              <p:cNvSpPr txBox="1"/>
              <p:nvPr/>
            </p:nvSpPr>
            <p:spPr>
              <a:xfrm>
                <a:off x="5903976" y="3023260"/>
                <a:ext cx="6288024" cy="1869614"/>
              </a:xfrm>
              <a:prstGeom prst="rect">
                <a:avLst/>
              </a:prstGeom>
              <a:noFill/>
            </p:spPr>
            <p:txBody>
              <a:bodyPr wrap="square" rtlCol="0">
                <a:spAutoFit/>
              </a:bodyPr>
              <a:lstStyle/>
              <a:p>
                <a:r>
                  <a:rPr lang="fr-CA" dirty="0">
                    <a:solidFill>
                      <a:srgbClr val="6FAD46"/>
                    </a:solidFill>
                  </a:rPr>
                  <a:t>Condition de robin, convection-radiation :</a:t>
                </a:r>
              </a:p>
              <a:p>
                <a:pPr algn="ctr">
                  <a:spcBef>
                    <a:spcPts val="1800"/>
                  </a:spcBef>
                </a:pPr>
                <a:r>
                  <a:rPr lang="fr-CA" dirty="0">
                    <a:solidFill>
                      <a:srgbClr val="6FAD46"/>
                    </a:solidFill>
                  </a:rPr>
                  <a:t>	</a:t>
                </a:r>
                <a14:m>
                  <m:oMath xmlns:m="http://schemas.openxmlformats.org/officeDocument/2006/math">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𝑘</m:t>
                    </m:r>
                    <m:r>
                      <m:rPr>
                        <m:sty m:val="p"/>
                      </m:rP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𝑇</m:t>
                    </m:r>
                    <m:r>
                      <a:rPr lang="fr-FR" i="1" smtClean="0">
                        <a:solidFill>
                          <a:srgbClr val="6FAD46"/>
                        </a:solidFill>
                        <a:latin typeface="Cambria Math" panose="02040503050406030204" pitchFamily="18" charset="0"/>
                      </a:rPr>
                      <m:t>.</m:t>
                    </m:r>
                    <m:acc>
                      <m:accPr>
                        <m:chr m:val="⃗"/>
                        <m:ctrlPr>
                          <a:rPr lang="fr-FR" i="1" smtClean="0">
                            <a:solidFill>
                              <a:srgbClr val="6FAD46"/>
                            </a:solidFill>
                            <a:latin typeface="Cambria Math" panose="02040503050406030204" pitchFamily="18" charset="0"/>
                          </a:rPr>
                        </m:ctrlPr>
                      </m:accPr>
                      <m:e>
                        <m:r>
                          <a:rPr lang="fr-CA" b="0" i="1" smtClean="0">
                            <a:solidFill>
                              <a:srgbClr val="6FAD46"/>
                            </a:solidFill>
                            <a:latin typeface="Cambria Math" panose="02040503050406030204" pitchFamily="18" charset="0"/>
                          </a:rPr>
                          <m:t>𝑛</m:t>
                        </m:r>
                      </m:e>
                    </m:acc>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h</m:t>
                    </m:r>
                    <m:d>
                      <m:dPr>
                        <m:ctrlPr>
                          <a:rPr lang="fr-FR" i="1">
                            <a:solidFill>
                              <a:srgbClr val="6FAD46"/>
                            </a:solidFill>
                            <a:latin typeface="Cambria Math" panose="02040503050406030204" pitchFamily="18" charset="0"/>
                          </a:rPr>
                        </m:ctrlPr>
                      </m:dPr>
                      <m:e>
                        <m:r>
                          <a:rPr lang="fr-FR" i="1">
                            <a:solidFill>
                              <a:srgbClr val="6FAD46"/>
                            </a:solidFill>
                            <a:latin typeface="Cambria Math" panose="02040503050406030204" pitchFamily="18" charset="0"/>
                          </a:rPr>
                          <m:t>𝑇</m:t>
                        </m:r>
                        <m:r>
                          <a:rPr lang="fr-FR" i="1">
                            <a:solidFill>
                              <a:srgbClr val="6FAD46"/>
                            </a:solidFill>
                            <a:latin typeface="Cambria Math" panose="02040503050406030204" pitchFamily="18" charset="0"/>
                          </a:rPr>
                          <m:t>−</m:t>
                        </m:r>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e>
                    </m:d>
                    <m:r>
                      <a:rPr lang="fr-FR" i="1">
                        <a:solidFill>
                          <a:srgbClr val="6FAD46"/>
                        </a:solidFill>
                        <a:latin typeface="Cambria Math" panose="02040503050406030204" pitchFamily="18" charset="0"/>
                      </a:rPr>
                      <m:t>+</m:t>
                    </m:r>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r>
                          <a:rPr lang="fr-FR" i="1">
                            <a:solidFill>
                              <a:srgbClr val="6FAD46"/>
                            </a:solidFill>
                            <a:latin typeface="Cambria Math" panose="02040503050406030204" pitchFamily="18" charset="0"/>
                          </a:rPr>
                          <m:t>𝑇</m:t>
                        </m:r>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oMath>
                </a14:m>
                <a:endParaRPr lang="fr-FR" dirty="0">
                  <a:solidFill>
                    <a:srgbClr val="6FAD46"/>
                  </a:solidFill>
                </a:endParaRPr>
              </a:p>
              <a:p>
                <a:pPr algn="ctr"/>
                <a14:m>
                  <m:oMath xmlns:m="http://schemas.openxmlformats.org/officeDocument/2006/math">
                    <m:sSubSup>
                      <m:sSubSupPr>
                        <m:ctrlPr>
                          <a:rPr lang="fr-CA" b="0" i="1" smtClean="0">
                            <a:solidFill>
                              <a:srgbClr val="6FAD46"/>
                            </a:solidFill>
                            <a:latin typeface="Cambria Math" panose="02040503050406030204" pitchFamily="18" charset="0"/>
                          </a:rPr>
                        </m:ctrlPr>
                      </m:sSubSupPr>
                      <m:e>
                        <m:r>
                          <a:rPr lang="fr-CA" b="0" i="1" smtClean="0">
                            <a:solidFill>
                              <a:srgbClr val="6FAD46"/>
                            </a:solidFill>
                            <a:latin typeface="Cambria Math" panose="02040503050406030204" pitchFamily="18" charset="0"/>
                          </a:rPr>
                          <m:t>𝑇</m:t>
                        </m:r>
                      </m:e>
                      <m:sub>
                        <m:r>
                          <a:rPr lang="fr-CA" b="0" i="1" smtClean="0">
                            <a:solidFill>
                              <a:srgbClr val="6FAD46"/>
                            </a:solidFill>
                            <a:latin typeface="Cambria Math" panose="02040503050406030204" pitchFamily="18" charset="0"/>
                          </a:rPr>
                          <m:t>𝑟</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𝑡</m:t>
                        </m:r>
                      </m:sup>
                    </m:sSubSup>
                    <m:r>
                      <a:rPr lang="fr-CA" b="0" i="0" smtClean="0">
                        <a:solidFill>
                          <a:srgbClr val="6FAD46"/>
                        </a:solidFill>
                        <a:latin typeface="Cambria Math" panose="02040503050406030204" pitchFamily="18" charset="0"/>
                      </a:rPr>
                      <m:t>=[</m:t>
                    </m:r>
                    <m:d>
                      <m:dPr>
                        <m:ctrlPr>
                          <a:rPr lang="fr-CA" b="0" i="1" smtClean="0">
                            <a:solidFill>
                              <a:srgbClr val="6FAD46"/>
                            </a:solidFill>
                            <a:latin typeface="Cambria Math" panose="02040503050406030204" pitchFamily="18" charset="0"/>
                          </a:rPr>
                        </m:ctrlPr>
                      </m:dPr>
                      <m:e>
                        <m:f>
                          <m:fPr>
                            <m:ctrlPr>
                              <a:rPr lang="fr-CA" b="0" i="1" smtClean="0">
                                <a:solidFill>
                                  <a:srgbClr val="6FAD46"/>
                                </a:solidFill>
                                <a:latin typeface="Cambria Math" panose="02040503050406030204" pitchFamily="18" charset="0"/>
                              </a:rPr>
                            </m:ctrlPr>
                          </m:fPr>
                          <m:num>
                            <m:r>
                              <a:rPr lang="fr-CA" b="0" i="0" smtClean="0">
                                <a:solidFill>
                                  <a:srgbClr val="6FAD46"/>
                                </a:solidFill>
                                <a:latin typeface="Cambria Math" panose="02040503050406030204" pitchFamily="18" charset="0"/>
                              </a:rPr>
                              <m:t>−2</m:t>
                            </m:r>
                            <m:r>
                              <a:rPr lang="fr-CA" b="0" i="1"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r</m:t>
                            </m:r>
                          </m:num>
                          <m:den>
                            <m:r>
                              <m:rPr>
                                <m:sty m:val="p"/>
                              </m:rPr>
                              <a:rPr lang="fr-CA" b="0" i="0" smtClean="0">
                                <a:solidFill>
                                  <a:srgbClr val="6FAD46"/>
                                </a:solidFill>
                                <a:latin typeface="Cambria Math" panose="02040503050406030204" pitchFamily="18" charset="0"/>
                              </a:rPr>
                              <m:t>k</m:t>
                            </m:r>
                          </m:den>
                        </m:f>
                      </m:e>
                    </m:d>
                    <m:r>
                      <a:rPr lang="fr-CA" b="0" i="0"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h</m:t>
                    </m:r>
                    <m:r>
                      <a:rPr lang="fr-CA" b="0" i="0" smtClean="0">
                        <a:solidFill>
                          <a:srgbClr val="6FAD46"/>
                        </a:solidFill>
                        <a:latin typeface="Cambria Math" panose="02040503050406030204" pitchFamily="18" charset="0"/>
                      </a:rPr>
                      <m:t>(</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sup>
                    </m:sSubSup>
                  </m:oMath>
                </a14:m>
                <a:r>
                  <a:rPr lang="fr-CA" dirty="0">
                    <a:solidFill>
                      <a:srgbClr val="6FAD46"/>
                    </a:solidFill>
                  </a:rPr>
                  <a:t>-</a:t>
                </a:r>
                <a:r>
                  <a:rPr lang="fr-FR" dirty="0">
                    <a:solidFill>
                      <a:srgbClr val="6FAD46"/>
                    </a:solidFill>
                  </a:rPr>
                  <a:t> </a:t>
                </a:r>
                <a14:m>
                  <m:oMath xmlns:m="http://schemas.openxmlformats.org/officeDocument/2006/math">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r>
                      <a:rPr lang="fr-CA" b="0" i="1" dirty="0" smtClean="0">
                        <a:solidFill>
                          <a:srgbClr val="6FAD46"/>
                        </a:solidFill>
                        <a:latin typeface="Cambria Math" panose="02040503050406030204" pitchFamily="18" charset="0"/>
                      </a:rPr>
                      <m:t>)</m:t>
                    </m:r>
                  </m:oMath>
                </a14:m>
                <a:r>
                  <a:rPr lang="fr-CA" dirty="0">
                    <a:solidFill>
                      <a:srgbClr val="6FAD46"/>
                    </a:solidFill>
                  </a:rPr>
                  <a:t> + </a:t>
                </a:r>
                <a14:m>
                  <m:oMath xmlns:m="http://schemas.openxmlformats.org/officeDocument/2006/math">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i="1">
                                <a:solidFill>
                                  <a:srgbClr val="6FAD46"/>
                                </a:solidFill>
                                <a:latin typeface="Cambria Math" panose="02040503050406030204" pitchFamily="18" charset="0"/>
                              </a:rPr>
                              <m:t>𝑡</m:t>
                            </m:r>
                          </m:sup>
                        </m:sSubSup>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 −</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+2</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+4</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+1</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)]÷3</m:t>
                    </m:r>
                  </m:oMath>
                </a14:m>
                <a:r>
                  <a:rPr lang="fr-CA" dirty="0">
                    <a:solidFill>
                      <a:srgbClr val="6FAD46"/>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6FAD46"/>
                              </a:solidFill>
                              <a:latin typeface="Cambria Math" panose="02040503050406030204" pitchFamily="18" charset="0"/>
                            </a:rPr>
                          </m:ctrlPr>
                        </m:accPr>
                        <m:e>
                          <m:r>
                            <a:rPr lang="fr-CA" i="1">
                              <a:solidFill>
                                <a:srgbClr val="6FAD46"/>
                              </a:solidFill>
                              <a:latin typeface="Cambria Math" panose="02040503050406030204" pitchFamily="18" charset="0"/>
                            </a:rPr>
                            <m:t>𝑛</m:t>
                          </m:r>
                        </m:e>
                      </m:acc>
                      <m:r>
                        <a:rPr lang="fr-CA" b="0" i="1" smtClean="0">
                          <a:solidFill>
                            <a:srgbClr val="6FAD46"/>
                          </a:solidFill>
                          <a:latin typeface="Cambria Math" panose="02040503050406030204" pitchFamily="18" charset="0"/>
                        </a:rPr>
                        <m:t>=(1,0)</m:t>
                      </m:r>
                    </m:oMath>
                  </m:oMathPara>
                </a14:m>
                <a:endParaRPr lang="fr-CA" dirty="0">
                  <a:solidFill>
                    <a:srgbClr val="6FAD46"/>
                  </a:solidFill>
                </a:endParaRPr>
              </a:p>
            </p:txBody>
          </p:sp>
        </mc:Choice>
        <mc:Fallback xmlns="">
          <p:sp>
            <p:nvSpPr>
              <p:cNvPr id="9" name="ZoneTexte 8">
                <a:extLst>
                  <a:ext uri="{FF2B5EF4-FFF2-40B4-BE49-F238E27FC236}">
                    <a16:creationId xmlns:a16="http://schemas.microsoft.com/office/drawing/2014/main" id="{A0DEE587-681A-1A82-80C1-940949F38F5B}"/>
                  </a:ext>
                </a:extLst>
              </p:cNvPr>
              <p:cNvSpPr txBox="1">
                <a:spLocks noRot="1" noChangeAspect="1" noMove="1" noResize="1" noEditPoints="1" noAdjustHandles="1" noChangeArrowheads="1" noChangeShapeType="1" noTextEdit="1"/>
              </p:cNvSpPr>
              <p:nvPr/>
            </p:nvSpPr>
            <p:spPr>
              <a:xfrm>
                <a:off x="5903976" y="3023260"/>
                <a:ext cx="6288024" cy="1869614"/>
              </a:xfrm>
              <a:prstGeom prst="rect">
                <a:avLst/>
              </a:prstGeom>
              <a:blipFill>
                <a:blip r:embed="rId6"/>
                <a:stretch>
                  <a:fillRect l="-873" t="-1629" b="-1629"/>
                </a:stretch>
              </a:blipFill>
            </p:spPr>
            <p:txBody>
              <a:bodyPr/>
              <a:lstStyle/>
              <a:p>
                <a:r>
                  <a:rPr lang="fr-CA">
                    <a:noFill/>
                  </a:rPr>
                  <a:t> </a:t>
                </a:r>
              </a:p>
            </p:txBody>
          </p:sp>
        </mc:Fallback>
      </mc:AlternateContent>
      <p:sp>
        <p:nvSpPr>
          <p:cNvPr id="10" name="ZoneTexte 9">
            <a:extLst>
              <a:ext uri="{FF2B5EF4-FFF2-40B4-BE49-F238E27FC236}">
                <a16:creationId xmlns:a16="http://schemas.microsoft.com/office/drawing/2014/main" id="{841669E0-8634-2A94-9DF2-325DD99B02AA}"/>
              </a:ext>
            </a:extLst>
          </p:cNvPr>
          <p:cNvSpPr txBox="1"/>
          <p:nvPr/>
        </p:nvSpPr>
        <p:spPr>
          <a:xfrm>
            <a:off x="5999988" y="5008150"/>
            <a:ext cx="6096000" cy="646331"/>
          </a:xfrm>
          <a:prstGeom prst="rect">
            <a:avLst/>
          </a:prstGeom>
          <a:noFill/>
        </p:spPr>
        <p:txBody>
          <a:bodyPr wrap="square" rtlCol="0">
            <a:spAutoFit/>
          </a:bodyPr>
          <a:lstStyle/>
          <a:p>
            <a:r>
              <a:rPr lang="fr-CA" dirty="0" err="1"/>
              <a:t>Dicrétisations</a:t>
            </a:r>
            <a:r>
              <a:rPr lang="fr-CA" dirty="0"/>
              <a:t> réalisées à l’aide des méthodes de </a:t>
            </a:r>
            <a:r>
              <a:rPr lang="fr-CA" dirty="0" err="1"/>
              <a:t>Gear</a:t>
            </a:r>
            <a:r>
              <a:rPr lang="fr-CA" dirty="0"/>
              <a:t>, d’ordre 2 :</a:t>
            </a:r>
          </a:p>
        </p:txBody>
      </p:sp>
      <p:pic>
        <p:nvPicPr>
          <p:cNvPr id="12" name="Image 11">
            <a:extLst>
              <a:ext uri="{FF2B5EF4-FFF2-40B4-BE49-F238E27FC236}">
                <a16:creationId xmlns:a16="http://schemas.microsoft.com/office/drawing/2014/main" id="{32A8A863-AC5E-8C31-7C35-11133CCD2831}"/>
              </a:ext>
            </a:extLst>
          </p:cNvPr>
          <p:cNvPicPr>
            <a:picLocks noChangeAspect="1"/>
          </p:cNvPicPr>
          <p:nvPr/>
        </p:nvPicPr>
        <p:blipFill>
          <a:blip r:embed="rId7"/>
          <a:stretch>
            <a:fillRect/>
          </a:stretch>
        </p:blipFill>
        <p:spPr>
          <a:xfrm>
            <a:off x="5903976" y="5752785"/>
            <a:ext cx="6096000" cy="975360"/>
          </a:xfrm>
          <a:prstGeom prst="rect">
            <a:avLst/>
          </a:prstGeom>
        </p:spPr>
      </p:pic>
      <p:sp>
        <p:nvSpPr>
          <p:cNvPr id="3" name="Slide Number Placeholder 2">
            <a:extLst>
              <a:ext uri="{FF2B5EF4-FFF2-40B4-BE49-F238E27FC236}">
                <a16:creationId xmlns:a16="http://schemas.microsoft.com/office/drawing/2014/main" id="{B9328285-A11E-A0F3-98CE-D5ED409CC57F}"/>
              </a:ext>
            </a:extLst>
          </p:cNvPr>
          <p:cNvSpPr>
            <a:spLocks noGrp="1"/>
          </p:cNvSpPr>
          <p:nvPr>
            <p:ph type="sldNum" sz="quarter" idx="12"/>
          </p:nvPr>
        </p:nvSpPr>
        <p:spPr/>
        <p:txBody>
          <a:bodyPr/>
          <a:lstStyle/>
          <a:p>
            <a:fld id="{FD85B578-4E75-4E1C-9BE3-D5DCC0715B13}" type="slidenum">
              <a:rPr lang="fr-FR" smtClean="0"/>
              <a:t>9</a:t>
            </a:fld>
            <a:endParaRPr lang="fr-FR"/>
          </a:p>
        </p:txBody>
      </p:sp>
    </p:spTree>
    <p:extLst>
      <p:ext uri="{BB962C8B-B14F-4D97-AF65-F5344CB8AC3E}">
        <p14:creationId xmlns:p14="http://schemas.microsoft.com/office/powerpoint/2010/main" val="3300882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B0DE8D-01F9-F51A-DBBD-3867112623A3}"/>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369A214-4D5D-715B-6640-CC12B4B650A6}"/>
                  </a:ext>
                </a:extLst>
              </p:cNvPr>
              <p:cNvSpPr>
                <a:spLocks noGrp="1"/>
              </p:cNvSpPr>
              <p:nvPr>
                <p:ph idx="1"/>
              </p:nvPr>
            </p:nvSpPr>
            <p:spPr>
              <a:xfrm>
                <a:off x="570411" y="1605124"/>
                <a:ext cx="10515600" cy="5504688"/>
              </a:xfrm>
            </p:spPr>
            <p:txBody>
              <a:bodyPr>
                <a:normAutofit/>
              </a:bodyPr>
              <a:lstStyle/>
              <a:p>
                <a:r>
                  <a:rPr lang="fr-FR" dirty="0"/>
                  <a:t>Développement de Taylor </a:t>
                </a: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i="1">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b="0" i="1" smtClean="0">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pPr marL="0" indent="0">
                  <a:buNone/>
                </a:pPr>
                <a:endParaRPr lang="fr-FR" b="0" i="0" dirty="0">
                  <a:latin typeface="Cambria Math" panose="02040503050406030204" pitchFamily="18" charset="0"/>
                </a:endParaRPr>
              </a:p>
              <a:p>
                <a:pPr marL="0" indent="0">
                  <a:buNone/>
                </a:pPr>
                <a:r>
                  <a:rPr lang="fr-FR" b="0" i="0" dirty="0">
                    <a:latin typeface="Cambria Math" panose="02040503050406030204" pitchFamily="18" charset="0"/>
                  </a:rPr>
                  <a:t>Ordre 1 en temps :</a:t>
                </a:r>
              </a:p>
              <a:p>
                <a14:m>
                  <m:oMath xmlns:m="http://schemas.openxmlformats.org/officeDocument/2006/math">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r>
                              <a:rPr lang="fr-FR" i="1">
                                <a:latin typeface="Cambria Math" panose="02040503050406030204" pitchFamily="18" charset="0"/>
                              </a:rPr>
                              <m:t>+</m:t>
                            </m:r>
                            <m:r>
                              <m:rPr>
                                <m:sty m:val="p"/>
                              </m:rPr>
                              <a:rPr lang="fr-FR">
                                <a:latin typeface="Cambria Math" panose="02040503050406030204" pitchFamily="18" charset="0"/>
                              </a:rPr>
                              <m:t>Δt</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r>
                      <a:rPr lang="fr-FR" b="0" i="1" smtClean="0">
                        <a:latin typeface="Cambria Math" panose="02040503050406030204" pitchFamily="18" charset="0"/>
                      </a:rPr>
                      <m:t>=</m:t>
                    </m:r>
                    <m:sSub>
                      <m:sSubPr>
                        <m:ctrlPr>
                          <a:rPr lang="fr-FR" i="1" smtClean="0">
                            <a:solidFill>
                              <a:srgbClr val="FF0000"/>
                            </a:solidFill>
                            <a:latin typeface="Cambria Math" panose="02040503050406030204" pitchFamily="18" charset="0"/>
                          </a:rPr>
                        </m:ctrlPr>
                      </m:sSubPr>
                      <m:e>
                        <m:r>
                          <a:rPr lang="fr-FR" b="0" i="1" smtClean="0">
                            <a:solidFill>
                              <a:schemeClr val="tx1"/>
                            </a:solidFill>
                            <a:latin typeface="Cambria Math" panose="02040503050406030204" pitchFamily="18" charset="0"/>
                          </a:rPr>
                          <m:t>(</m:t>
                        </m:r>
                        <m:r>
                          <a:rPr lang="fr-FR" i="1" smtClean="0">
                            <a:solidFill>
                              <a:srgbClr val="FF0000"/>
                            </a:solidFill>
                            <a:latin typeface="Cambria Math" panose="02040503050406030204" pitchFamily="18" charset="0"/>
                          </a:rPr>
                          <m:t>𝑇</m:t>
                        </m:r>
                      </m:e>
                      <m:sub>
                        <m:r>
                          <a:rPr lang="fr-FR" i="1">
                            <a:solidFill>
                              <a:srgbClr val="FF0000"/>
                            </a:solidFill>
                            <a:latin typeface="Cambria Math" panose="02040503050406030204" pitchFamily="18" charset="0"/>
                          </a:rPr>
                          <m:t>𝑖</m:t>
                        </m:r>
                      </m:sub>
                    </m:sSub>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sSub>
                      <m:sSubPr>
                        <m:ctrlPr>
                          <a:rPr lang="fr-FR" i="1" smtClean="0">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r>
                      <m:rPr>
                        <m:sty m:val="p"/>
                      </m:rPr>
                      <a:rPr lang="fr-FR"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r>
                      <a:rPr lang="fr-FR" b="0" i="1" smtClean="0">
                        <a:latin typeface="Cambria Math" panose="02040503050406030204" pitchFamily="18" charset="0"/>
                      </a:rPr>
                      <m:t>𝑜</m:t>
                    </m:r>
                    <m:r>
                      <a:rPr lang="fr-FR" b="0" i="1" smtClean="0">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b="0" i="1" smtClean="0">
                            <a:latin typeface="Cambria Math" panose="02040503050406030204" pitchFamily="18" charset="0"/>
                          </a:rPr>
                          <m:t>2</m:t>
                        </m:r>
                      </m:sup>
                    </m:sSup>
                    <m:r>
                      <a:rPr lang="fr-FR" b="0" i="1" smtClean="0">
                        <a:latin typeface="Cambria Math" panose="02040503050406030204" pitchFamily="18" charset="0"/>
                      </a:rPr>
                      <m:t>)</m:t>
                    </m:r>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𝑇</m:t>
                        </m:r>
                      </m:e>
                      <m:sub>
                        <m:r>
                          <a:rPr lang="fr-FR" b="0" i="1" smtClean="0">
                            <a:solidFill>
                              <a:srgbClr val="FF0000"/>
                            </a:solidFill>
                            <a:latin typeface="Cambria Math" panose="02040503050406030204" pitchFamily="18" charset="0"/>
                          </a:rPr>
                          <m:t>𝑖</m:t>
                        </m:r>
                      </m:sub>
                    </m:sSub>
                  </m:oMath>
                </a14:m>
                <a:r>
                  <a:rPr lang="fr-FR" b="0" i="0" dirty="0">
                    <a:latin typeface="Cambria Math" panose="02040503050406030204" pitchFamily="18" charset="0"/>
                  </a:rPr>
                  <a:t>)</a:t>
                </a:r>
                <a:r>
                  <a:rPr lang="fr-FR" dirty="0"/>
                  <a:t> </a:t>
                </a:r>
                <a14:m>
                  <m:oMath xmlns:m="http://schemas.openxmlformats.org/officeDocument/2006/math">
                    <m:f>
                      <m:fPr>
                        <m:ctrlPr>
                          <a:rPr lang="fr-FR" i="1">
                            <a:latin typeface="Cambria Math" panose="02040503050406030204" pitchFamily="18" charset="0"/>
                          </a:rPr>
                        </m:ctrlPr>
                      </m:fPr>
                      <m:num>
                        <m:r>
                          <a:rPr lang="fr-FR" b="0" i="1" smtClean="0">
                            <a:latin typeface="Cambria Math" panose="02040503050406030204" pitchFamily="18" charset="0"/>
                          </a:rPr>
                          <m:t>1</m:t>
                        </m:r>
                      </m:num>
                      <m:den>
                        <m:r>
                          <m:rPr>
                            <m:sty m:val="p"/>
                          </m:rPr>
                          <a:rPr lang="fr-FR">
                            <a:latin typeface="Cambria Math" panose="02040503050406030204" pitchFamily="18" charset="0"/>
                          </a:rPr>
                          <m:t>Δ</m:t>
                        </m:r>
                        <m:r>
                          <a:rPr lang="fr-FR" b="0" i="1" smtClean="0">
                            <a:latin typeface="Cambria Math" panose="02040503050406030204" pitchFamily="18" charset="0"/>
                          </a:rPr>
                          <m:t>𝑡</m:t>
                        </m:r>
                      </m:den>
                    </m:f>
                  </m:oMath>
                </a14:m>
                <a:endParaRPr lang="fr-FR" i="1" dirty="0">
                  <a:latin typeface="Cambria Math" panose="02040503050406030204" pitchFamily="18" charset="0"/>
                </a:endParaRPr>
              </a:p>
              <a:p>
                <a:pPr marL="0" indent="0">
                  <a:buNone/>
                </a:pPr>
                <a:r>
                  <a:rPr lang="fr-FR" b="0" dirty="0"/>
                  <a:t>	          </a:t>
                </a:r>
                <a14:m>
                  <m:oMath xmlns:m="http://schemas.openxmlformats.org/officeDocument/2006/math">
                    <m:r>
                      <a:rPr lang="fr-FR" b="0" i="0" smtClean="0">
                        <a:latin typeface="Cambria Math" panose="02040503050406030204" pitchFamily="18" charset="0"/>
                      </a:rPr>
                      <m:t>=</m:t>
                    </m:r>
                  </m:oMath>
                </a14:m>
                <a:r>
                  <a:rPr lang="fr-FR" dirty="0"/>
                  <a:t>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𝑡</m:t>
                        </m:r>
                        <m:r>
                          <a:rPr lang="fr-FR" i="1">
                            <a:latin typeface="Cambria Math" panose="02040503050406030204" pitchFamily="18" charset="0"/>
                          </a:rPr>
                          <m:t>,</m:t>
                        </m:r>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Sub>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num>
                      <m:den>
                        <m:r>
                          <a:rPr lang="fr-FR" i="1">
                            <a:latin typeface="Cambria Math" panose="02040503050406030204" pitchFamily="18" charset="0"/>
                          </a:rPr>
                          <m:t>2!</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r>
                      <a:rPr lang="fr-FR" i="1">
                        <a:latin typeface="Cambria Math" panose="02040503050406030204" pitchFamily="18" charset="0"/>
                      </a:rPr>
                      <m:t>)</m:t>
                    </m:r>
                  </m:oMath>
                </a14:m>
                <a:endParaRPr lang="fr-FR" b="0" i="0" dirty="0">
                  <a:latin typeface="Cambria Math" panose="02040503050406030204" pitchFamily="18" charset="0"/>
                </a:endParaRPr>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3369A214-4D5D-715B-6640-CC12B4B650A6}"/>
                  </a:ext>
                </a:extLst>
              </p:cNvPr>
              <p:cNvSpPr>
                <a:spLocks noGrp="1" noRot="1" noChangeAspect="1" noMove="1" noResize="1" noEditPoints="1" noAdjustHandles="1" noChangeArrowheads="1" noChangeShapeType="1" noTextEdit="1"/>
              </p:cNvSpPr>
              <p:nvPr>
                <p:ph idx="1"/>
              </p:nvPr>
            </p:nvSpPr>
            <p:spPr>
              <a:xfrm>
                <a:off x="570411" y="1605124"/>
                <a:ext cx="10515600" cy="5504688"/>
              </a:xfrm>
              <a:blipFill>
                <a:blip r:embed="rId3"/>
                <a:stretch>
                  <a:fillRect l="-1217" t="-1883"/>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7B458AFE-122A-4D24-80B8-A13BE35229B1}"/>
              </a:ext>
            </a:extLst>
          </p:cNvPr>
          <p:cNvSpPr>
            <a:spLocks noGrp="1"/>
          </p:cNvSpPr>
          <p:nvPr>
            <p:ph type="sldNum" sz="quarter" idx="12"/>
          </p:nvPr>
        </p:nvSpPr>
        <p:spPr/>
        <p:txBody>
          <a:bodyPr/>
          <a:lstStyle/>
          <a:p>
            <a:fld id="{FD85B578-4E75-4E1C-9BE3-D5DCC0715B13}" type="slidenum">
              <a:rPr lang="fr-FR" smtClean="0"/>
              <a:t>10</a:t>
            </a:fld>
            <a:endParaRPr lang="fr-FR"/>
          </a:p>
        </p:txBody>
      </p:sp>
    </p:spTree>
    <p:extLst>
      <p:ext uri="{BB962C8B-B14F-4D97-AF65-F5344CB8AC3E}">
        <p14:creationId xmlns:p14="http://schemas.microsoft.com/office/powerpoint/2010/main" val="1216024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C4141-85F8-8321-5A47-F7279370D5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7B92C8-7E5E-8CDA-7607-D5BFCF6EADC5}"/>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145214A-2ADA-193F-B05A-48501377A832}"/>
                  </a:ext>
                </a:extLst>
              </p:cNvPr>
              <p:cNvSpPr>
                <a:spLocks noGrp="1"/>
              </p:cNvSpPr>
              <p:nvPr>
                <p:ph idx="1"/>
              </p:nvPr>
            </p:nvSpPr>
            <p:spPr>
              <a:xfrm>
                <a:off x="429768" y="1335057"/>
                <a:ext cx="11676888" cy="5504688"/>
              </a:xfrm>
            </p:spPr>
            <p:txBody>
              <a:bodyPr>
                <a:normAutofit/>
              </a:bodyPr>
              <a:lstStyle/>
              <a:p>
                <a:pPr marL="0" indent="0">
                  <a:buNone/>
                </a:pPr>
                <a:r>
                  <a:rPr lang="fr-FR" sz="2400" b="0" i="0" dirty="0">
                    <a:latin typeface="Cambria Math" panose="02040503050406030204" pitchFamily="18" charset="0"/>
                  </a:rPr>
                  <a:t>Ordre 2 en espace (r et z) :</a:t>
                </a: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CA" sz="2400" b="0" i="1"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sSub>
                      <m:sSubPr>
                        <m:ctrlPr>
                          <a:rPr lang="fr-FR" sz="2400" i="1" smtClean="0">
                            <a:solidFill>
                              <a:srgbClr val="FF0000"/>
                            </a:solidFill>
                            <a:latin typeface="Cambria Math" panose="02040503050406030204" pitchFamily="18" charset="0"/>
                          </a:rPr>
                        </m:ctrlPr>
                      </m:sSubPr>
                      <m:e>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solidFill>
                              <a:schemeClr val="tx1"/>
                            </a:solidFill>
                            <a:latin typeface="Cambria Math" panose="02040503050406030204" pitchFamily="18" charset="0"/>
                          </a:rPr>
                          <m:t>(</m:t>
                        </m:r>
                        <m:r>
                          <a:rPr lang="fr-FR" sz="2400" i="1" smtClean="0">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smtClean="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b="0" i="1" smtClean="0">
                        <a:latin typeface="Cambria Math" panose="02040503050406030204" pitchFamily="18" charset="0"/>
                      </a:rPr>
                      <m:t>+</m:t>
                    </m:r>
                    <m:r>
                      <a:rPr lang="fr-FR" sz="2400" b="0" i="1" smtClean="0">
                        <a:latin typeface="Cambria Math" panose="02040503050406030204" pitchFamily="18" charset="0"/>
                      </a:rPr>
                      <m:t>𝑜</m:t>
                    </m:r>
                    <m:d>
                      <m:dPr>
                        <m:ctrlPr>
                          <a:rPr lang="fr-FR" sz="2400" b="0" i="1" smtClean="0">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e>
                    </m:d>
                  </m:oMath>
                </a14:m>
                <a:endParaRPr lang="fr-FR" sz="2400" b="0" i="1" dirty="0">
                  <a:latin typeface="Cambria Math" panose="02040503050406030204" pitchFamily="18" charset="0"/>
                </a:endParaRPr>
              </a:p>
              <a:p>
                <a:pPr marL="0" indent="0">
                  <a:buNone/>
                </a:pPr>
                <a:r>
                  <a:rPr lang="fr-FR" sz="2400" b="0" dirty="0">
                    <a:solidFill>
                      <a:srgbClr val="FF0000"/>
                    </a:solidFill>
                  </a:rPr>
                  <a:t>		           </a:t>
                </a:r>
                <a14:m>
                  <m:oMath xmlns:m="http://schemas.openxmlformats.org/officeDocument/2006/math">
                    <m:r>
                      <a:rPr lang="fr-FR" sz="2400" b="0" i="1" smtClean="0">
                        <a:solidFill>
                          <a:srgbClr val="FF0000"/>
                        </a:solidFill>
                        <a:latin typeface="Cambria Math" panose="02040503050406030204" pitchFamily="18" charset="0"/>
                      </a:rPr>
                      <m:t>−</m:t>
                    </m:r>
                    <m:sSub>
                      <m:sSubPr>
                        <m:ctrlPr>
                          <a:rPr lang="fr-FR" sz="2400" b="0" i="1" smtClean="0">
                            <a:solidFill>
                              <a:srgbClr val="FF0000"/>
                            </a:solidFill>
                            <a:latin typeface="Cambria Math" panose="02040503050406030204" pitchFamily="18" charset="0"/>
                          </a:rPr>
                        </m:ctrlPr>
                      </m:sSubPr>
                      <m:e>
                        <m:r>
                          <a:rPr lang="fr-FR" sz="2400" b="0" i="1" smtClean="0">
                            <a:solidFill>
                              <a:srgbClr val="FF0000"/>
                            </a:solidFill>
                            <a:latin typeface="Cambria Math" panose="02040503050406030204" pitchFamily="18" charset="0"/>
                          </a:rPr>
                          <m:t>𝑇</m:t>
                        </m:r>
                      </m:e>
                      <m:sub>
                        <m:r>
                          <a:rPr lang="fr-FR" sz="2400" b="0" i="1" smtClean="0">
                            <a:solidFill>
                              <a:srgbClr val="FF0000"/>
                            </a:solidFill>
                            <a:latin typeface="Cambria Math" panose="02040503050406030204" pitchFamily="18" charset="0"/>
                          </a:rPr>
                          <m:t>𝑖</m:t>
                        </m:r>
                      </m:sub>
                    </m:sSub>
                  </m:oMath>
                </a14:m>
                <a:r>
                  <a:rPr lang="fr-FR" sz="2400" dirty="0"/>
                  <a:t> </a:t>
                </a:r>
                <a14:m>
                  <m:oMath xmlns:m="http://schemas.openxmlformats.org/officeDocument/2006/math">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𝑥</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oMath>
                </a14:m>
                <a:r>
                  <a:rPr lang="fr-FR" sz="2400" dirty="0">
                    <a:solidFill>
                      <a:srgbClr val="FF0000"/>
                    </a:solidFill>
                  </a:rPr>
                  <a:t> </a:t>
                </a:r>
                <a14:m>
                  <m:oMath xmlns:m="http://schemas.openxmlformats.org/officeDocument/2006/math">
                    <m:r>
                      <a:rPr lang="fr-FR" sz="2400" dirty="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i="1">
                        <a:latin typeface="Cambria Math" panose="02040503050406030204" pitchFamily="18" charset="0"/>
                      </a:rPr>
                      <m:t>+</m:t>
                    </m:r>
                    <m:r>
                      <a:rPr lang="fr-FR" sz="2400" i="1">
                        <a:latin typeface="Cambria Math" panose="02040503050406030204" pitchFamily="18" charset="0"/>
                      </a:rPr>
                      <m:t>𝑜</m:t>
                    </m:r>
                    <m:d>
                      <m:dPr>
                        <m:ctrlPr>
                          <a:rPr lang="fr-FR" sz="2400" i="1">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e>
                    </m:d>
                  </m:oMath>
                </a14:m>
                <a:r>
                  <a:rPr lang="fr-FR" sz="2400" b="0" i="0" dirty="0">
                    <a:latin typeface="Cambria Math" panose="02040503050406030204" pitchFamily="18" charset="0"/>
                  </a:rPr>
                  <a:t>)</a:t>
                </a:r>
                <a:endParaRPr lang="fr-FR" sz="2400" i="1" dirty="0">
                  <a:latin typeface="Cambria Math" panose="02040503050406030204" pitchFamily="18" charset="0"/>
                </a:endParaRPr>
              </a:p>
              <a:p>
                <a:pPr marL="0" indent="0">
                  <a:buNone/>
                </a:pPr>
                <a:r>
                  <a:rPr lang="fr-FR" sz="2400" b="0" dirty="0"/>
                  <a:t>	          	   </a:t>
                </a:r>
                <a14:m>
                  <m:oMath xmlns:m="http://schemas.openxmlformats.org/officeDocument/2006/math">
                    <m:r>
                      <a:rPr lang="fr-FR" sz="2400" b="0" i="0" smtClean="0">
                        <a:latin typeface="Cambria Math" panose="02040503050406030204" pitchFamily="18" charset="0"/>
                      </a:rPr>
                      <m:t>=</m:t>
                    </m:r>
                  </m:oMath>
                </a14:m>
                <a:r>
                  <a:rPr lang="fr-FR" sz="2400" dirty="0"/>
                  <a:t> </a:t>
                </a:r>
                <a14:m>
                  <m:oMath xmlns:m="http://schemas.openxmlformats.org/officeDocument/2006/math">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i="1">
                                <a:solidFill>
                                  <a:srgbClr val="0070C0"/>
                                </a:solidFill>
                                <a:latin typeface="Cambria Math" panose="02040503050406030204" pitchFamily="18" charset="0"/>
                              </a:rPr>
                              <m:t>2</m:t>
                            </m:r>
                          </m:sup>
                        </m:sSup>
                      </m:num>
                      <m:den>
                        <m:r>
                          <a:rPr lang="fr-FR" sz="2400" b="0" i="1" smtClean="0">
                            <a:latin typeface="Cambria Math" panose="02040503050406030204" pitchFamily="18" charset="0"/>
                          </a:rPr>
                          <m:t>3</m:t>
                        </m:r>
                        <m:r>
                          <a:rPr lang="fr-FR" sz="2400" i="1">
                            <a:latin typeface="Cambria Math" panose="02040503050406030204" pitchFamily="18" charset="0"/>
                          </a:rPr>
                          <m:t>!</m:t>
                        </m:r>
                      </m:den>
                    </m:f>
                    <m:r>
                      <a:rPr lang="fr-FR" sz="2400" i="1">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i="0" dirty="0">
                  <a:latin typeface="Cambria Math" panose="02040503050406030204" pitchFamily="18" charset="0"/>
                </a:endParaRPr>
              </a:p>
              <a:p>
                <a:endParaRPr lang="fr-FR" sz="2400" i="1" dirty="0">
                  <a:latin typeface="Cambria Math" panose="02040503050406030204" pitchFamily="18" charset="0"/>
                </a:endParaRP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f>
                          <m:fPr>
                            <m:ctrlPr>
                              <a:rPr lang="fr-FR" sz="2400" i="1" smtClean="0">
                                <a:latin typeface="Cambria Math" panose="02040503050406030204" pitchFamily="18" charset="0"/>
                              </a:rPr>
                            </m:ctrlPr>
                          </m:fPr>
                          <m:num>
                            <m:r>
                              <a:rPr lang="fr-FR" sz="2400" i="1">
                                <a:latin typeface="Cambria Math" panose="02040503050406030204" pitchFamily="18" charset="0"/>
                              </a:rPr>
                              <m:t>1</m:t>
                            </m:r>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den>
                        </m:f>
                        <m:r>
                          <a:rPr lang="fr-FR" sz="2400" i="1">
                            <a:latin typeface="Cambria Math" panose="02040503050406030204" pitchFamily="18" charset="0"/>
                          </a:rPr>
                          <m:t>(</m:t>
                        </m:r>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b="0" i="1" smtClean="0">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b="0" i="1" smtClean="0">
                        <a:solidFill>
                          <a:srgbClr val="FF0000"/>
                        </a:solidFill>
                        <a:latin typeface="Cambria Math" panose="02040503050406030204" pitchFamily="18" charset="0"/>
                      </a:rPr>
                      <m:t>𝑧</m:t>
                    </m:r>
                    <m:r>
                      <a:rPr lang="fr-FR" sz="2400" i="1" smtClean="0">
                        <a:solidFill>
                          <a:schemeClr val="tx1"/>
                        </a:solidFill>
                        <a:latin typeface="Cambria Math" panose="02040503050406030204" pitchFamily="18" charset="0"/>
                      </a:rPr>
                      <m:t>+</m:t>
                    </m:r>
                    <m:f>
                      <m:fPr>
                        <m:ctrlPr>
                          <a:rPr lang="fr-FR" sz="2400" i="1">
                            <a:solidFill>
                              <a:schemeClr val="tx1"/>
                            </a:solidFill>
                            <a:latin typeface="Cambria Math" panose="02040503050406030204" pitchFamily="18" charset="0"/>
                          </a:rPr>
                        </m:ctrlPr>
                      </m:fPr>
                      <m:num>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m:t>
                            </m:r>
                          </m:e>
                          <m:sup>
                            <m:r>
                              <a:rPr lang="fr-FR" sz="2400" i="1">
                                <a:solidFill>
                                  <a:schemeClr val="tx1"/>
                                </a:solidFill>
                                <a:latin typeface="Cambria Math" panose="02040503050406030204" pitchFamily="18" charset="0"/>
                              </a:rPr>
                              <m:t>2</m:t>
                            </m:r>
                          </m:sup>
                        </m:sSup>
                        <m:r>
                          <a:rPr lang="fr-FR" sz="2400" i="1">
                            <a:solidFill>
                              <a:schemeClr val="tx1"/>
                            </a:solidFill>
                            <a:latin typeface="Cambria Math" panose="02040503050406030204" pitchFamily="18" charset="0"/>
                          </a:rPr>
                          <m:t>𝑇</m:t>
                        </m:r>
                      </m:num>
                      <m:den>
                        <m:r>
                          <a:rPr lang="fr-FR" sz="2400" i="1">
                            <a:solidFill>
                              <a:schemeClr val="tx1"/>
                            </a:solidFill>
                            <a:latin typeface="Cambria Math" panose="02040503050406030204" pitchFamily="18" charset="0"/>
                          </a:rPr>
                          <m:t>𝜕</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den>
                    </m:f>
                    <m:sSub>
                      <m:sSubPr>
                        <m:ctrlPr>
                          <a:rPr lang="fr-FR" sz="2400" i="1">
                            <a:solidFill>
                              <a:schemeClr val="tx1"/>
                            </a:solidFill>
                            <a:latin typeface="Cambria Math" panose="02040503050406030204" pitchFamily="18" charset="0"/>
                          </a:rPr>
                        </m:ctrlPr>
                      </m:sSubPr>
                      <m:e>
                        <m:d>
                          <m:dPr>
                            <m:begChr m:val=""/>
                            <m:endChr m:val="|"/>
                            <m:ctrlPr>
                              <a:rPr lang="fr-FR" sz="2400" i="1">
                                <a:solidFill>
                                  <a:schemeClr val="tx1"/>
                                </a:solidFill>
                                <a:latin typeface="Cambria Math" panose="02040503050406030204" pitchFamily="18" charset="0"/>
                              </a:rPr>
                            </m:ctrlPr>
                          </m:dPr>
                          <m:e>
                            <m:r>
                              <a:rPr lang="fr-FR" sz="2400" i="1">
                                <a:solidFill>
                                  <a:schemeClr val="tx1"/>
                                </a:solidFill>
                                <a:latin typeface="Cambria Math" panose="02040503050406030204" pitchFamily="18" charset="0"/>
                              </a:rPr>
                              <m:t>​</m:t>
                            </m:r>
                          </m:e>
                        </m:d>
                      </m:e>
                      <m:sub>
                        <m:r>
                          <a:rPr lang="fr-FR" sz="2400" i="1">
                            <a:solidFill>
                              <a:schemeClr val="tx1"/>
                            </a:solidFill>
                            <a:latin typeface="Cambria Math" panose="02040503050406030204" pitchFamily="18" charset="0"/>
                          </a:rPr>
                          <m:t>𝑡</m:t>
                        </m:r>
                        <m:r>
                          <a:rPr lang="fr-FR" sz="2400" i="1">
                            <a:solidFill>
                              <a:schemeClr val="tx1"/>
                            </a:solidFill>
                            <a:latin typeface="Cambria Math" panose="02040503050406030204" pitchFamily="18" charset="0"/>
                          </a:rPr>
                          <m:t>,</m:t>
                        </m:r>
                        <m:r>
                          <a:rPr lang="fr-CA" sz="2400" b="0" i="1" smtClean="0">
                            <a:solidFill>
                              <a:schemeClr val="tx1"/>
                            </a:solidFill>
                            <a:latin typeface="Cambria Math" panose="02040503050406030204" pitchFamily="18" charset="0"/>
                          </a:rPr>
                          <m:t>𝑟</m:t>
                        </m:r>
                        <m:r>
                          <a:rPr lang="fr-FR" sz="2400" i="1">
                            <a:solidFill>
                              <a:schemeClr val="tx1"/>
                            </a:solidFill>
                            <a:latin typeface="Cambria Math" panose="02040503050406030204" pitchFamily="18" charset="0"/>
                          </a:rPr>
                          <m:t>,</m:t>
                        </m:r>
                        <m:r>
                          <a:rPr lang="fr-FR" sz="2400" i="1">
                            <a:solidFill>
                              <a:schemeClr val="tx1"/>
                            </a:solidFill>
                            <a:latin typeface="Cambria Math" panose="02040503050406030204" pitchFamily="18" charset="0"/>
                          </a:rPr>
                          <m:t>𝑧</m:t>
                        </m:r>
                      </m:sub>
                    </m:sSub>
                    <m:f>
                      <m:fPr>
                        <m:ctrlPr>
                          <a:rPr lang="fr-FR" sz="2400" i="1">
                            <a:solidFill>
                              <a:schemeClr val="tx1"/>
                            </a:solidFill>
                            <a:latin typeface="Cambria Math" panose="02040503050406030204" pitchFamily="18" charset="0"/>
                          </a:rPr>
                        </m:ctrlPr>
                      </m:fPr>
                      <m:num>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num>
                      <m:den>
                        <m:r>
                          <a:rPr lang="fr-FR" sz="2400" i="1">
                            <a:solidFill>
                              <a:schemeClr val="tx1"/>
                            </a:solidFill>
                            <a:latin typeface="Cambria Math" panose="02040503050406030204" pitchFamily="18" charset="0"/>
                          </a:rPr>
                          <m:t>2!</m:t>
                        </m:r>
                      </m:den>
                    </m:f>
                    <m:r>
                      <a:rPr lang="fr-FR" sz="240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400" dirty="0"/>
              </a:p>
              <a:p>
                <a:pPr marL="0" indent="0">
                  <a:buNone/>
                </a:pPr>
                <a:r>
                  <a:rPr lang="fr-FR" sz="2400" b="0" dirty="0"/>
                  <a:t> 			</a:t>
                </a:r>
                <a:r>
                  <a:rPr lang="fr-FR" sz="2400" dirty="0"/>
                  <a:t> </a:t>
                </a:r>
                <a14:m>
                  <m:oMath xmlns:m="http://schemas.openxmlformats.org/officeDocument/2006/math">
                    <m:r>
                      <a:rPr lang="fr-FR" sz="2400" b="0" i="0" smtClean="0">
                        <a:latin typeface="Cambria Math" panose="02040503050406030204" pitchFamily="18" charset="0"/>
                      </a:rPr>
                      <m:t>    </m:t>
                    </m:r>
                    <m:r>
                      <a:rPr lang="fr-FR" sz="2400" b="0" i="1" smtClean="0">
                        <a:solidFill>
                          <a:srgbClr val="FF0000"/>
                        </a:solidFill>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i="1">
                        <a:solidFill>
                          <a:srgbClr val="FF0000"/>
                        </a:solidFill>
                        <a:latin typeface="Cambria Math" panose="02040503050406030204" pitchFamily="18" charset="0"/>
                      </a:rPr>
                      <m:t>𝑧</m:t>
                    </m:r>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num>
                      <m:den>
                        <m:r>
                          <a:rPr lang="fr-FR" sz="2400" i="1">
                            <a:latin typeface="Cambria Math" panose="02040503050406030204" pitchFamily="18" charset="0"/>
                          </a:rPr>
                          <m:t>2!</m:t>
                        </m:r>
                      </m:den>
                    </m:f>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000" b="0" dirty="0"/>
              </a:p>
              <a:p>
                <a:pPr marL="0" indent="0">
                  <a:buNone/>
                </a:pPr>
                <a:r>
                  <a:rPr lang="fr-FR" sz="2000" dirty="0"/>
                  <a:t>			      </a:t>
                </a:r>
                <a14:m>
                  <m:oMath xmlns:m="http://schemas.openxmlformats.org/officeDocument/2006/math">
                    <m:r>
                      <a:rPr lang="fr-FR" sz="2000" i="1">
                        <a:solidFill>
                          <a:srgbClr val="FF0000"/>
                        </a:solidFill>
                        <a:latin typeface="Cambria Math" panose="02040503050406030204" pitchFamily="18" charset="0"/>
                      </a:rPr>
                      <m:t>− </m:t>
                    </m:r>
                    <m:r>
                      <a:rPr lang="fr-FR" sz="2400" b="0" i="1" dirty="0" smtClean="0">
                        <a:solidFill>
                          <a:srgbClr val="FF0000"/>
                        </a:solidFill>
                        <a:latin typeface="Cambria Math" panose="02040503050406030204" pitchFamily="18" charset="0"/>
                      </a:rPr>
                      <m:t>2</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chemeClr val="tx1"/>
                        </a:solidFill>
                        <a:latin typeface="Cambria Math" panose="02040503050406030204" pitchFamily="18" charset="0"/>
                      </a:rPr>
                      <m:t>+</m:t>
                    </m:r>
                    <m:r>
                      <a:rPr lang="fr-FR" sz="2400" b="0" i="1" smtClean="0">
                        <a:solidFill>
                          <a:schemeClr val="tx1"/>
                        </a:solidFill>
                        <a:latin typeface="Cambria Math" panose="02040503050406030204" pitchFamily="18" charset="0"/>
                      </a:rPr>
                      <m:t>𝑜</m:t>
                    </m:r>
                    <m:r>
                      <a:rPr lang="fr-FR" sz="2400" b="0" i="1" smtClean="0">
                        <a:solidFill>
                          <a:schemeClr val="tx1"/>
                        </a:solidFill>
                        <a:latin typeface="Cambria Math" panose="02040503050406030204" pitchFamily="18" charset="0"/>
                      </a:rPr>
                      <m:t>(</m:t>
                    </m:r>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4</m:t>
                        </m:r>
                      </m:sup>
                    </m:sSup>
                    <m:r>
                      <a:rPr lang="fr-FR" sz="2400" b="0" i="1" smtClean="0">
                        <a:solidFill>
                          <a:schemeClr val="tx1"/>
                        </a:solidFill>
                        <a:latin typeface="Cambria Math" panose="02040503050406030204" pitchFamily="18" charset="0"/>
                      </a:rPr>
                      <m:t>)</m:t>
                    </m:r>
                  </m:oMath>
                </a14:m>
                <a:r>
                  <a:rPr lang="fr-FR" sz="2400" b="0" dirty="0">
                    <a:solidFill>
                      <a:schemeClr val="tx1"/>
                    </a:solidFill>
                  </a:rPr>
                  <a:t>)</a:t>
                </a:r>
              </a:p>
              <a:p>
                <a:pPr marL="0" indent="0">
                  <a:buNone/>
                </a:pPr>
                <a:r>
                  <a:rPr lang="fr-FR" sz="2400" dirty="0"/>
                  <a:t>			 </a:t>
                </a:r>
                <a14:m>
                  <m:oMath xmlns:m="http://schemas.openxmlformats.org/officeDocument/2006/math">
                    <m:r>
                      <a:rPr lang="fr-FR" sz="2000" b="0" i="0" dirty="0" smtClean="0">
                        <a:solidFill>
                          <a:srgbClr val="FF0000"/>
                        </a:solidFill>
                        <a:latin typeface="Cambria Math" panose="02040503050406030204" pitchFamily="18" charset="0"/>
                      </a:rPr>
                      <m:t>    </m:t>
                    </m:r>
                    <m:r>
                      <a:rPr lang="fr-FR" sz="2000" i="1" dirty="0" smtClean="0">
                        <a:solidFill>
                          <a:srgbClr val="FF0000"/>
                        </a:solidFill>
                        <a:latin typeface="Cambria Math" panose="02040503050406030204" pitchFamily="18" charset="0"/>
                      </a:rPr>
                      <m:t>=</m:t>
                    </m:r>
                    <m:r>
                      <a:rPr lang="fr-FR" sz="2000" i="1">
                        <a:solidFill>
                          <a:srgbClr val="FF0000"/>
                        </a:solidFill>
                        <a:latin typeface="Cambria Math" panose="02040503050406030204" pitchFamily="18" charset="0"/>
                      </a:rPr>
                      <m:t> </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0" smtClean="0">
                        <a:latin typeface="Cambria Math" panose="02040503050406030204" pitchFamily="18" charset="0"/>
                      </a:rPr>
                      <m:t>+</m:t>
                    </m:r>
                    <m:r>
                      <a:rPr lang="fr-FR" sz="2400" b="0" i="1" smtClean="0">
                        <a:latin typeface="Cambria Math" panose="02040503050406030204" pitchFamily="18" charset="0"/>
                      </a:rPr>
                      <m:t>2</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num>
                      <m:den>
                        <m:r>
                          <a:rPr lang="fr-FR" sz="2400" i="1">
                            <a:latin typeface="Cambria Math" panose="02040503050406030204" pitchFamily="18" charset="0"/>
                          </a:rPr>
                          <m:t>4!</m:t>
                        </m:r>
                      </m:den>
                    </m:f>
                    <m:r>
                      <a:rPr lang="fr-FR" sz="2400" b="0" i="1" smtClean="0">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dirty="0">
                  <a:solidFill>
                    <a:schemeClr val="tx1"/>
                  </a:solidFill>
                </a:endParaRPr>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A145214A-2ADA-193F-B05A-48501377A832}"/>
                  </a:ext>
                </a:extLst>
              </p:cNvPr>
              <p:cNvSpPr>
                <a:spLocks noGrp="1" noRot="1" noChangeAspect="1" noMove="1" noResize="1" noEditPoints="1" noAdjustHandles="1" noChangeArrowheads="1" noChangeShapeType="1" noTextEdit="1"/>
              </p:cNvSpPr>
              <p:nvPr>
                <p:ph idx="1"/>
              </p:nvPr>
            </p:nvSpPr>
            <p:spPr>
              <a:xfrm>
                <a:off x="429768" y="1335057"/>
                <a:ext cx="11676888" cy="5504688"/>
              </a:xfrm>
              <a:blipFill>
                <a:blip r:embed="rId3"/>
                <a:stretch>
                  <a:fillRect l="-836" t="-1550"/>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E6A5FF14-066D-C8AE-EF4F-5F0D2C183AC9}"/>
              </a:ext>
            </a:extLst>
          </p:cNvPr>
          <p:cNvSpPr txBox="1"/>
          <p:nvPr/>
        </p:nvSpPr>
        <p:spPr>
          <a:xfrm>
            <a:off x="838200" y="2634557"/>
            <a:ext cx="1412341" cy="646331"/>
          </a:xfrm>
          <a:prstGeom prst="rect">
            <a:avLst/>
          </a:prstGeom>
          <a:noFill/>
        </p:spPr>
        <p:txBody>
          <a:bodyPr wrap="square" rtlCol="0">
            <a:spAutoFit/>
          </a:bodyPr>
          <a:lstStyle/>
          <a:p>
            <a:r>
              <a:rPr lang="fr-CA" dirty="0"/>
              <a:t>Dérivée Première</a:t>
            </a:r>
          </a:p>
        </p:txBody>
      </p:sp>
      <p:sp>
        <p:nvSpPr>
          <p:cNvPr id="5" name="ZoneTexte 4">
            <a:extLst>
              <a:ext uri="{FF2B5EF4-FFF2-40B4-BE49-F238E27FC236}">
                <a16:creationId xmlns:a16="http://schemas.microsoft.com/office/drawing/2014/main" id="{C20C234A-069E-22E5-E6B1-F2E536A584B4}"/>
              </a:ext>
            </a:extLst>
          </p:cNvPr>
          <p:cNvSpPr txBox="1"/>
          <p:nvPr/>
        </p:nvSpPr>
        <p:spPr>
          <a:xfrm>
            <a:off x="838199" y="4977896"/>
            <a:ext cx="1412341" cy="646331"/>
          </a:xfrm>
          <a:prstGeom prst="rect">
            <a:avLst/>
          </a:prstGeom>
          <a:noFill/>
        </p:spPr>
        <p:txBody>
          <a:bodyPr wrap="square" rtlCol="0">
            <a:spAutoFit/>
          </a:bodyPr>
          <a:lstStyle/>
          <a:p>
            <a:r>
              <a:rPr lang="fr-CA" dirty="0"/>
              <a:t>Dérivées Seconde</a:t>
            </a:r>
          </a:p>
        </p:txBody>
      </p:sp>
      <p:sp>
        <p:nvSpPr>
          <p:cNvPr id="6" name="Slide Number Placeholder 5">
            <a:extLst>
              <a:ext uri="{FF2B5EF4-FFF2-40B4-BE49-F238E27FC236}">
                <a16:creationId xmlns:a16="http://schemas.microsoft.com/office/drawing/2014/main" id="{914B030D-D9C2-478A-A0D5-C4EA6B5349B7}"/>
              </a:ext>
            </a:extLst>
          </p:cNvPr>
          <p:cNvSpPr>
            <a:spLocks noGrp="1"/>
          </p:cNvSpPr>
          <p:nvPr>
            <p:ph type="sldNum" sz="quarter" idx="12"/>
          </p:nvPr>
        </p:nvSpPr>
        <p:spPr/>
        <p:txBody>
          <a:bodyPr/>
          <a:lstStyle/>
          <a:p>
            <a:fld id="{FD85B578-4E75-4E1C-9BE3-D5DCC0715B13}" type="slidenum">
              <a:rPr lang="fr-FR" smtClean="0"/>
              <a:t>11</a:t>
            </a:fld>
            <a:endParaRPr lang="fr-FR"/>
          </a:p>
        </p:txBody>
      </p:sp>
    </p:spTree>
    <p:extLst>
      <p:ext uri="{BB962C8B-B14F-4D97-AF65-F5344CB8AC3E}">
        <p14:creationId xmlns:p14="http://schemas.microsoft.com/office/powerpoint/2010/main" val="2901290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535B5-651D-9B06-9176-0DA06E65F9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FE204E9-4A70-CDBF-124E-4FBA9AC25456}"/>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03132560-6350-FA72-0E9E-0AF1C049E118}"/>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765C5B42-8A9D-D2A6-FE9A-C76EDA50EB5C}"/>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4D0EFE0C-FDFE-A143-3F31-AE36CD72BCBC}"/>
              </a:ext>
            </a:extLst>
          </p:cNvPr>
          <p:cNvSpPr>
            <a:spLocks noGrp="1"/>
          </p:cNvSpPr>
          <p:nvPr>
            <p:ph type="sldNum" sz="quarter" idx="12"/>
          </p:nvPr>
        </p:nvSpPr>
        <p:spPr/>
        <p:txBody>
          <a:bodyPr/>
          <a:lstStyle/>
          <a:p>
            <a:fld id="{FD85B578-4E75-4E1C-9BE3-D5DCC0715B13}" type="slidenum">
              <a:rPr lang="fr-FR" smtClean="0"/>
              <a:t>12</a:t>
            </a:fld>
            <a:endParaRPr lang="fr-FR"/>
          </a:p>
        </p:txBody>
      </p:sp>
    </p:spTree>
    <p:extLst>
      <p:ext uri="{BB962C8B-B14F-4D97-AF65-F5344CB8AC3E}">
        <p14:creationId xmlns:p14="http://schemas.microsoft.com/office/powerpoint/2010/main" val="1242757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2072-1734-D724-EA81-E925334F5FC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BB688C-D97C-481D-A291-13AA5890C45F}"/>
              </a:ext>
            </a:extLst>
          </p:cNvPr>
          <p:cNvSpPr>
            <a:spLocks noGrp="1"/>
          </p:cNvSpPr>
          <p:nvPr>
            <p:ph type="title"/>
          </p:nvPr>
        </p:nvSpPr>
        <p:spPr>
          <a:xfrm>
            <a:off x="761800" y="762001"/>
            <a:ext cx="5334197" cy="1708242"/>
          </a:xfrm>
        </p:spPr>
        <p:txBody>
          <a:bodyPr anchor="ctr">
            <a:normAutofit/>
          </a:bodyPr>
          <a:lstStyle/>
          <a:p>
            <a:r>
              <a:rPr lang="fr-FR" sz="4000"/>
              <a:t>Description du code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B4B15E8C-4AC7-7351-4AC9-E6164AE5CE0F}"/>
                  </a:ext>
                </a:extLst>
              </p:cNvPr>
              <p:cNvSpPr>
                <a:spLocks noGrp="1"/>
              </p:cNvSpPr>
              <p:nvPr>
                <p:ph idx="1"/>
              </p:nvPr>
            </p:nvSpPr>
            <p:spPr>
              <a:xfrm>
                <a:off x="761800" y="2228850"/>
                <a:ext cx="6505775" cy="4011229"/>
              </a:xfrm>
            </p:spPr>
            <p:txBody>
              <a:bodyPr anchor="ctr">
                <a:normAutofit/>
              </a:bodyPr>
              <a:lstStyle/>
              <a:p>
                <a:r>
                  <a:rPr lang="fr-FR" sz="1300" dirty="0"/>
                  <a:t>main.py :</a:t>
                </a:r>
              </a:p>
              <a:p>
                <a:pPr lvl="1"/>
                <a:r>
                  <a:rPr lang="fr-FR" sz="1200" dirty="0"/>
                  <a:t>Usage typique du solveur pour une configuration prédéterminée (énoncé du problème).</a:t>
                </a:r>
              </a:p>
              <a:p>
                <a:pPr lvl="1"/>
                <a:r>
                  <a:rPr lang="fr-FR" sz="1200" dirty="0"/>
                  <a:t>Usage typique du solveur pour une configuration avec MMS.</a:t>
                </a:r>
              </a:p>
              <a:p>
                <a:r>
                  <a:rPr lang="fr-FR" sz="1300" dirty="0"/>
                  <a:t>fonctions.py : le cœur du code</a:t>
                </a:r>
              </a:p>
              <a:p>
                <a:pPr lvl="1"/>
                <a:r>
                  <a:rPr lang="fr-FR" sz="1300" dirty="0"/>
                  <a:t>Classe Paramètres : classe contenant la configuration du problème.</a:t>
                </a:r>
              </a:p>
              <a:p>
                <a:pPr lvl="2">
                  <a:buFont typeface="Courier New" panose="02070309020205020404" pitchFamily="49" charset="0"/>
                  <a:buChar char="o"/>
                </a:pPr>
                <a14:m>
                  <m:oMath xmlns:m="http://schemas.openxmlformats.org/officeDocument/2006/math">
                    <m:sSub>
                      <m:sSubPr>
                        <m:ctrlPr>
                          <a:rPr lang="fr-CA" sz="1300" b="0" i="1">
                            <a:latin typeface="Cambria Math" panose="02040503050406030204" pitchFamily="18" charset="0"/>
                          </a:rPr>
                        </m:ctrlPr>
                      </m:sSubPr>
                      <m:e>
                        <m:r>
                          <a:rPr lang="fr-CA" sz="1300" b="0" i="1">
                            <a:latin typeface="Cambria Math" panose="02040503050406030204" pitchFamily="18" charset="0"/>
                          </a:rPr>
                          <m:t>𝑅</m:t>
                        </m:r>
                      </m:e>
                      <m:sub>
                        <m:r>
                          <a:rPr lang="fr-CA" sz="1300" b="0" i="1">
                            <a:latin typeface="Cambria Math" panose="02040503050406030204" pitchFamily="18" charset="0"/>
                          </a:rPr>
                          <m:t>𝑚𝑎𝑥</m:t>
                        </m:r>
                      </m:sub>
                    </m:sSub>
                    <m:r>
                      <a:rPr lang="fr-CA" sz="1300" b="0" i="1">
                        <a:latin typeface="Cambria Math" panose="02040503050406030204" pitchFamily="18" charset="0"/>
                      </a:rPr>
                      <m:t>,</m:t>
                    </m:r>
                    <m:r>
                      <a:rPr lang="fr-CA" sz="1300" b="0" i="1">
                        <a:latin typeface="Cambria Math" panose="02040503050406030204" pitchFamily="18" charset="0"/>
                      </a:rPr>
                      <m:t>𝜌</m:t>
                    </m:r>
                    <m:r>
                      <a:rPr lang="fr-CA" sz="1300" b="0" i="1">
                        <a:latin typeface="Cambria Math" panose="02040503050406030204" pitchFamily="18" charset="0"/>
                      </a:rPr>
                      <m:t>,</m:t>
                    </m:r>
                    <m:sSub>
                      <m:sSubPr>
                        <m:ctrlPr>
                          <a:rPr lang="fr-CA" sz="1300" b="0" i="1">
                            <a:latin typeface="Cambria Math" panose="02040503050406030204" pitchFamily="18" charset="0"/>
                          </a:rPr>
                        </m:ctrlPr>
                      </m:sSubPr>
                      <m:e>
                        <m:r>
                          <a:rPr lang="fr-CA" sz="1300" b="0" i="1">
                            <a:latin typeface="Cambria Math" panose="02040503050406030204" pitchFamily="18" charset="0"/>
                          </a:rPr>
                          <m:t>𝐶</m:t>
                        </m:r>
                      </m:e>
                      <m:sub>
                        <m:r>
                          <a:rPr lang="fr-CA" sz="1300" b="0" i="1">
                            <a:latin typeface="Cambria Math" panose="02040503050406030204" pitchFamily="18" charset="0"/>
                          </a:rPr>
                          <m:t>𝑝</m:t>
                        </m:r>
                      </m:sub>
                    </m:sSub>
                    <m:r>
                      <a:rPr lang="fr-CA" sz="1300" b="0" i="1">
                        <a:latin typeface="Cambria Math" panose="02040503050406030204" pitchFamily="18" charset="0"/>
                      </a:rPr>
                      <m:t>, </m:t>
                    </m:r>
                    <m:r>
                      <a:rPr lang="fr-CA" sz="1300" b="0" i="1">
                        <a:latin typeface="Cambria Math" panose="02040503050406030204" pitchFamily="18" charset="0"/>
                      </a:rPr>
                      <m:t>𝑛𝑟</m:t>
                    </m:r>
                    <m:r>
                      <a:rPr lang="fr-CA" sz="1300" b="0" i="1">
                        <a:latin typeface="Cambria Math" panose="02040503050406030204" pitchFamily="18" charset="0"/>
                      </a:rPr>
                      <m:t>,</m:t>
                    </m:r>
                    <m:r>
                      <a:rPr lang="fr-CA" sz="1300" b="0" i="1">
                        <a:latin typeface="Cambria Math" panose="02040503050406030204" pitchFamily="18" charset="0"/>
                      </a:rPr>
                      <m:t>𝑛𝑧</m:t>
                    </m:r>
                    <m:r>
                      <a:rPr lang="fr-CA" sz="1300" b="0" i="1">
                        <a:latin typeface="Cambria Math" panose="02040503050406030204" pitchFamily="18" charset="0"/>
                      </a:rPr>
                      <m:t>,</m:t>
                    </m:r>
                    <m:r>
                      <a:rPr lang="fr-CA" sz="1300" b="0" i="1">
                        <a:latin typeface="Cambria Math" panose="02040503050406030204" pitchFamily="18" charset="0"/>
                      </a:rPr>
                      <m:t>𝑑𝑟</m:t>
                    </m:r>
                    <m:r>
                      <a:rPr lang="fr-CA" sz="1300" b="0" i="1">
                        <a:latin typeface="Cambria Math" panose="02040503050406030204" pitchFamily="18" charset="0"/>
                      </a:rPr>
                      <m:t>,</m:t>
                    </m:r>
                    <m:r>
                      <a:rPr lang="fr-CA" sz="1300" b="0" i="1">
                        <a:latin typeface="Cambria Math" panose="02040503050406030204" pitchFamily="18" charset="0"/>
                      </a:rPr>
                      <m:t>𝑑𝑧</m:t>
                    </m:r>
                    <m:r>
                      <a:rPr lang="fr-CA" sz="1300" b="0" i="1">
                        <a:latin typeface="Cambria Math" panose="02040503050406030204" pitchFamily="18" charset="0"/>
                      </a:rPr>
                      <m:t>,</m:t>
                    </m:r>
                    <m:r>
                      <a:rPr lang="fr-CA" sz="1300" b="0" i="1">
                        <a:latin typeface="Cambria Math" panose="02040503050406030204" pitchFamily="18" charset="0"/>
                      </a:rPr>
                      <m:t>𝑑𝑡</m:t>
                    </m:r>
                    <m:r>
                      <a:rPr lang="fr-CA" sz="1300" b="0" i="1">
                        <a:latin typeface="Cambria Math" panose="02040503050406030204" pitchFamily="18" charset="0"/>
                      </a:rPr>
                      <m:t>,</m:t>
                    </m:r>
                    <m:sSub>
                      <m:sSubPr>
                        <m:ctrlPr>
                          <a:rPr lang="fr-CA" sz="1300" b="0" i="1">
                            <a:latin typeface="Cambria Math" panose="02040503050406030204" pitchFamily="18" charset="0"/>
                          </a:rPr>
                        </m:ctrlPr>
                      </m:sSubPr>
                      <m:e>
                        <m:r>
                          <a:rPr lang="fr-CA" sz="1300" b="0" i="1">
                            <a:latin typeface="Cambria Math" panose="02040503050406030204" pitchFamily="18" charset="0"/>
                          </a:rPr>
                          <m:t>𝑇</m:t>
                        </m:r>
                      </m:e>
                      <m:sub>
                        <m:r>
                          <a:rPr lang="fr-CA" sz="1300" i="1">
                            <a:latin typeface="Cambria Math" panose="02040503050406030204" pitchFamily="18" charset="0"/>
                            <a:ea typeface="Cambria Math" panose="02040503050406030204" pitchFamily="18" charset="0"/>
                          </a:rPr>
                          <m:t>∞</m:t>
                        </m:r>
                      </m:sub>
                    </m:sSub>
                    <m:r>
                      <a:rPr lang="fr-CA" sz="1300" b="0" i="1">
                        <a:latin typeface="Cambria Math" panose="02040503050406030204" pitchFamily="18" charset="0"/>
                      </a:rPr>
                      <m:t>,</m:t>
                    </m:r>
                    <m:r>
                      <a:rPr lang="fr-CA" sz="1300" b="0" i="1">
                        <a:latin typeface="Cambria Math" panose="02040503050406030204" pitchFamily="18" charset="0"/>
                      </a:rPr>
                      <m:t>𝑝𝑜𝑠𝑖𝑡𝑖𝑜𝑛</m:t>
                    </m:r>
                    <m:r>
                      <a:rPr lang="fr-CA" sz="1300" b="0" i="1">
                        <a:latin typeface="Cambria Math" panose="02040503050406030204" pitchFamily="18" charset="0"/>
                      </a:rPr>
                      <m:t>,</m:t>
                    </m:r>
                    <m:r>
                      <a:rPr lang="fr-CA" sz="1300" b="0" i="1">
                        <a:latin typeface="Cambria Math" panose="02040503050406030204" pitchFamily="18" charset="0"/>
                      </a:rPr>
                      <m:t>𝑀𝑀𝑆</m:t>
                    </m:r>
                    <m:r>
                      <a:rPr lang="fr-CA" sz="1300" b="0" i="1">
                        <a:latin typeface="Cambria Math" panose="02040503050406030204" pitchFamily="18" charset="0"/>
                      </a:rPr>
                      <m:t>,</m:t>
                    </m:r>
                    <m:r>
                      <a:rPr lang="fr-CA" sz="1300" b="0" i="1">
                        <a:latin typeface="Cambria Math" panose="02040503050406030204" pitchFamily="18" charset="0"/>
                      </a:rPr>
                      <m:t>𝑒𝑡𝑐</m:t>
                    </m:r>
                    <m:r>
                      <a:rPr lang="fr-CA" sz="1300" b="0" i="1">
                        <a:latin typeface="Cambria Math" panose="02040503050406030204" pitchFamily="18" charset="0"/>
                      </a:rPr>
                      <m:t>.</m:t>
                    </m:r>
                  </m:oMath>
                </a14:m>
                <a:endParaRPr lang="fr-CA" sz="1300" b="0" i="1" dirty="0">
                  <a:latin typeface="Cambria Math" panose="02040503050406030204" pitchFamily="18" charset="0"/>
                </a:endParaRPr>
              </a:p>
              <a:p>
                <a:pPr lvl="1"/>
                <a:r>
                  <a:rPr lang="fr-CA" sz="1300" b="0" dirty="0"/>
                  <a:t>Fonction Position : permet de générer les matrices de position des points du domaine </a:t>
                </a:r>
                <a:r>
                  <a:rPr lang="fr-CA" sz="1300" dirty="0"/>
                  <a:t>(</a:t>
                </a:r>
                <a:r>
                  <a:rPr lang="fr-CA" sz="1300" b="1" dirty="0"/>
                  <a:t>R </a:t>
                </a:r>
                <a:r>
                  <a:rPr lang="fr-CA" sz="1300" dirty="0"/>
                  <a:t>et </a:t>
                </a:r>
                <a:r>
                  <a:rPr lang="fr-CA" sz="1300" b="1" dirty="0"/>
                  <a:t>M</a:t>
                </a:r>
                <a:r>
                  <a:rPr lang="fr-CA" sz="1300" dirty="0"/>
                  <a:t>).</a:t>
                </a:r>
                <a14:m>
                  <m:oMath xmlns:m="http://schemas.openxmlformats.org/officeDocument/2006/math">
                    <m:r>
                      <a:rPr lang="fr-CA" sz="1300" b="0" i="1">
                        <a:latin typeface="Cambria Math" panose="02040503050406030204" pitchFamily="18" charset="0"/>
                      </a:rPr>
                      <m:t> </m:t>
                    </m:r>
                  </m:oMath>
                </a14:m>
                <a:endParaRPr lang="fr-CA" sz="1300" b="0" dirty="0"/>
              </a:p>
              <a:p>
                <a:pPr lvl="1"/>
                <a:r>
                  <a:rPr lang="fr-CA" sz="1300" dirty="0"/>
                  <a:t>Fonction Température : calcul l’état de la température au pas de temps suivant.</a:t>
                </a:r>
              </a:p>
              <a:p>
                <a:pPr lvl="2">
                  <a:buFont typeface="Courier New" panose="02070309020205020404" pitchFamily="49" charset="0"/>
                  <a:buChar char="o"/>
                </a:pPr>
                <a:r>
                  <a:rPr lang="fr-CA" sz="1300" b="0" dirty="0"/>
                  <a:t>Génère un état intermédiaire composé de l’état au temps </a:t>
                </a:r>
                <a:r>
                  <a:rPr lang="fr-CA" sz="1300" b="0" i="1" dirty="0"/>
                  <a:t>t</a:t>
                </a:r>
                <a:r>
                  <a:rPr lang="fr-CA" sz="1300" b="0" dirty="0"/>
                  <a:t> au milieu et l’état au temps </a:t>
                </a:r>
                <a14:m>
                  <m:oMath xmlns:m="http://schemas.openxmlformats.org/officeDocument/2006/math">
                    <m:r>
                      <a:rPr lang="fr-CA" sz="1300" b="0" i="1">
                        <a:latin typeface="Cambria Math" panose="02040503050406030204" pitchFamily="18" charset="0"/>
                      </a:rPr>
                      <m:t>𝑡</m:t>
                    </m:r>
                    <m:r>
                      <a:rPr lang="fr-CA" sz="1300" b="0" i="1">
                        <a:latin typeface="Cambria Math" panose="02040503050406030204" pitchFamily="18" charset="0"/>
                      </a:rPr>
                      <m:t>+∆</m:t>
                    </m:r>
                    <m:r>
                      <a:rPr lang="fr-CA" sz="1300" b="0" i="1">
                        <a:latin typeface="Cambria Math" panose="02040503050406030204" pitchFamily="18" charset="0"/>
                      </a:rPr>
                      <m:t>𝑡</m:t>
                    </m:r>
                  </m:oMath>
                </a14:m>
                <a:r>
                  <a:rPr lang="fr-CA" sz="1300" b="0" dirty="0"/>
                  <a:t> aux frontières.</a:t>
                </a:r>
              </a:p>
              <a:p>
                <a:pPr lvl="2">
                  <a:buFont typeface="Courier New" panose="02070309020205020404" pitchFamily="49" charset="0"/>
                  <a:buChar char="o"/>
                </a:pPr>
                <a:r>
                  <a:rPr lang="fr-CA" sz="1300" dirty="0"/>
                  <a:t>Appelle la fonction Milieu.</a:t>
                </a:r>
                <a:endParaRPr lang="fr-CA" sz="1300" b="0" dirty="0"/>
              </a:p>
              <a:p>
                <a:pPr lvl="1"/>
                <a:r>
                  <a:rPr lang="fr-FR" sz="1300" dirty="0"/>
                  <a:t>Fonction Milieu : permet de calculer l’état de la température au pas de temps suivant à l’aide de l’état intermédiaire fourni par la fonction Température</a:t>
                </a:r>
              </a:p>
            </p:txBody>
          </p:sp>
        </mc:Choice>
        <mc:Fallback xmlns="">
          <p:sp>
            <p:nvSpPr>
              <p:cNvPr id="3" name="Espace réservé du contenu 2">
                <a:extLst>
                  <a:ext uri="{FF2B5EF4-FFF2-40B4-BE49-F238E27FC236}">
                    <a16:creationId xmlns:a16="http://schemas.microsoft.com/office/drawing/2014/main" id="{B4B15E8C-4AC7-7351-4AC9-E6164AE5CE0F}"/>
                  </a:ext>
                </a:extLst>
              </p:cNvPr>
              <p:cNvSpPr>
                <a:spLocks noGrp="1" noRot="1" noChangeAspect="1" noMove="1" noResize="1" noEditPoints="1" noAdjustHandles="1" noChangeArrowheads="1" noChangeShapeType="1" noTextEdit="1"/>
              </p:cNvSpPr>
              <p:nvPr>
                <p:ph idx="1"/>
              </p:nvPr>
            </p:nvSpPr>
            <p:spPr>
              <a:xfrm>
                <a:off x="761800" y="2228850"/>
                <a:ext cx="6505775" cy="4011229"/>
              </a:xfrm>
              <a:blipFill>
                <a:blip r:embed="rId2"/>
                <a:stretch>
                  <a:fillRect l="-94"/>
                </a:stretch>
              </a:blipFill>
            </p:spPr>
            <p:txBody>
              <a:bodyPr/>
              <a:lstStyle/>
              <a:p>
                <a:r>
                  <a:rPr lang="fr-CA">
                    <a:noFill/>
                  </a:rPr>
                  <a:t> </a:t>
                </a:r>
              </a:p>
            </p:txBody>
          </p:sp>
        </mc:Fallback>
      </mc:AlternateContent>
      <p:pic>
        <p:nvPicPr>
          <p:cNvPr id="6" name="Picture 5" descr="101010 lignes de données vers l’infini">
            <a:extLst>
              <a:ext uri="{FF2B5EF4-FFF2-40B4-BE49-F238E27FC236}">
                <a16:creationId xmlns:a16="http://schemas.microsoft.com/office/drawing/2014/main" id="{85BD774B-D107-D5A0-F14C-393E37A0CED5}"/>
              </a:ext>
            </a:extLst>
          </p:cNvPr>
          <p:cNvPicPr>
            <a:picLocks noChangeAspect="1"/>
          </p:cNvPicPr>
          <p:nvPr/>
        </p:nvPicPr>
        <p:blipFill>
          <a:blip r:embed="rId3"/>
          <a:srcRect l="26611" r="23107" b="1"/>
          <a:stretch>
            <a:fillRect/>
          </a:stretch>
        </p:blipFill>
        <p:spPr>
          <a:xfrm>
            <a:off x="7800975" y="-10886"/>
            <a:ext cx="4391026" cy="6868886"/>
          </a:xfrm>
          <a:prstGeom prst="rect">
            <a:avLst/>
          </a:prstGeom>
          <a:effectLst>
            <a:outerShdw blurRad="127000" dist="50800" dir="10800000" sx="99000" sy="99000" algn="r" rotWithShape="0">
              <a:prstClr val="black">
                <a:alpha val="40000"/>
              </a:prstClr>
            </a:outerShdw>
          </a:effectLst>
        </p:spPr>
      </p:pic>
      <p:sp>
        <p:nvSpPr>
          <p:cNvPr id="4" name="Slide Number Placeholder 3">
            <a:extLst>
              <a:ext uri="{FF2B5EF4-FFF2-40B4-BE49-F238E27FC236}">
                <a16:creationId xmlns:a16="http://schemas.microsoft.com/office/drawing/2014/main" id="{18A65692-488D-D130-B8B6-C64510D0E580}"/>
              </a:ext>
            </a:extLst>
          </p:cNvPr>
          <p:cNvSpPr>
            <a:spLocks noGrp="1"/>
          </p:cNvSpPr>
          <p:nvPr>
            <p:ph type="sldNum" sz="quarter" idx="12"/>
          </p:nvPr>
        </p:nvSpPr>
        <p:spPr>
          <a:xfrm>
            <a:off x="10167869" y="6356350"/>
            <a:ext cx="1768425" cy="365125"/>
          </a:xfrm>
        </p:spPr>
        <p:txBody>
          <a:bodyPr>
            <a:normAutofit/>
          </a:bodyPr>
          <a:lstStyle/>
          <a:p>
            <a:pPr>
              <a:spcAft>
                <a:spcPts val="600"/>
              </a:spcAft>
            </a:pPr>
            <a:fld id="{FD85B578-4E75-4E1C-9BE3-D5DCC0715B13}" type="slidenum">
              <a:rPr lang="fr-FR">
                <a:solidFill>
                  <a:srgbClr val="FFFFFF"/>
                </a:solidFill>
              </a:rPr>
              <a:pPr>
                <a:spcAft>
                  <a:spcPts val="600"/>
                </a:spcAft>
              </a:pPr>
              <a:t>13</a:t>
            </a:fld>
            <a:endParaRPr lang="fr-FR">
              <a:solidFill>
                <a:srgbClr val="FFFFFF"/>
              </a:solidFill>
            </a:endParaRPr>
          </a:p>
        </p:txBody>
      </p:sp>
    </p:spTree>
    <p:extLst>
      <p:ext uri="{BB962C8B-B14F-4D97-AF65-F5344CB8AC3E}">
        <p14:creationId xmlns:p14="http://schemas.microsoft.com/office/powerpoint/2010/main" val="59745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815C8-A273-7030-2A3F-6BDE9587055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33D28FB-7916-00FF-A0BA-554D31B7A321}"/>
              </a:ext>
            </a:extLst>
          </p:cNvPr>
          <p:cNvSpPr>
            <a:spLocks noGrp="1"/>
          </p:cNvSpPr>
          <p:nvPr>
            <p:ph type="title"/>
          </p:nvPr>
        </p:nvSpPr>
        <p:spPr>
          <a:xfrm>
            <a:off x="761800" y="762001"/>
            <a:ext cx="5334197" cy="1708242"/>
          </a:xfrm>
        </p:spPr>
        <p:txBody>
          <a:bodyPr anchor="ctr">
            <a:normAutofit/>
          </a:bodyPr>
          <a:lstStyle/>
          <a:p>
            <a:r>
              <a:rPr lang="fr-FR" sz="4000"/>
              <a:t>Description du code :</a:t>
            </a:r>
          </a:p>
        </p:txBody>
      </p:sp>
      <p:sp>
        <p:nvSpPr>
          <p:cNvPr id="3" name="Espace réservé du contenu 2">
            <a:extLst>
              <a:ext uri="{FF2B5EF4-FFF2-40B4-BE49-F238E27FC236}">
                <a16:creationId xmlns:a16="http://schemas.microsoft.com/office/drawing/2014/main" id="{C313977C-A105-AC6E-44AE-ED95C34708DC}"/>
              </a:ext>
            </a:extLst>
          </p:cNvPr>
          <p:cNvSpPr>
            <a:spLocks noGrp="1"/>
          </p:cNvSpPr>
          <p:nvPr>
            <p:ph idx="1"/>
          </p:nvPr>
        </p:nvSpPr>
        <p:spPr>
          <a:xfrm>
            <a:off x="761800" y="2228850"/>
            <a:ext cx="6505775" cy="4011229"/>
          </a:xfrm>
        </p:spPr>
        <p:txBody>
          <a:bodyPr anchor="ctr">
            <a:normAutofit/>
          </a:bodyPr>
          <a:lstStyle/>
          <a:p>
            <a:r>
              <a:rPr lang="fr-FR" sz="1300" dirty="0"/>
              <a:t>convergence_generate_data.py : </a:t>
            </a:r>
          </a:p>
          <a:p>
            <a:pPr lvl="1"/>
            <a:r>
              <a:rPr lang="fr-FR" sz="1200" dirty="0"/>
              <a:t>Génère les solutions pour les configurations de discrétisation prescrites dans le fichier.</a:t>
            </a:r>
          </a:p>
          <a:p>
            <a:pPr lvl="1"/>
            <a:r>
              <a:rPr lang="fr-FR" sz="1200" dirty="0" err="1"/>
              <a:t>Dépendament</a:t>
            </a:r>
            <a:r>
              <a:rPr lang="fr-FR" sz="1200" dirty="0"/>
              <a:t> de la machine, peut prendre beaucoup de temps à s’exécuter.</a:t>
            </a:r>
          </a:p>
          <a:p>
            <a:pPr lvl="1"/>
            <a:r>
              <a:rPr lang="fr-FR" sz="1200" dirty="0"/>
              <a:t>Données des configurations enregistrées de manière Spatio-Temporelle en format .</a:t>
            </a:r>
            <a:r>
              <a:rPr lang="fr-FR" sz="1200" dirty="0" err="1"/>
              <a:t>npz</a:t>
            </a:r>
            <a:r>
              <a:rPr lang="fr-FR" sz="1200" dirty="0"/>
              <a:t> (</a:t>
            </a:r>
            <a:r>
              <a:rPr lang="fr-FR" sz="1200" dirty="0" err="1"/>
              <a:t>NumPy</a:t>
            </a:r>
            <a:r>
              <a:rPr lang="fr-FR" sz="1200" dirty="0"/>
              <a:t> zip) dans le dossier .</a:t>
            </a:r>
            <a:r>
              <a:rPr lang="fr-FR" sz="1200" dirty="0" err="1"/>
              <a:t>resultats</a:t>
            </a:r>
            <a:r>
              <a:rPr lang="fr-FR" sz="1200" dirty="0"/>
              <a:t>/ .</a:t>
            </a:r>
          </a:p>
          <a:p>
            <a:r>
              <a:rPr lang="fr-FR" sz="1300" dirty="0"/>
              <a:t>ordre_convergence_MMS.py : </a:t>
            </a:r>
          </a:p>
          <a:p>
            <a:pPr lvl="1"/>
            <a:r>
              <a:rPr lang="fr-CA" sz="1300" b="0" dirty="0"/>
              <a:t>Génère les graphiques et calcul l’ordre de convergence asymptotique de la discrétisation en temps (</a:t>
            </a:r>
            <a:r>
              <a:rPr lang="fr-CA" sz="1300" b="0" dirty="0" err="1"/>
              <a:t>dt</a:t>
            </a:r>
            <a:r>
              <a:rPr lang="fr-CA" sz="1300" dirty="0"/>
              <a:t>) ou en espace (</a:t>
            </a:r>
            <a:r>
              <a:rPr lang="fr-CA" sz="1300" dirty="0" err="1"/>
              <a:t>dr,dz</a:t>
            </a:r>
            <a:r>
              <a:rPr lang="fr-CA" sz="1300" dirty="0"/>
              <a:t>).</a:t>
            </a:r>
          </a:p>
          <a:p>
            <a:pPr lvl="1"/>
            <a:r>
              <a:rPr lang="fr-CA" sz="1300" b="0" dirty="0"/>
              <a:t>Ordre de convergence obtenus : final (dernier pas de temps) et spatio-temporel (tous les pas de temps)</a:t>
            </a:r>
          </a:p>
          <a:p>
            <a:pPr lvl="1"/>
            <a:r>
              <a:rPr lang="fr-CA" sz="1300" dirty="0"/>
              <a:t>L’utilisateur peut avoir à modifier certains paramètres dans ce fichier pour s’assurer de saisir l’ordre de convergence </a:t>
            </a:r>
            <a:r>
              <a:rPr lang="fr-CA" sz="1300" b="1" dirty="0"/>
              <a:t>asymptotique</a:t>
            </a:r>
            <a:r>
              <a:rPr lang="fr-CA" sz="1300" dirty="0"/>
              <a:t>.</a:t>
            </a:r>
          </a:p>
          <a:p>
            <a:r>
              <a:rPr lang="fr-CA" sz="1700" dirty="0"/>
              <a:t>tests.py : </a:t>
            </a:r>
          </a:p>
          <a:p>
            <a:pPr lvl="1"/>
            <a:r>
              <a:rPr lang="fr-CA" sz="1300" dirty="0"/>
              <a:t>Contient un ensemble de tests unitaires (décrits plus loin dans ce rapport)</a:t>
            </a:r>
          </a:p>
          <a:p>
            <a:pPr lvl="1"/>
            <a:r>
              <a:rPr lang="fr-CA" sz="1300" dirty="0"/>
              <a:t>Permet de s’assurer que le code ne brise pas avec les changements (pérennité).</a:t>
            </a:r>
          </a:p>
        </p:txBody>
      </p:sp>
      <p:pic>
        <p:nvPicPr>
          <p:cNvPr id="6" name="Picture 5" descr="101010 lignes de données vers l’infini">
            <a:extLst>
              <a:ext uri="{FF2B5EF4-FFF2-40B4-BE49-F238E27FC236}">
                <a16:creationId xmlns:a16="http://schemas.microsoft.com/office/drawing/2014/main" id="{E3EE24B8-9B25-AE46-02FD-B58AD315982A}"/>
              </a:ext>
            </a:extLst>
          </p:cNvPr>
          <p:cNvPicPr>
            <a:picLocks noChangeAspect="1"/>
          </p:cNvPicPr>
          <p:nvPr/>
        </p:nvPicPr>
        <p:blipFill>
          <a:blip r:embed="rId2"/>
          <a:srcRect l="26611" r="23107" b="1"/>
          <a:stretch>
            <a:fillRect/>
          </a:stretch>
        </p:blipFill>
        <p:spPr>
          <a:xfrm>
            <a:off x="7800975" y="-10886"/>
            <a:ext cx="4391026" cy="6868886"/>
          </a:xfrm>
          <a:prstGeom prst="rect">
            <a:avLst/>
          </a:prstGeom>
          <a:effectLst>
            <a:outerShdw blurRad="127000" dist="50800" dir="10800000" sx="99000" sy="99000" algn="r" rotWithShape="0">
              <a:prstClr val="black">
                <a:alpha val="40000"/>
              </a:prstClr>
            </a:outerShdw>
          </a:effectLst>
        </p:spPr>
      </p:pic>
      <p:sp>
        <p:nvSpPr>
          <p:cNvPr id="4" name="Slide Number Placeholder 3">
            <a:extLst>
              <a:ext uri="{FF2B5EF4-FFF2-40B4-BE49-F238E27FC236}">
                <a16:creationId xmlns:a16="http://schemas.microsoft.com/office/drawing/2014/main" id="{2FF45D1D-53C5-7CBA-D775-3D774B54AB9A}"/>
              </a:ext>
            </a:extLst>
          </p:cNvPr>
          <p:cNvSpPr>
            <a:spLocks noGrp="1"/>
          </p:cNvSpPr>
          <p:nvPr>
            <p:ph type="sldNum" sz="quarter" idx="12"/>
          </p:nvPr>
        </p:nvSpPr>
        <p:spPr>
          <a:xfrm>
            <a:off x="10167869" y="6356350"/>
            <a:ext cx="1768425" cy="365125"/>
          </a:xfrm>
        </p:spPr>
        <p:txBody>
          <a:bodyPr>
            <a:normAutofit/>
          </a:bodyPr>
          <a:lstStyle/>
          <a:p>
            <a:pPr>
              <a:spcAft>
                <a:spcPts val="600"/>
              </a:spcAft>
            </a:pPr>
            <a:fld id="{FD85B578-4E75-4E1C-9BE3-D5DCC0715B13}" type="slidenum">
              <a:rPr lang="fr-FR">
                <a:solidFill>
                  <a:srgbClr val="FFFFFF"/>
                </a:solidFill>
              </a:rPr>
              <a:pPr>
                <a:spcAft>
                  <a:spcPts val="600"/>
                </a:spcAft>
              </a:pPr>
              <a:t>14</a:t>
            </a:fld>
            <a:endParaRPr lang="fr-FR">
              <a:solidFill>
                <a:srgbClr val="FFFFFF"/>
              </a:solidFill>
            </a:endParaRPr>
          </a:p>
        </p:txBody>
      </p:sp>
    </p:spTree>
    <p:extLst>
      <p:ext uri="{BB962C8B-B14F-4D97-AF65-F5344CB8AC3E}">
        <p14:creationId xmlns:p14="http://schemas.microsoft.com/office/powerpoint/2010/main" val="14360842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3A0EB-0907-E123-B3D5-9ED0B1E3D3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4AD5441-D133-7193-48F3-2A9F2A7D66D5}"/>
              </a:ext>
            </a:extLst>
          </p:cNvPr>
          <p:cNvSpPr>
            <a:spLocks noGrp="1"/>
          </p:cNvSpPr>
          <p:nvPr>
            <p:ph type="title"/>
          </p:nvPr>
        </p:nvSpPr>
        <p:spPr>
          <a:xfrm>
            <a:off x="838200" y="0"/>
            <a:ext cx="10777396" cy="1325563"/>
          </a:xfrm>
        </p:spPr>
        <p:txBody>
          <a:bodyPr>
            <a:normAutofit/>
          </a:bodyPr>
          <a:lstStyle/>
          <a:p>
            <a:r>
              <a:rPr lang="fr-FR" dirty="0"/>
              <a:t>Description du code – Algorithme de résolution</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8617CC10-1EFA-7950-6D9B-3524A14D95DB}"/>
                  </a:ext>
                </a:extLst>
              </p:cNvPr>
              <p:cNvSpPr>
                <a:spLocks noGrp="1"/>
              </p:cNvSpPr>
              <p:nvPr>
                <p:ph idx="1"/>
              </p:nvPr>
            </p:nvSpPr>
            <p:spPr>
              <a:xfrm>
                <a:off x="261258" y="1331494"/>
                <a:ext cx="11930742" cy="5526505"/>
              </a:xfrm>
            </p:spPr>
            <p:txBody>
              <a:bodyPr>
                <a:normAutofit/>
              </a:bodyPr>
              <a:lstStyle/>
              <a:p>
                <a:pPr marL="0" indent="0">
                  <a:buNone/>
                </a:pPr>
                <a:r>
                  <a:rPr lang="fr-FR" dirty="0"/>
                  <a:t>0.   Initialisation des paramètres et vérification du critère de stabilité.</a:t>
                </a:r>
              </a:p>
              <a:p>
                <a:pPr marL="514350" indent="-514350">
                  <a:buAutoNum type="arabicPeriod"/>
                </a:pPr>
                <a:r>
                  <a:rPr lang="fr-FR" dirty="0"/>
                  <a:t>Initialisation de la solution dans le domaine. Pour MMS, on initialise la solution avec l’équation de la MMS.</a:t>
                </a:r>
              </a:p>
              <a:p>
                <a:pPr marL="514350" indent="-514350">
                  <a:buAutoNum type="arabicPeriod"/>
                </a:pPr>
                <a:r>
                  <a:rPr lang="fr-FR" dirty="0"/>
                  <a:t>Boucle temporelle, de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0</m:t>
                        </m:r>
                      </m:sub>
                    </m:sSub>
                  </m:oMath>
                </a14:m>
                <a:r>
                  <a:rPr lang="fr-FR" dirty="0"/>
                  <a:t> à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oMath>
                </a14:m>
                <a:r>
                  <a:rPr lang="fr-FR" dirty="0"/>
                  <a:t> :</a:t>
                </a:r>
              </a:p>
              <a:p>
                <a:pPr marL="971550" lvl="1" indent="-514350">
                  <a:buAutoNum type="arabicPeriod"/>
                </a:pPr>
                <a:r>
                  <a:rPr lang="fr-FR" dirty="0"/>
                  <a:t>Calcul des nœuds au milieu du domaine au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FR" dirty="0"/>
                  <a:t> à l’aide de la solution au temps </a:t>
                </a:r>
                <a14:m>
                  <m:oMath xmlns:m="http://schemas.openxmlformats.org/officeDocument/2006/math">
                    <m:r>
                      <a:rPr lang="fr-CA" b="0" i="1" smtClean="0">
                        <a:latin typeface="Cambria Math" panose="02040503050406030204" pitchFamily="18" charset="0"/>
                      </a:rPr>
                      <m:t>𝑡</m:t>
                    </m:r>
                  </m:oMath>
                </a14:m>
                <a:r>
                  <a:rPr lang="fr-FR" dirty="0"/>
                  <a:t>.</a:t>
                </a:r>
              </a:p>
              <a:p>
                <a:pPr marL="971550" lvl="1" indent="-514350">
                  <a:buFont typeface="Arial" panose="020B0604020202020204" pitchFamily="34" charset="0"/>
                  <a:buAutoNum type="arabicPeriod"/>
                </a:pPr>
                <a:r>
                  <a:rPr lang="fr-FR" dirty="0"/>
                  <a:t>Calcul des nœuds suivants aux frontières du domaine à l’aide de la solution des nœuds milieux calculés en 1.</a:t>
                </a:r>
              </a:p>
              <a:p>
                <a:pPr marL="971550" lvl="1" indent="-514350">
                  <a:buFont typeface="Arial" panose="020B0604020202020204" pitchFamily="34" charset="0"/>
                  <a:buAutoNum type="arabicPeriod"/>
                </a:pPr>
                <a:r>
                  <a:rPr lang="fr-FR" dirty="0"/>
                  <a:t>Calcul des coins à l’aides des nœuds aux frontières calculés en 2.</a:t>
                </a:r>
              </a:p>
              <a:p>
                <a:pPr marL="971550" lvl="1" indent="-514350">
                  <a:buFont typeface="Arial" panose="020B0604020202020204" pitchFamily="34" charset="0"/>
                  <a:buAutoNum type="arabicPeriod"/>
                </a:pPr>
                <a:r>
                  <a:rPr lang="fr-FR" dirty="0"/>
                  <a:t>On pose </a:t>
                </a:r>
                <a14:m>
                  <m:oMath xmlns:m="http://schemas.openxmlformats.org/officeDocument/2006/math">
                    <m:r>
                      <a:rPr lang="fr-CA" i="1">
                        <a:latin typeface="Cambria Math" panose="02040503050406030204" pitchFamily="18" charset="0"/>
                      </a:rPr>
                      <m:t> </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sup>
                    </m:sSup>
                    <m:r>
                      <a:rPr lang="fr-CA" i="1">
                        <a:latin typeface="Cambria Math" panose="02040503050406030204" pitchFamily="18" charset="0"/>
                      </a:rPr>
                      <m:t>=</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r>
                          <a:rPr lang="fr-CA" i="1">
                            <a:latin typeface="Cambria Math" panose="02040503050406030204" pitchFamily="18" charset="0"/>
                          </a:rPr>
                          <m:t>+∆</m:t>
                        </m:r>
                        <m:r>
                          <a:rPr lang="fr-CA" i="1">
                            <a:latin typeface="Cambria Math" panose="02040503050406030204" pitchFamily="18" charset="0"/>
                          </a:rPr>
                          <m:t>𝑡</m:t>
                        </m:r>
                      </m:sup>
                    </m:sSup>
                  </m:oMath>
                </a14:m>
                <a:r>
                  <a:rPr lang="fr-FR" dirty="0"/>
                  <a:t> </a:t>
                </a:r>
              </a:p>
              <a:p>
                <a:pPr marL="971550" lvl="1" indent="-514350">
                  <a:buAutoNum type="arabicPeriod"/>
                </a:pPr>
                <a:r>
                  <a:rPr lang="fr-FR" dirty="0"/>
                  <a:t>On sort si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ea typeface="Cambria Math" panose="02040503050406030204" pitchFamily="18" charset="0"/>
                      </a:rPr>
                      <m:t>≥</m:t>
                    </m:r>
                    <m:sSub>
                      <m:sSubPr>
                        <m:ctrlPr>
                          <a:rPr lang="fr-CA" b="0" i="1" smtClean="0">
                            <a:latin typeface="Cambria Math" panose="02040503050406030204" pitchFamily="18" charset="0"/>
                            <a:ea typeface="Cambria Math" panose="02040503050406030204" pitchFamily="18" charset="0"/>
                          </a:rPr>
                        </m:ctrlPr>
                      </m:sSubPr>
                      <m:e>
                        <m:r>
                          <a:rPr lang="fr-CA" b="0" i="1" smtClean="0">
                            <a:latin typeface="Cambria Math" panose="02040503050406030204" pitchFamily="18" charset="0"/>
                            <a:ea typeface="Cambria Math" panose="02040503050406030204" pitchFamily="18" charset="0"/>
                          </a:rPr>
                          <m:t>𝑡</m:t>
                        </m:r>
                      </m:e>
                      <m:sub>
                        <m:r>
                          <a:rPr lang="fr-CA" b="0" i="1" smtClean="0">
                            <a:latin typeface="Cambria Math" panose="02040503050406030204" pitchFamily="18" charset="0"/>
                            <a:ea typeface="Cambria Math" panose="02040503050406030204" pitchFamily="18" charset="0"/>
                          </a:rPr>
                          <m:t>𝑓𝑖𝑛𝑎𝑙</m:t>
                        </m:r>
                      </m:sub>
                    </m:sSub>
                  </m:oMath>
                </a14:m>
                <a:endParaRPr lang="fr-CA" b="0" dirty="0">
                  <a:ea typeface="Cambria Math" panose="02040503050406030204" pitchFamily="18" charset="0"/>
                </a:endParaRPr>
              </a:p>
            </p:txBody>
          </p:sp>
        </mc:Choice>
        <mc:Fallback>
          <p:sp>
            <p:nvSpPr>
              <p:cNvPr id="3" name="Espace réservé du contenu 2">
                <a:extLst>
                  <a:ext uri="{FF2B5EF4-FFF2-40B4-BE49-F238E27FC236}">
                    <a16:creationId xmlns:a16="http://schemas.microsoft.com/office/drawing/2014/main" id="{8617CC10-1EFA-7950-6D9B-3524A14D95DB}"/>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1073" t="-1874" r="-358"/>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493CA67-58F6-B0D2-130A-0A5EC4D0E93A}"/>
              </a:ext>
            </a:extLst>
          </p:cNvPr>
          <p:cNvSpPr>
            <a:spLocks noGrp="1"/>
          </p:cNvSpPr>
          <p:nvPr>
            <p:ph type="sldNum" sz="quarter" idx="12"/>
          </p:nvPr>
        </p:nvSpPr>
        <p:spPr/>
        <p:txBody>
          <a:bodyPr/>
          <a:lstStyle/>
          <a:p>
            <a:fld id="{FD85B578-4E75-4E1C-9BE3-D5DCC0715B13}" type="slidenum">
              <a:rPr lang="fr-FR" smtClean="0"/>
              <a:t>15</a:t>
            </a:fld>
            <a:endParaRPr lang="fr-FR"/>
          </a:p>
        </p:txBody>
      </p:sp>
    </p:spTree>
    <p:extLst>
      <p:ext uri="{BB962C8B-B14F-4D97-AF65-F5344CB8AC3E}">
        <p14:creationId xmlns:p14="http://schemas.microsoft.com/office/powerpoint/2010/main" val="1406409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E82E6-A328-18C3-0563-368C11781A2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E94123-6345-195A-AC9E-67E6AAC6CEEF}"/>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E125C11-3A07-1F9D-5E22-B8FF6311F04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b="1" dirty="0" err="1">
                <a:latin typeface="+mn-lt"/>
                <a:ea typeface="+mn-ea"/>
                <a:cs typeface="+mn-cs"/>
              </a:rPr>
              <a:t>Vérification</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D70EEC34-2062-C6F8-8879-BA29F78A94A5}"/>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77FC811F-E374-BBFB-41A5-FE0CD52B3106}"/>
              </a:ext>
            </a:extLst>
          </p:cNvPr>
          <p:cNvSpPr>
            <a:spLocks noGrp="1"/>
          </p:cNvSpPr>
          <p:nvPr>
            <p:ph type="sldNum" sz="quarter" idx="12"/>
          </p:nvPr>
        </p:nvSpPr>
        <p:spPr/>
        <p:txBody>
          <a:bodyPr/>
          <a:lstStyle/>
          <a:p>
            <a:fld id="{FD85B578-4E75-4E1C-9BE3-D5DCC0715B13}" type="slidenum">
              <a:rPr lang="fr-FR" smtClean="0"/>
              <a:t>16</a:t>
            </a:fld>
            <a:endParaRPr lang="fr-FR"/>
          </a:p>
        </p:txBody>
      </p:sp>
    </p:spTree>
    <p:extLst>
      <p:ext uri="{BB962C8B-B14F-4D97-AF65-F5344CB8AC3E}">
        <p14:creationId xmlns:p14="http://schemas.microsoft.com/office/powerpoint/2010/main" val="4921616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0210F2-DE1D-E808-58AF-DFA01EAAB4C6}"/>
              </a:ext>
            </a:extLst>
          </p:cNvPr>
          <p:cNvSpPr>
            <a:spLocks noGrp="1"/>
          </p:cNvSpPr>
          <p:nvPr>
            <p:ph type="title"/>
          </p:nvPr>
        </p:nvSpPr>
        <p:spPr/>
        <p:txBody>
          <a:bodyPr/>
          <a:lstStyle/>
          <a:p>
            <a:r>
              <a:rPr lang="fr-FR" dirty="0"/>
              <a:t>Vérification de code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4013CAEC-1AC4-C17B-EAFA-EC1AB7DBA279}"/>
                  </a:ext>
                </a:extLst>
              </p:cNvPr>
              <p:cNvSpPr>
                <a:spLocks noGrp="1"/>
              </p:cNvSpPr>
              <p:nvPr>
                <p:ph idx="1"/>
              </p:nvPr>
            </p:nvSpPr>
            <p:spPr>
              <a:xfrm>
                <a:off x="838200" y="1825625"/>
                <a:ext cx="10628376" cy="4351338"/>
              </a:xfrm>
            </p:spPr>
            <p:txBody>
              <a:bodyPr>
                <a:normAutofit fontScale="77500" lnSpcReduction="20000"/>
              </a:bodyPr>
              <a:lstStyle/>
              <a:p>
                <a:pPr>
                  <a:lnSpc>
                    <a:spcPct val="124000"/>
                  </a:lnSpc>
                </a:pPr>
                <a:r>
                  <a:rPr lang="fr-FR" dirty="0"/>
                  <a:t>Implémentation de divers tests avec le module </a:t>
                </a:r>
                <a:r>
                  <a:rPr lang="fr-FR" i="1" dirty="0" err="1"/>
                  <a:t>unittest</a:t>
                </a:r>
                <a:r>
                  <a:rPr lang="fr-FR" dirty="0"/>
                  <a:t> de python :</a:t>
                </a:r>
              </a:p>
              <a:p>
                <a:pPr lvl="1">
                  <a:lnSpc>
                    <a:spcPct val="124000"/>
                  </a:lnSpc>
                </a:pPr>
                <a:r>
                  <a:rPr lang="fr-FR" b="1" dirty="0"/>
                  <a:t>Tests unitaires </a:t>
                </a:r>
                <a:r>
                  <a:rPr lang="fr-FR" dirty="0"/>
                  <a:t>pour les différentes fonctions du code implémentés :</a:t>
                </a:r>
              </a:p>
              <a:p>
                <a:pPr lvl="2">
                  <a:lnSpc>
                    <a:spcPct val="124000"/>
                  </a:lnSpc>
                  <a:buFont typeface="Courier New" panose="02070309020205020404" pitchFamily="49" charset="0"/>
                  <a:buChar char="o"/>
                </a:pPr>
                <a:r>
                  <a:rPr lang="fr-FR" b="1" dirty="0" err="1"/>
                  <a:t>testPosition</a:t>
                </a:r>
                <a:r>
                  <a:rPr lang="fr-FR" dirty="0"/>
                  <a:t> : </a:t>
                </a:r>
                <a:r>
                  <a:rPr lang="fr-CA" dirty="0"/>
                  <a:t>Test la fonction Position avec des valeurs connues.</a:t>
                </a:r>
              </a:p>
              <a:p>
                <a:pPr lvl="2">
                  <a:lnSpc>
                    <a:spcPct val="124000"/>
                  </a:lnSpc>
                  <a:buFont typeface="Courier New" panose="02070309020205020404" pitchFamily="49" charset="0"/>
                  <a:buChar char="o"/>
                </a:pPr>
                <a:r>
                  <a:rPr lang="fr-CA" b="1" dirty="0" err="1"/>
                  <a:t>testMilieu</a:t>
                </a:r>
                <a:r>
                  <a:rPr lang="fr-CA" dirty="0"/>
                  <a:t> : Test la fonction Milieu avec des valeurs connues.</a:t>
                </a:r>
              </a:p>
              <a:p>
                <a:pPr lvl="2">
                  <a:lnSpc>
                    <a:spcPct val="124000"/>
                  </a:lnSpc>
                  <a:buFont typeface="Courier New" panose="02070309020205020404" pitchFamily="49" charset="0"/>
                  <a:buChar char="o"/>
                </a:pPr>
                <a:r>
                  <a:rPr lang="fr-CA" b="1" dirty="0" err="1"/>
                  <a:t>testTemperature</a:t>
                </a:r>
                <a:r>
                  <a:rPr lang="fr-CA" dirty="0"/>
                  <a:t> : Test la fonction </a:t>
                </a:r>
                <a:r>
                  <a:rPr lang="fr-CA" dirty="0" err="1"/>
                  <a:t>Temperature</a:t>
                </a:r>
                <a:r>
                  <a:rPr lang="fr-CA" dirty="0"/>
                  <a:t> avec des valeurs connues.</a:t>
                </a:r>
              </a:p>
              <a:p>
                <a:pPr lvl="1">
                  <a:lnSpc>
                    <a:spcPct val="124000"/>
                  </a:lnSpc>
                </a:pPr>
                <a:r>
                  <a:rPr lang="fr-CA" b="1" dirty="0"/>
                  <a:t>Tests de vérification de code </a:t>
                </a:r>
                <a:r>
                  <a:rPr lang="fr-CA" dirty="0"/>
                  <a:t>implémentés :</a:t>
                </a:r>
              </a:p>
              <a:p>
                <a:pPr lvl="2">
                  <a:lnSpc>
                    <a:spcPct val="124000"/>
                  </a:lnSpc>
                  <a:buFont typeface="Courier New" panose="02070309020205020404" pitchFamily="49" charset="0"/>
                  <a:buChar char="o"/>
                </a:pPr>
                <a:r>
                  <a:rPr lang="fr-CA" b="1" dirty="0" err="1"/>
                  <a:t>testSymetrie</a:t>
                </a:r>
                <a:r>
                  <a:rPr lang="fr-CA" dirty="0"/>
                  <a:t> : Test la simplification de la condition de symétrie en comparant le résultat symétrique au résultat du domaine complet.</a:t>
                </a:r>
              </a:p>
              <a:p>
                <a:pPr lvl="2">
                  <a:lnSpc>
                    <a:spcPct val="124000"/>
                  </a:lnSpc>
                  <a:buFont typeface="Courier New" panose="02070309020205020404" pitchFamily="49" charset="0"/>
                  <a:buChar char="o"/>
                </a:pPr>
                <a:r>
                  <a:rPr lang="fr-CA" b="1" dirty="0" err="1"/>
                  <a:t>testConservationEnergie</a:t>
                </a:r>
                <a:r>
                  <a:rPr lang="fr-CA" dirty="0"/>
                  <a:t> : Test la conservation de l'énergie du solveur en effectuant un bilan </a:t>
                </a:r>
                <a:r>
                  <a:rPr lang="fr-CA" dirty="0" err="1"/>
                  <a:t>énegérique</a:t>
                </a:r>
                <a:r>
                  <a:rPr lang="fr-CA" dirty="0"/>
                  <a:t> à l'intérieur du domaine et sur la frontière. On cherche :</a:t>
                </a:r>
                <a:br>
                  <a:rPr lang="fr-CA" dirty="0"/>
                </a:br>
                <a14:m>
                  <m:oMath xmlns:m="http://schemas.openxmlformats.org/officeDocument/2006/math">
                    <m:acc>
                      <m:accPr>
                        <m:chr m:val="̇"/>
                        <m:ctrlPr>
                          <a:rPr lang="fr-CA" i="1" smtClean="0">
                            <a:latin typeface="Cambria Math" panose="02040503050406030204" pitchFamily="18" charset="0"/>
                          </a:rPr>
                        </m:ctrlPr>
                      </m:acc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𝑞</m:t>
                            </m:r>
                          </m:e>
                          <m:sub>
                            <m:r>
                              <a:rPr lang="fr-CA" b="0" i="1" smtClean="0">
                                <a:latin typeface="Cambria Math" panose="02040503050406030204" pitchFamily="18" charset="0"/>
                              </a:rPr>
                              <m:t>𝑖𝑛𝑡</m:t>
                            </m:r>
                          </m:sub>
                        </m:sSub>
                      </m:e>
                    </m:acc>
                    <m:r>
                      <a:rPr lang="fr-CA" i="1" smtClean="0">
                        <a:latin typeface="Cambria Math" panose="02040503050406030204" pitchFamily="18" charset="0"/>
                        <a:ea typeface="Cambria Math" panose="02040503050406030204" pitchFamily="18" charset="0"/>
                      </a:rPr>
                      <m:t>≈</m:t>
                    </m:r>
                    <m:acc>
                      <m:accPr>
                        <m:chr m:val="̇"/>
                        <m:ctrlPr>
                          <a:rPr lang="fr-CA" i="1">
                            <a:latin typeface="Cambria Math" panose="02040503050406030204" pitchFamily="18" charset="0"/>
                          </a:rPr>
                        </m:ctrlPr>
                      </m:accPr>
                      <m:e>
                        <m:sSub>
                          <m:sSubPr>
                            <m:ctrlPr>
                              <a:rPr lang="fr-CA" i="1">
                                <a:latin typeface="Cambria Math" panose="02040503050406030204" pitchFamily="18" charset="0"/>
                              </a:rPr>
                            </m:ctrlPr>
                          </m:sSubPr>
                          <m:e>
                            <m:r>
                              <a:rPr lang="fr-CA" i="1">
                                <a:latin typeface="Cambria Math" panose="02040503050406030204" pitchFamily="18" charset="0"/>
                              </a:rPr>
                              <m:t>𝑞</m:t>
                            </m:r>
                          </m:e>
                          <m:sub>
                            <m:r>
                              <a:rPr lang="fr-CA" i="1">
                                <a:latin typeface="Cambria Math" panose="02040503050406030204" pitchFamily="18" charset="0"/>
                              </a:rPr>
                              <m:t>𝑓𝑟𝑜𝑛𝑡</m:t>
                            </m:r>
                          </m:sub>
                        </m:sSub>
                      </m:e>
                    </m:acc>
                  </m:oMath>
                </a14:m>
                <a:endParaRPr lang="fr-CA" dirty="0"/>
              </a:p>
              <a:p>
                <a:pPr lvl="2">
                  <a:lnSpc>
                    <a:spcPct val="124000"/>
                  </a:lnSpc>
                  <a:buFont typeface="Courier New" panose="02070309020205020404" pitchFamily="49" charset="0"/>
                  <a:buChar char="o"/>
                </a:pPr>
                <a:r>
                  <a:rPr lang="fr-CA" b="1" dirty="0" err="1"/>
                  <a:t>testInvarianceGalileenne</a:t>
                </a:r>
                <a:r>
                  <a:rPr lang="fr-CA" dirty="0"/>
                  <a:t> : Test l’invariance galiléenne du solveur par translation des coordonnées.</a:t>
                </a:r>
              </a:p>
              <a:p>
                <a:pPr lvl="1">
                  <a:lnSpc>
                    <a:spcPct val="124000"/>
                  </a:lnSpc>
                </a:pPr>
                <a:r>
                  <a:rPr lang="fr-CA" dirty="0"/>
                  <a:t>Implémentation de la </a:t>
                </a:r>
                <a:r>
                  <a:rPr lang="fr-CA" b="1" dirty="0"/>
                  <a:t>MMS</a:t>
                </a:r>
                <a:r>
                  <a:rPr lang="fr-CA" dirty="0"/>
                  <a:t> pour évaluer l’ordre de convergence du solveur.</a:t>
                </a:r>
              </a:p>
              <a:p>
                <a:pPr lvl="2">
                  <a:buFont typeface="Courier New" panose="02070309020205020404" pitchFamily="49" charset="0"/>
                  <a:buChar char="o"/>
                </a:pPr>
                <a:endParaRPr lang="fr-CA" dirty="0"/>
              </a:p>
              <a:p>
                <a:pPr lvl="2">
                  <a:buFont typeface="Courier New" panose="02070309020205020404" pitchFamily="49" charset="0"/>
                  <a:buChar char="o"/>
                </a:pPr>
                <a:endParaRPr lang="fr-FR" dirty="0"/>
              </a:p>
              <a:p>
                <a:pPr lvl="2"/>
                <a:endParaRPr lang="fr-FR" dirty="0"/>
              </a:p>
              <a:p>
                <a:pPr lvl="2"/>
                <a:endParaRPr lang="fr-FR" dirty="0"/>
              </a:p>
            </p:txBody>
          </p:sp>
        </mc:Choice>
        <mc:Fallback xmlns="">
          <p:sp>
            <p:nvSpPr>
              <p:cNvPr id="3" name="Espace réservé du contenu 2">
                <a:extLst>
                  <a:ext uri="{FF2B5EF4-FFF2-40B4-BE49-F238E27FC236}">
                    <a16:creationId xmlns:a16="http://schemas.microsoft.com/office/drawing/2014/main" id="{4013CAEC-1AC4-C17B-EAFA-EC1AB7DBA279}"/>
                  </a:ext>
                </a:extLst>
              </p:cNvPr>
              <p:cNvSpPr>
                <a:spLocks noGrp="1" noRot="1" noChangeAspect="1" noMove="1" noResize="1" noEditPoints="1" noAdjustHandles="1" noChangeArrowheads="1" noChangeShapeType="1" noTextEdit="1"/>
              </p:cNvSpPr>
              <p:nvPr>
                <p:ph idx="1"/>
              </p:nvPr>
            </p:nvSpPr>
            <p:spPr>
              <a:xfrm>
                <a:off x="838200" y="1825625"/>
                <a:ext cx="10628376" cy="4351338"/>
              </a:xfrm>
              <a:blipFill>
                <a:blip r:embed="rId2"/>
                <a:stretch>
                  <a:fillRect l="-688" t="-700" r="-5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3AED6373-CE48-75B4-EADB-2F82DBF80499}"/>
              </a:ext>
            </a:extLst>
          </p:cNvPr>
          <p:cNvSpPr>
            <a:spLocks noGrp="1"/>
          </p:cNvSpPr>
          <p:nvPr>
            <p:ph type="sldNum" sz="quarter" idx="12"/>
          </p:nvPr>
        </p:nvSpPr>
        <p:spPr/>
        <p:txBody>
          <a:bodyPr/>
          <a:lstStyle/>
          <a:p>
            <a:fld id="{FD85B578-4E75-4E1C-9BE3-D5DCC0715B13}" type="slidenum">
              <a:rPr lang="fr-FR" smtClean="0"/>
              <a:t>17</a:t>
            </a:fld>
            <a:endParaRPr lang="fr-FR"/>
          </a:p>
        </p:txBody>
      </p:sp>
    </p:spTree>
    <p:extLst>
      <p:ext uri="{BB962C8B-B14F-4D97-AF65-F5344CB8AC3E}">
        <p14:creationId xmlns:p14="http://schemas.microsoft.com/office/powerpoint/2010/main" val="3778705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461F-0ADA-F2B0-A6E7-097DBD12270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0CE1403-3D16-B3B5-E3F3-9368B3195007}"/>
              </a:ext>
            </a:extLst>
          </p:cNvPr>
          <p:cNvSpPr>
            <a:spLocks noGrp="1"/>
          </p:cNvSpPr>
          <p:nvPr>
            <p:ph type="title"/>
          </p:nvPr>
        </p:nvSpPr>
        <p:spPr/>
        <p:txBody>
          <a:bodyPr/>
          <a:lstStyle/>
          <a:p>
            <a:r>
              <a:rPr lang="fr-FR" dirty="0"/>
              <a:t>Vérification de code - Résultats :</a:t>
            </a:r>
          </a:p>
        </p:txBody>
      </p:sp>
      <p:sp>
        <p:nvSpPr>
          <p:cNvPr id="3" name="Espace réservé du contenu 2">
            <a:extLst>
              <a:ext uri="{FF2B5EF4-FFF2-40B4-BE49-F238E27FC236}">
                <a16:creationId xmlns:a16="http://schemas.microsoft.com/office/drawing/2014/main" id="{E699FE2D-5448-2AC8-260C-B0D0A0501122}"/>
              </a:ext>
            </a:extLst>
          </p:cNvPr>
          <p:cNvSpPr>
            <a:spLocks noGrp="1"/>
          </p:cNvSpPr>
          <p:nvPr>
            <p:ph idx="1"/>
          </p:nvPr>
        </p:nvSpPr>
        <p:spPr>
          <a:xfrm>
            <a:off x="663101" y="1690688"/>
            <a:ext cx="11185187" cy="4915643"/>
          </a:xfrm>
        </p:spPr>
        <p:txBody>
          <a:bodyPr>
            <a:normAutofit fontScale="70000" lnSpcReduction="20000"/>
          </a:bodyPr>
          <a:lstStyle/>
          <a:p>
            <a:pPr>
              <a:lnSpc>
                <a:spcPct val="134000"/>
              </a:lnSpc>
            </a:pPr>
            <a:r>
              <a:rPr lang="fr-FR" dirty="0"/>
              <a:t>Tests unitaires : rien de surprenant, objectif de conserver une pérennité et une stabilité du code malgré des changements.</a:t>
            </a:r>
          </a:p>
          <a:p>
            <a:pPr>
              <a:lnSpc>
                <a:spcPct val="134000"/>
              </a:lnSpc>
            </a:pPr>
            <a:r>
              <a:rPr lang="fr-FR" dirty="0"/>
              <a:t>Tests de vérification de code :</a:t>
            </a:r>
          </a:p>
          <a:p>
            <a:pPr lvl="1">
              <a:lnSpc>
                <a:spcPct val="134000"/>
              </a:lnSpc>
              <a:buFont typeface="Courier New" panose="02070309020205020404" pitchFamily="49" charset="0"/>
              <a:buChar char="o"/>
            </a:pPr>
            <a:r>
              <a:rPr lang="fr-FR" b="1" dirty="0" err="1"/>
              <a:t>testSymmetrie</a:t>
            </a:r>
            <a:r>
              <a:rPr lang="fr-FR" dirty="0"/>
              <a:t> :</a:t>
            </a:r>
          </a:p>
          <a:p>
            <a:pPr lvl="2">
              <a:lnSpc>
                <a:spcPct val="134000"/>
              </a:lnSpc>
              <a:buFont typeface="Courier New" panose="02070309020205020404" pitchFamily="49" charset="0"/>
              <a:buChar char="o"/>
            </a:pPr>
            <a:r>
              <a:rPr lang="fr-FR" dirty="0"/>
              <a:t> A révélé un </a:t>
            </a:r>
            <a:r>
              <a:rPr lang="fr-FR" i="1" dirty="0"/>
              <a:t>champ de mine</a:t>
            </a:r>
            <a:r>
              <a:rPr lang="fr-FR" dirty="0"/>
              <a:t> de </a:t>
            </a:r>
            <a:r>
              <a:rPr lang="fr-FR" b="1" dirty="0"/>
              <a:t>bugs</a:t>
            </a:r>
            <a:r>
              <a:rPr lang="fr-FR" dirty="0"/>
              <a:t> au sein du code.</a:t>
            </a:r>
          </a:p>
          <a:p>
            <a:pPr lvl="2">
              <a:lnSpc>
                <a:spcPct val="134000"/>
              </a:lnSpc>
              <a:buFont typeface="Courier New" panose="02070309020205020404" pitchFamily="49" charset="0"/>
              <a:buChar char="o"/>
            </a:pPr>
            <a:r>
              <a:rPr lang="fr-FR" dirty="0"/>
              <a:t>A permis de revisiter et de réécrire correctement les </a:t>
            </a:r>
            <a:r>
              <a:rPr lang="fr-FR" b="1" dirty="0"/>
              <a:t>équations de discrétisation </a:t>
            </a:r>
            <a:r>
              <a:rPr lang="fr-FR" dirty="0"/>
              <a:t>(que nous croyions déjà bonne).</a:t>
            </a:r>
          </a:p>
          <a:p>
            <a:pPr lvl="2">
              <a:lnSpc>
                <a:spcPct val="134000"/>
              </a:lnSpc>
              <a:buFont typeface="Courier New" panose="02070309020205020404" pitchFamily="49" charset="0"/>
              <a:buChar char="o"/>
            </a:pPr>
            <a:r>
              <a:rPr lang="fr-FR" dirty="0"/>
              <a:t>Problèmes </a:t>
            </a:r>
            <a:r>
              <a:rPr lang="fr-FR" b="1" dirty="0"/>
              <a:t>d’indexation des points</a:t>
            </a:r>
            <a:r>
              <a:rPr lang="fr-FR" dirty="0"/>
              <a:t>, notamment pour les conditions frontières aux </a:t>
            </a:r>
            <a:r>
              <a:rPr lang="fr-FR" i="1" dirty="0"/>
              <a:t>coins</a:t>
            </a:r>
            <a:r>
              <a:rPr lang="fr-FR" dirty="0"/>
              <a:t> du domaine.</a:t>
            </a:r>
          </a:p>
          <a:p>
            <a:pPr lvl="1">
              <a:lnSpc>
                <a:spcPct val="134000"/>
              </a:lnSpc>
              <a:buFont typeface="Courier New" panose="02070309020205020404" pitchFamily="49" charset="0"/>
              <a:buChar char="o"/>
            </a:pPr>
            <a:r>
              <a:rPr lang="fr-FR" b="1" dirty="0" err="1"/>
              <a:t>testInvarianceGaliléenne</a:t>
            </a:r>
            <a:r>
              <a:rPr lang="fr-FR" dirty="0"/>
              <a:t> :</a:t>
            </a:r>
          </a:p>
          <a:p>
            <a:pPr lvl="2">
              <a:lnSpc>
                <a:spcPct val="134000"/>
              </a:lnSpc>
              <a:buFont typeface="Courier New" panose="02070309020205020404" pitchFamily="49" charset="0"/>
              <a:buChar char="o"/>
            </a:pPr>
            <a:r>
              <a:rPr lang="fr-FR" dirty="0"/>
              <a:t>A révélé quelques subtilités du code qui on permis de l’améliorer, notamment la manière dont est calculé le rayon et la manière dont sont initialisés les paramètres.</a:t>
            </a:r>
          </a:p>
          <a:p>
            <a:pPr lvl="1">
              <a:lnSpc>
                <a:spcPct val="134000"/>
              </a:lnSpc>
              <a:buFont typeface="Courier New" panose="02070309020205020404" pitchFamily="49" charset="0"/>
              <a:buChar char="o"/>
            </a:pPr>
            <a:r>
              <a:rPr lang="fr-FR" b="1" dirty="0" err="1"/>
              <a:t>testConservationEnergie</a:t>
            </a:r>
            <a:r>
              <a:rPr lang="fr-FR" dirty="0"/>
              <a:t> :</a:t>
            </a:r>
          </a:p>
          <a:p>
            <a:pPr lvl="2">
              <a:lnSpc>
                <a:spcPct val="134000"/>
              </a:lnSpc>
              <a:buFont typeface="Courier New" panose="02070309020205020404" pitchFamily="49" charset="0"/>
              <a:buChar char="o"/>
            </a:pPr>
            <a:r>
              <a:rPr lang="fr-FR" dirty="0"/>
              <a:t>Un peu complexe à mettre en place. </a:t>
            </a:r>
          </a:p>
          <a:p>
            <a:pPr lvl="2">
              <a:lnSpc>
                <a:spcPct val="134000"/>
              </a:lnSpc>
              <a:buFont typeface="Courier New" panose="02070309020205020404" pitchFamily="49" charset="0"/>
              <a:buChar char="o"/>
            </a:pPr>
            <a:r>
              <a:rPr lang="fr-FR" dirty="0"/>
              <a:t>Flux de chaleur conservé de manière satisfaisante, au millième près.</a:t>
            </a:r>
          </a:p>
        </p:txBody>
      </p:sp>
      <p:sp>
        <p:nvSpPr>
          <p:cNvPr id="4" name="Slide Number Placeholder 3">
            <a:extLst>
              <a:ext uri="{FF2B5EF4-FFF2-40B4-BE49-F238E27FC236}">
                <a16:creationId xmlns:a16="http://schemas.microsoft.com/office/drawing/2014/main" id="{AF36F61A-9308-D0FE-6B50-6021FA2C42E4}"/>
              </a:ext>
            </a:extLst>
          </p:cNvPr>
          <p:cNvSpPr>
            <a:spLocks noGrp="1"/>
          </p:cNvSpPr>
          <p:nvPr>
            <p:ph type="sldNum" sz="quarter" idx="12"/>
          </p:nvPr>
        </p:nvSpPr>
        <p:spPr/>
        <p:txBody>
          <a:bodyPr/>
          <a:lstStyle/>
          <a:p>
            <a:fld id="{FD85B578-4E75-4E1C-9BE3-D5DCC0715B13}" type="slidenum">
              <a:rPr lang="fr-FR" smtClean="0"/>
              <a:t>18</a:t>
            </a:fld>
            <a:endParaRPr lang="fr-FR"/>
          </a:p>
        </p:txBody>
      </p:sp>
    </p:spTree>
    <p:extLst>
      <p:ext uri="{BB962C8B-B14F-4D97-AF65-F5344CB8AC3E}">
        <p14:creationId xmlns:p14="http://schemas.microsoft.com/office/powerpoint/2010/main" val="8458332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B92D-CCAF-B970-4FDC-1318950469A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17134A-892B-0D3A-608A-3FB298A4622A}"/>
              </a:ext>
            </a:extLst>
          </p:cNvPr>
          <p:cNvSpPr>
            <a:spLocks noGrp="1"/>
          </p:cNvSpPr>
          <p:nvPr>
            <p:ph type="title"/>
          </p:nvPr>
        </p:nvSpPr>
        <p:spPr/>
        <p:txBody>
          <a:bodyPr/>
          <a:lstStyle/>
          <a:p>
            <a:r>
              <a:rPr lang="fr-FR" dirty="0"/>
              <a:t>Vérification de code – MMS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6B832D3-1AFE-0930-0EA6-79DF70C198F0}"/>
                  </a:ext>
                </a:extLst>
              </p:cNvPr>
              <p:cNvSpPr>
                <a:spLocks noGrp="1"/>
              </p:cNvSpPr>
              <p:nvPr>
                <p:ph idx="1"/>
              </p:nvPr>
            </p:nvSpPr>
            <p:spPr>
              <a:xfrm>
                <a:off x="838200" y="1690688"/>
                <a:ext cx="10971179" cy="4964281"/>
              </a:xfrm>
            </p:spPr>
            <p:txBody>
              <a:bodyPr>
                <a:normAutofit fontScale="70000" lnSpcReduction="20000"/>
              </a:bodyPr>
              <a:lstStyle/>
              <a:p>
                <a:pPr>
                  <a:lnSpc>
                    <a:spcPct val="134000"/>
                  </a:lnSpc>
                </a:pPr>
                <a:r>
                  <a:rPr lang="fr-FR" dirty="0"/>
                  <a:t>Implémentation de la méthode des solutions manufacturés. </a:t>
                </a:r>
              </a:p>
              <a:p>
                <a:pPr>
                  <a:lnSpc>
                    <a:spcPct val="134000"/>
                  </a:lnSpc>
                </a:pPr>
                <a:r>
                  <a:rPr lang="fr-FR" dirty="0"/>
                  <a:t>Changements nécessaires :</a:t>
                </a:r>
              </a:p>
              <a:p>
                <a:pPr lvl="1">
                  <a:lnSpc>
                    <a:spcPct val="134000"/>
                  </a:lnSpc>
                </a:pPr>
                <a:r>
                  <a:rPr lang="fr-FR" dirty="0"/>
                  <a:t>Implémentation de conditions de Dirichlet aux </a:t>
                </a:r>
                <a:r>
                  <a:rPr lang="fr-FR" b="1" dirty="0"/>
                  <a:t>frontières extérieures</a:t>
                </a:r>
                <a:r>
                  <a:rPr lang="fr-FR" dirty="0"/>
                  <a:t>:</a:t>
                </a:r>
                <a:br>
                  <a:rPr lang="fr-FR" dirty="0"/>
                </a:br>
                <a14:m>
                  <m:oMath xmlns:m="http://schemas.openxmlformats.org/officeDocument/2006/math">
                    <m:sSubSup>
                      <m:sSubSupPr>
                        <m:ctrlPr>
                          <a:rPr lang="fr-CA" b="0" i="1" smtClean="0">
                            <a:latin typeface="Cambria Math" panose="02040503050406030204" pitchFamily="18" charset="0"/>
                          </a:rPr>
                        </m:ctrlPr>
                      </m:sSubSupPr>
                      <m:e>
                        <m:r>
                          <a:rPr lang="fr-CA" b="0" i="1" smtClean="0">
                            <a:latin typeface="Cambria Math" panose="02040503050406030204" pitchFamily="18" charset="0"/>
                          </a:rPr>
                          <m:t>𝑇</m:t>
                        </m:r>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r>
                      <a:rPr lang="fr-CA" b="0" i="1" smtClean="0">
                        <a:latin typeface="Cambria Math" panose="02040503050406030204" pitchFamily="18" charset="0"/>
                      </a:rPr>
                      <m:t>=</m:t>
                    </m:r>
                    <m:sSubSup>
                      <m:sSubSupPr>
                        <m:ctrlPr>
                          <a:rPr lang="fr-CA" b="0" i="1" smtClean="0">
                            <a:latin typeface="Cambria Math" panose="02040503050406030204" pitchFamily="18" charset="0"/>
                          </a:rPr>
                        </m:ctrlPr>
                      </m:sSubSup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oMath>
                </a14:m>
                <a:endParaRPr lang="fr-FR" dirty="0"/>
              </a:p>
              <a:p>
                <a:pPr lvl="1">
                  <a:lnSpc>
                    <a:spcPct val="134000"/>
                  </a:lnSpc>
                </a:pPr>
                <a:r>
                  <a:rPr lang="fr-FR" dirty="0"/>
                  <a:t>Implémentation d’un terme source dans l’équation du milieu du domaine.</a:t>
                </a:r>
              </a:p>
              <a:p>
                <a:pPr lvl="1">
                  <a:lnSpc>
                    <a:spcPct val="134000"/>
                  </a:lnSpc>
                </a:pPr>
                <a:r>
                  <a:rPr lang="fr-FR" dirty="0"/>
                  <a:t>Repenser la classe </a:t>
                </a:r>
                <a:r>
                  <a:rPr lang="fr-FR" i="1" dirty="0"/>
                  <a:t>Paramètres</a:t>
                </a:r>
                <a:r>
                  <a:rPr lang="fr-FR" dirty="0"/>
                  <a:t> pour intégrer le tout et permettre à un utilisateur d’imposer une </a:t>
                </a:r>
                <a:r>
                  <a:rPr lang="fr-FR" i="1" dirty="0"/>
                  <a:t>MMS</a:t>
                </a:r>
                <a:r>
                  <a:rPr lang="fr-FR" dirty="0"/>
                  <a:t>, ou non.</a:t>
                </a:r>
              </a:p>
              <a:p>
                <a:pPr>
                  <a:lnSpc>
                    <a:spcPct val="134000"/>
                  </a:lnSpc>
                </a:pPr>
                <a:r>
                  <a:rPr lang="fr-FR" dirty="0"/>
                  <a:t>Équation choisie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𝑟𝑒𝑓</m:t>
                        </m:r>
                      </m:sub>
                    </m:sSub>
                    <m:r>
                      <a:rPr lang="fr-CA" b="0" i="1" smtClean="0">
                        <a:latin typeface="Cambria Math" panose="02040503050406030204" pitchFamily="18" charset="0"/>
                      </a:rPr>
                      <m:t>+</m:t>
                    </m:r>
                    <m:r>
                      <a:rPr lang="fr-CA" b="0" i="1" smtClean="0">
                        <a:latin typeface="Cambria Math" panose="02040503050406030204" pitchFamily="18" charset="0"/>
                      </a:rPr>
                      <m:t>𝐴</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𝑒</m:t>
                        </m:r>
                      </m:e>
                      <m:sup>
                        <m:r>
                          <a:rPr lang="fr-CA" b="0" i="1" smtClean="0">
                            <a:latin typeface="Cambria Math" panose="02040503050406030204" pitchFamily="18" charset="0"/>
                          </a:rPr>
                          <m:t>(−</m:t>
                        </m:r>
                        <m:r>
                          <a:rPr lang="fr-CA" b="0" i="1" smtClean="0">
                            <a:latin typeface="Cambria Math" panose="02040503050406030204" pitchFamily="18" charset="0"/>
                          </a:rPr>
                          <m:t>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r>
                          <a:rPr lang="fr-CA" b="0" i="1" smtClean="0">
                            <a:latin typeface="Cambria Math" panose="02040503050406030204" pitchFamily="18" charset="0"/>
                          </a:rPr>
                          <m:t>)</m:t>
                        </m:r>
                      </m:sup>
                    </m:sSup>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m:rPr>
                        <m:sty m:val="p"/>
                      </m:rPr>
                      <a:rPr lang="fr-CA" b="0" i="0" smtClean="0">
                        <a:latin typeface="Cambria Math" panose="02040503050406030204" pitchFamily="18" charset="0"/>
                      </a:rPr>
                      <m:t>cos</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𝑧</m:t>
                        </m:r>
                      </m:num>
                      <m:den>
                        <m:r>
                          <a:rPr lang="fr-CA" b="0" i="1" smtClean="0">
                            <a:latin typeface="Cambria Math" panose="02040503050406030204" pitchFamily="18" charset="0"/>
                          </a:rPr>
                          <m:t>𝐻</m:t>
                        </m:r>
                      </m:den>
                    </m:f>
                    <m:r>
                      <a:rPr lang="fr-CA" b="0" i="1" smtClean="0">
                        <a:latin typeface="Cambria Math" panose="02040503050406030204" pitchFamily="18" charset="0"/>
                      </a:rPr>
                      <m:t>)</m:t>
                    </m:r>
                  </m:oMath>
                </a14:m>
                <a:endParaRPr lang="fr-FR" dirty="0"/>
              </a:p>
              <a:p>
                <a:pPr marL="914400" lvl="2" indent="0" algn="ctr">
                  <a:lnSpc>
                    <a:spcPct val="134000"/>
                  </a:lnSpc>
                  <a:buNone/>
                </a:pPr>
                <a:r>
                  <a:rPr lang="fr-FR" dirty="0"/>
                  <a:t>Ici, on choisit 2 cosinus de manière à forcer l’équation a être symétrique aux frontières r=0, z=0.</a:t>
                </a:r>
              </a:p>
              <a:p>
                <a:pPr>
                  <a:lnSpc>
                    <a:spcPct val="134000"/>
                  </a:lnSpc>
                </a:pPr>
                <a:r>
                  <a:rPr lang="fr-FR" dirty="0"/>
                  <a:t>Le calcul du terme source est fait à l’aide de la librairie </a:t>
                </a:r>
                <a:r>
                  <a:rPr lang="fr-FR" i="1" dirty="0" err="1"/>
                  <a:t>sympy</a:t>
                </a:r>
                <a:r>
                  <a:rPr lang="fr-FR" dirty="0"/>
                  <a:t> dans Python. Les développements ne seront donc pas présentés.</a:t>
                </a:r>
              </a:p>
            </p:txBody>
          </p:sp>
        </mc:Choice>
        <mc:Fallback xmlns="">
          <p:sp>
            <p:nvSpPr>
              <p:cNvPr id="3" name="Espace réservé du contenu 2">
                <a:extLst>
                  <a:ext uri="{FF2B5EF4-FFF2-40B4-BE49-F238E27FC236}">
                    <a16:creationId xmlns:a16="http://schemas.microsoft.com/office/drawing/2014/main" id="{26B832D3-1AFE-0930-0EA6-79DF70C198F0}"/>
                  </a:ext>
                </a:extLst>
              </p:cNvPr>
              <p:cNvSpPr>
                <a:spLocks noGrp="1" noRot="1" noChangeAspect="1" noMove="1" noResize="1" noEditPoints="1" noAdjustHandles="1" noChangeArrowheads="1" noChangeShapeType="1" noTextEdit="1"/>
              </p:cNvSpPr>
              <p:nvPr>
                <p:ph idx="1"/>
              </p:nvPr>
            </p:nvSpPr>
            <p:spPr>
              <a:xfrm>
                <a:off x="838200" y="1690688"/>
                <a:ext cx="10971179" cy="4964281"/>
              </a:xfrm>
              <a:blipFill>
                <a:blip r:embed="rId2"/>
                <a:stretch>
                  <a:fillRect l="-500" r="-44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67C2416-D0D4-B2CC-47BD-F454F19122A0}"/>
              </a:ext>
            </a:extLst>
          </p:cNvPr>
          <p:cNvSpPr>
            <a:spLocks noGrp="1"/>
          </p:cNvSpPr>
          <p:nvPr>
            <p:ph type="sldNum" sz="quarter" idx="12"/>
          </p:nvPr>
        </p:nvSpPr>
        <p:spPr/>
        <p:txBody>
          <a:bodyPr/>
          <a:lstStyle/>
          <a:p>
            <a:fld id="{FD85B578-4E75-4E1C-9BE3-D5DCC0715B13}" type="slidenum">
              <a:rPr lang="fr-FR" smtClean="0"/>
              <a:t>19</a:t>
            </a:fld>
            <a:endParaRPr lang="fr-FR"/>
          </a:p>
        </p:txBody>
      </p:sp>
    </p:spTree>
    <p:extLst>
      <p:ext uri="{BB962C8B-B14F-4D97-AF65-F5344CB8AC3E}">
        <p14:creationId xmlns:p14="http://schemas.microsoft.com/office/powerpoint/2010/main" val="37080325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47C-EA86-426C-9E31-441BF44D6DB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5732BA4-6A05-72B7-DA5A-7F788E2CAD71}"/>
              </a:ext>
            </a:extLst>
          </p:cNvPr>
          <p:cNvSpPr>
            <a:spLocks noGrp="1"/>
          </p:cNvSpPr>
          <p:nvPr>
            <p:ph type="title"/>
          </p:nvPr>
        </p:nvSpPr>
        <p:spPr/>
        <p:txBody>
          <a:bodyPr/>
          <a:lstStyle/>
          <a:p>
            <a:r>
              <a:rPr lang="fr-FR" dirty="0"/>
              <a:t>Vérification de code – MMS – Résultats :</a:t>
            </a:r>
          </a:p>
        </p:txBody>
      </p:sp>
      <p:pic>
        <p:nvPicPr>
          <p:cNvPr id="5" name="Espace réservé du contenu 4">
            <a:extLst>
              <a:ext uri="{FF2B5EF4-FFF2-40B4-BE49-F238E27FC236}">
                <a16:creationId xmlns:a16="http://schemas.microsoft.com/office/drawing/2014/main" id="{C16CC2A3-774C-4A0E-8885-22E49233D89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354" y="1690688"/>
            <a:ext cx="8387292" cy="5032375"/>
          </a:xfrm>
          <a:prstGeom prst="rect">
            <a:avLst/>
          </a:prstGeom>
        </p:spPr>
      </p:pic>
      <p:grpSp>
        <p:nvGrpSpPr>
          <p:cNvPr id="10" name="Groupe 9">
            <a:extLst>
              <a:ext uri="{FF2B5EF4-FFF2-40B4-BE49-F238E27FC236}">
                <a16:creationId xmlns:a16="http://schemas.microsoft.com/office/drawing/2014/main" id="{0733C7CD-F52D-5C54-C2B4-44406B95C157}"/>
              </a:ext>
            </a:extLst>
          </p:cNvPr>
          <p:cNvGrpSpPr/>
          <p:nvPr/>
        </p:nvGrpSpPr>
        <p:grpSpPr>
          <a:xfrm>
            <a:off x="311285" y="5077838"/>
            <a:ext cx="3385226" cy="1448624"/>
            <a:chOff x="311285" y="5077838"/>
            <a:chExt cx="3385226" cy="1448624"/>
          </a:xfrm>
        </p:grpSpPr>
        <p:sp>
          <p:nvSpPr>
            <p:cNvPr id="6" name="Rectangle 5">
              <a:extLst>
                <a:ext uri="{FF2B5EF4-FFF2-40B4-BE49-F238E27FC236}">
                  <a16:creationId xmlns:a16="http://schemas.microsoft.com/office/drawing/2014/main" id="{D6CB769F-2C76-74CB-5981-7343AE429DE5}"/>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8" name="Connecteur droit avec flèche 7">
              <a:extLst>
                <a:ext uri="{FF2B5EF4-FFF2-40B4-BE49-F238E27FC236}">
                  <a16:creationId xmlns:a16="http://schemas.microsoft.com/office/drawing/2014/main" id="{CEEDC86A-29FF-1B82-1333-62836274B581}"/>
                </a:ext>
              </a:extLst>
            </p:cNvPr>
            <p:cNvCxnSpPr>
              <a:stCxn id="6"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3AD781C3-D9E5-9A25-B650-D4D2A98A52FC}"/>
                </a:ext>
              </a:extLst>
            </p:cNvPr>
            <p:cNvSpPr txBox="1"/>
            <p:nvPr/>
          </p:nvSpPr>
          <p:spPr>
            <a:xfrm>
              <a:off x="311285" y="5603132"/>
              <a:ext cx="1741251" cy="923330"/>
            </a:xfrm>
            <a:prstGeom prst="rect">
              <a:avLst/>
            </a:prstGeom>
            <a:noFill/>
          </p:spPr>
          <p:txBody>
            <a:bodyPr wrap="square" rtlCol="0">
              <a:spAutoFit/>
            </a:bodyPr>
            <a:lstStyle/>
            <a:p>
              <a:r>
                <a:rPr lang="fr-CA" dirty="0"/>
                <a:t>Discrétisation spatiale prend le dessus</a:t>
              </a:r>
            </a:p>
          </p:txBody>
        </p:sp>
      </p:grpSp>
      <p:sp>
        <p:nvSpPr>
          <p:cNvPr id="3" name="Slide Number Placeholder 2">
            <a:extLst>
              <a:ext uri="{FF2B5EF4-FFF2-40B4-BE49-F238E27FC236}">
                <a16:creationId xmlns:a16="http://schemas.microsoft.com/office/drawing/2014/main" id="{75EABFEE-657A-9A09-E8EF-DD345398C246}"/>
              </a:ext>
            </a:extLst>
          </p:cNvPr>
          <p:cNvSpPr>
            <a:spLocks noGrp="1"/>
          </p:cNvSpPr>
          <p:nvPr>
            <p:ph type="sldNum" sz="quarter" idx="12"/>
          </p:nvPr>
        </p:nvSpPr>
        <p:spPr/>
        <p:txBody>
          <a:bodyPr/>
          <a:lstStyle/>
          <a:p>
            <a:fld id="{FD85B578-4E75-4E1C-9BE3-D5DCC0715B13}" type="slidenum">
              <a:rPr lang="fr-FR" smtClean="0"/>
              <a:t>20</a:t>
            </a:fld>
            <a:endParaRPr lang="fr-FR"/>
          </a:p>
        </p:txBody>
      </p:sp>
    </p:spTree>
    <p:extLst>
      <p:ext uri="{BB962C8B-B14F-4D97-AF65-F5344CB8AC3E}">
        <p14:creationId xmlns:p14="http://schemas.microsoft.com/office/powerpoint/2010/main" val="96914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4F719-4F8B-B0BF-A652-91D4A8E1C2E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F6CDAA5-638A-B4E8-6AFE-7C186CA43D2B}"/>
              </a:ext>
            </a:extLst>
          </p:cNvPr>
          <p:cNvSpPr>
            <a:spLocks noGrp="1"/>
          </p:cNvSpPr>
          <p:nvPr>
            <p:ph type="title"/>
          </p:nvPr>
        </p:nvSpPr>
        <p:spPr/>
        <p:txBody>
          <a:bodyPr/>
          <a:lstStyle/>
          <a:p>
            <a:r>
              <a:rPr lang="fr-FR" dirty="0"/>
              <a:t>Vérification de code – MMS – Résultats :</a:t>
            </a:r>
          </a:p>
        </p:txBody>
      </p:sp>
      <p:pic>
        <p:nvPicPr>
          <p:cNvPr id="7" name="Espace réservé du contenu 6">
            <a:extLst>
              <a:ext uri="{FF2B5EF4-FFF2-40B4-BE49-F238E27FC236}">
                <a16:creationId xmlns:a16="http://schemas.microsoft.com/office/drawing/2014/main" id="{6B8E9D59-8E3B-8479-E1C7-62F3A39A5D2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000" y="1690688"/>
            <a:ext cx="8388000" cy="5032800"/>
          </a:xfrm>
          <a:prstGeom prst="rect">
            <a:avLst/>
          </a:prstGeom>
        </p:spPr>
      </p:pic>
      <p:grpSp>
        <p:nvGrpSpPr>
          <p:cNvPr id="8" name="Groupe 7">
            <a:extLst>
              <a:ext uri="{FF2B5EF4-FFF2-40B4-BE49-F238E27FC236}">
                <a16:creationId xmlns:a16="http://schemas.microsoft.com/office/drawing/2014/main" id="{4C4CFFBA-3429-F2F4-7F11-D968906589E4}"/>
              </a:ext>
            </a:extLst>
          </p:cNvPr>
          <p:cNvGrpSpPr/>
          <p:nvPr/>
        </p:nvGrpSpPr>
        <p:grpSpPr>
          <a:xfrm>
            <a:off x="209387" y="3016251"/>
            <a:ext cx="3385226" cy="1725623"/>
            <a:chOff x="311285" y="5077838"/>
            <a:chExt cx="3385226" cy="1725623"/>
          </a:xfrm>
        </p:grpSpPr>
        <p:sp>
          <p:nvSpPr>
            <p:cNvPr id="9" name="Rectangle 8">
              <a:extLst>
                <a:ext uri="{FF2B5EF4-FFF2-40B4-BE49-F238E27FC236}">
                  <a16:creationId xmlns:a16="http://schemas.microsoft.com/office/drawing/2014/main" id="{B57A2EE6-1A05-1DB3-5DAA-1C28E8D82F63}"/>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10" name="Connecteur droit avec flèche 9">
              <a:extLst>
                <a:ext uri="{FF2B5EF4-FFF2-40B4-BE49-F238E27FC236}">
                  <a16:creationId xmlns:a16="http://schemas.microsoft.com/office/drawing/2014/main" id="{EE0D9918-4259-5FE5-2239-A38236148190}"/>
                </a:ext>
              </a:extLst>
            </p:cNvPr>
            <p:cNvCxnSpPr>
              <a:stCxn id="9"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D1FA1AC-0CBB-05F3-2DE3-6DE994D15BDB}"/>
                </a:ext>
              </a:extLst>
            </p:cNvPr>
            <p:cNvSpPr txBox="1"/>
            <p:nvPr/>
          </p:nvSpPr>
          <p:spPr>
            <a:xfrm>
              <a:off x="311285" y="5603132"/>
              <a:ext cx="1741251" cy="1200329"/>
            </a:xfrm>
            <a:prstGeom prst="rect">
              <a:avLst/>
            </a:prstGeom>
            <a:noFill/>
          </p:spPr>
          <p:txBody>
            <a:bodyPr wrap="square" rtlCol="0">
              <a:spAutoFit/>
            </a:bodyPr>
            <a:lstStyle/>
            <a:p>
              <a:r>
                <a:rPr lang="fr-CA" dirty="0"/>
                <a:t>Discrétisation temporelle prend le dessus</a:t>
              </a:r>
            </a:p>
          </p:txBody>
        </p:sp>
      </p:grpSp>
      <p:sp>
        <p:nvSpPr>
          <p:cNvPr id="3" name="Slide Number Placeholder 2">
            <a:extLst>
              <a:ext uri="{FF2B5EF4-FFF2-40B4-BE49-F238E27FC236}">
                <a16:creationId xmlns:a16="http://schemas.microsoft.com/office/drawing/2014/main" id="{01209B38-FFB4-D9F8-492D-65AE01C22C92}"/>
              </a:ext>
            </a:extLst>
          </p:cNvPr>
          <p:cNvSpPr>
            <a:spLocks noGrp="1"/>
          </p:cNvSpPr>
          <p:nvPr>
            <p:ph type="sldNum" sz="quarter" idx="12"/>
          </p:nvPr>
        </p:nvSpPr>
        <p:spPr/>
        <p:txBody>
          <a:bodyPr/>
          <a:lstStyle/>
          <a:p>
            <a:fld id="{FD85B578-4E75-4E1C-9BE3-D5DCC0715B13}" type="slidenum">
              <a:rPr lang="fr-FR" smtClean="0"/>
              <a:t>21</a:t>
            </a:fld>
            <a:endParaRPr lang="fr-FR"/>
          </a:p>
        </p:txBody>
      </p:sp>
    </p:spTree>
    <p:extLst>
      <p:ext uri="{BB962C8B-B14F-4D97-AF65-F5344CB8AC3E}">
        <p14:creationId xmlns:p14="http://schemas.microsoft.com/office/powerpoint/2010/main" val="96355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7E25-CA72-4BE6-FF0F-7A14AD071B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8D45DE-51F7-9718-BF32-A0EB4238BB42}"/>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6302326F-3D3F-CE69-7513-14841B5F8E2D}"/>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362BCFBF-4E6C-0E38-3E48-B5B9BF75CFA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81DA91F9-8A91-88FA-0E75-A941DB923930}"/>
              </a:ext>
            </a:extLst>
          </p:cNvPr>
          <p:cNvSpPr>
            <a:spLocks noGrp="1"/>
          </p:cNvSpPr>
          <p:nvPr>
            <p:ph type="sldNum" sz="quarter" idx="12"/>
          </p:nvPr>
        </p:nvSpPr>
        <p:spPr/>
        <p:txBody>
          <a:bodyPr/>
          <a:lstStyle/>
          <a:p>
            <a:fld id="{FD85B578-4E75-4E1C-9BE3-D5DCC0715B13}" type="slidenum">
              <a:rPr lang="fr-FR" smtClean="0"/>
              <a:t>22</a:t>
            </a:fld>
            <a:endParaRPr lang="fr-FR"/>
          </a:p>
        </p:txBody>
      </p:sp>
    </p:spTree>
    <p:extLst>
      <p:ext uri="{BB962C8B-B14F-4D97-AF65-F5344CB8AC3E}">
        <p14:creationId xmlns:p14="http://schemas.microsoft.com/office/powerpoint/2010/main" val="683629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C32232-D971-F63A-4322-D27F6CDB07D2}"/>
                  </a:ext>
                </a:extLst>
              </p:cNvPr>
              <p:cNvSpPr>
                <a:spLocks noGrp="1"/>
              </p:cNvSpPr>
              <p:nvPr>
                <p:ph idx="1"/>
              </p:nvPr>
            </p:nvSpPr>
            <p:spPr>
              <a:xfrm>
                <a:off x="491491" y="1417145"/>
                <a:ext cx="7486650" cy="210395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E</m:t>
                      </m:r>
                      <m:r>
                        <a:rPr lang="fr-FR" sz="2000" b="0" i="1" smtClean="0">
                          <a:latin typeface="Cambria Math" panose="02040503050406030204" pitchFamily="18" charset="0"/>
                        </a:rPr>
                        <m:t>̃</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ym</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ye</m:t>
                      </m:r>
                    </m:oMath>
                  </m:oMathPara>
                </a14:m>
                <a:endParaRPr lang="fr-FR" sz="2000" baseline="-25000" dirty="0"/>
              </a:p>
              <a:p>
                <a:r>
                  <a:rPr lang="fr-FR" sz="2000" dirty="0"/>
                  <a:t>Problème : pas de valeur expérimentale (manque de précision dans la littérature)</a:t>
                </a:r>
              </a:p>
              <a:p>
                <a:r>
                  <a:rPr lang="fr-FR" sz="2000" dirty="0">
                    <a:sym typeface="Wingdings" panose="05000000000000000000" pitchFamily="2" charset="2"/>
                  </a:rPr>
                  <a:t>Solution : passage par un code commercial</a:t>
                </a:r>
              </a:p>
              <a:p>
                <a:r>
                  <a:rPr lang="fr-FR" sz="2000" dirty="0">
                    <a:sym typeface="Wingdings" panose="05000000000000000000" pitchFamily="2" charset="2"/>
                  </a:rPr>
                  <a:t>Modélisation du problème sous SolidWorks pour un métal AISI 4340</a:t>
                </a:r>
                <a:endParaRPr lang="en-US" sz="2000" dirty="0"/>
              </a:p>
            </p:txBody>
          </p:sp>
        </mc:Choice>
        <mc:Fallback xmlns="">
          <p:sp>
            <p:nvSpPr>
              <p:cNvPr id="3" name="Content Placeholder 2">
                <a:extLst>
                  <a:ext uri="{FF2B5EF4-FFF2-40B4-BE49-F238E27FC236}">
                    <a16:creationId xmlns:a16="http://schemas.microsoft.com/office/drawing/2014/main" id="{C2C32232-D971-F63A-4322-D27F6CDB07D2}"/>
                  </a:ext>
                </a:extLst>
              </p:cNvPr>
              <p:cNvSpPr>
                <a:spLocks noGrp="1" noRot="1" noChangeAspect="1" noMove="1" noResize="1" noEditPoints="1" noAdjustHandles="1" noChangeArrowheads="1" noChangeShapeType="1" noTextEdit="1"/>
              </p:cNvSpPr>
              <p:nvPr>
                <p:ph idx="1"/>
              </p:nvPr>
            </p:nvSpPr>
            <p:spPr>
              <a:xfrm>
                <a:off x="491491" y="1417145"/>
                <a:ext cx="7486650" cy="2103952"/>
              </a:xfrm>
              <a:blipFill>
                <a:blip r:embed="rId2"/>
                <a:stretch>
                  <a:fillRect l="-73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32592D05-AA83-1726-AA8E-76EA7CE430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25531" y="521767"/>
            <a:ext cx="3566469" cy="2347163"/>
          </a:xfrm>
          <a:prstGeom prst="rect">
            <a:avLst/>
          </a:prstGeom>
        </p:spPr>
      </p:pic>
      <p:pic>
        <p:nvPicPr>
          <p:cNvPr id="9" name="Picture 8">
            <a:extLst>
              <a:ext uri="{FF2B5EF4-FFF2-40B4-BE49-F238E27FC236}">
                <a16:creationId xmlns:a16="http://schemas.microsoft.com/office/drawing/2014/main" id="{4100F7ED-BB1D-A4E9-64F3-B26EE6B577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77336" y="3704045"/>
            <a:ext cx="2997683" cy="2997683"/>
          </a:xfrm>
          <a:prstGeom prst="rect">
            <a:avLst/>
          </a:prstGeom>
        </p:spPr>
      </p:pic>
      <p:pic>
        <p:nvPicPr>
          <p:cNvPr id="11" name="Picture 10">
            <a:extLst>
              <a:ext uri="{FF2B5EF4-FFF2-40B4-BE49-F238E27FC236}">
                <a16:creationId xmlns:a16="http://schemas.microsoft.com/office/drawing/2014/main" id="{F5B50BF5-90A1-6B98-D3FC-7350FE4FB6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02846" y="3704044"/>
            <a:ext cx="3003714" cy="2997683"/>
          </a:xfrm>
          <a:prstGeom prst="rect">
            <a:avLst/>
          </a:prstGeom>
        </p:spPr>
      </p:pic>
      <p:pic>
        <p:nvPicPr>
          <p:cNvPr id="13" name="Picture 12">
            <a:extLst>
              <a:ext uri="{FF2B5EF4-FFF2-40B4-BE49-F238E27FC236}">
                <a16:creationId xmlns:a16="http://schemas.microsoft.com/office/drawing/2014/main" id="{A9A009A9-8BFC-1B9B-F910-FCE3DE41CC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6732" y="4148806"/>
            <a:ext cx="3848433" cy="2552921"/>
          </a:xfrm>
          <a:prstGeom prst="rect">
            <a:avLst/>
          </a:prstGeom>
        </p:spPr>
      </p:pic>
      <p:sp>
        <p:nvSpPr>
          <p:cNvPr id="14" name="TextBox 13">
            <a:extLst>
              <a:ext uri="{FF2B5EF4-FFF2-40B4-BE49-F238E27FC236}">
                <a16:creationId xmlns:a16="http://schemas.microsoft.com/office/drawing/2014/main" id="{A6A5E198-79E3-ED9B-9BBD-110FAE83354B}"/>
              </a:ext>
            </a:extLst>
          </p:cNvPr>
          <p:cNvSpPr txBox="1"/>
          <p:nvPr/>
        </p:nvSpPr>
        <p:spPr>
          <a:xfrm>
            <a:off x="1144371" y="3874770"/>
            <a:ext cx="2153154" cy="369332"/>
          </a:xfrm>
          <a:prstGeom prst="rect">
            <a:avLst/>
          </a:prstGeom>
          <a:noFill/>
        </p:spPr>
        <p:txBody>
          <a:bodyPr wrap="none" rtlCol="0">
            <a:spAutoFit/>
          </a:bodyPr>
          <a:lstStyle/>
          <a:p>
            <a:r>
              <a:rPr lang="fr-FR" dirty="0"/>
              <a:t>Température initiale</a:t>
            </a:r>
            <a:endParaRPr lang="en-US" dirty="0"/>
          </a:p>
        </p:txBody>
      </p:sp>
      <p:sp>
        <p:nvSpPr>
          <p:cNvPr id="15" name="TextBox 14">
            <a:extLst>
              <a:ext uri="{FF2B5EF4-FFF2-40B4-BE49-F238E27FC236}">
                <a16:creationId xmlns:a16="http://schemas.microsoft.com/office/drawing/2014/main" id="{54FE961D-8228-C8D9-8233-FE31E59D1AC9}"/>
              </a:ext>
            </a:extLst>
          </p:cNvPr>
          <p:cNvSpPr txBox="1"/>
          <p:nvPr/>
        </p:nvSpPr>
        <p:spPr>
          <a:xfrm>
            <a:off x="5955189" y="3427905"/>
            <a:ext cx="2299027" cy="369332"/>
          </a:xfrm>
          <a:prstGeom prst="rect">
            <a:avLst/>
          </a:prstGeom>
          <a:noFill/>
        </p:spPr>
        <p:txBody>
          <a:bodyPr wrap="none" rtlCol="0">
            <a:spAutoFit/>
          </a:bodyPr>
          <a:lstStyle/>
          <a:p>
            <a:r>
              <a:rPr lang="fr-FR" dirty="0"/>
              <a:t>Radiation : émissivité</a:t>
            </a:r>
            <a:endParaRPr lang="en-US" dirty="0"/>
          </a:p>
        </p:txBody>
      </p:sp>
      <p:sp>
        <p:nvSpPr>
          <p:cNvPr id="16" name="TextBox 15">
            <a:extLst>
              <a:ext uri="{FF2B5EF4-FFF2-40B4-BE49-F238E27FC236}">
                <a16:creationId xmlns:a16="http://schemas.microsoft.com/office/drawing/2014/main" id="{51AC3AD7-E755-29F6-BDA8-03CAC197225B}"/>
              </a:ext>
            </a:extLst>
          </p:cNvPr>
          <p:cNvSpPr txBox="1"/>
          <p:nvPr/>
        </p:nvSpPr>
        <p:spPr>
          <a:xfrm>
            <a:off x="9912373" y="3427905"/>
            <a:ext cx="1327608" cy="369332"/>
          </a:xfrm>
          <a:prstGeom prst="rect">
            <a:avLst/>
          </a:prstGeom>
          <a:noFill/>
        </p:spPr>
        <p:txBody>
          <a:bodyPr wrap="none" rtlCol="0">
            <a:spAutoFit/>
          </a:bodyPr>
          <a:lstStyle/>
          <a:p>
            <a:r>
              <a:rPr lang="fr-FR" dirty="0"/>
              <a:t>Convection</a:t>
            </a:r>
            <a:endParaRPr lang="en-US" dirty="0"/>
          </a:p>
        </p:txBody>
      </p:sp>
      <p:sp>
        <p:nvSpPr>
          <p:cNvPr id="6" name="Title 1">
            <a:extLst>
              <a:ext uri="{FF2B5EF4-FFF2-40B4-BE49-F238E27FC236}">
                <a16:creationId xmlns:a16="http://schemas.microsoft.com/office/drawing/2014/main" id="{25446CCA-7537-8071-3E29-39F463004EBB}"/>
              </a:ext>
            </a:extLst>
          </p:cNvPr>
          <p:cNvSpPr>
            <a:spLocks noGrp="1"/>
          </p:cNvSpPr>
          <p:nvPr>
            <p:ph type="title"/>
          </p:nvPr>
        </p:nvSpPr>
        <p:spPr>
          <a:xfrm>
            <a:off x="838200" y="365125"/>
            <a:ext cx="10515600" cy="1325563"/>
          </a:xfrm>
        </p:spPr>
        <p:txBody>
          <a:bodyPr/>
          <a:lstStyle/>
          <a:p>
            <a:r>
              <a:rPr lang="fr-FR" dirty="0"/>
              <a:t>Validation – erreur simulation :</a:t>
            </a:r>
            <a:endParaRPr lang="en-US" dirty="0"/>
          </a:p>
        </p:txBody>
      </p:sp>
      <p:sp>
        <p:nvSpPr>
          <p:cNvPr id="2" name="Slide Number Placeholder 1">
            <a:extLst>
              <a:ext uri="{FF2B5EF4-FFF2-40B4-BE49-F238E27FC236}">
                <a16:creationId xmlns:a16="http://schemas.microsoft.com/office/drawing/2014/main" id="{721E3427-3392-EE3B-41FE-24E4FF1550B1}"/>
              </a:ext>
            </a:extLst>
          </p:cNvPr>
          <p:cNvSpPr>
            <a:spLocks noGrp="1"/>
          </p:cNvSpPr>
          <p:nvPr>
            <p:ph type="sldNum" sz="quarter" idx="12"/>
          </p:nvPr>
        </p:nvSpPr>
        <p:spPr/>
        <p:txBody>
          <a:bodyPr/>
          <a:lstStyle/>
          <a:p>
            <a:fld id="{FD85B578-4E75-4E1C-9BE3-D5DCC0715B13}" type="slidenum">
              <a:rPr lang="fr-FR" smtClean="0"/>
              <a:t>23</a:t>
            </a:fld>
            <a:endParaRPr lang="fr-FR"/>
          </a:p>
        </p:txBody>
      </p:sp>
    </p:spTree>
    <p:extLst>
      <p:ext uri="{BB962C8B-B14F-4D97-AF65-F5344CB8AC3E}">
        <p14:creationId xmlns:p14="http://schemas.microsoft.com/office/powerpoint/2010/main" val="8886473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1F89-F778-6C72-5829-94790C929507}"/>
              </a:ext>
            </a:extLst>
          </p:cNvPr>
          <p:cNvSpPr>
            <a:spLocks noGrp="1"/>
          </p:cNvSpPr>
          <p:nvPr>
            <p:ph type="title"/>
          </p:nvPr>
        </p:nvSpPr>
        <p:spPr/>
        <p:txBody>
          <a:bodyPr/>
          <a:lstStyle/>
          <a:p>
            <a:r>
              <a:rPr lang="fr-FR" dirty="0"/>
              <a:t>Validation – erreur simulation :</a:t>
            </a:r>
            <a:endParaRPr lang="en-US" dirty="0"/>
          </a:p>
        </p:txBody>
      </p:sp>
      <p:pic>
        <p:nvPicPr>
          <p:cNvPr id="35" name="Content Placeholder 34">
            <a:extLst>
              <a:ext uri="{FF2B5EF4-FFF2-40B4-BE49-F238E27FC236}">
                <a16:creationId xmlns:a16="http://schemas.microsoft.com/office/drawing/2014/main" id="{B470CD96-A82E-E0EB-A3EC-1334F9C20B6F}"/>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183670" y="4864715"/>
            <a:ext cx="764723" cy="1531620"/>
          </a:xfrm>
          <a:prstGeom prst="rect">
            <a:avLst/>
          </a:prstGeom>
        </p:spPr>
      </p:pic>
      <p:pic>
        <p:nvPicPr>
          <p:cNvPr id="37" name="Picture 36">
            <a:extLst>
              <a:ext uri="{FF2B5EF4-FFF2-40B4-BE49-F238E27FC236}">
                <a16:creationId xmlns:a16="http://schemas.microsoft.com/office/drawing/2014/main" id="{BD5C8037-549E-B941-FE25-FC8B83B3AE8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987481" y="4864715"/>
            <a:ext cx="770186" cy="1531620"/>
          </a:xfrm>
          <a:prstGeom prst="rect">
            <a:avLst/>
          </a:prstGeom>
        </p:spPr>
      </p:pic>
      <p:pic>
        <p:nvPicPr>
          <p:cNvPr id="39" name="Picture 38">
            <a:extLst>
              <a:ext uri="{FF2B5EF4-FFF2-40B4-BE49-F238E27FC236}">
                <a16:creationId xmlns:a16="http://schemas.microsoft.com/office/drawing/2014/main" id="{D4695AF5-14C8-8B55-5D76-A5D9F788F65F}"/>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791287" y="4864715"/>
            <a:ext cx="775642" cy="1531620"/>
          </a:xfrm>
          <a:prstGeom prst="rect">
            <a:avLst/>
          </a:prstGeom>
        </p:spPr>
      </p:pic>
      <p:pic>
        <p:nvPicPr>
          <p:cNvPr id="41" name="Picture 40">
            <a:extLst>
              <a:ext uri="{FF2B5EF4-FFF2-40B4-BE49-F238E27FC236}">
                <a16:creationId xmlns:a16="http://schemas.microsoft.com/office/drawing/2014/main" id="{AE5FD986-C902-A6A4-CE75-3F189ADA9EED}"/>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2603321" y="4864715"/>
            <a:ext cx="771257" cy="1531620"/>
          </a:xfrm>
          <a:prstGeom prst="rect">
            <a:avLst/>
          </a:prstGeom>
        </p:spPr>
      </p:pic>
      <p:pic>
        <p:nvPicPr>
          <p:cNvPr id="43" name="Picture 42">
            <a:extLst>
              <a:ext uri="{FF2B5EF4-FFF2-40B4-BE49-F238E27FC236}">
                <a16:creationId xmlns:a16="http://schemas.microsoft.com/office/drawing/2014/main" id="{E4EFAB5C-E687-B58A-EE9E-79B9093375A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3401810" y="4864715"/>
            <a:ext cx="764717" cy="1531620"/>
          </a:xfrm>
          <a:prstGeom prst="rect">
            <a:avLst/>
          </a:prstGeom>
        </p:spPr>
      </p:pic>
      <p:pic>
        <p:nvPicPr>
          <p:cNvPr id="45" name="Picture 44">
            <a:extLst>
              <a:ext uri="{FF2B5EF4-FFF2-40B4-BE49-F238E27FC236}">
                <a16:creationId xmlns:a16="http://schemas.microsoft.com/office/drawing/2014/main" id="{F72B7175-DEBB-3BDD-18D7-21B44DE17A67}"/>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4204095" y="4864715"/>
            <a:ext cx="752530" cy="1531620"/>
          </a:xfrm>
          <a:prstGeom prst="rect">
            <a:avLst/>
          </a:prstGeom>
        </p:spPr>
      </p:pic>
      <p:pic>
        <p:nvPicPr>
          <p:cNvPr id="47" name="Picture 46">
            <a:extLst>
              <a:ext uri="{FF2B5EF4-FFF2-40B4-BE49-F238E27FC236}">
                <a16:creationId xmlns:a16="http://schemas.microsoft.com/office/drawing/2014/main" id="{CFEAD094-7ADB-7B93-230A-513191FA86AA}"/>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009543" y="4864715"/>
            <a:ext cx="773458" cy="1531620"/>
          </a:xfrm>
          <a:prstGeom prst="rect">
            <a:avLst/>
          </a:prstGeom>
        </p:spPr>
      </p:pic>
      <p:pic>
        <p:nvPicPr>
          <p:cNvPr id="49" name="Picture 48">
            <a:extLst>
              <a:ext uri="{FF2B5EF4-FFF2-40B4-BE49-F238E27FC236}">
                <a16:creationId xmlns:a16="http://schemas.microsoft.com/office/drawing/2014/main" id="{E0245B62-8CC7-E885-49A0-9C13DA3242F2}"/>
              </a:ext>
            </a:extLst>
          </p:cNvPr>
          <p:cNvPicPr>
            <a:picLocks noGrp="1" noRot="1" noChangeAspect="1" noMove="1" noResize="1" noEditPoints="1" noAdjustHandles="1" noChangeArrowheads="1" noChangeShapeType="1" noCrop="1"/>
          </p:cNvPicPr>
          <p:nvPr/>
        </p:nvPicPr>
        <p:blipFill>
          <a:blip r:embed="rId9">
            <a:extLst>
              <a:ext uri="{28A0092B-C50C-407E-A947-70E740481C1C}">
                <a14:useLocalDpi xmlns:a14="http://schemas.microsoft.com/office/drawing/2010/main" val="0"/>
              </a:ext>
            </a:extLst>
          </a:blip>
          <a:stretch>
            <a:fillRect/>
          </a:stretch>
        </p:blipFill>
        <p:spPr>
          <a:xfrm>
            <a:off x="5833093" y="4864715"/>
            <a:ext cx="774537" cy="1531620"/>
          </a:xfrm>
          <a:prstGeom prst="rect">
            <a:avLst/>
          </a:prstGeom>
        </p:spPr>
      </p:pic>
      <p:pic>
        <p:nvPicPr>
          <p:cNvPr id="52" name="Picture 51">
            <a:extLst>
              <a:ext uri="{FF2B5EF4-FFF2-40B4-BE49-F238E27FC236}">
                <a16:creationId xmlns:a16="http://schemas.microsoft.com/office/drawing/2014/main" id="{51A5B0D7-2859-21E8-101F-3B1B9D125349}"/>
              </a:ext>
            </a:extLst>
          </p:cNvPr>
          <p:cNvPicPr>
            <a:picLocks noGrp="1" noRot="1" noChangeAspect="1" noMove="1" noResize="1" noEditPoints="1" noAdjustHandles="1" noChangeArrowheads="1" noChangeShapeType="1" noCrop="1"/>
          </p:cNvPicPr>
          <p:nvPr/>
        </p:nvPicPr>
        <p:blipFill>
          <a:blip r:embed="rId10">
            <a:extLst>
              <a:ext uri="{28A0092B-C50C-407E-A947-70E740481C1C}">
                <a14:useLocalDpi xmlns:a14="http://schemas.microsoft.com/office/drawing/2010/main" val="0"/>
              </a:ext>
            </a:extLst>
          </a:blip>
          <a:stretch>
            <a:fillRect/>
          </a:stretch>
        </p:blipFill>
        <p:spPr>
          <a:xfrm>
            <a:off x="6656258" y="4864715"/>
            <a:ext cx="770161" cy="1531620"/>
          </a:xfrm>
          <a:prstGeom prst="rect">
            <a:avLst/>
          </a:prstGeom>
        </p:spPr>
      </p:pic>
      <p:cxnSp>
        <p:nvCxnSpPr>
          <p:cNvPr id="54" name="Straight Arrow Connector 53">
            <a:extLst>
              <a:ext uri="{FF2B5EF4-FFF2-40B4-BE49-F238E27FC236}">
                <a16:creationId xmlns:a16="http://schemas.microsoft.com/office/drawing/2014/main" id="{7DC9A4AC-38ED-A0E8-3543-95C8B64B1948}"/>
              </a:ext>
            </a:extLst>
          </p:cNvPr>
          <p:cNvCxnSpPr>
            <a:cxnSpLocks noGrp="1" noRot="1" noMove="1" noResize="1" noEditPoints="1" noAdjustHandles="1" noChangeArrowheads="1" noChangeShapeType="1"/>
          </p:cNvCxnSpPr>
          <p:nvPr/>
        </p:nvCxnSpPr>
        <p:spPr>
          <a:xfrm>
            <a:off x="160020" y="6533495"/>
            <a:ext cx="733806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CEAB3DF-E113-A48A-4976-5362A80A08F7}"/>
                  </a:ext>
                </a:extLst>
              </p:cNvPr>
              <p:cNvSpPr txBox="1"/>
              <p:nvPr/>
            </p:nvSpPr>
            <p:spPr>
              <a:xfrm>
                <a:off x="560860" y="1690688"/>
                <a:ext cx="10651970" cy="2986459"/>
              </a:xfrm>
              <a:prstGeom prst="rect">
                <a:avLst/>
              </a:prstGeom>
              <a:noFill/>
            </p:spPr>
            <p:txBody>
              <a:bodyPr wrap="square" rtlCol="0">
                <a:spAutoFit/>
              </a:bodyPr>
              <a:lstStyle/>
              <a:p>
                <a:pPr marL="285750" indent="-285750">
                  <a:buFont typeface="Arial" panose="020B0604020202020204" pitchFamily="34" charset="0"/>
                  <a:buChar char="•"/>
                </a:pPr>
                <a:r>
                  <a:rPr lang="fr-FR" dirty="0"/>
                  <a:t>S’assurer de la qualité des résultats de SolidWorks </a:t>
                </a:r>
                <a:r>
                  <a:rPr lang="fr-FR" dirty="0">
                    <a:sym typeface="Wingdings" panose="05000000000000000000" pitchFamily="2" charset="2"/>
                  </a:rPr>
                  <a:t> analyse de convergence (temps et espace)</a:t>
                </a:r>
              </a:p>
              <a:p>
                <a:pPr marL="285750"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f>
                      <m:fPr>
                        <m:ctrlPr>
                          <a:rPr lang="pt-BR" b="0" i="1" smtClean="0">
                            <a:latin typeface="Cambria Math" panose="02040503050406030204" pitchFamily="18" charset="0"/>
                            <a:sym typeface="Wingdings" panose="05000000000000000000" pitchFamily="2" charset="2"/>
                          </a:rPr>
                        </m:ctrlPr>
                      </m:fPr>
                      <m:num>
                        <m:r>
                          <m:rPr>
                            <m:sty m:val="p"/>
                          </m:rPr>
                          <a:rPr lang="fr-FR" i="1">
                            <a:latin typeface="Cambria Math" panose="02040503050406030204" pitchFamily="18" charset="0"/>
                            <a:sym typeface="Wingdings" panose="05000000000000000000" pitchFamily="2" charset="2"/>
                          </a:rPr>
                          <m:t>Δt</m:t>
                        </m:r>
                      </m:num>
                      <m:den>
                        <m:r>
                          <m:rPr>
                            <m:sty m:val="p"/>
                          </m:rPr>
                          <a:rPr lang="fr-FR" b="0" i="1" smtClean="0">
                            <a:latin typeface="Cambria Math" panose="02040503050406030204" pitchFamily="18" charset="0"/>
                            <a:sym typeface="Wingdings" panose="05000000000000000000" pitchFamily="2" charset="2"/>
                          </a:rPr>
                          <m:t>Te</m:t>
                        </m:r>
                      </m:den>
                    </m:f>
                    <m:r>
                      <a:rPr lang="fr-FR" b="0" i="1" smtClean="0">
                        <a:latin typeface="Cambria Math" panose="02040503050406030204" pitchFamily="18" charset="0"/>
                        <a:sym typeface="Wingdings" panose="05000000000000000000" pitchFamily="2" charset="2"/>
                      </a:rPr>
                      <m:t> </m:t>
                    </m:r>
                  </m:oMath>
                </a14:m>
                <a:r>
                  <a:rPr lang="fr-FR" dirty="0">
                    <a:sym typeface="Wingdings" panose="05000000000000000000" pitchFamily="2" charset="2"/>
                  </a:rPr>
                  <a:t> où Te désigne la taille des éléments (cm) et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oMath>
                </a14:m>
                <a:r>
                  <a:rPr lang="fr-FR" dirty="0">
                    <a:sym typeface="Wingdings" panose="05000000000000000000" pitchFamily="2" charset="2"/>
                  </a:rPr>
                  <a:t> le pas de temps (s)</a:t>
                </a:r>
              </a:p>
              <a:p>
                <a:pPr marL="285750" indent="-285750">
                  <a:buFont typeface="Arial" panose="020B0604020202020204" pitchFamily="34" charset="0"/>
                  <a:buChar char="•"/>
                </a:pPr>
                <a:r>
                  <a:rPr lang="fr-FR" dirty="0">
                    <a:sym typeface="Wingdings" panose="05000000000000000000" pitchFamily="2" charset="2"/>
                  </a:rPr>
                  <a:t>Analyse de convergence réalisé avec les paramètres : </a:t>
                </a:r>
              </a:p>
              <a:p>
                <a:pPr marL="742950" lvl="1"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t</m:t>
                    </m:r>
                    <m:r>
                      <m:rPr>
                        <m:sty m:val="p"/>
                      </m:rPr>
                      <a:rPr lang="fr-FR" b="0" i="1" baseline="-25000" smtClean="0">
                        <a:latin typeface="Cambria Math" panose="02040503050406030204" pitchFamily="18" charset="0"/>
                        <a:sym typeface="Wingdings" panose="05000000000000000000" pitchFamily="2" charset="2"/>
                      </a:rPr>
                      <m:t>fin</m:t>
                    </m:r>
                    <m:r>
                      <a:rPr lang="fr-FR" b="0" i="1" smtClean="0">
                        <a:latin typeface="Cambria Math" panose="02040503050406030204" pitchFamily="18" charset="0"/>
                        <a:sym typeface="Wingdings" panose="05000000000000000000" pitchFamily="2" charset="2"/>
                      </a:rPr>
                      <m:t> = 100</m:t>
                    </m:r>
                    <m:r>
                      <m:rPr>
                        <m:sty m:val="p"/>
                      </m:rPr>
                      <a:rPr lang="fr-FR" b="0" i="1" smtClean="0">
                        <a:latin typeface="Cambria Math" panose="02040503050406030204" pitchFamily="18" charset="0"/>
                        <a:sym typeface="Wingdings" panose="05000000000000000000" pitchFamily="2" charset="2"/>
                      </a:rPr>
                      <m:t>s</m:t>
                    </m:r>
                    <m:r>
                      <a:rPr lang="fr-FR" b="0" i="1" smtClean="0">
                        <a:latin typeface="Cambria Math" panose="02040503050406030204" pitchFamily="18" charset="0"/>
                        <a:sym typeface="Wingdings" panose="05000000000000000000" pitchFamily="2" charset="2"/>
                      </a:rPr>
                      <m:t> , </m:t>
                    </m:r>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=2</m:t>
                    </m:r>
                  </m:oMath>
                </a14:m>
                <a:endParaRPr lang="fr-FR" dirty="0">
                  <a:sym typeface="Wingdings" panose="05000000000000000000" pitchFamily="2" charset="2"/>
                </a:endParaRP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Condition : obtenir convergence des valeurs finales + symétrie </a:t>
                </a: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Obtention de résultat fiable pour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r>
                      <a:rPr lang="fr-FR" b="0" i="1" smtClean="0">
                        <a:latin typeface="Cambria Math" panose="02040503050406030204" pitchFamily="18" charset="0"/>
                        <a:sym typeface="Wingdings" panose="05000000000000000000" pitchFamily="2" charset="2"/>
                      </a:rPr>
                      <m:t>= 0.6</m:t>
                    </m:r>
                    <m:r>
                      <m:rPr>
                        <m:sty m:val="p"/>
                      </m:rPr>
                      <a:rPr lang="fr-FR" b="0" i="1" smtClean="0">
                        <a:latin typeface="Cambria Math" panose="02040503050406030204" pitchFamily="18" charset="0"/>
                        <a:sym typeface="Wingdings" panose="05000000000000000000" pitchFamily="2" charset="2"/>
                      </a:rPr>
                      <m:t>s</m:t>
                    </m:r>
                  </m:oMath>
                </a14:m>
                <a:r>
                  <a:rPr lang="fr-FR" dirty="0">
                    <a:sym typeface="Wingdings" panose="05000000000000000000" pitchFamily="2" charset="2"/>
                  </a:rPr>
                  <a:t>  et </a:t>
                </a:r>
                <a14:m>
                  <m:oMath xmlns:m="http://schemas.openxmlformats.org/officeDocument/2006/math">
                    <m:r>
                      <m:rPr>
                        <m:sty m:val="p"/>
                      </m:rPr>
                      <a:rPr lang="fr-FR" i="1">
                        <a:latin typeface="Cambria Math" panose="02040503050406030204" pitchFamily="18" charset="0"/>
                        <a:sym typeface="Wingdings" panose="05000000000000000000" pitchFamily="2" charset="2"/>
                      </a:rPr>
                      <m:t>Te</m:t>
                    </m:r>
                    <m:r>
                      <a:rPr lang="fr-FR" b="0" i="1" smtClean="0">
                        <a:latin typeface="Cambria Math" panose="02040503050406030204" pitchFamily="18" charset="0"/>
                        <a:sym typeface="Wingdings" panose="05000000000000000000" pitchFamily="2" charset="2"/>
                      </a:rPr>
                      <m:t> = 0.3</m:t>
                    </m:r>
                  </m:oMath>
                </a14:m>
                <a:r>
                  <a:rPr lang="fr-FR" dirty="0">
                    <a:sym typeface="Wingdings" panose="05000000000000000000" pitchFamily="2" charset="2"/>
                  </a:rPr>
                  <a:t> cm</a:t>
                </a:r>
              </a:p>
              <a:p>
                <a:endParaRPr lang="fr-FR" dirty="0">
                  <a:sym typeface="Wingdings" panose="05000000000000000000" pitchFamily="2" charset="2"/>
                </a:endParaRPr>
              </a:p>
              <a:p>
                <a:endParaRPr lang="fr-FR" dirty="0">
                  <a:sym typeface="Wingdings" panose="05000000000000000000" pitchFamily="2" charset="2"/>
                </a:endParaRPr>
              </a:p>
            </p:txBody>
          </p:sp>
        </mc:Choice>
        <mc:Fallback xmlns="">
          <p:sp>
            <p:nvSpPr>
              <p:cNvPr id="58" name="TextBox 57">
                <a:extLst>
                  <a:ext uri="{FF2B5EF4-FFF2-40B4-BE49-F238E27FC236}">
                    <a16:creationId xmlns:a16="http://schemas.microsoft.com/office/drawing/2014/main" id="{0CEAB3DF-E113-A48A-4976-5362A80A08F7}"/>
                  </a:ext>
                </a:extLst>
              </p:cNvPr>
              <p:cNvSpPr txBox="1">
                <a:spLocks noRot="1" noChangeAspect="1" noMove="1" noResize="1" noEditPoints="1" noAdjustHandles="1" noChangeArrowheads="1" noChangeShapeType="1" noTextEdit="1"/>
              </p:cNvSpPr>
              <p:nvPr/>
            </p:nvSpPr>
            <p:spPr>
              <a:xfrm>
                <a:off x="560860" y="1690688"/>
                <a:ext cx="10651970" cy="2986459"/>
              </a:xfrm>
              <a:prstGeom prst="rect">
                <a:avLst/>
              </a:prstGeom>
              <a:blipFill>
                <a:blip r:embed="rId11"/>
                <a:stretch>
                  <a:fillRect l="-343" t="-1224"/>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D1B8D06E-603C-C267-3757-24818DA12201}"/>
              </a:ext>
            </a:extLst>
          </p:cNvPr>
          <p:cNvSpPr txBox="1">
            <a:spLocks noGrp="1" noRot="1" noMove="1" noResize="1" noEditPoints="1" noAdjustHandles="1" noChangeArrowheads="1" noChangeShapeType="1"/>
          </p:cNvSpPr>
          <p:nvPr/>
        </p:nvSpPr>
        <p:spPr>
          <a:xfrm>
            <a:off x="7498081" y="6396335"/>
            <a:ext cx="771258" cy="307777"/>
          </a:xfrm>
          <a:prstGeom prst="rect">
            <a:avLst/>
          </a:prstGeom>
          <a:noFill/>
        </p:spPr>
        <p:txBody>
          <a:bodyPr wrap="square" rtlCol="0">
            <a:spAutoFit/>
          </a:bodyPr>
          <a:lstStyle/>
          <a:p>
            <a:r>
              <a:rPr lang="fr-FR" sz="1400" dirty="0"/>
              <a:t>Te (cm)</a:t>
            </a:r>
            <a:endParaRPr lang="en-US" sz="1400" dirty="0"/>
          </a:p>
        </p:txBody>
      </p:sp>
      <p:sp>
        <p:nvSpPr>
          <p:cNvPr id="60" name="TextBox 59">
            <a:extLst>
              <a:ext uri="{FF2B5EF4-FFF2-40B4-BE49-F238E27FC236}">
                <a16:creationId xmlns:a16="http://schemas.microsoft.com/office/drawing/2014/main" id="{377C65A6-DFDD-665B-F68B-741DFE066405}"/>
              </a:ext>
            </a:extLst>
          </p:cNvPr>
          <p:cNvSpPr txBox="1">
            <a:spLocks noGrp="1" noRot="1" noMove="1" noResize="1" noEditPoints="1" noAdjustHandles="1" noChangeArrowheads="1" noChangeShapeType="1"/>
          </p:cNvSpPr>
          <p:nvPr/>
        </p:nvSpPr>
        <p:spPr>
          <a:xfrm>
            <a:off x="425608" y="6550223"/>
            <a:ext cx="280846" cy="307777"/>
          </a:xfrm>
          <a:prstGeom prst="rect">
            <a:avLst/>
          </a:prstGeom>
          <a:noFill/>
        </p:spPr>
        <p:txBody>
          <a:bodyPr wrap="none" rtlCol="0">
            <a:spAutoFit/>
          </a:bodyPr>
          <a:lstStyle/>
          <a:p>
            <a:r>
              <a:rPr lang="fr-FR" sz="1400" dirty="0"/>
              <a:t>1</a:t>
            </a:r>
            <a:endParaRPr lang="en-US" dirty="0"/>
          </a:p>
        </p:txBody>
      </p:sp>
      <p:sp>
        <p:nvSpPr>
          <p:cNvPr id="61" name="TextBox 60">
            <a:extLst>
              <a:ext uri="{FF2B5EF4-FFF2-40B4-BE49-F238E27FC236}">
                <a16:creationId xmlns:a16="http://schemas.microsoft.com/office/drawing/2014/main" id="{88D5B6F5-F7F2-D061-02CE-DBF9E04F5741}"/>
              </a:ext>
            </a:extLst>
          </p:cNvPr>
          <p:cNvSpPr txBox="1">
            <a:spLocks noGrp="1" noRot="1" noMove="1" noResize="1" noEditPoints="1" noAdjustHandles="1" noChangeArrowheads="1" noChangeShapeType="1"/>
          </p:cNvSpPr>
          <p:nvPr/>
        </p:nvSpPr>
        <p:spPr>
          <a:xfrm>
            <a:off x="6838695" y="6550223"/>
            <a:ext cx="428322" cy="307777"/>
          </a:xfrm>
          <a:prstGeom prst="rect">
            <a:avLst/>
          </a:prstGeom>
          <a:noFill/>
        </p:spPr>
        <p:txBody>
          <a:bodyPr wrap="none" rtlCol="0">
            <a:spAutoFit/>
          </a:bodyPr>
          <a:lstStyle/>
          <a:p>
            <a:r>
              <a:rPr lang="fr-FR" sz="1400" dirty="0"/>
              <a:t>0.2</a:t>
            </a:r>
            <a:endParaRPr lang="en-US" dirty="0"/>
          </a:p>
        </p:txBody>
      </p:sp>
      <p:sp>
        <p:nvSpPr>
          <p:cNvPr id="62" name="TextBox 61">
            <a:extLst>
              <a:ext uri="{FF2B5EF4-FFF2-40B4-BE49-F238E27FC236}">
                <a16:creationId xmlns:a16="http://schemas.microsoft.com/office/drawing/2014/main" id="{7C2BD58C-6402-B763-16DB-A732584E4F56}"/>
              </a:ext>
            </a:extLst>
          </p:cNvPr>
          <p:cNvSpPr txBox="1">
            <a:spLocks noGrp="1" noRot="1" noMove="1" noResize="1" noEditPoints="1" noAdjustHandles="1" noChangeArrowheads="1" noChangeShapeType="1"/>
          </p:cNvSpPr>
          <p:nvPr/>
        </p:nvSpPr>
        <p:spPr>
          <a:xfrm>
            <a:off x="3555159" y="6550223"/>
            <a:ext cx="428322" cy="307777"/>
          </a:xfrm>
          <a:prstGeom prst="rect">
            <a:avLst/>
          </a:prstGeom>
          <a:noFill/>
        </p:spPr>
        <p:txBody>
          <a:bodyPr wrap="none" rtlCol="0">
            <a:spAutoFit/>
          </a:bodyPr>
          <a:lstStyle/>
          <a:p>
            <a:r>
              <a:rPr lang="fr-FR" sz="1400" dirty="0"/>
              <a:t>0.6</a:t>
            </a:r>
            <a:endParaRPr lang="en-US" dirty="0"/>
          </a:p>
        </p:txBody>
      </p:sp>
      <p:pic>
        <p:nvPicPr>
          <p:cNvPr id="64" name="Picture 63">
            <a:extLst>
              <a:ext uri="{FF2B5EF4-FFF2-40B4-BE49-F238E27FC236}">
                <a16:creationId xmlns:a16="http://schemas.microsoft.com/office/drawing/2014/main" id="{63B385C4-FDC5-27BD-D21F-1496ACB0F4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722504" y="3146976"/>
            <a:ext cx="4330546" cy="3247910"/>
          </a:xfrm>
          <a:prstGeom prst="rect">
            <a:avLst/>
          </a:prstGeom>
        </p:spPr>
      </p:pic>
      <p:sp>
        <p:nvSpPr>
          <p:cNvPr id="3" name="Slide Number Placeholder 2">
            <a:extLst>
              <a:ext uri="{FF2B5EF4-FFF2-40B4-BE49-F238E27FC236}">
                <a16:creationId xmlns:a16="http://schemas.microsoft.com/office/drawing/2014/main" id="{9BED62C4-6596-0DD4-8FDA-6EEAFC78694F}"/>
              </a:ext>
            </a:extLst>
          </p:cNvPr>
          <p:cNvSpPr>
            <a:spLocks noGrp="1"/>
          </p:cNvSpPr>
          <p:nvPr>
            <p:ph type="sldNum" sz="quarter" idx="12"/>
          </p:nvPr>
        </p:nvSpPr>
        <p:spPr/>
        <p:txBody>
          <a:bodyPr/>
          <a:lstStyle/>
          <a:p>
            <a:fld id="{FD85B578-4E75-4E1C-9BE3-D5DCC0715B13}" type="slidenum">
              <a:rPr lang="fr-FR" smtClean="0"/>
              <a:t>24</a:t>
            </a:fld>
            <a:endParaRPr lang="fr-FR"/>
          </a:p>
        </p:txBody>
      </p:sp>
    </p:spTree>
    <p:extLst>
      <p:ext uri="{BB962C8B-B14F-4D97-AF65-F5344CB8AC3E}">
        <p14:creationId xmlns:p14="http://schemas.microsoft.com/office/powerpoint/2010/main" val="28565026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6C4D6-1909-49F5-970C-7E6D98AE3083}"/>
              </a:ext>
            </a:extLst>
          </p:cNvPr>
          <p:cNvSpPr>
            <a:spLocks noGrp="1"/>
          </p:cNvSpPr>
          <p:nvPr>
            <p:ph type="title"/>
          </p:nvPr>
        </p:nvSpPr>
        <p:spPr/>
        <p:txBody>
          <a:bodyPr/>
          <a:lstStyle/>
          <a:p>
            <a:r>
              <a:rPr lang="fr-FR" dirty="0"/>
              <a:t>Validation – erreur simulation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E27A2-0916-0AE0-EB0D-BBBA5579C1AE}"/>
                  </a:ext>
                </a:extLst>
              </p:cNvPr>
              <p:cNvSpPr>
                <a:spLocks noGrp="1"/>
              </p:cNvSpPr>
              <p:nvPr>
                <p:ph idx="1"/>
              </p:nvPr>
            </p:nvSpPr>
            <p:spPr>
              <a:xfrm>
                <a:off x="582562" y="1369829"/>
                <a:ext cx="7293077" cy="1800930"/>
              </a:xfrm>
            </p:spPr>
            <p:txBody>
              <a:bodyPr>
                <a:normAutofit fontScale="70000" lnSpcReduction="20000"/>
              </a:bodyPr>
              <a:lstStyle/>
              <a:p>
                <a:pPr marL="0" indent="0">
                  <a:buNone/>
                </a:pPr>
                <a:r>
                  <a:rPr lang="fr-FR" dirty="0"/>
                  <a:t>Le raffinement du maillage montre une augmentation homogène de la densité d’éléments sur l’ensemble de la géométrie. Les rapports d’augmentation du nombre d’éléments pour une division par deux de la taille caractéristique sont globalement compris entre 5 et 8, ce qui correspond à un comportement proche d’un raffinement volumique uniforme.</a:t>
                </a:r>
                <a:br>
                  <a:rPr lang="fr-FR" dirty="0"/>
                </a:br>
                <a14:m>
                  <m:oMath xmlns:m="http://schemas.openxmlformats.org/officeDocument/2006/math">
                    <m:r>
                      <a:rPr lang="en-US" b="1" i="1">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Maillage</a:t>
                </a:r>
                <a:r>
                  <a:rPr lang="en-US" b="1" dirty="0"/>
                  <a:t> </a:t>
                </a:r>
                <a:r>
                  <a:rPr lang="en-US" b="1" dirty="0" err="1"/>
                  <a:t>consistant</a:t>
                </a:r>
                <a:r>
                  <a:rPr lang="en-US" b="1" dirty="0"/>
                  <a:t> et quasi </a:t>
                </a:r>
                <a:r>
                  <a:rPr lang="en-US" b="1" dirty="0" err="1"/>
                  <a:t>uniforme</a:t>
                </a:r>
                <a:endParaRPr lang="en-US" b="1" dirty="0"/>
              </a:p>
            </p:txBody>
          </p:sp>
        </mc:Choice>
        <mc:Fallback xmlns="">
          <p:sp>
            <p:nvSpPr>
              <p:cNvPr id="3" name="Content Placeholder 2">
                <a:extLst>
                  <a:ext uri="{FF2B5EF4-FFF2-40B4-BE49-F238E27FC236}">
                    <a16:creationId xmlns:a16="http://schemas.microsoft.com/office/drawing/2014/main" id="{D7EE27A2-0916-0AE0-EB0D-BBBA5579C1AE}"/>
                  </a:ext>
                </a:extLst>
              </p:cNvPr>
              <p:cNvSpPr>
                <a:spLocks noGrp="1" noRot="1" noChangeAspect="1" noMove="1" noResize="1" noEditPoints="1" noAdjustHandles="1" noChangeArrowheads="1" noChangeShapeType="1" noTextEdit="1"/>
              </p:cNvSpPr>
              <p:nvPr>
                <p:ph idx="1"/>
              </p:nvPr>
            </p:nvSpPr>
            <p:spPr>
              <a:xfrm>
                <a:off x="582562" y="1369829"/>
                <a:ext cx="7293077" cy="1800930"/>
              </a:xfrm>
              <a:blipFill>
                <a:blip r:embed="rId2"/>
                <a:stretch>
                  <a:fillRect l="-920" t="-6102" r="-16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D4E8470-8AD0-7EE0-BD5C-E0C4C00ECBD3}"/>
              </a:ext>
            </a:extLst>
          </p:cNvPr>
          <p:cNvSpPr>
            <a:spLocks noGrp="1"/>
          </p:cNvSpPr>
          <p:nvPr>
            <p:ph type="sldNum" sz="quarter" idx="12"/>
          </p:nvPr>
        </p:nvSpPr>
        <p:spPr/>
        <p:txBody>
          <a:bodyPr/>
          <a:lstStyle/>
          <a:p>
            <a:fld id="{FD85B578-4E75-4E1C-9BE3-D5DCC0715B13}" type="slidenum">
              <a:rPr lang="fr-FR" smtClean="0"/>
              <a:t>25</a:t>
            </a:fld>
            <a:endParaRPr lang="fr-FR"/>
          </a:p>
        </p:txBody>
      </p:sp>
      <p:pic>
        <p:nvPicPr>
          <p:cNvPr id="6" name="Picture 5">
            <a:extLst>
              <a:ext uri="{FF2B5EF4-FFF2-40B4-BE49-F238E27FC236}">
                <a16:creationId xmlns:a16="http://schemas.microsoft.com/office/drawing/2014/main" id="{2D1C6D2E-536D-77D3-9120-0A49CFE09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574" y="3243231"/>
            <a:ext cx="2219390" cy="2562194"/>
          </a:xfrm>
          <a:prstGeom prst="rect">
            <a:avLst/>
          </a:prstGeom>
        </p:spPr>
      </p:pic>
      <p:pic>
        <p:nvPicPr>
          <p:cNvPr id="8" name="Picture 7">
            <a:extLst>
              <a:ext uri="{FF2B5EF4-FFF2-40B4-BE49-F238E27FC236}">
                <a16:creationId xmlns:a16="http://schemas.microsoft.com/office/drawing/2014/main" id="{EE172B2D-C561-7E1A-8FE6-A0DE637C004A}"/>
              </a:ext>
            </a:extLst>
          </p:cNvPr>
          <p:cNvPicPr>
            <a:picLocks noChangeAspect="1"/>
          </p:cNvPicPr>
          <p:nvPr/>
        </p:nvPicPr>
        <p:blipFill>
          <a:blip r:embed="rId4">
            <a:extLst>
              <a:ext uri="{28A0092B-C50C-407E-A947-70E740481C1C}">
                <a14:useLocalDpi xmlns:a14="http://schemas.microsoft.com/office/drawing/2010/main" val="0"/>
              </a:ext>
            </a:extLst>
          </a:blip>
          <a:srcRect t="3350"/>
          <a:stretch>
            <a:fillRect/>
          </a:stretch>
        </p:blipFill>
        <p:spPr>
          <a:xfrm>
            <a:off x="3209856" y="3243231"/>
            <a:ext cx="1783013" cy="2562194"/>
          </a:xfrm>
          <a:prstGeom prst="rect">
            <a:avLst/>
          </a:prstGeom>
        </p:spPr>
      </p:pic>
      <p:sp>
        <p:nvSpPr>
          <p:cNvPr id="9" name="TextBox 8">
            <a:extLst>
              <a:ext uri="{FF2B5EF4-FFF2-40B4-BE49-F238E27FC236}">
                <a16:creationId xmlns:a16="http://schemas.microsoft.com/office/drawing/2014/main" id="{9BB52D0C-C892-17A8-2AEE-A73E129A545C}"/>
              </a:ext>
            </a:extLst>
          </p:cNvPr>
          <p:cNvSpPr txBox="1"/>
          <p:nvPr/>
        </p:nvSpPr>
        <p:spPr>
          <a:xfrm>
            <a:off x="975851" y="5987018"/>
            <a:ext cx="1246623" cy="369332"/>
          </a:xfrm>
          <a:prstGeom prst="rect">
            <a:avLst/>
          </a:prstGeom>
          <a:noFill/>
        </p:spPr>
        <p:txBody>
          <a:bodyPr wrap="none" rtlCol="0">
            <a:spAutoFit/>
          </a:bodyPr>
          <a:lstStyle/>
          <a:p>
            <a:r>
              <a:rPr lang="fr-FR" dirty="0"/>
              <a:t>Te = 0.3cm</a:t>
            </a:r>
            <a:endParaRPr lang="en-US" dirty="0"/>
          </a:p>
        </p:txBody>
      </p:sp>
      <p:sp>
        <p:nvSpPr>
          <p:cNvPr id="10" name="TextBox 9">
            <a:extLst>
              <a:ext uri="{FF2B5EF4-FFF2-40B4-BE49-F238E27FC236}">
                <a16:creationId xmlns:a16="http://schemas.microsoft.com/office/drawing/2014/main" id="{36D32230-98AB-611A-1C52-8EA1C50C7EDF}"/>
              </a:ext>
            </a:extLst>
          </p:cNvPr>
          <p:cNvSpPr txBox="1"/>
          <p:nvPr/>
        </p:nvSpPr>
        <p:spPr>
          <a:xfrm>
            <a:off x="3350342" y="5987018"/>
            <a:ext cx="1370055" cy="369332"/>
          </a:xfrm>
          <a:prstGeom prst="rect">
            <a:avLst/>
          </a:prstGeom>
          <a:noFill/>
        </p:spPr>
        <p:txBody>
          <a:bodyPr wrap="none" rtlCol="0">
            <a:spAutoFit/>
          </a:bodyPr>
          <a:lstStyle/>
          <a:p>
            <a:r>
              <a:rPr lang="fr-FR" dirty="0"/>
              <a:t>Te = 0.15cm</a:t>
            </a:r>
            <a:endParaRPr lang="en-US" dirty="0"/>
          </a:p>
        </p:txBody>
      </p:sp>
      <p:pic>
        <p:nvPicPr>
          <p:cNvPr id="12" name="Picture 11">
            <a:extLst>
              <a:ext uri="{FF2B5EF4-FFF2-40B4-BE49-F238E27FC236}">
                <a16:creationId xmlns:a16="http://schemas.microsoft.com/office/drawing/2014/main" id="{BF70D14A-67BD-B58A-F0BC-1D871ED82D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4380" y="721173"/>
            <a:ext cx="3535639" cy="2651730"/>
          </a:xfrm>
          <a:prstGeom prst="rect">
            <a:avLst/>
          </a:prstGeom>
        </p:spPr>
      </p:pic>
      <p:graphicFrame>
        <p:nvGraphicFramePr>
          <p:cNvPr id="13" name="Table 12">
            <a:extLst>
              <a:ext uri="{FF2B5EF4-FFF2-40B4-BE49-F238E27FC236}">
                <a16:creationId xmlns:a16="http://schemas.microsoft.com/office/drawing/2014/main" id="{608CEE03-5C8A-A582-FB4B-42B5125F339B}"/>
              </a:ext>
            </a:extLst>
          </p:cNvPr>
          <p:cNvGraphicFramePr>
            <a:graphicFrameLocks noGrp="1"/>
          </p:cNvGraphicFramePr>
          <p:nvPr>
            <p:extLst>
              <p:ext uri="{D42A27DB-BD31-4B8C-83A1-F6EECF244321}">
                <p14:modId xmlns:p14="http://schemas.microsoft.com/office/powerpoint/2010/main" val="3578490273"/>
              </p:ext>
            </p:extLst>
          </p:nvPr>
        </p:nvGraphicFramePr>
        <p:xfrm>
          <a:off x="5349980" y="3687241"/>
          <a:ext cx="6089446" cy="2194560"/>
        </p:xfrm>
        <a:graphic>
          <a:graphicData uri="http://schemas.openxmlformats.org/drawingml/2006/table">
            <a:tbl>
              <a:tblPr firstRow="1" bandRow="1">
                <a:tableStyleId>{5C22544A-7EE6-4342-B048-85BDC9FD1C3A}</a:tableStyleId>
              </a:tblPr>
              <a:tblGrid>
                <a:gridCol w="3044723">
                  <a:extLst>
                    <a:ext uri="{9D8B030D-6E8A-4147-A177-3AD203B41FA5}">
                      <a16:colId xmlns:a16="http://schemas.microsoft.com/office/drawing/2014/main" val="2483763395"/>
                    </a:ext>
                  </a:extLst>
                </a:gridCol>
                <a:gridCol w="3044723">
                  <a:extLst>
                    <a:ext uri="{9D8B030D-6E8A-4147-A177-3AD203B41FA5}">
                      <a16:colId xmlns:a16="http://schemas.microsoft.com/office/drawing/2014/main" val="2518608282"/>
                    </a:ext>
                  </a:extLst>
                </a:gridCol>
              </a:tblGrid>
              <a:tr h="0">
                <a:tc>
                  <a:txBody>
                    <a:bodyPr/>
                    <a:lstStyle/>
                    <a:p>
                      <a:pPr algn="ctr"/>
                      <a:r>
                        <a:rPr lang="fr-FR" dirty="0" err="1"/>
                        <a:t>Te</a:t>
                      </a:r>
                      <a:r>
                        <a:rPr lang="fr-FR" baseline="-25000" dirty="0" err="1"/>
                        <a:t>i</a:t>
                      </a:r>
                      <a:r>
                        <a:rPr lang="fr-FR" dirty="0"/>
                        <a:t>/</a:t>
                      </a:r>
                      <a:r>
                        <a:rPr lang="fr-FR" dirty="0" err="1"/>
                        <a:t>Te</a:t>
                      </a:r>
                      <a:r>
                        <a:rPr lang="fr-FR" baseline="-25000" dirty="0" err="1"/>
                        <a:t>j</a:t>
                      </a:r>
                      <a:endParaRPr lang="en-US" baseline="-25000" dirty="0"/>
                    </a:p>
                  </a:txBody>
                  <a:tcPr/>
                </a:tc>
                <a:tc>
                  <a:txBody>
                    <a:bodyPr/>
                    <a:lstStyle/>
                    <a:p>
                      <a:pPr algn="ctr"/>
                      <a:r>
                        <a:rPr lang="fr-FR" dirty="0"/>
                        <a:t>Rapport d’augmentation</a:t>
                      </a:r>
                      <a:endParaRPr lang="en-US" dirty="0"/>
                    </a:p>
                  </a:txBody>
                  <a:tcPr/>
                </a:tc>
                <a:extLst>
                  <a:ext uri="{0D108BD9-81ED-4DB2-BD59-A6C34878D82A}">
                    <a16:rowId xmlns:a16="http://schemas.microsoft.com/office/drawing/2014/main" val="3537809364"/>
                  </a:ext>
                </a:extLst>
              </a:tr>
              <a:tr h="117182">
                <a:tc>
                  <a:txBody>
                    <a:bodyPr/>
                    <a:lstStyle/>
                    <a:p>
                      <a:r>
                        <a:rPr lang="fr-FR" dirty="0"/>
                        <a:t>0.25/0.5</a:t>
                      </a:r>
                      <a:endParaRPr lang="en-US" dirty="0"/>
                    </a:p>
                  </a:txBody>
                  <a:tcPr/>
                </a:tc>
                <a:tc>
                  <a:txBody>
                    <a:bodyPr/>
                    <a:lstStyle/>
                    <a:p>
                      <a:r>
                        <a:rPr lang="fr-FR" dirty="0"/>
                        <a:t>11.03</a:t>
                      </a:r>
                      <a:endParaRPr lang="en-US" dirty="0"/>
                    </a:p>
                  </a:txBody>
                  <a:tcPr/>
                </a:tc>
                <a:extLst>
                  <a:ext uri="{0D108BD9-81ED-4DB2-BD59-A6C34878D82A}">
                    <a16:rowId xmlns:a16="http://schemas.microsoft.com/office/drawing/2014/main" val="1916787582"/>
                  </a:ext>
                </a:extLst>
              </a:tr>
              <a:tr h="117182">
                <a:tc>
                  <a:txBody>
                    <a:bodyPr/>
                    <a:lstStyle/>
                    <a:p>
                      <a:r>
                        <a:rPr lang="fr-FR" dirty="0"/>
                        <a:t>0.2/0.4</a:t>
                      </a:r>
                      <a:endParaRPr lang="en-US" dirty="0"/>
                    </a:p>
                  </a:txBody>
                  <a:tcPr/>
                </a:tc>
                <a:tc>
                  <a:txBody>
                    <a:bodyPr/>
                    <a:lstStyle/>
                    <a:p>
                      <a:r>
                        <a:rPr lang="fr-FR" dirty="0"/>
                        <a:t>7.21</a:t>
                      </a:r>
                      <a:endParaRPr lang="en-US" dirty="0"/>
                    </a:p>
                  </a:txBody>
                  <a:tcPr/>
                </a:tc>
                <a:extLst>
                  <a:ext uri="{0D108BD9-81ED-4DB2-BD59-A6C34878D82A}">
                    <a16:rowId xmlns:a16="http://schemas.microsoft.com/office/drawing/2014/main" val="1267363603"/>
                  </a:ext>
                </a:extLst>
              </a:tr>
              <a:tr h="117182">
                <a:tc>
                  <a:txBody>
                    <a:bodyPr/>
                    <a:lstStyle/>
                    <a:p>
                      <a:r>
                        <a:rPr lang="fr-FR" dirty="0"/>
                        <a:t>0.15/0.3</a:t>
                      </a:r>
                      <a:endParaRPr lang="en-US" dirty="0"/>
                    </a:p>
                  </a:txBody>
                  <a:tcPr/>
                </a:tc>
                <a:tc>
                  <a:txBody>
                    <a:bodyPr/>
                    <a:lstStyle/>
                    <a:p>
                      <a:r>
                        <a:rPr lang="fr-FR" dirty="0"/>
                        <a:t>7.06</a:t>
                      </a:r>
                      <a:endParaRPr lang="en-US" dirty="0"/>
                    </a:p>
                  </a:txBody>
                  <a:tcPr/>
                </a:tc>
                <a:extLst>
                  <a:ext uri="{0D108BD9-81ED-4DB2-BD59-A6C34878D82A}">
                    <a16:rowId xmlns:a16="http://schemas.microsoft.com/office/drawing/2014/main" val="294344026"/>
                  </a:ext>
                </a:extLst>
              </a:tr>
              <a:tr h="117182">
                <a:tc>
                  <a:txBody>
                    <a:bodyPr/>
                    <a:lstStyle/>
                    <a:p>
                      <a:r>
                        <a:rPr lang="fr-FR" dirty="0"/>
                        <a:t>0.1/0.2</a:t>
                      </a:r>
                      <a:endParaRPr lang="en-US" dirty="0"/>
                    </a:p>
                  </a:txBody>
                  <a:tcPr/>
                </a:tc>
                <a:tc>
                  <a:txBody>
                    <a:bodyPr/>
                    <a:lstStyle/>
                    <a:p>
                      <a:r>
                        <a:rPr lang="fr-FR" dirty="0"/>
                        <a:t>4.85</a:t>
                      </a:r>
                      <a:endParaRPr lang="en-US" dirty="0"/>
                    </a:p>
                  </a:txBody>
                  <a:tcPr/>
                </a:tc>
                <a:extLst>
                  <a:ext uri="{0D108BD9-81ED-4DB2-BD59-A6C34878D82A}">
                    <a16:rowId xmlns:a16="http://schemas.microsoft.com/office/drawing/2014/main" val="894934195"/>
                  </a:ext>
                </a:extLst>
              </a:tr>
              <a:tr h="117182">
                <a:tc>
                  <a:txBody>
                    <a:bodyPr/>
                    <a:lstStyle/>
                    <a:p>
                      <a:r>
                        <a:rPr lang="fr-FR" dirty="0"/>
                        <a:t>0.05/0.1</a:t>
                      </a:r>
                      <a:endParaRPr lang="en-US" dirty="0"/>
                    </a:p>
                  </a:txBody>
                  <a:tcPr/>
                </a:tc>
                <a:tc>
                  <a:txBody>
                    <a:bodyPr/>
                    <a:lstStyle/>
                    <a:p>
                      <a:r>
                        <a:rPr lang="en-US" dirty="0"/>
                        <a:t>5.16</a:t>
                      </a:r>
                    </a:p>
                  </a:txBody>
                  <a:tcPr/>
                </a:tc>
                <a:extLst>
                  <a:ext uri="{0D108BD9-81ED-4DB2-BD59-A6C34878D82A}">
                    <a16:rowId xmlns:a16="http://schemas.microsoft.com/office/drawing/2014/main" val="986313491"/>
                  </a:ext>
                </a:extLst>
              </a:tr>
            </a:tbl>
          </a:graphicData>
        </a:graphic>
      </p:graphicFrame>
      <p:sp>
        <p:nvSpPr>
          <p:cNvPr id="15" name="TextBox 14">
            <a:extLst>
              <a:ext uri="{FF2B5EF4-FFF2-40B4-BE49-F238E27FC236}">
                <a16:creationId xmlns:a16="http://schemas.microsoft.com/office/drawing/2014/main" id="{F0B31595-A8A5-D630-1B12-E6F6AB9687E3}"/>
              </a:ext>
            </a:extLst>
          </p:cNvPr>
          <p:cNvSpPr txBox="1"/>
          <p:nvPr/>
        </p:nvSpPr>
        <p:spPr>
          <a:xfrm>
            <a:off x="5951181" y="5987018"/>
            <a:ext cx="4887043" cy="369332"/>
          </a:xfrm>
          <a:prstGeom prst="rect">
            <a:avLst/>
          </a:prstGeom>
          <a:noFill/>
        </p:spPr>
        <p:txBody>
          <a:bodyPr wrap="none" rtlCol="0">
            <a:spAutoFit/>
          </a:bodyPr>
          <a:lstStyle/>
          <a:p>
            <a:r>
              <a:rPr lang="fr-FR" dirty="0"/>
              <a:t>Rapport d’augmentation du nombre d’éléments</a:t>
            </a:r>
            <a:endParaRPr lang="en-US" dirty="0"/>
          </a:p>
        </p:txBody>
      </p:sp>
    </p:spTree>
    <p:extLst>
      <p:ext uri="{BB962C8B-B14F-4D97-AF65-F5344CB8AC3E}">
        <p14:creationId xmlns:p14="http://schemas.microsoft.com/office/powerpoint/2010/main" val="1227931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8810-4DBB-A150-02D8-A72B03EB7ECC}"/>
              </a:ext>
            </a:extLst>
          </p:cNvPr>
          <p:cNvSpPr>
            <a:spLocks noGrp="1"/>
          </p:cNvSpPr>
          <p:nvPr>
            <p:ph type="title"/>
          </p:nvPr>
        </p:nvSpPr>
        <p:spPr/>
        <p:txBody>
          <a:bodyPr/>
          <a:lstStyle/>
          <a:p>
            <a:r>
              <a:rPr lang="fr-FR" dirty="0"/>
              <a:t>Validation – erreur simulation :</a:t>
            </a:r>
            <a:endParaRPr lang="en-US" dirty="0"/>
          </a:p>
        </p:txBody>
      </p:sp>
      <p:pic>
        <p:nvPicPr>
          <p:cNvPr id="5" name="Content Placeholder 4">
            <a:extLst>
              <a:ext uri="{FF2B5EF4-FFF2-40B4-BE49-F238E27FC236}">
                <a16:creationId xmlns:a16="http://schemas.microsoft.com/office/drawing/2014/main" id="{EBB7CBB9-6184-B33E-4584-B7B75F691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36454" y="365125"/>
            <a:ext cx="4060801" cy="304560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B13BC59-1CF5-FBB2-63DD-9DDC99704668}"/>
                  </a:ext>
                </a:extLst>
              </p:cNvPr>
              <p:cNvSpPr txBox="1"/>
              <p:nvPr/>
            </p:nvSpPr>
            <p:spPr>
              <a:xfrm>
                <a:off x="463497" y="1690688"/>
                <a:ext cx="4512524" cy="3652859"/>
              </a:xfrm>
              <a:prstGeom prst="rect">
                <a:avLst/>
              </a:prstGeom>
              <a:noFill/>
            </p:spPr>
            <p:txBody>
              <a:bodyPr wrap="square" rtlCol="0">
                <a:spAutoFit/>
              </a:bodyPr>
              <a:lstStyle/>
              <a:p>
                <a:r>
                  <a:rPr lang="fr-FR" sz="2400" dirty="0"/>
                  <a:t>Comparaison des champs de température pour </a:t>
                </a:r>
                <a:r>
                  <a:rPr lang="fr-FR" sz="2400" dirty="0" err="1"/>
                  <a:t>t</a:t>
                </a:r>
                <a:r>
                  <a:rPr lang="fr-FR" sz="2400" baseline="-25000" dirty="0" err="1"/>
                  <a:t>fin</a:t>
                </a:r>
                <a:r>
                  <a:rPr lang="fr-FR" sz="2400" baseline="-25000" dirty="0"/>
                  <a:t> </a:t>
                </a:r>
                <a:r>
                  <a:rPr lang="fr-FR" sz="2400" dirty="0"/>
                  <a:t>= 600s</a:t>
                </a:r>
              </a:p>
              <a:p>
                <a:endParaRPr lang="fr-FR" sz="2400" dirty="0"/>
              </a:p>
              <a:p>
                <a:endParaRPr lang="fr-FR" sz="2400" dirty="0"/>
              </a:p>
              <a:p>
                <a:pPr/>
                <a14:m>
                  <m:oMathPara xmlns:m="http://schemas.openxmlformats.org/officeDocument/2006/math">
                    <m:oMathParaPr>
                      <m:jc m:val="centerGroup"/>
                    </m:oMathParaPr>
                    <m:oMath xmlns:m="http://schemas.openxmlformats.org/officeDocument/2006/math">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𝐸</m:t>
                          </m:r>
                        </m:e>
                        <m:sub>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𝐿</m:t>
                              </m:r>
                            </m:e>
                            <m:sub>
                              <m:r>
                                <a:rPr lang="fr-FR" sz="2400" b="0" i="1" smtClean="0">
                                  <a:latin typeface="Cambria Math" panose="02040503050406030204" pitchFamily="18" charset="0"/>
                                </a:rPr>
                                <m:t>2</m:t>
                              </m:r>
                            </m:sub>
                          </m:sSub>
                        </m:sub>
                      </m:sSub>
                      <m:r>
                        <a:rPr lang="fr-FR" sz="2400" b="0" i="1" smtClean="0">
                          <a:latin typeface="Cambria Math" panose="02040503050406030204" pitchFamily="18" charset="0"/>
                        </a:rPr>
                        <m:t>=</m:t>
                      </m:r>
                      <m:rad>
                        <m:radPr>
                          <m:degHide m:val="on"/>
                          <m:ctrlPr>
                            <a:rPr lang="fr-FR" sz="2400" b="0" i="1" smtClean="0">
                              <a:latin typeface="Cambria Math" panose="02040503050406030204" pitchFamily="18" charset="0"/>
                            </a:rPr>
                          </m:ctrlPr>
                        </m:radPr>
                        <m:deg/>
                        <m:e>
                          <m:f>
                            <m:fPr>
                              <m:ctrlPr>
                                <a:rPr lang="fr-FR" sz="2400" i="1">
                                  <a:latin typeface="Cambria Math" panose="02040503050406030204" pitchFamily="18" charset="0"/>
                                </a:rPr>
                              </m:ctrlPr>
                            </m:fPr>
                            <m:num>
                              <m:r>
                                <a:rPr lang="fr-FR" sz="2400" i="1">
                                  <a:latin typeface="Cambria Math" panose="02040503050406030204" pitchFamily="18" charset="0"/>
                                </a:rPr>
                                <m:t>1</m:t>
                              </m:r>
                            </m:num>
                            <m:den>
                              <m:r>
                                <m:rPr>
                                  <m:sty m:val="p"/>
                                </m:rPr>
                                <a:rPr lang="fr-FR" sz="2400" i="1">
                                  <a:latin typeface="Cambria Math" panose="02040503050406030204" pitchFamily="18" charset="0"/>
                                </a:rPr>
                                <m:t>N</m:t>
                              </m:r>
                            </m:den>
                          </m:f>
                          <m:nary>
                            <m:naryPr>
                              <m:chr m:val="∑"/>
                              <m:ctrlPr>
                                <a:rPr lang="fr-FR" sz="2400" i="1">
                                  <a:latin typeface="Cambria Math" panose="02040503050406030204" pitchFamily="18" charset="0"/>
                                </a:rPr>
                              </m:ctrlPr>
                            </m:naryPr>
                            <m:sub>
                              <m:r>
                                <a:rPr lang="fr-FR" sz="2400" i="1">
                                  <a:latin typeface="Cambria Math" panose="02040503050406030204" pitchFamily="18" charset="0"/>
                                </a:rPr>
                                <m:t>𝑖</m:t>
                              </m:r>
                              <m:r>
                                <a:rPr lang="fr-FR" sz="2400" i="1">
                                  <a:latin typeface="Cambria Math" panose="02040503050406030204" pitchFamily="18" charset="0"/>
                                </a:rPr>
                                <m:t>=1</m:t>
                              </m:r>
                            </m:sub>
                            <m:sup>
                              <m:r>
                                <a:rPr lang="fr-FR" sz="2400" i="1">
                                  <a:latin typeface="Cambria Math" panose="02040503050406030204" pitchFamily="18" charset="0"/>
                                </a:rPr>
                                <m:t>𝑁</m:t>
                              </m:r>
                            </m:sup>
                            <m:e>
                              <m:sSup>
                                <m:sSupPr>
                                  <m:ctrlPr>
                                    <a:rPr lang="fr-FR" sz="2400" i="1">
                                      <a:latin typeface="Cambria Math" panose="02040503050406030204" pitchFamily="18" charset="0"/>
                                    </a:rPr>
                                  </m:ctrlPr>
                                </m:sSupPr>
                                <m:e>
                                  <m:d>
                                    <m:dPr>
                                      <m:ctrlPr>
                                        <a:rPr lang="fr-FR" sz="2400" i="1">
                                          <a:latin typeface="Cambria Math" panose="02040503050406030204" pitchFamily="18" charset="0"/>
                                        </a:rPr>
                                      </m:ctrlPr>
                                    </m:dPr>
                                    <m:e>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𝑦</m:t>
                                          </m:r>
                                        </m:e>
                                        <m:sub>
                                          <m:r>
                                            <a:rPr lang="fr-FR" sz="2400" b="0" i="1" smtClean="0">
                                              <a:latin typeface="Cambria Math" panose="02040503050406030204" pitchFamily="18" charset="0"/>
                                            </a:rPr>
                                            <m:t>𝑚</m:t>
                                          </m:r>
                                          <m:r>
                                            <a:rPr lang="fr-FR" sz="2400" b="0" i="1" smtClean="0">
                                              <a:latin typeface="Cambria Math" panose="02040503050406030204" pitchFamily="18" charset="0"/>
                                            </a:rPr>
                                            <m:t>,</m:t>
                                          </m:r>
                                          <m:r>
                                            <a:rPr lang="fr-FR" sz="2400" b="0" i="1" smtClean="0">
                                              <a:latin typeface="Cambria Math" panose="02040503050406030204" pitchFamily="18" charset="0"/>
                                            </a:rPr>
                                            <m:t>𝑖</m:t>
                                          </m:r>
                                        </m:sub>
                                      </m:sSub>
                                      <m:r>
                                        <a:rPr lang="fr-FR" sz="2400" i="1">
                                          <a:latin typeface="Cambria Math" panose="02040503050406030204" pitchFamily="18" charset="0"/>
                                        </a:rPr>
                                        <m:t>−</m:t>
                                      </m:r>
                                      <m:sSub>
                                        <m:sSubPr>
                                          <m:ctrlPr>
                                            <a:rPr lang="fr-FR" sz="2400" i="1">
                                              <a:latin typeface="Cambria Math" panose="02040503050406030204" pitchFamily="18" charset="0"/>
                                            </a:rPr>
                                          </m:ctrlPr>
                                        </m:sSubPr>
                                        <m:e>
                                          <m:r>
                                            <a:rPr lang="fr-FR" sz="2400" i="1">
                                              <a:latin typeface="Cambria Math" panose="02040503050406030204" pitchFamily="18" charset="0"/>
                                            </a:rPr>
                                            <m:t>𝑦</m:t>
                                          </m:r>
                                        </m:e>
                                        <m:sub>
                                          <m:r>
                                            <a:rPr lang="fr-FR" sz="2400" i="1">
                                              <a:latin typeface="Cambria Math" panose="02040503050406030204" pitchFamily="18" charset="0"/>
                                            </a:rPr>
                                            <m:t>𝑒</m:t>
                                          </m:r>
                                          <m:r>
                                            <a:rPr lang="fr-FR" sz="2400" i="1">
                                              <a:latin typeface="Cambria Math" panose="02040503050406030204" pitchFamily="18" charset="0"/>
                                            </a:rPr>
                                            <m:t>,</m:t>
                                          </m:r>
                                          <m:r>
                                            <a:rPr lang="fr-FR" sz="2400" i="1">
                                              <a:latin typeface="Cambria Math" panose="02040503050406030204" pitchFamily="18" charset="0"/>
                                            </a:rPr>
                                            <m:t>𝑖</m:t>
                                          </m:r>
                                        </m:sub>
                                      </m:sSub>
                                    </m:e>
                                  </m:d>
                                </m:e>
                                <m:sup>
                                  <m:r>
                                    <a:rPr lang="fr-FR" sz="2400" i="1">
                                      <a:latin typeface="Cambria Math" panose="02040503050406030204" pitchFamily="18" charset="0"/>
                                    </a:rPr>
                                    <m:t>2</m:t>
                                  </m:r>
                                </m:sup>
                              </m:sSup>
                            </m:e>
                          </m:nary>
                        </m:e>
                      </m:rad>
                      <m:r>
                        <a:rPr lang="fr-FR" sz="2400" b="0" i="1" smtClean="0">
                          <a:latin typeface="Cambria Math" panose="02040503050406030204" pitchFamily="18" charset="0"/>
                        </a:rPr>
                        <m:t>= 11.8 </m:t>
                      </m:r>
                      <m:r>
                        <a:rPr lang="fr-FR" sz="2400" b="0" i="1" smtClean="0">
                          <a:latin typeface="Cambria Math" panose="02040503050406030204" pitchFamily="18" charset="0"/>
                        </a:rPr>
                        <m:t>𝐾</m:t>
                      </m:r>
                      <m:r>
                        <a:rPr lang="fr-FR" sz="2400" b="0" i="1" smtClean="0">
                          <a:latin typeface="Cambria Math" panose="02040503050406030204" pitchFamily="18" charset="0"/>
                        </a:rPr>
                        <m:t>∗</m:t>
                      </m:r>
                    </m:oMath>
                  </m:oMathPara>
                </a14:m>
                <a:endParaRPr lang="fr-FR" sz="2400" dirty="0"/>
              </a:p>
              <a:p>
                <a:endParaRPr lang="fr-FR" dirty="0"/>
              </a:p>
            </p:txBody>
          </p:sp>
        </mc:Choice>
        <mc:Fallback xmlns="">
          <p:sp>
            <p:nvSpPr>
              <p:cNvPr id="10" name="TextBox 9">
                <a:extLst>
                  <a:ext uri="{FF2B5EF4-FFF2-40B4-BE49-F238E27FC236}">
                    <a16:creationId xmlns:a16="http://schemas.microsoft.com/office/drawing/2014/main" id="{FB13BC59-1CF5-FBB2-63DD-9DDC99704668}"/>
                  </a:ext>
                </a:extLst>
              </p:cNvPr>
              <p:cNvSpPr txBox="1">
                <a:spLocks noRot="1" noChangeAspect="1" noMove="1" noResize="1" noEditPoints="1" noAdjustHandles="1" noChangeArrowheads="1" noChangeShapeType="1" noTextEdit="1"/>
              </p:cNvSpPr>
              <p:nvPr/>
            </p:nvSpPr>
            <p:spPr>
              <a:xfrm>
                <a:off x="463497" y="1690688"/>
                <a:ext cx="4512524" cy="3652859"/>
              </a:xfrm>
              <a:prstGeom prst="rect">
                <a:avLst/>
              </a:prstGeom>
              <a:blipFill>
                <a:blip r:embed="rId3"/>
                <a:stretch>
                  <a:fillRect l="-2027" t="-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7367D0-BA41-060B-521D-6283AD7D3C1F}"/>
                  </a:ext>
                </a:extLst>
              </p:cNvPr>
              <p:cNvSpPr txBox="1"/>
              <p:nvPr/>
            </p:nvSpPr>
            <p:spPr>
              <a:xfrm>
                <a:off x="5350724" y="1396545"/>
                <a:ext cx="2496875" cy="2308324"/>
              </a:xfrm>
              <a:prstGeom prst="rect">
                <a:avLst/>
              </a:prstGeom>
              <a:noFill/>
            </p:spPr>
            <p:txBody>
              <a:bodyPr wrap="square" rtlCol="0">
                <a:spAutoFit/>
              </a:bodyPr>
              <a:lstStyle/>
              <a:p>
                <a:r>
                  <a:rPr lang="fr-FR" b="0" dirty="0">
                    <a:latin typeface="Cambria Math" panose="02040503050406030204" pitchFamily="18" charset="0"/>
                  </a:rPr>
                  <a:t>Paramètres utilisés : </a:t>
                </a:r>
              </a:p>
              <a:p>
                <a:endParaRPr lang="fr-FR" i="1"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𝜌</m:t>
                    </m:r>
                    <m:r>
                      <a:rPr lang="fr-FR" b="0" i="1" smtClean="0">
                        <a:latin typeface="Cambria Math" panose="02040503050406030204" pitchFamily="18" charset="0"/>
                      </a:rPr>
                      <m:t>=7850 </m:t>
                    </m:r>
                    <m:r>
                      <a:rPr lang="fr-FR" b="0" i="1" smtClean="0">
                        <a:latin typeface="Cambria Math" panose="02040503050406030204" pitchFamily="18" charset="0"/>
                      </a:rPr>
                      <m:t>𝑘𝑔</m:t>
                    </m:r>
                    <m:r>
                      <m:rPr>
                        <m:lit/>
                      </m:rP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3</m:t>
                        </m:r>
                      </m:sup>
                    </m:sSup>
                  </m:oMath>
                </a14:m>
                <a:r>
                  <a:rPr lang="fr-FR" b="0" dirty="0"/>
                  <a:t> </a:t>
                </a:r>
              </a:p>
              <a:p>
                <a14:m>
                  <m:oMath xmlns:m="http://schemas.openxmlformats.org/officeDocument/2006/math">
                    <m:r>
                      <a:rPr lang="fr-FR" b="0" i="1" smtClean="0">
                        <a:latin typeface="Cambria Math" panose="02040503050406030204" pitchFamily="18" charset="0"/>
                      </a:rPr>
                      <m:t>𝜀</m:t>
                    </m:r>
                    <m:r>
                      <a:rPr lang="fr-FR" b="0" i="1" smtClean="0">
                        <a:latin typeface="Cambria Math" panose="02040503050406030204" pitchFamily="18" charset="0"/>
                      </a:rPr>
                      <m:t>=0.525 </m:t>
                    </m:r>
                  </m:oMath>
                </a14:m>
                <a:r>
                  <a:rPr lang="fr-FR" b="0" dirty="0"/>
                  <a:t> </a:t>
                </a:r>
              </a:p>
              <a:p>
                <a14:m>
                  <m:oMath xmlns:m="http://schemas.openxmlformats.org/officeDocument/2006/math">
                    <m:r>
                      <a:rPr lang="fr-FR" b="0" i="1" smtClean="0">
                        <a:latin typeface="Cambria Math" panose="02040503050406030204" pitchFamily="18" charset="0"/>
                      </a:rPr>
                      <m:t>h</m:t>
                    </m:r>
                    <m:r>
                      <a:rPr lang="fr-FR" b="0" i="1" smtClean="0">
                        <a:latin typeface="Cambria Math" panose="02040503050406030204" pitchFamily="18" charset="0"/>
                      </a:rPr>
                      <m:t>=10</m:t>
                    </m:r>
                    <m:r>
                      <m:rPr>
                        <m:nor/>
                      </m:rPr>
                      <a:rPr lang="fr-FR" b="0" i="0" smtClean="0">
                        <a:latin typeface="Cambria Math" panose="02040503050406030204" pitchFamily="18" charset="0"/>
                      </a:rPr>
                      <m:t> </m:t>
                    </m:r>
                    <m:r>
                      <m:rPr>
                        <m:nor/>
                      </m:rPr>
                      <a:rPr lang="en-US"/>
                      <m:t>W</m:t>
                    </m:r>
                    <m:r>
                      <m:rPr>
                        <m:nor/>
                      </m:rPr>
                      <a:rPr lang="en-US"/>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r>
                      <a:rPr lang="fr-FR" b="0" i="1" smtClean="0">
                        <a:latin typeface="Cambria Math" panose="02040503050406030204" pitchFamily="18" charset="0"/>
                      </a:rPr>
                      <m:t>⋅</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𝑖𝑛𝑖𝑡</m:t>
                        </m:r>
                      </m:sub>
                    </m:sSub>
                    <m:r>
                      <a:rPr lang="fr-FR" b="0" i="1" smtClean="0">
                        <a:latin typeface="Cambria Math" panose="02040503050406030204" pitchFamily="18" charset="0"/>
                      </a:rPr>
                      <m:t>=1118.15 </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𝑎𝑚𝑏𝑖𝑎𝑛𝑡</m:t>
                        </m:r>
                      </m:sub>
                    </m:sSub>
                    <m:r>
                      <a:rPr lang="fr-FR" b="0" i="1" smtClean="0">
                        <a:latin typeface="Cambria Math" panose="02040503050406030204" pitchFamily="18" charset="0"/>
                      </a:rPr>
                      <m:t>=298.15 </m:t>
                    </m:r>
                    <m:r>
                      <m:rPr>
                        <m:sty m:val="p"/>
                      </m:rPr>
                      <a:rPr lang="fr-FR" b="0" i="1" smtClean="0">
                        <a:latin typeface="Cambria Math" panose="02040503050406030204" pitchFamily="18" charset="0"/>
                      </a:rPr>
                      <m:t>K</m:t>
                    </m:r>
                    <m:r>
                      <a:rPr lang="fr-FR" b="0" i="1" smtClean="0">
                        <a:latin typeface="Cambria Math" panose="02040503050406030204" pitchFamily="18" charset="0"/>
                      </a:rPr>
                      <m:t> </m:t>
                    </m:r>
                  </m:oMath>
                </a14:m>
                <a:r>
                  <a:rPr lang="en-US"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=44.5</m:t>
                    </m:r>
                    <m:r>
                      <a:rPr lang="fr-FR" b="0" i="1" smtClean="0">
                        <a:latin typeface="Cambria Math" panose="02040503050406030204" pitchFamily="18" charset="0"/>
                      </a:rPr>
                      <m:t>𝑊</m:t>
                    </m:r>
                    <m:r>
                      <m:rPr>
                        <m:lit/>
                      </m:rPr>
                      <a:rPr lang="fr-FR" b="0" i="1" smtClean="0">
                        <a:latin typeface="Cambria Math" panose="02040503050406030204" pitchFamily="18" charset="0"/>
                      </a:rPr>
                      <m:t>/</m:t>
                    </m:r>
                    <m:d>
                      <m:dPr>
                        <m:ctrlPr>
                          <a:rPr lang="fr-FR" b="0" i="1" smtClean="0">
                            <a:latin typeface="Cambria Math" panose="02040503050406030204" pitchFamily="18" charset="0"/>
                          </a:rPr>
                        </m:ctrlPr>
                      </m:dPr>
                      <m:e>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e>
                    </m:d>
                  </m:oMath>
                </a14:m>
                <a:r>
                  <a:rPr lang="en-US" dirty="0"/>
                  <a:t> </a:t>
                </a:r>
              </a:p>
            </p:txBody>
          </p:sp>
        </mc:Choice>
        <mc:Fallback xmlns="">
          <p:sp>
            <p:nvSpPr>
              <p:cNvPr id="3" name="TextBox 2">
                <a:extLst>
                  <a:ext uri="{FF2B5EF4-FFF2-40B4-BE49-F238E27FC236}">
                    <a16:creationId xmlns:a16="http://schemas.microsoft.com/office/drawing/2014/main" id="{827367D0-BA41-060B-521D-6283AD7D3C1F}"/>
                  </a:ext>
                </a:extLst>
              </p:cNvPr>
              <p:cNvSpPr txBox="1">
                <a:spLocks noRot="1" noChangeAspect="1" noMove="1" noResize="1" noEditPoints="1" noAdjustHandles="1" noChangeArrowheads="1" noChangeShapeType="1" noTextEdit="1"/>
              </p:cNvSpPr>
              <p:nvPr/>
            </p:nvSpPr>
            <p:spPr>
              <a:xfrm>
                <a:off x="5350724" y="1396545"/>
                <a:ext cx="2496875" cy="2308324"/>
              </a:xfrm>
              <a:prstGeom prst="rect">
                <a:avLst/>
              </a:prstGeom>
              <a:blipFill>
                <a:blip r:embed="rId4"/>
                <a:stretch>
                  <a:fillRect l="-2200" t="-1583" b="-3430"/>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044402B3-46AF-8558-B0C5-725A3070DC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98017" y="3971427"/>
            <a:ext cx="899238" cy="2743438"/>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16710B-426E-2FF9-80BD-3E520DDC9AF1}"/>
                  </a:ext>
                </a:extLst>
              </p:cNvPr>
              <p:cNvSpPr txBox="1"/>
              <p:nvPr/>
            </p:nvSpPr>
            <p:spPr>
              <a:xfrm>
                <a:off x="5350724" y="4441575"/>
                <a:ext cx="1920240" cy="1754326"/>
              </a:xfrm>
              <a:prstGeom prst="rect">
                <a:avLst/>
              </a:prstGeom>
              <a:noFill/>
            </p:spPr>
            <p:txBody>
              <a:bodyPr wrap="square" rtlCol="0">
                <a:spAutoFit/>
              </a:bodyPr>
              <a:lstStyle/>
              <a:p>
                <a:r>
                  <a:rPr lang="fr-FR" b="0" i="0" dirty="0">
                    <a:latin typeface="Cambria Math" panose="02040503050406030204" pitchFamily="18" charset="0"/>
                  </a:rPr>
                  <a:t>Modèle python : </a:t>
                </a:r>
              </a:p>
              <a:p>
                <a:pPr/>
                <a14:m>
                  <m:oMathPara xmlns:m="http://schemas.openxmlformats.org/officeDocument/2006/math">
                    <m:oMathParaPr>
                      <m:jc m:val="left"/>
                    </m:oMathParaPr>
                    <m:oMath xmlns:m="http://schemas.openxmlformats.org/officeDocument/2006/math">
                      <m:r>
                        <a:rPr lang="fr-FR" b="0" i="1" smtClean="0">
                          <a:latin typeface="Cambria Math" panose="02040503050406030204" pitchFamily="18" charset="0"/>
                        </a:rPr>
                        <m:t>𝑛𝑟</m:t>
                      </m:r>
                      <m:r>
                        <a:rPr lang="fr-FR" b="0" i="1" smtClean="0">
                          <a:latin typeface="Cambria Math" panose="02040503050406030204" pitchFamily="18" charset="0"/>
                        </a:rPr>
                        <m:t> = </m:t>
                      </m:r>
                      <m:r>
                        <a:rPr lang="fr-FR" b="0" i="1" smtClean="0">
                          <a:latin typeface="Cambria Math" panose="02040503050406030204" pitchFamily="18" charset="0"/>
                        </a:rPr>
                        <m:t>𝑛𝑧</m:t>
                      </m:r>
                      <m:r>
                        <a:rPr lang="fr-FR" b="0" i="1" smtClean="0">
                          <a:latin typeface="Cambria Math" panose="02040503050406030204" pitchFamily="18" charset="0"/>
                        </a:rPr>
                        <m:t> = 20</m:t>
                      </m:r>
                    </m:oMath>
                  </m:oMathPara>
                </a14:m>
                <a:endParaRPr lang="fr-FR"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dt</m:t>
                      </m:r>
                      <m:r>
                        <a:rPr lang="fr-FR" b="0" i="1" smtClean="0">
                          <a:latin typeface="Cambria Math" panose="02040503050406030204" pitchFamily="18" charset="0"/>
                        </a:rPr>
                        <m:t> = 0.025 </m:t>
                      </m:r>
                      <m:r>
                        <m:rPr>
                          <m:sty m:val="p"/>
                        </m:rPr>
                        <a:rPr lang="fr-FR" b="0" i="1" smtClean="0">
                          <a:latin typeface="Cambria Math" panose="02040503050406030204" pitchFamily="18" charset="0"/>
                        </a:rPr>
                        <m:t>s</m:t>
                      </m:r>
                    </m:oMath>
                  </m:oMathPara>
                </a14:m>
                <a:endParaRPr lang="fr-FR" b="0" i="0" dirty="0">
                  <a:latin typeface="Cambria Math" panose="02040503050406030204" pitchFamily="18" charset="0"/>
                </a:endParaRPr>
              </a:p>
              <a:p>
                <a:r>
                  <a:rPr lang="fr-FR" b="0" i="0" dirty="0">
                    <a:latin typeface="Cambria Math" panose="02040503050406030204" pitchFamily="18" charset="0"/>
                  </a:rPr>
                  <a:t>Simulation pour : </a:t>
                </a:r>
              </a:p>
              <a:p>
                <a:pPr/>
                <a14:m>
                  <m:oMathPara xmlns:m="http://schemas.openxmlformats.org/officeDocument/2006/math">
                    <m:oMathParaPr>
                      <m:jc m:val="left"/>
                    </m:oMathParaPr>
                    <m:oMath xmlns:m="http://schemas.openxmlformats.org/officeDocument/2006/math">
                      <m:r>
                        <m:rPr>
                          <m:sty m:val="p"/>
                        </m:rPr>
                        <a:rPr lang="fr-FR" b="0" i="0"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 =0.6 </m:t>
                      </m:r>
                      <m:r>
                        <a:rPr lang="fr-FR" b="0" i="1" smtClean="0">
                          <a:latin typeface="Cambria Math" panose="02040503050406030204" pitchFamily="18" charset="0"/>
                        </a:rPr>
                        <m:t>𝑠</m:t>
                      </m:r>
                      <m:r>
                        <a:rPr lang="fr-FR" b="0" i="1" smtClean="0">
                          <a:latin typeface="Cambria Math" panose="02040503050406030204" pitchFamily="18" charset="0"/>
                        </a:rPr>
                        <m:t> </m:t>
                      </m:r>
                    </m:oMath>
                  </m:oMathPara>
                </a14:m>
                <a:endParaRPr lang="fr-FR"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Te</m:t>
                      </m:r>
                      <m:r>
                        <a:rPr lang="fr-FR" b="0" i="1" smtClean="0">
                          <a:latin typeface="Cambria Math" panose="02040503050406030204" pitchFamily="18" charset="0"/>
                        </a:rPr>
                        <m:t> = 0.3 </m:t>
                      </m:r>
                      <m:r>
                        <m:rPr>
                          <m:sty m:val="p"/>
                        </m:rPr>
                        <a:rPr lang="fr-FR" b="0" i="1" smtClean="0">
                          <a:latin typeface="Cambria Math" panose="02040503050406030204" pitchFamily="18" charset="0"/>
                        </a:rPr>
                        <m:t>cm</m:t>
                      </m:r>
                    </m:oMath>
                  </m:oMathPara>
                </a14:m>
                <a:endParaRPr lang="en-US" dirty="0"/>
              </a:p>
            </p:txBody>
          </p:sp>
        </mc:Choice>
        <mc:Fallback xmlns="">
          <p:sp>
            <p:nvSpPr>
              <p:cNvPr id="4" name="TextBox 3">
                <a:extLst>
                  <a:ext uri="{FF2B5EF4-FFF2-40B4-BE49-F238E27FC236}">
                    <a16:creationId xmlns:a16="http://schemas.microsoft.com/office/drawing/2014/main" id="{F816710B-426E-2FF9-80BD-3E520DDC9AF1}"/>
                  </a:ext>
                </a:extLst>
              </p:cNvPr>
              <p:cNvSpPr txBox="1">
                <a:spLocks noRot="1" noChangeAspect="1" noMove="1" noResize="1" noEditPoints="1" noAdjustHandles="1" noChangeArrowheads="1" noChangeShapeType="1" noTextEdit="1"/>
              </p:cNvSpPr>
              <p:nvPr/>
            </p:nvSpPr>
            <p:spPr>
              <a:xfrm>
                <a:off x="5350724" y="4441575"/>
                <a:ext cx="1920240" cy="1754326"/>
              </a:xfrm>
              <a:prstGeom prst="rect">
                <a:avLst/>
              </a:prstGeom>
              <a:blipFill>
                <a:blip r:embed="rId6"/>
                <a:stretch>
                  <a:fillRect l="-2857" t="-2439" r="-2540"/>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766F6BA7-FB40-F5A0-46A1-686F83E064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6454" y="3971427"/>
            <a:ext cx="3035833" cy="2694622"/>
          </a:xfrm>
          <a:prstGeom prst="rect">
            <a:avLst/>
          </a:prstGeom>
        </p:spPr>
      </p:pic>
      <p:sp>
        <p:nvSpPr>
          <p:cNvPr id="6" name="TextBox 5">
            <a:extLst>
              <a:ext uri="{FF2B5EF4-FFF2-40B4-BE49-F238E27FC236}">
                <a16:creationId xmlns:a16="http://schemas.microsoft.com/office/drawing/2014/main" id="{D48753BC-C2A4-D20F-34BD-5542121EF1D7}"/>
              </a:ext>
            </a:extLst>
          </p:cNvPr>
          <p:cNvSpPr txBox="1"/>
          <p:nvPr/>
        </p:nvSpPr>
        <p:spPr>
          <a:xfrm>
            <a:off x="94745" y="5996226"/>
            <a:ext cx="4881276" cy="861774"/>
          </a:xfrm>
          <a:prstGeom prst="rect">
            <a:avLst/>
          </a:prstGeom>
          <a:noFill/>
        </p:spPr>
        <p:txBody>
          <a:bodyPr wrap="square" rtlCol="0">
            <a:spAutoFit/>
          </a:bodyPr>
          <a:lstStyle/>
          <a:p>
            <a:r>
              <a:rPr lang="en-US" sz="1600" dirty="0"/>
              <a:t>*</a:t>
            </a:r>
            <a:r>
              <a:rPr lang="en-US" sz="1600" dirty="0" err="1"/>
              <a:t>Calculé</a:t>
            </a:r>
            <a:r>
              <a:rPr lang="en-US" sz="1600" dirty="0"/>
              <a:t> pour 4 </a:t>
            </a:r>
            <a:r>
              <a:rPr lang="en-US" sz="1600" dirty="0" err="1"/>
              <a:t>valeurs</a:t>
            </a:r>
            <a:r>
              <a:rPr lang="en-US" sz="1600" dirty="0"/>
              <a:t> de temperatures et pour </a:t>
            </a:r>
            <a:r>
              <a:rPr lang="en-US" sz="1600" dirty="0" err="1"/>
              <a:t>une</a:t>
            </a:r>
            <a:r>
              <a:rPr lang="en-US" sz="1600" dirty="0"/>
              <a:t> </a:t>
            </a:r>
            <a:r>
              <a:rPr lang="en-US" sz="1600" dirty="0" err="1"/>
              <a:t>seule</a:t>
            </a:r>
            <a:r>
              <a:rPr lang="en-US" sz="1600" dirty="0"/>
              <a:t> “</a:t>
            </a:r>
            <a:r>
              <a:rPr lang="en-US" sz="1600" dirty="0" err="1"/>
              <a:t>expérience</a:t>
            </a:r>
            <a:r>
              <a:rPr lang="en-US" sz="1600" dirty="0"/>
              <a:t>” </a:t>
            </a:r>
          </a:p>
          <a:p>
            <a:endParaRPr lang="en-US" dirty="0"/>
          </a:p>
        </p:txBody>
      </p:sp>
      <p:sp>
        <p:nvSpPr>
          <p:cNvPr id="7" name="Slide Number Placeholder 6">
            <a:extLst>
              <a:ext uri="{FF2B5EF4-FFF2-40B4-BE49-F238E27FC236}">
                <a16:creationId xmlns:a16="http://schemas.microsoft.com/office/drawing/2014/main" id="{51FB88C7-B085-8E63-BBC3-EA1A926F5488}"/>
              </a:ext>
            </a:extLst>
          </p:cNvPr>
          <p:cNvSpPr>
            <a:spLocks noGrp="1"/>
          </p:cNvSpPr>
          <p:nvPr>
            <p:ph type="sldNum" sz="quarter" idx="12"/>
          </p:nvPr>
        </p:nvSpPr>
        <p:spPr/>
        <p:txBody>
          <a:bodyPr/>
          <a:lstStyle/>
          <a:p>
            <a:fld id="{FD85B578-4E75-4E1C-9BE3-D5DCC0715B13}" type="slidenum">
              <a:rPr lang="fr-FR" smtClean="0"/>
              <a:t>26</a:t>
            </a:fld>
            <a:endParaRPr lang="fr-FR"/>
          </a:p>
        </p:txBody>
      </p:sp>
    </p:spTree>
    <p:extLst>
      <p:ext uri="{BB962C8B-B14F-4D97-AF65-F5344CB8AC3E}">
        <p14:creationId xmlns:p14="http://schemas.microsoft.com/office/powerpoint/2010/main" val="41625146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FF1174-F757-BC98-CD45-EA7CDE51F475}"/>
              </a:ext>
            </a:extLst>
          </p:cNvPr>
          <p:cNvSpPr>
            <a:spLocks noGrp="1"/>
          </p:cNvSpPr>
          <p:nvPr>
            <p:ph type="title"/>
          </p:nvPr>
        </p:nvSpPr>
        <p:spPr/>
        <p:txBody>
          <a:bodyPr/>
          <a:lstStyle/>
          <a:p>
            <a:r>
              <a:rPr lang="fr-FR" dirty="0"/>
              <a:t>Validation – incertitude numérique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43FA7A9-6CDD-34AF-AA96-4080445750A7}"/>
                  </a:ext>
                </a:extLst>
              </p:cNvPr>
              <p:cNvSpPr>
                <a:spLocks noGrp="1"/>
              </p:cNvSpPr>
              <p:nvPr>
                <p:ph idx="1"/>
              </p:nvPr>
            </p:nvSpPr>
            <p:spPr>
              <a:xfrm>
                <a:off x="528587" y="1990217"/>
                <a:ext cx="5858417" cy="4044823"/>
              </a:xfrm>
            </p:spPr>
            <p:txBody>
              <a:bodyPr>
                <a:normAutofit fontScale="92500" lnSpcReduction="10000"/>
              </a:bodyPr>
              <a:lstStyle/>
              <a:p>
                <a:r>
                  <a:rPr lang="fr-FR" dirty="0"/>
                  <a:t>Discrétisation selon 3 dimensions </a:t>
                </a:r>
              </a:p>
              <a:p>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𝑛𝑢𝑚</m:t>
                        </m:r>
                      </m:sub>
                    </m:sSub>
                    <m:r>
                      <a:rPr lang="fr-FR" i="1">
                        <a:latin typeface="Cambria Math" panose="02040503050406030204" pitchFamily="18" charset="0"/>
                      </a:rPr>
                      <m:t>=</m:t>
                    </m:r>
                    <m:rad>
                      <m:radPr>
                        <m:degHide m:val="on"/>
                        <m:ctrlPr>
                          <a:rPr lang="fr-FR" i="1">
                            <a:latin typeface="Cambria Math" panose="02040503050406030204" pitchFamily="18" charset="0"/>
                          </a:rPr>
                        </m:ctrlPr>
                      </m:radPr>
                      <m:deg/>
                      <m:e>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𝑟</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𝑧</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𝑡</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e>
                    </m:rad>
                  </m:oMath>
                </a14:m>
                <a:endParaRPr lang="fr-FR" dirty="0"/>
              </a:p>
              <a:p>
                <a14:m>
                  <m:oMath xmlns:m="http://schemas.openxmlformats.org/officeDocument/2006/math">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𝑥</m:t>
                        </m:r>
                      </m:sub>
                    </m:sSub>
                    <m:r>
                      <a:rPr lang="fr-FR" i="1">
                        <a:latin typeface="Cambria Math" panose="02040503050406030204" pitchFamily="18" charset="0"/>
                      </a:rPr>
                      <m:t>=</m:t>
                    </m:r>
                    <m:f>
                      <m:fPr>
                        <m:ctrlPr>
                          <a:rPr lang="fr-FR" i="1">
                            <a:latin typeface="Cambria Math" panose="02040503050406030204" pitchFamily="18" charset="0"/>
                          </a:rPr>
                        </m:ctrlPr>
                      </m:fPr>
                      <m:num>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num>
                      <m:den>
                        <m:sSup>
                          <m:sSupPr>
                            <m:ctrlPr>
                              <a:rPr lang="fr-FR" i="1">
                                <a:latin typeface="Cambria Math" panose="02040503050406030204" pitchFamily="18" charset="0"/>
                              </a:rPr>
                            </m:ctrlPr>
                          </m:sSupPr>
                          <m:e>
                            <m:r>
                              <a:rPr lang="fr-FR" i="1">
                                <a:latin typeface="Cambria Math" panose="02040503050406030204" pitchFamily="18" charset="0"/>
                              </a:rPr>
                              <m:t>𝑟</m:t>
                            </m:r>
                          </m:e>
                          <m:sup>
                            <m:r>
                              <a:rPr lang="fr-FR" i="1">
                                <a:latin typeface="Cambria Math" panose="02040503050406030204" pitchFamily="18" charset="0"/>
                              </a:rPr>
                              <m:t>𝑝</m:t>
                            </m:r>
                          </m:sup>
                        </m:sSup>
                        <m:r>
                          <a:rPr lang="fr-FR" i="1">
                            <a:latin typeface="Cambria Math" panose="02040503050406030204" pitchFamily="18" charset="0"/>
                          </a:rPr>
                          <m:t>−1</m:t>
                        </m:r>
                      </m:den>
                    </m:f>
                    <m:d>
                      <m:dPr>
                        <m:begChr m:val="|"/>
                        <m:endChr m:val="|"/>
                        <m:ctrlPr>
                          <a:rPr lang="fr-FR" i="1">
                            <a:latin typeface="Cambria Math" panose="02040503050406030204" pitchFamily="18" charset="0"/>
                          </a:rPr>
                        </m:ctrlPr>
                      </m:dPr>
                      <m:e>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2</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1</m:t>
                            </m:r>
                          </m:sub>
                        </m:sSub>
                      </m:e>
                    </m:d>
                  </m:oMath>
                </a14:m>
                <a:endParaRPr lang="fr-FR" dirty="0"/>
              </a:p>
              <a:p>
                <a14:m>
                  <m:oMath xmlns:m="http://schemas.openxmlformats.org/officeDocument/2006/math">
                    <m:d>
                      <m:dPr>
                        <m:begChr m:val="|"/>
                        <m:endChr m:val="|"/>
                        <m:ctrlPr>
                          <a:rPr lang="fr-FR" i="1">
                            <a:latin typeface="Cambria Math" panose="02040503050406030204" pitchFamily="18" charset="0"/>
                          </a:rPr>
                        </m:ctrlPr>
                      </m:dPr>
                      <m:e>
                        <m:f>
                          <m:fPr>
                            <m:ctrlPr>
                              <a:rPr lang="fr-FR" i="1">
                                <a:latin typeface="Cambria Math" panose="02040503050406030204" pitchFamily="18" charset="0"/>
                              </a:rPr>
                            </m:ctrlPr>
                          </m:fPr>
                          <m:num>
                            <m:acc>
                              <m:accPr>
                                <m:chr m:val="̂"/>
                                <m:ctrlPr>
                                  <a:rPr lang="fr-FR" i="1">
                                    <a:latin typeface="Cambria Math" panose="02040503050406030204" pitchFamily="18" charset="0"/>
                                  </a:rPr>
                                </m:ctrlPr>
                              </m:accPr>
                              <m:e>
                                <m:r>
                                  <a:rPr lang="fr-FR" i="1">
                                    <a:latin typeface="Cambria Math" panose="02040503050406030204" pitchFamily="18" charset="0"/>
                                  </a:rPr>
                                  <m:t>𝑝</m:t>
                                </m:r>
                              </m:e>
                            </m:acc>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num>
                          <m:den>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den>
                        </m:f>
                      </m:e>
                    </m:d>
                    <m:r>
                      <a:rPr lang="fr-FR">
                        <a:latin typeface="Cambria Math" panose="02040503050406030204" pitchFamily="18" charset="0"/>
                      </a:rPr>
                      <m:t>≤</m:t>
                    </m:r>
                    <m:r>
                      <a:rPr lang="fr-FR" i="1">
                        <a:latin typeface="Cambria Math" panose="02040503050406030204" pitchFamily="18" charset="0"/>
                      </a:rPr>
                      <m:t>0.1</m:t>
                    </m:r>
                  </m:oMath>
                </a14:m>
                <a:r>
                  <a:rPr lang="fr-FR" dirty="0"/>
                  <a:t>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r>
                      <a:rPr lang="fr-FR" i="1">
                        <a:latin typeface="Cambria Math" panose="02040503050406030204" pitchFamily="18" charset="0"/>
                      </a:rPr>
                      <m:t>=1.25</m:t>
                    </m:r>
                  </m:oMath>
                </a14:m>
                <a:r>
                  <a:rPr lang="fr-FR" dirty="0"/>
                  <a:t> et </a:t>
                </a:r>
                <a14:m>
                  <m:oMath xmlns:m="http://schemas.openxmlformats.org/officeDocument/2006/math">
                    <m:r>
                      <a:rPr lang="fr-FR" i="1">
                        <a:latin typeface="Cambria Math" panose="02040503050406030204" pitchFamily="18" charset="0"/>
                      </a:rPr>
                      <m:t>𝑝</m:t>
                    </m:r>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oMath>
                </a14:m>
                <a:endParaRPr lang="fr-FR" dirty="0"/>
              </a:p>
              <a:p>
                <a:r>
                  <a:rPr lang="fr-FR" dirty="0"/>
                  <a:t>SRQ : valeurs de température à t=2h</a:t>
                </a:r>
              </a:p>
              <a:p>
                <a:endParaRPr lang="fr-FR" dirty="0"/>
              </a:p>
              <a:p>
                <a:pPr>
                  <a:buFont typeface="Wingdings" panose="05000000000000000000" pitchFamily="2" charset="2"/>
                  <a:buChar char="à"/>
                </a:pP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𝑢</m:t>
                        </m:r>
                      </m:e>
                      <m:sub>
                        <m:r>
                          <a:rPr lang="fr-FR" b="0" i="1" smtClean="0">
                            <a:latin typeface="Cambria Math" panose="02040503050406030204" pitchFamily="18" charset="0"/>
                            <a:sym typeface="Wingdings" panose="05000000000000000000" pitchFamily="2" charset="2"/>
                          </a:rPr>
                          <m:t>𝑛𝑢𝑚</m:t>
                        </m:r>
                      </m:sub>
                    </m:sSub>
                    <m:r>
                      <a:rPr lang="fr-FR" i="1">
                        <a:latin typeface="Cambria Math" panose="02040503050406030204" pitchFamily="18" charset="0"/>
                        <a:sym typeface="Wingdings" panose="05000000000000000000" pitchFamily="2" charset="2"/>
                      </a:rPr>
                      <m:t>=</m:t>
                    </m:r>
                    <m:sSup>
                      <m:sSupPr>
                        <m:ctrlPr>
                          <a:rPr lang="fr-FR" b="0" i="1" smtClean="0">
                            <a:latin typeface="Cambria Math" panose="02040503050406030204" pitchFamily="18" charset="0"/>
                            <a:sym typeface="Wingdings" panose="05000000000000000000" pitchFamily="2" charset="2"/>
                          </a:rPr>
                        </m:ctrlPr>
                      </m:sSupPr>
                      <m:e>
                        <m:r>
                          <a:rPr lang="fr-FR" i="1">
                            <a:latin typeface="Cambria Math" panose="02040503050406030204" pitchFamily="18" charset="0"/>
                            <a:sym typeface="Wingdings" panose="05000000000000000000" pitchFamily="2" charset="2"/>
                          </a:rPr>
                          <m:t>1</m:t>
                        </m:r>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1097</m:t>
                        </m:r>
                        <m:r>
                          <a:rPr lang="fr-FR" b="0" i="1" smtClean="0">
                            <a:latin typeface="Cambria Math" panose="02040503050406030204" pitchFamily="18" charset="0"/>
                            <a:sym typeface="Wingdings" panose="05000000000000000000" pitchFamily="2" charset="2"/>
                          </a:rPr>
                          <m:t>×10</m:t>
                        </m:r>
                      </m:e>
                      <m:sup>
                        <m:r>
                          <a:rPr lang="fr-FR" b="0" i="1" smtClean="0">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𝐾</m:t>
                    </m:r>
                  </m:oMath>
                </a14:m>
                <a:endParaRPr lang="fr-FR" b="0" dirty="0">
                  <a:sym typeface="Wingdings" panose="05000000000000000000" pitchFamily="2" charset="2"/>
                </a:endParaRPr>
              </a:p>
              <a:p>
                <a:pPr>
                  <a:buFont typeface="Wingdings" panose="05000000000000000000" pitchFamily="2" charset="2"/>
                  <a:buChar char="à"/>
                </a:pPr>
                <a:endParaRPr lang="fr-FR" b="0" dirty="0">
                  <a:sym typeface="Wingdings" panose="05000000000000000000" pitchFamily="2" charset="2"/>
                </a:endParaRPr>
              </a:p>
              <a:p>
                <a:pPr>
                  <a:buFont typeface="Wingdings" panose="05000000000000000000" pitchFamily="2" charset="2"/>
                  <a:buChar char="à"/>
                </a:pPr>
                <a:endParaRPr lang="fr-FR" dirty="0"/>
              </a:p>
              <a:p>
                <a:pPr marL="0" indent="0">
                  <a:buNone/>
                </a:pPr>
                <a:endParaRPr lang="fr-FR" b="0" i="1" dirty="0">
                  <a:latin typeface="Cambria Math" panose="02040503050406030204" pitchFamily="18" charset="0"/>
                </a:endParaRPr>
              </a:p>
              <a:p>
                <a:pPr marL="0" indent="0">
                  <a:buNone/>
                </a:pPr>
                <a:endParaRPr lang="fr-FR" b="0" i="1" dirty="0">
                  <a:latin typeface="Cambria Math" panose="02040503050406030204" pitchFamily="18" charset="0"/>
                </a:endParaRPr>
              </a:p>
              <a:p>
                <a:pPr marL="0" indent="0">
                  <a:buNone/>
                </a:pPr>
                <a:endParaRPr lang="fr-FR" i="1" dirty="0">
                  <a:latin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343FA7A9-6CDD-34AF-AA96-4080445750A7}"/>
                  </a:ext>
                </a:extLst>
              </p:cNvPr>
              <p:cNvSpPr>
                <a:spLocks noGrp="1" noRot="1" noChangeAspect="1" noMove="1" noResize="1" noEditPoints="1" noAdjustHandles="1" noChangeArrowheads="1" noChangeShapeType="1" noTextEdit="1"/>
              </p:cNvSpPr>
              <p:nvPr>
                <p:ph idx="1"/>
              </p:nvPr>
            </p:nvSpPr>
            <p:spPr>
              <a:xfrm>
                <a:off x="528587" y="1990217"/>
                <a:ext cx="5858417" cy="4044823"/>
              </a:xfrm>
              <a:blipFill>
                <a:blip r:embed="rId2"/>
                <a:stretch>
                  <a:fillRect l="-1665" t="-3012"/>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873271AC-9B6F-EBC6-6CB6-88C22C841703}"/>
              </a:ext>
            </a:extLst>
          </p:cNvPr>
          <p:cNvPicPr>
            <a:picLocks noChangeAspect="1"/>
          </p:cNvPicPr>
          <p:nvPr/>
        </p:nvPicPr>
        <p:blipFill>
          <a:blip r:embed="rId3"/>
          <a:stretch>
            <a:fillRect/>
          </a:stretch>
        </p:blipFill>
        <p:spPr>
          <a:xfrm>
            <a:off x="7013447" y="2068513"/>
            <a:ext cx="4649965" cy="1611563"/>
          </a:xfrm>
          <a:prstGeom prst="rect">
            <a:avLst/>
          </a:prstGeom>
        </p:spPr>
      </p:pic>
      <mc:AlternateContent xmlns:mc="http://schemas.openxmlformats.org/markup-compatibility/2006" xmlns:a14="http://schemas.microsoft.com/office/drawing/2010/main">
        <mc:Choice Requires="a14">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pPr algn="ctr"/>
                          <a:r>
                            <a:rPr lang="fr-FR" dirty="0"/>
                            <a:t>4,9684</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b="0" dirty="0"/>
                        </a:p>
                      </a:txBody>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pPr algn="ctr"/>
                          <a:r>
                            <a:rPr lang="fr-FR" dirty="0"/>
                            <a:t>7,8557</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pPr algn="ctr"/>
                          <a:r>
                            <a:rPr lang="fr-FR" dirty="0"/>
                            <a:t>2,0155</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−3</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3641218454"/>
                      </a:ext>
                    </a:extLst>
                  </a:tr>
                </a:tbl>
              </a:graphicData>
            </a:graphic>
          </p:graphicFrame>
        </mc:Choice>
        <mc:Fallback xmlns="">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extLst>
                  <p:ext uri="{D42A27DB-BD31-4B8C-83A1-F6EECF244321}">
                    <p14:modId xmlns:p14="http://schemas.microsoft.com/office/powerpoint/2010/main" val="2481105640"/>
                  </p:ext>
                </p:extLst>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endParaRPr lang="fr-FR"/>
                        </a:p>
                      </a:txBody>
                      <a:tcPr>
                        <a:blipFill>
                          <a:blip r:embed="rId4"/>
                          <a:stretch>
                            <a:fillRect l="-61053" t="-106349" r="-842" b="-222222"/>
                          </a:stretch>
                        </a:blipFill>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endParaRPr lang="fr-FR"/>
                        </a:p>
                      </a:txBody>
                      <a:tcPr>
                        <a:blipFill>
                          <a:blip r:embed="rId4"/>
                          <a:stretch>
                            <a:fillRect l="-61053" t="-206349" r="-842" b="-122222"/>
                          </a:stretch>
                        </a:blipFill>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endParaRPr lang="fr-FR"/>
                        </a:p>
                      </a:txBody>
                      <a:tcPr>
                        <a:blipFill>
                          <a:blip r:embed="rId4"/>
                          <a:stretch>
                            <a:fillRect l="-61053" t="-306349" r="-842" b="-22222"/>
                          </a:stretch>
                        </a:blipFill>
                      </a:tcPr>
                    </a:tc>
                    <a:extLst>
                      <a:ext uri="{0D108BD9-81ED-4DB2-BD59-A6C34878D82A}">
                        <a16:rowId xmlns:a16="http://schemas.microsoft.com/office/drawing/2014/main" val="3641218454"/>
                      </a:ext>
                    </a:extLst>
                  </a:tr>
                </a:tbl>
              </a:graphicData>
            </a:graphic>
          </p:graphicFrame>
        </mc:Fallback>
      </mc:AlternateContent>
      <p:sp>
        <p:nvSpPr>
          <p:cNvPr id="6" name="Slide Number Placeholder 5">
            <a:extLst>
              <a:ext uri="{FF2B5EF4-FFF2-40B4-BE49-F238E27FC236}">
                <a16:creationId xmlns:a16="http://schemas.microsoft.com/office/drawing/2014/main" id="{2663F51B-4476-7D79-F517-30076B8D6947}"/>
              </a:ext>
            </a:extLst>
          </p:cNvPr>
          <p:cNvSpPr>
            <a:spLocks noGrp="1"/>
          </p:cNvSpPr>
          <p:nvPr>
            <p:ph type="sldNum" sz="quarter" idx="12"/>
          </p:nvPr>
        </p:nvSpPr>
        <p:spPr/>
        <p:txBody>
          <a:bodyPr/>
          <a:lstStyle/>
          <a:p>
            <a:fld id="{FD85B578-4E75-4E1C-9BE3-D5DCC0715B13}" type="slidenum">
              <a:rPr lang="fr-FR" smtClean="0"/>
              <a:t>27</a:t>
            </a:fld>
            <a:endParaRPr lang="fr-FR"/>
          </a:p>
        </p:txBody>
      </p:sp>
    </p:spTree>
    <p:extLst>
      <p:ext uri="{BB962C8B-B14F-4D97-AF65-F5344CB8AC3E}">
        <p14:creationId xmlns:p14="http://schemas.microsoft.com/office/powerpoint/2010/main" val="809223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6439F-29E7-5985-9D89-DC076CF9176A}"/>
              </a:ext>
            </a:extLst>
          </p:cNvPr>
          <p:cNvSpPr>
            <a:spLocks noGrp="1"/>
          </p:cNvSpPr>
          <p:nvPr>
            <p:ph type="title"/>
          </p:nvPr>
        </p:nvSpPr>
        <p:spPr/>
        <p:txBody>
          <a:bodyPr/>
          <a:lstStyle/>
          <a:p>
            <a:r>
              <a:rPr lang="fr-FR" dirty="0"/>
              <a:t>Validation – incertitude expérimentale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659431-7107-A76B-E208-96EAABE1F908}"/>
                  </a:ext>
                </a:extLst>
              </p:cNvPr>
              <p:cNvSpPr>
                <a:spLocks noGrp="1"/>
              </p:cNvSpPr>
              <p:nvPr>
                <p:ph idx="1"/>
              </p:nvPr>
            </p:nvSpPr>
            <p:spPr>
              <a:xfrm>
                <a:off x="838200" y="1825625"/>
                <a:ext cx="10515600" cy="3729601"/>
              </a:xfrm>
            </p:spPr>
            <p:txBody>
              <a:bodyPr>
                <a:normAutofit fontScale="92500" lnSpcReduction="10000"/>
              </a:bodyPr>
              <a:lstStyle/>
              <a:p>
                <a:pPr marL="0" indent="0">
                  <a:buNone/>
                </a:pPr>
                <a:r>
                  <a:rPr lang="fr-FR" dirty="0"/>
                  <a:t>Erreur épistémique d’un thermocouple classique : ±1.5 K*</a:t>
                </a:r>
              </a:p>
              <a:p>
                <a:pPr marL="0" indent="0" algn="ctr">
                  <a:buNone/>
                </a:pPr>
                <a14:m>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1.5</m:t>
                        </m:r>
                      </m:num>
                      <m:den>
                        <m:rad>
                          <m:radPr>
                            <m:degHide m:val="on"/>
                            <m:ctrlPr>
                              <a:rPr lang="fr-FR" b="0" i="1" smtClean="0">
                                <a:latin typeface="Cambria Math" panose="02040503050406030204" pitchFamily="18" charset="0"/>
                              </a:rPr>
                            </m:ctrlPr>
                          </m:radPr>
                          <m:deg/>
                          <m:e>
                            <m:r>
                              <a:rPr lang="fr-FR" b="0" i="1" smtClean="0">
                                <a:latin typeface="Cambria Math" panose="02040503050406030204" pitchFamily="18" charset="0"/>
                              </a:rPr>
                              <m:t>3</m:t>
                            </m:r>
                          </m:e>
                        </m:rad>
                      </m:den>
                    </m:f>
                    <m:r>
                      <a:rPr lang="fr-FR" b="0" i="1" smtClean="0">
                        <a:latin typeface="Cambria Math" panose="02040503050406030204" pitchFamily="18" charset="0"/>
                      </a:rPr>
                      <m:t> = 0.87 </m:t>
                    </m:r>
                    <m:r>
                      <m:rPr>
                        <m:sty m:val="p"/>
                      </m:rPr>
                      <a:rPr lang="fr-FR" b="0" i="1" smtClean="0">
                        <a:latin typeface="Cambria Math" panose="02040503050406030204" pitchFamily="18" charset="0"/>
                      </a:rPr>
                      <m:t>K</m:t>
                    </m:r>
                  </m:oMath>
                </a14:m>
                <a:r>
                  <a:rPr lang="fr-FR" dirty="0"/>
                  <a:t> </a:t>
                </a:r>
              </a:p>
              <a:p>
                <a:pPr marL="0" indent="0">
                  <a:buNone/>
                </a:pPr>
                <a:r>
                  <a:rPr lang="fr-FR" dirty="0"/>
                  <a:t> car distribution uniforme dans l’intervalle [-1.5,1.5] K.</a:t>
                </a:r>
              </a:p>
              <a:p>
                <a:pPr marL="0" indent="0">
                  <a:buNone/>
                </a:pPr>
                <a:endParaRPr lang="fr-FR" dirty="0"/>
              </a:p>
              <a:p>
                <a:pPr marL="0" indent="0">
                  <a:buNone/>
                </a:pPr>
                <a:r>
                  <a:rPr lang="fr-FR" dirty="0"/>
                  <a:t>Erreur aléatoire dans la distribution des mesures tiré de la littérature** :</a:t>
                </a:r>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al</m:t>
                      </m:r>
                      <m:r>
                        <a:rPr lang="fr-FR" b="0" i="1" smtClean="0">
                          <a:latin typeface="Cambria Math" panose="02040503050406030204" pitchFamily="18" charset="0"/>
                        </a:rPr>
                        <m:t> = 0.90 </m:t>
                      </m:r>
                      <m:r>
                        <m:rPr>
                          <m:sty m:val="p"/>
                        </m:rPr>
                        <a:rPr lang="fr-FR" b="0" i="1" smtClean="0">
                          <a:latin typeface="Cambria Math" panose="02040503050406030204" pitchFamily="18" charset="0"/>
                        </a:rPr>
                        <m:t>K</m:t>
                      </m:r>
                    </m:oMath>
                  </m:oMathPara>
                </a14:m>
                <a:endParaRPr lang="fr-FR" dirty="0"/>
              </a:p>
              <a:p>
                <a:pPr marL="0" indent="0">
                  <a:buNone/>
                </a:pPr>
                <a:endParaRPr lang="fr-FR" dirty="0"/>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u</m:t>
                      </m:r>
                      <m:r>
                        <m:rPr>
                          <m:sty m:val="p"/>
                        </m:rPr>
                        <a:rPr lang="fr-FR" b="0" i="1" baseline="-25000" smtClean="0">
                          <a:latin typeface="Cambria Math" panose="02040503050406030204" pitchFamily="18" charset="0"/>
                        </a:rPr>
                        <m:t>D</m:t>
                      </m:r>
                      <m:r>
                        <a:rPr lang="fr-FR" b="0" i="1" smtClean="0">
                          <a:latin typeface="Cambria Math" panose="02040503050406030204" pitchFamily="18" charset="0"/>
                        </a:rPr>
                        <m:t> = </m:t>
                      </m:r>
                      <m:rad>
                        <m:radPr>
                          <m:degHide m:val="on"/>
                          <m:ctrlPr>
                            <a:rPr lang="fr-FR" b="0" i="1" smtClean="0">
                              <a:latin typeface="Cambria Math" panose="02040503050406030204" pitchFamily="18" charset="0"/>
                            </a:rPr>
                          </m:ctrlPr>
                        </m:radPr>
                        <m:deg/>
                        <m:e>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baseline="30000" smtClean="0">
                              <a:latin typeface="Cambria Math" panose="02040503050406030204" pitchFamily="18" charset="0"/>
                            </a:rPr>
                            <m:t>2</m:t>
                          </m:r>
                          <m:r>
                            <a:rPr lang="fr-FR" b="0" i="1" smtClean="0">
                              <a:latin typeface="Cambria Math" panose="02040503050406030204" pitchFamily="18" charset="0"/>
                            </a:rPr>
                            <m:t> +</m:t>
                          </m:r>
                          <m:r>
                            <m:rPr>
                              <m:sty m:val="p"/>
                            </m:rPr>
                            <a:rPr lang="fr-FR" b="0" i="1" smtClean="0">
                              <a:latin typeface="Cambria Math" panose="02040503050406030204" pitchFamily="18" charset="0"/>
                            </a:rPr>
                            <m:t>σal</m:t>
                          </m:r>
                          <m:r>
                            <a:rPr lang="fr-FR" b="0" i="1" smtClean="0">
                              <a:latin typeface="Cambria Math" panose="02040503050406030204" pitchFamily="18" charset="0"/>
                            </a:rPr>
                            <m:t>²</m:t>
                          </m:r>
                          <m:r>
                            <a:rPr lang="fr-FR" b="0" i="1" smtClean="0">
                              <a:highlight>
                                <a:srgbClr val="5B9BD5"/>
                              </a:highlight>
                              <a:latin typeface="Cambria Math" panose="02040503050406030204" pitchFamily="18" charset="0"/>
                            </a:rPr>
                            <m:t> </m:t>
                          </m:r>
                        </m:e>
                      </m:rad>
                      <m:r>
                        <a:rPr lang="fr-FR" b="0" i="1" smtClean="0">
                          <a:latin typeface="Cambria Math" panose="02040503050406030204" pitchFamily="18" charset="0"/>
                        </a:rPr>
                        <m:t>=1.25 </m:t>
                      </m:r>
                      <m:r>
                        <m:rPr>
                          <m:sty m:val="p"/>
                        </m:rPr>
                        <a:rPr lang="fr-FR" b="0" i="1" smtClean="0">
                          <a:latin typeface="Cambria Math" panose="02040503050406030204" pitchFamily="18" charset="0"/>
                        </a:rPr>
                        <m:t>K</m:t>
                      </m:r>
                    </m:oMath>
                  </m:oMathPara>
                </a14:m>
                <a:endParaRPr lang="fr-FR" dirty="0"/>
              </a:p>
              <a:p>
                <a:pPr marL="0" indent="0">
                  <a:buNone/>
                </a:pPr>
                <a:endParaRPr lang="fr-FR" dirty="0"/>
              </a:p>
            </p:txBody>
          </p:sp>
        </mc:Choice>
        <mc:Fallback xmlns="">
          <p:sp>
            <p:nvSpPr>
              <p:cNvPr id="3" name="Content Placeholder 2">
                <a:extLst>
                  <a:ext uri="{FF2B5EF4-FFF2-40B4-BE49-F238E27FC236}">
                    <a16:creationId xmlns:a16="http://schemas.microsoft.com/office/drawing/2014/main" id="{D0659431-7107-A76B-E208-96EAABE1F908}"/>
                  </a:ext>
                </a:extLst>
              </p:cNvPr>
              <p:cNvSpPr>
                <a:spLocks noGrp="1" noRot="1" noChangeAspect="1" noMove="1" noResize="1" noEditPoints="1" noAdjustHandles="1" noChangeArrowheads="1" noChangeShapeType="1" noTextEdit="1"/>
              </p:cNvSpPr>
              <p:nvPr>
                <p:ph idx="1"/>
              </p:nvPr>
            </p:nvSpPr>
            <p:spPr>
              <a:xfrm>
                <a:off x="838200" y="1825625"/>
                <a:ext cx="10515600" cy="3729601"/>
              </a:xfrm>
              <a:blipFill>
                <a:blip r:embed="rId3"/>
                <a:stretch>
                  <a:fillRect l="-1043" t="-326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CF3D44E-FDBD-44F9-D894-E056CB9F80B0}"/>
              </a:ext>
            </a:extLst>
          </p:cNvPr>
          <p:cNvSpPr txBox="1"/>
          <p:nvPr/>
        </p:nvSpPr>
        <p:spPr>
          <a:xfrm>
            <a:off x="838200" y="6126480"/>
            <a:ext cx="11231880" cy="646331"/>
          </a:xfrm>
          <a:prstGeom prst="rect">
            <a:avLst/>
          </a:prstGeom>
          <a:noFill/>
        </p:spPr>
        <p:txBody>
          <a:bodyPr wrap="square" rtlCol="0">
            <a:spAutoFit/>
          </a:bodyPr>
          <a:lstStyle/>
          <a:p>
            <a:r>
              <a:rPr lang="fr-FR" dirty="0"/>
              <a:t>*Source : tcsa.fr/thermocouple/type-k-thermocouple.html</a:t>
            </a:r>
          </a:p>
          <a:p>
            <a:r>
              <a:rPr lang="fr-FR" dirty="0"/>
              <a:t>** Source </a:t>
            </a:r>
            <a:r>
              <a:rPr lang="en-US" dirty="0" err="1"/>
              <a:t>doi</a:t>
            </a:r>
            <a:r>
              <a:rPr lang="en-US" dirty="0"/>
              <a:t>: </a:t>
            </a:r>
            <a:r>
              <a:rPr lang="en-US" u="sng" dirty="0">
                <a:hlinkClick r:id="rId4"/>
              </a:rPr>
              <a:t>10.1038/s41598-020-59441-1</a:t>
            </a:r>
            <a:endParaRPr lang="en-US" dirty="0"/>
          </a:p>
        </p:txBody>
      </p:sp>
      <p:sp>
        <p:nvSpPr>
          <p:cNvPr id="5" name="Slide Number Placeholder 4">
            <a:extLst>
              <a:ext uri="{FF2B5EF4-FFF2-40B4-BE49-F238E27FC236}">
                <a16:creationId xmlns:a16="http://schemas.microsoft.com/office/drawing/2014/main" id="{3A57C2EC-14FC-7B6E-D267-A6016DDBD7BD}"/>
              </a:ext>
            </a:extLst>
          </p:cNvPr>
          <p:cNvSpPr>
            <a:spLocks noGrp="1"/>
          </p:cNvSpPr>
          <p:nvPr>
            <p:ph type="sldNum" sz="quarter" idx="12"/>
          </p:nvPr>
        </p:nvSpPr>
        <p:spPr/>
        <p:txBody>
          <a:bodyPr/>
          <a:lstStyle/>
          <a:p>
            <a:fld id="{FD85B578-4E75-4E1C-9BE3-D5DCC0715B13}" type="slidenum">
              <a:rPr lang="fr-FR" smtClean="0"/>
              <a:t>28</a:t>
            </a:fld>
            <a:endParaRPr lang="fr-FR"/>
          </a:p>
        </p:txBody>
      </p:sp>
    </p:spTree>
    <p:extLst>
      <p:ext uri="{BB962C8B-B14F-4D97-AF65-F5344CB8AC3E}">
        <p14:creationId xmlns:p14="http://schemas.microsoft.com/office/powerpoint/2010/main" val="153986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4ABDAC-1290-62BE-A747-49C13C124D1C}"/>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5F4ABDAC-1290-62BE-A747-49C13C124D1C}"/>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3B03C2-BC51-3422-84F2-F0391762AC5A}"/>
                  </a:ext>
                </a:extLst>
              </p:cNvPr>
              <p:cNvSpPr>
                <a:spLocks noGrp="1"/>
              </p:cNvSpPr>
              <p:nvPr>
                <p:ph idx="1"/>
              </p:nvPr>
            </p:nvSpPr>
            <p:spPr>
              <a:xfrm>
                <a:off x="838200" y="1418558"/>
                <a:ext cx="10515600" cy="1902313"/>
              </a:xfrm>
            </p:spPr>
            <p:txBody>
              <a:bodyPr>
                <a:normAutofit fontScale="47500" lnSpcReduction="20000"/>
              </a:bodyPr>
              <a:lstStyle/>
              <a:p>
                <a:r>
                  <a:rPr lang="fr-FR" sz="3300" dirty="0"/>
                  <a:t>Conductivité thermique du 4340 trouvé dans la littérature : </a:t>
                </a:r>
              </a:p>
              <a:p>
                <a:pPr marL="0" indent="0">
                  <a:buNone/>
                </a:pPr>
                <a14:m>
                  <m:oMath xmlns:m="http://schemas.openxmlformats.org/officeDocument/2006/math">
                    <m:r>
                      <a:rPr lang="fr-FR" sz="3300" b="0" i="0" smtClean="0">
                        <a:latin typeface="Cambria Math" panose="02040503050406030204" pitchFamily="18" charset="0"/>
                      </a:rPr>
                      <m:t>[35,50]</m:t>
                    </m:r>
                    <m:r>
                      <a:rPr lang="fr-FR" sz="3300" i="1">
                        <a:latin typeface="Cambria Math" panose="02040503050406030204" pitchFamily="18" charset="0"/>
                      </a:rPr>
                      <m:t>𝑊</m:t>
                    </m:r>
                    <m:r>
                      <m:rPr>
                        <m:lit/>
                      </m:rPr>
                      <a:rPr lang="fr-FR" sz="3300" i="1">
                        <a:latin typeface="Cambria Math" panose="02040503050406030204" pitchFamily="18" charset="0"/>
                      </a:rPr>
                      <m:t>/</m:t>
                    </m:r>
                    <m:r>
                      <a:rPr lang="fr-FR" sz="3300" i="1">
                        <a:latin typeface="Cambria Math" panose="02040503050406030204" pitchFamily="18" charset="0"/>
                      </a:rPr>
                      <m:t>(</m:t>
                    </m:r>
                    <m:r>
                      <a:rPr lang="fr-FR" sz="3300" i="1">
                        <a:latin typeface="Cambria Math" panose="02040503050406030204" pitchFamily="18" charset="0"/>
                      </a:rPr>
                      <m:t>𝑚</m:t>
                    </m:r>
                    <m:r>
                      <a:rPr lang="fr-FR" sz="3300" i="1">
                        <a:latin typeface="Cambria Math" panose="02040503050406030204" pitchFamily="18" charset="0"/>
                      </a:rPr>
                      <m:t>⋅</m:t>
                    </m:r>
                    <m:r>
                      <m:rPr>
                        <m:sty m:val="p"/>
                      </m:rPr>
                      <a:rPr lang="fr-FR" sz="3300" i="1">
                        <a:latin typeface="Cambria Math" panose="02040503050406030204" pitchFamily="18" charset="0"/>
                      </a:rPr>
                      <m:t>K</m:t>
                    </m:r>
                    <m:r>
                      <a:rPr lang="fr-FR" sz="3300" i="1">
                        <a:latin typeface="Cambria Math" panose="02040503050406030204" pitchFamily="18" charset="0"/>
                      </a:rPr>
                      <m:t>)</m:t>
                    </m:r>
                  </m:oMath>
                </a14:m>
                <a:r>
                  <a:rPr lang="fr-FR" sz="3300" dirty="0"/>
                  <a:t> </a:t>
                </a:r>
                <a:r>
                  <a:rPr lang="fr-FR" sz="3300" dirty="0">
                    <a:sym typeface="Wingdings" panose="05000000000000000000" pitchFamily="2" charset="2"/>
                  </a:rPr>
                  <a:t> intervalle de confiance de 95.4% pour une loi normale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fr-FR" sz="3300" dirty="0"/>
              </a:p>
              <a:p>
                <a:pPr marL="0" indent="0">
                  <a:buNone/>
                </a:pPr>
                <a14:m>
                  <m:oMathPara xmlns:m="http://schemas.openxmlformats.org/officeDocument/2006/math">
                    <m:oMathParaPr>
                      <m:jc m:val="centerGroup"/>
                    </m:oMathParaPr>
                    <m:oMath xmlns:m="http://schemas.openxmlformats.org/officeDocument/2006/math">
                      <m:r>
                        <a:rPr lang="fr-FR" sz="3300" b="0" i="0" smtClean="0">
                          <a:latin typeface="Cambria Math" panose="02040503050406030204" pitchFamily="18" charset="0"/>
                        </a:rPr>
                        <m:t>𝑘</m:t>
                      </m:r>
                      <m:r>
                        <a:rPr lang="fr-FR" sz="3300" b="0" i="1" smtClean="0">
                          <a:latin typeface="Cambria Math" panose="02040503050406030204" pitchFamily="18" charset="0"/>
                        </a:rPr>
                        <m:t> ∼</m:t>
                      </m:r>
                      <m:r>
                        <a:rPr lang="fr-FR" sz="3300" b="0" i="1" smtClean="0">
                          <a:latin typeface="Cambria Math" panose="02040503050406030204" pitchFamily="18" charset="0"/>
                        </a:rPr>
                        <m:t>𝒩</m:t>
                      </m:r>
                      <m:r>
                        <a:rPr lang="fr-FR" sz="3300" b="0" i="1" smtClean="0">
                          <a:latin typeface="Cambria Math" panose="02040503050406030204" pitchFamily="18" charset="0"/>
                        </a:rPr>
                        <m:t>(42.5,3.75) </m:t>
                      </m:r>
                      <m:r>
                        <a:rPr lang="fr-FR" sz="3300" b="0" i="1" smtClean="0">
                          <a:latin typeface="Cambria Math" panose="02040503050406030204" pitchFamily="18" charset="0"/>
                        </a:rPr>
                        <m:t>𝑊</m:t>
                      </m:r>
                      <m:r>
                        <m:rPr>
                          <m:lit/>
                        </m:rPr>
                        <a:rPr lang="fr-FR" sz="3300" b="0" i="1" smtClean="0">
                          <a:latin typeface="Cambria Math" panose="02040503050406030204" pitchFamily="18" charset="0"/>
                        </a:rPr>
                        <m:t>/</m:t>
                      </m:r>
                      <m:r>
                        <a:rPr lang="fr-FR" sz="3300" b="0" i="1" smtClean="0">
                          <a:latin typeface="Cambria Math" panose="02040503050406030204" pitchFamily="18" charset="0"/>
                        </a:rPr>
                        <m:t>(</m:t>
                      </m:r>
                      <m:r>
                        <a:rPr lang="fr-FR" sz="3300" b="0" i="1" smtClean="0">
                          <a:latin typeface="Cambria Math" panose="02040503050406030204" pitchFamily="18" charset="0"/>
                        </a:rPr>
                        <m:t>𝑚</m:t>
                      </m:r>
                      <m:r>
                        <a:rPr lang="fr-FR" sz="3300" b="0" i="1" smtClean="0">
                          <a:latin typeface="Cambria Math" panose="02040503050406030204" pitchFamily="18" charset="0"/>
                        </a:rPr>
                        <m:t>⋅</m:t>
                      </m:r>
                      <m:r>
                        <m:rPr>
                          <m:sty m:val="p"/>
                        </m:rPr>
                        <a:rPr lang="fr-FR" sz="3300" b="0" i="1" smtClean="0">
                          <a:latin typeface="Cambria Math" panose="02040503050406030204" pitchFamily="18" charset="0"/>
                        </a:rPr>
                        <m:t>K</m:t>
                      </m:r>
                      <m:r>
                        <a:rPr lang="fr-FR" sz="3300" b="0" i="1" smtClean="0">
                          <a:latin typeface="Cambria Math" panose="02040503050406030204" pitchFamily="18" charset="0"/>
                        </a:rPr>
                        <m:t>)</m:t>
                      </m:r>
                    </m:oMath>
                  </m:oMathPara>
                </a14:m>
                <a:endParaRPr lang="en-US" sz="3300" dirty="0"/>
              </a:p>
              <a:p>
                <a:r>
                  <a:rPr lang="en-US" sz="3300" dirty="0" err="1"/>
                  <a:t>Emissivité</a:t>
                </a:r>
                <a:r>
                  <a:rPr lang="en-US" sz="3300" dirty="0"/>
                  <a:t> d’un 4340 trouvé dans la </a:t>
                </a:r>
                <a:r>
                  <a:rPr lang="en-US" sz="3300" dirty="0" err="1"/>
                  <a:t>littérature</a:t>
                </a:r>
                <a:r>
                  <a:rPr lang="en-US" sz="3300" dirty="0"/>
                  <a:t> :</a:t>
                </a:r>
              </a:p>
              <a:p>
                <a:pPr marL="0" indent="0">
                  <a:buNone/>
                </a:pPr>
                <a:r>
                  <a:rPr lang="en-US" sz="3300" dirty="0"/>
                  <a:t>[0.15,0.9] </a:t>
                </a:r>
                <a:r>
                  <a:rPr lang="en-US" sz="3300" dirty="0">
                    <a:sym typeface="Wingdings" panose="05000000000000000000" pitchFamily="2" charset="2"/>
                  </a:rPr>
                  <a:t> </a:t>
                </a:r>
                <a:r>
                  <a:rPr lang="en-US" sz="3300" dirty="0" err="1">
                    <a:sym typeface="Wingdings" panose="05000000000000000000" pitchFamily="2" charset="2"/>
                  </a:rPr>
                  <a:t>intervalle</a:t>
                </a:r>
                <a:r>
                  <a:rPr lang="en-US" sz="3300" dirty="0">
                    <a:sym typeface="Wingdings" panose="05000000000000000000" pitchFamily="2" charset="2"/>
                  </a:rPr>
                  <a:t> de </a:t>
                </a:r>
                <a:r>
                  <a:rPr lang="en-US" sz="3300" dirty="0" err="1">
                    <a:sym typeface="Wingdings" panose="05000000000000000000" pitchFamily="2" charset="2"/>
                  </a:rPr>
                  <a:t>confiance</a:t>
                </a:r>
                <a:r>
                  <a:rPr lang="en-US" sz="3300" dirty="0">
                    <a:sym typeface="Wingdings" panose="05000000000000000000" pitchFamily="2" charset="2"/>
                  </a:rPr>
                  <a:t> à 95.4% pour </a:t>
                </a:r>
                <a:r>
                  <a:rPr lang="en-US" sz="3300" dirty="0" err="1">
                    <a:sym typeface="Wingdings" panose="05000000000000000000" pitchFamily="2" charset="2"/>
                  </a:rPr>
                  <a:t>une</a:t>
                </a:r>
                <a:r>
                  <a:rPr lang="en-US" sz="3300" dirty="0">
                    <a:sym typeface="Wingdings" panose="05000000000000000000" pitchFamily="2" charset="2"/>
                  </a:rPr>
                  <a:t> </a:t>
                </a:r>
                <a:r>
                  <a:rPr lang="en-US" sz="3300" dirty="0" err="1"/>
                  <a:t>loi</a:t>
                </a:r>
                <a:r>
                  <a:rPr lang="en-US" sz="3300" dirty="0"/>
                  <a:t> </a:t>
                </a:r>
                <a:r>
                  <a:rPr lang="en-US" sz="3300" dirty="0" err="1"/>
                  <a:t>normale</a:t>
                </a:r>
                <a:r>
                  <a:rPr lang="en-US" sz="3300" dirty="0"/>
                  <a:t>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en-US" sz="3300" dirty="0"/>
              </a:p>
              <a:p>
                <a:pPr marL="0" indent="0" algn="ctr">
                  <a:buNone/>
                </a:pPr>
                <a14:m>
                  <m:oMathPara xmlns:m="http://schemas.openxmlformats.org/officeDocument/2006/math">
                    <m:oMathParaPr>
                      <m:jc m:val="centerGroup"/>
                    </m:oMathParaPr>
                    <m:oMath xmlns:m="http://schemas.openxmlformats.org/officeDocument/2006/math">
                      <m:r>
                        <a:rPr lang="fr-FR" sz="3300" b="0" i="1" smtClean="0">
                          <a:latin typeface="Cambria Math" panose="02040503050406030204" pitchFamily="18" charset="0"/>
                        </a:rPr>
                        <m:t>𝜀</m:t>
                      </m:r>
                      <m:r>
                        <a:rPr lang="fr-FR" sz="3300" i="1">
                          <a:latin typeface="Cambria Math" panose="02040503050406030204" pitchFamily="18" charset="0"/>
                        </a:rPr>
                        <m:t>∼</m:t>
                      </m:r>
                      <m:r>
                        <a:rPr lang="fr-FR" sz="3300" i="1">
                          <a:latin typeface="Cambria Math" panose="02040503050406030204" pitchFamily="18" charset="0"/>
                        </a:rPr>
                        <m:t>𝒩</m:t>
                      </m:r>
                      <m:d>
                        <m:dPr>
                          <m:ctrlPr>
                            <a:rPr lang="fr-FR" sz="3300" b="0" i="1" smtClean="0">
                              <a:latin typeface="Cambria Math" panose="02040503050406030204" pitchFamily="18" charset="0"/>
                            </a:rPr>
                          </m:ctrlPr>
                        </m:dPr>
                        <m:e>
                          <m:r>
                            <a:rPr lang="fr-FR" sz="3300" b="0" i="1" smtClean="0">
                              <a:latin typeface="Cambria Math" panose="02040503050406030204" pitchFamily="18" charset="0"/>
                            </a:rPr>
                            <m:t>0.525,0.19</m:t>
                          </m:r>
                        </m:e>
                      </m:d>
                    </m:oMath>
                  </m:oMathPara>
                </a14:m>
                <a:endParaRPr lang="fr-FR" sz="3300" b="0" dirty="0"/>
              </a:p>
              <a:p>
                <a:pPr marL="0" indent="0">
                  <a:buNone/>
                </a:pPr>
                <a:r>
                  <a:rPr lang="fr-FR" sz="3300" dirty="0"/>
                  <a:t>Par la méthode de Monte Carlo en travaillant sur la température moyenne de surface :</a:t>
                </a:r>
                <a:endParaRPr lang="fr-FR" sz="3300" b="0"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FF3B03C2-BC51-3422-84F2-F0391762AC5A}"/>
                  </a:ext>
                </a:extLst>
              </p:cNvPr>
              <p:cNvSpPr>
                <a:spLocks noGrp="1" noRot="1" noChangeAspect="1" noMove="1" noResize="1" noEditPoints="1" noAdjustHandles="1" noChangeArrowheads="1" noChangeShapeType="1" noTextEdit="1"/>
              </p:cNvSpPr>
              <p:nvPr>
                <p:ph idx="1"/>
              </p:nvPr>
            </p:nvSpPr>
            <p:spPr>
              <a:xfrm>
                <a:off x="838200" y="1418558"/>
                <a:ext cx="10515600" cy="1902313"/>
              </a:xfrm>
              <a:blipFill>
                <a:blip r:embed="rId3"/>
                <a:stretch>
                  <a:fillRect l="-348" t="-4167" b="-416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ED20CE4-3C39-9D44-374C-AC20D7FBAB84}"/>
              </a:ext>
            </a:extLst>
          </p:cNvPr>
          <p:cNvPicPr>
            <a:picLocks noChangeAspect="1"/>
          </p:cNvPicPr>
          <p:nvPr/>
        </p:nvPicPr>
        <p:blipFill>
          <a:blip r:embed="rId4">
            <a:extLst>
              <a:ext uri="{28A0092B-C50C-407E-A947-70E740481C1C}">
                <a14:useLocalDpi xmlns:a14="http://schemas.microsoft.com/office/drawing/2010/main" val="0"/>
              </a:ext>
            </a:extLst>
          </a:blip>
          <a:srcRect t="5346" r="67245"/>
          <a:stretch>
            <a:fillRect/>
          </a:stretch>
        </p:blipFill>
        <p:spPr>
          <a:xfrm>
            <a:off x="667378" y="3428999"/>
            <a:ext cx="3522785" cy="330739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5311083-8219-5CC9-7AD5-1BA45AE6D7E6}"/>
                  </a:ext>
                </a:extLst>
              </p:cNvPr>
              <p:cNvSpPr txBox="1"/>
              <p:nvPr/>
            </p:nvSpPr>
            <p:spPr>
              <a:xfrm>
                <a:off x="5556738" y="3320871"/>
                <a:ext cx="5967884" cy="795539"/>
              </a:xfrm>
              <a:prstGeom prst="rect">
                <a:avLst/>
              </a:prstGeom>
              <a:noFill/>
            </p:spPr>
            <p:txBody>
              <a:bodyPr wrap="square" rtlCol="0">
                <a:spAutoFit/>
              </a:bodyPr>
              <a:lstStyle/>
              <a:p>
                <a14:m>
                  <m:oMath xmlns:m="http://schemas.openxmlformats.org/officeDocument/2006/math">
                    <m:sSub>
                      <m:sSubPr>
                        <m:ctrlPr>
                          <a:rPr lang="fr-FR" sz="2200" b="0" i="1" smtClean="0">
                            <a:latin typeface="Cambria Math" panose="02040503050406030204" pitchFamily="18" charset="0"/>
                          </a:rPr>
                        </m:ctrlPr>
                      </m:sSubPr>
                      <m:e>
                        <m:r>
                          <a:rPr lang="fr-FR" sz="2200" b="0" i="1" smtClean="0">
                            <a:latin typeface="Cambria Math" panose="02040503050406030204" pitchFamily="18" charset="0"/>
                          </a:rPr>
                          <m:t>𝑢</m:t>
                        </m:r>
                      </m:e>
                      <m:sub>
                        <m:r>
                          <a:rPr lang="fr-FR" sz="2200" b="0" i="1" smtClean="0">
                            <a:latin typeface="Cambria Math" panose="02040503050406030204" pitchFamily="18" charset="0"/>
                          </a:rPr>
                          <m:t>𝑖𝑛𝑝𝑢𝑡</m:t>
                        </m:r>
                      </m:sub>
                    </m:sSub>
                    <m:r>
                      <a:rPr lang="fr-FR" sz="2200" b="0" i="1" smtClean="0">
                        <a:latin typeface="Cambria Math" panose="02040503050406030204" pitchFamily="18" charset="0"/>
                      </a:rPr>
                      <m:t>=44.91 </m:t>
                    </m:r>
                    <m:r>
                      <m:rPr>
                        <m:sty m:val="p"/>
                      </m:rPr>
                      <a:rPr lang="fr-FR" sz="2200" b="0" i="0" smtClean="0">
                        <a:latin typeface="Cambria Math" panose="02040503050406030204" pitchFamily="18" charset="0"/>
                      </a:rPr>
                      <m:t>K</m:t>
                    </m:r>
                  </m:oMath>
                </a14:m>
                <a:r>
                  <a:rPr lang="en-US" sz="2200" dirty="0"/>
                  <a:t> </a:t>
                </a:r>
              </a:p>
              <a:p>
                <a:r>
                  <a:rPr lang="en-US" sz="2200" dirty="0"/>
                  <a:t>Effort à faire sur </a:t>
                </a:r>
                <a:r>
                  <a:rPr lang="en-US" sz="2200" dirty="0" err="1"/>
                  <a:t>l’incertitude</a:t>
                </a:r>
                <a:r>
                  <a:rPr lang="en-US" sz="2200" dirty="0"/>
                  <a:t> de </a:t>
                </a:r>
                <a14:m>
                  <m:oMath xmlns:m="http://schemas.openxmlformats.org/officeDocument/2006/math">
                    <m:r>
                      <m:rPr>
                        <m:sty m:val="p"/>
                      </m:rPr>
                      <a:rPr lang="fr-FR" sz="2200" b="0" i="1" smtClean="0">
                        <a:latin typeface="Cambria Math" panose="02040503050406030204" pitchFamily="18" charset="0"/>
                      </a:rPr>
                      <m:t>ε</m:t>
                    </m:r>
                  </m:oMath>
                </a14:m>
                <a:r>
                  <a:rPr lang="en-US" sz="2200" dirty="0"/>
                  <a:t> </a:t>
                </a:r>
              </a:p>
            </p:txBody>
          </p:sp>
        </mc:Choice>
        <mc:Fallback xmlns="">
          <p:sp>
            <p:nvSpPr>
              <p:cNvPr id="6" name="TextBox 5">
                <a:extLst>
                  <a:ext uri="{FF2B5EF4-FFF2-40B4-BE49-F238E27FC236}">
                    <a16:creationId xmlns:a16="http://schemas.microsoft.com/office/drawing/2014/main" id="{E5311083-8219-5CC9-7AD5-1BA45AE6D7E6}"/>
                  </a:ext>
                </a:extLst>
              </p:cNvPr>
              <p:cNvSpPr txBox="1">
                <a:spLocks noRot="1" noChangeAspect="1" noMove="1" noResize="1" noEditPoints="1" noAdjustHandles="1" noChangeArrowheads="1" noChangeShapeType="1" noTextEdit="1"/>
              </p:cNvSpPr>
              <p:nvPr/>
            </p:nvSpPr>
            <p:spPr>
              <a:xfrm>
                <a:off x="5556738" y="3320871"/>
                <a:ext cx="5967884" cy="795539"/>
              </a:xfrm>
              <a:prstGeom prst="rect">
                <a:avLst/>
              </a:prstGeom>
              <a:blipFill>
                <a:blip r:embed="rId5"/>
                <a:stretch>
                  <a:fillRect l="-1328" t="-3846" b="-15385"/>
                </a:stretch>
              </a:blipFill>
            </p:spPr>
            <p:txBody>
              <a:bodyPr/>
              <a:lstStyle/>
              <a:p>
                <a:r>
                  <a:rPr lang="en-US">
                    <a:noFill/>
                  </a:rPr>
                  <a:t> </a:t>
                </a:r>
              </a:p>
            </p:txBody>
          </p:sp>
        </mc:Fallback>
      </mc:AlternateContent>
      <p:pic>
        <p:nvPicPr>
          <p:cNvPr id="10" name="Content Placeholder 4">
            <a:extLst>
              <a:ext uri="{FF2B5EF4-FFF2-40B4-BE49-F238E27FC236}">
                <a16:creationId xmlns:a16="http://schemas.microsoft.com/office/drawing/2014/main" id="{E6568F1A-BFDC-4D6C-F765-418948158524}"/>
              </a:ext>
            </a:extLst>
          </p:cNvPr>
          <p:cNvPicPr>
            <a:picLocks noChangeAspect="1"/>
          </p:cNvPicPr>
          <p:nvPr/>
        </p:nvPicPr>
        <p:blipFill>
          <a:blip r:embed="rId4">
            <a:extLst>
              <a:ext uri="{28A0092B-C50C-407E-A947-70E740481C1C}">
                <a14:useLocalDpi xmlns:a14="http://schemas.microsoft.com/office/drawing/2010/main" val="0"/>
              </a:ext>
            </a:extLst>
          </a:blip>
          <a:srcRect l="32515" t="8282"/>
          <a:stretch>
            <a:fillRect/>
          </a:stretch>
        </p:blipFill>
        <p:spPr>
          <a:xfrm>
            <a:off x="5652467" y="4400835"/>
            <a:ext cx="5120148" cy="2260801"/>
          </a:xfrm>
          <a:prstGeom prst="rect">
            <a:avLst/>
          </a:prstGeom>
        </p:spPr>
      </p:pic>
      <p:sp>
        <p:nvSpPr>
          <p:cNvPr id="4" name="Slide Number Placeholder 3">
            <a:extLst>
              <a:ext uri="{FF2B5EF4-FFF2-40B4-BE49-F238E27FC236}">
                <a16:creationId xmlns:a16="http://schemas.microsoft.com/office/drawing/2014/main" id="{8E37EE47-0995-E8D7-E735-E1DCAE1037BC}"/>
              </a:ext>
            </a:extLst>
          </p:cNvPr>
          <p:cNvSpPr>
            <a:spLocks noGrp="1"/>
          </p:cNvSpPr>
          <p:nvPr>
            <p:ph type="sldNum" sz="quarter" idx="12"/>
          </p:nvPr>
        </p:nvSpPr>
        <p:spPr/>
        <p:txBody>
          <a:bodyPr/>
          <a:lstStyle/>
          <a:p>
            <a:fld id="{FD85B578-4E75-4E1C-9BE3-D5DCC0715B13}" type="slidenum">
              <a:rPr lang="fr-FR" smtClean="0"/>
              <a:t>29</a:t>
            </a:fld>
            <a:endParaRPr lang="fr-FR"/>
          </a:p>
        </p:txBody>
      </p:sp>
    </p:spTree>
    <p:extLst>
      <p:ext uri="{BB962C8B-B14F-4D97-AF65-F5344CB8AC3E}">
        <p14:creationId xmlns:p14="http://schemas.microsoft.com/office/powerpoint/2010/main" val="28109578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820A09-0F49-B31F-9AA1-11B0ABCFF4D4}"/>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66820A09-0F49-B31F-9AA1-11B0ABCFF4D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B71198-7608-579F-B3DD-7C7CBD28912F}"/>
                  </a:ext>
                </a:extLst>
              </p:cNvPr>
              <p:cNvSpPr>
                <a:spLocks noGrp="1"/>
              </p:cNvSpPr>
              <p:nvPr>
                <p:ph idx="1"/>
              </p:nvPr>
            </p:nvSpPr>
            <p:spPr>
              <a:xfrm>
                <a:off x="838200" y="1825625"/>
                <a:ext cx="10515600" cy="1462085"/>
              </a:xfrm>
            </p:spPr>
            <p:txBody>
              <a:bodyPr>
                <a:normAutofit fontScale="92500"/>
              </a:bodyPr>
              <a:lstStyle/>
              <a:p>
                <a:r>
                  <a:rPr lang="fr-FR" dirty="0"/>
                  <a:t>Par une méthode moins conservatrice en considérant les intervalles des valeurs trouvé dans la littérature comme des intervalles de confiance à 99% il est possible de réduire considérablement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3" name="Content Placeholder 2">
                <a:extLst>
                  <a:ext uri="{FF2B5EF4-FFF2-40B4-BE49-F238E27FC236}">
                    <a16:creationId xmlns:a16="http://schemas.microsoft.com/office/drawing/2014/main" id="{7BB71198-7608-579F-B3DD-7C7CBD28912F}"/>
                  </a:ext>
                </a:extLst>
              </p:cNvPr>
              <p:cNvSpPr>
                <a:spLocks noGrp="1" noRot="1" noChangeAspect="1" noMove="1" noResize="1" noEditPoints="1" noAdjustHandles="1" noChangeArrowheads="1" noChangeShapeType="1" noTextEdit="1"/>
              </p:cNvSpPr>
              <p:nvPr>
                <p:ph idx="1"/>
              </p:nvPr>
            </p:nvSpPr>
            <p:spPr>
              <a:xfrm>
                <a:off x="838200" y="1825625"/>
                <a:ext cx="10515600" cy="1462085"/>
              </a:xfrm>
              <a:blipFill>
                <a:blip r:embed="rId3"/>
                <a:stretch>
                  <a:fillRect l="-928" t="-625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1EA1BFD-A6AF-4A14-34C0-65467A1D021C}"/>
              </a:ext>
            </a:extLst>
          </p:cNvPr>
          <p:cNvSpPr>
            <a:spLocks noGrp="1"/>
          </p:cNvSpPr>
          <p:nvPr>
            <p:ph type="sldNum" sz="quarter" idx="12"/>
          </p:nvPr>
        </p:nvSpPr>
        <p:spPr/>
        <p:txBody>
          <a:bodyPr/>
          <a:lstStyle/>
          <a:p>
            <a:fld id="{FD85B578-4E75-4E1C-9BE3-D5DCC0715B13}" type="slidenum">
              <a:rPr lang="fr-FR" smtClean="0"/>
              <a:t>30</a:t>
            </a:fld>
            <a:endParaRPr lang="fr-FR"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0E9DB5F-EBD0-D834-D4ED-493307BE600E}"/>
                  </a:ext>
                </a:extLst>
              </p:cNvPr>
              <p:cNvSpPr txBox="1"/>
              <p:nvPr/>
            </p:nvSpPr>
            <p:spPr>
              <a:xfrm>
                <a:off x="501445" y="5642899"/>
                <a:ext cx="7076768" cy="849976"/>
              </a:xfrm>
              <a:prstGeom prst="rect">
                <a:avLst/>
              </a:prstGeom>
              <a:noFill/>
            </p:spPr>
            <p:txBody>
              <a:bodyPr wrap="square" rtlCol="0">
                <a:spAutoFit/>
              </a:bodyPr>
              <a:lstStyle/>
              <a:p>
                <a:r>
                  <a:rPr lang="fr-FR" sz="1600" b="0" i="1" dirty="0">
                    <a:latin typeface="Cambria Math" panose="02040503050406030204" pitchFamily="18" charset="0"/>
                  </a:rPr>
                  <a:t>Résultat pour intervalle de confian</a:t>
                </a:r>
                <a:r>
                  <a:rPr lang="fr-FR" sz="1600" i="1" dirty="0">
                    <a:latin typeface="Cambria Math" panose="02040503050406030204" pitchFamily="18" charset="0"/>
                  </a:rPr>
                  <a:t>ce à 99%</a:t>
                </a:r>
                <a:endParaRPr lang="fr-FR" sz="1600" b="0" i="1" dirty="0">
                  <a:latin typeface="Cambria Math" panose="02040503050406030204" pitchFamily="18" charset="0"/>
                </a:endParaRPr>
              </a:p>
              <a:p>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𝑢</m:t>
                        </m:r>
                      </m:e>
                      <m:sub>
                        <m:r>
                          <a:rPr lang="fr-FR" sz="1600" b="0" i="1" smtClean="0">
                            <a:latin typeface="Cambria Math" panose="02040503050406030204" pitchFamily="18" charset="0"/>
                          </a:rPr>
                          <m:t>𝑖𝑛𝑝𝑢𝑡</m:t>
                        </m:r>
                      </m:sub>
                    </m:sSub>
                    <m:r>
                      <a:rPr lang="fr-FR" sz="1600" b="0" i="1" smtClean="0">
                        <a:latin typeface="Cambria Math" panose="02040503050406030204" pitchFamily="18" charset="0"/>
                      </a:rPr>
                      <m:t>=13.1 </m:t>
                    </m:r>
                    <m:r>
                      <m:rPr>
                        <m:sty m:val="p"/>
                      </m:rPr>
                      <a:rPr lang="fr-FR" sz="1600" b="0" i="1" smtClean="0">
                        <a:latin typeface="Cambria Math" panose="02040503050406030204" pitchFamily="18" charset="0"/>
                      </a:rPr>
                      <m:t>K</m:t>
                    </m:r>
                  </m:oMath>
                </a14:m>
                <a:r>
                  <a:rPr lang="en-US" sz="1600" dirty="0"/>
                  <a:t> pour </a:t>
                </a:r>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𝜎</m:t>
                        </m:r>
                      </m:e>
                      <m:sub>
                        <m:r>
                          <a:rPr lang="fr-FR" sz="1600" b="0" i="1" smtClean="0">
                            <a:latin typeface="Cambria Math" panose="02040503050406030204" pitchFamily="18" charset="0"/>
                          </a:rPr>
                          <m:t>𝜀</m:t>
                        </m:r>
                      </m:sub>
                    </m:sSub>
                    <m:r>
                      <a:rPr lang="fr-FR" sz="1600" b="0" i="1" smtClean="0">
                        <a:latin typeface="Cambria Math" panose="02040503050406030204" pitchFamily="18" charset="0"/>
                      </a:rPr>
                      <m:t>=0.07</m:t>
                    </m:r>
                    <m:r>
                      <a:rPr lang="fr-FR" sz="1600" b="1" i="1" smtClean="0">
                        <a:latin typeface="Cambria Math" panose="02040503050406030204" pitchFamily="18" charset="0"/>
                      </a:rPr>
                      <m:t>5 </m:t>
                    </m:r>
                    <m:r>
                      <m:rPr>
                        <m:sty m:val="p"/>
                      </m:rPr>
                      <a:rPr lang="fr-FR" sz="1600" b="1" i="1" smtClean="0">
                        <a:latin typeface="Cambria Math" panose="02040503050406030204" pitchFamily="18" charset="0"/>
                      </a:rPr>
                      <m:t>et</m:t>
                    </m:r>
                    <m:r>
                      <a:rPr lang="fr-FR" sz="1600" b="1" i="1" smtClean="0">
                        <a:latin typeface="Cambria Math" panose="02040503050406030204" pitchFamily="18" charset="0"/>
                      </a:rPr>
                      <m:t> </m:t>
                    </m:r>
                    <m:r>
                      <m:rPr>
                        <m:sty m:val="p"/>
                      </m:rPr>
                      <a:rPr lang="fr-FR" sz="1600" b="1" i="1" smtClean="0">
                        <a:latin typeface="Cambria Math" panose="02040503050406030204" pitchFamily="18" charset="0"/>
                      </a:rPr>
                      <m:t>σk</m:t>
                    </m:r>
                    <m:r>
                      <a:rPr lang="fr-FR" sz="1600" b="1" i="1" smtClean="0">
                        <a:latin typeface="Cambria Math" panose="02040503050406030204" pitchFamily="18" charset="0"/>
                      </a:rPr>
                      <m:t> = 2.5⇒</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𝒖</m:t>
                        </m:r>
                      </m:e>
                      <m:sub>
                        <m:r>
                          <a:rPr lang="fr-FR" sz="1600" b="1" i="1" smtClean="0">
                            <a:latin typeface="Cambria Math" panose="02040503050406030204" pitchFamily="18" charset="0"/>
                          </a:rPr>
                          <m:t>𝒗𝒂𝒍</m:t>
                        </m:r>
                      </m:sub>
                    </m:sSub>
                    <m:r>
                      <a:rPr lang="fr-FR" sz="1600" b="1" i="1" smtClean="0">
                        <a:latin typeface="Cambria Math" panose="02040503050406030204" pitchFamily="18" charset="0"/>
                      </a:rPr>
                      <m:t>=13.16 </m:t>
                    </m:r>
                    <m:r>
                      <a:rPr lang="fr-FR" sz="1600" b="1" i="1" smtClean="0">
                        <a:latin typeface="Cambria Math" panose="02040503050406030204" pitchFamily="18" charset="0"/>
                      </a:rPr>
                      <m:t>𝑲</m:t>
                    </m:r>
                  </m:oMath>
                </a14:m>
                <a:endParaRPr lang="en-US" sz="1600" dirty="0"/>
              </a:p>
              <a:p>
                <a:r>
                  <a:rPr lang="en-US" sz="1600" dirty="0"/>
                  <a:t> </a:t>
                </a:r>
                <a14:m>
                  <m:oMath xmlns:m="http://schemas.openxmlformats.org/officeDocument/2006/math">
                    <m:r>
                      <a:rPr lang="en-US" sz="1600" b="1" i="1">
                        <a:latin typeface="Cambria Math" panose="02040503050406030204" pitchFamily="18" charset="0"/>
                      </a:rPr>
                      <m:t>⇒</m:t>
                    </m:r>
                    <m:r>
                      <m:rPr>
                        <m:nor/>
                      </m:rPr>
                      <a:rPr lang="en-US" sz="1600" dirty="0"/>
                      <m:t>−</m:t>
                    </m:r>
                    <m:r>
                      <m:rPr>
                        <m:nor/>
                      </m:rPr>
                      <a:rPr lang="fr-FR" sz="1600" b="0" i="0" dirty="0" smtClean="0"/>
                      <m:t>14.5</m:t>
                    </m:r>
                    <m:r>
                      <m:rPr>
                        <m:nor/>
                      </m:rPr>
                      <a:rPr lang="en-US" sz="1600" dirty="0"/>
                      <m:t> </m:t>
                    </m:r>
                    <m:r>
                      <m:rPr>
                        <m:nor/>
                      </m:rPr>
                      <a:rPr lang="en-US" sz="1600" dirty="0"/>
                      <m:t>K</m:t>
                    </m:r>
                    <m:r>
                      <m:rPr>
                        <m:nor/>
                      </m:rPr>
                      <a:rPr lang="en-US" sz="1600" dirty="0"/>
                      <m:t> &lt;</m:t>
                    </m:r>
                    <m:sSub>
                      <m:sSubPr>
                        <m:ctrlPr>
                          <a:rPr lang="fr-FR" sz="1600" i="1">
                            <a:latin typeface="Cambria Math" panose="02040503050406030204" pitchFamily="18" charset="0"/>
                          </a:rPr>
                        </m:ctrlPr>
                      </m:sSubPr>
                      <m:e>
                        <m:r>
                          <a:rPr lang="fr-FR" sz="1600" b="0" i="1" smtClean="0">
                            <a:latin typeface="Cambria Math" panose="02040503050406030204" pitchFamily="18" charset="0"/>
                          </a:rPr>
                          <m:t> </m:t>
                        </m:r>
                        <m:r>
                          <m:rPr>
                            <m:sty m:val="p"/>
                          </m:rPr>
                          <a:rPr lang="fr-FR" sz="1600" b="0" i="1">
                            <a:latin typeface="Cambria Math" panose="02040503050406030204" pitchFamily="18" charset="0"/>
                          </a:rPr>
                          <m:t>δ</m:t>
                        </m:r>
                      </m:e>
                      <m:sub>
                        <m:r>
                          <m:rPr>
                            <m:sty m:val="p"/>
                          </m:rPr>
                          <a:rPr lang="fr-FR" sz="1600" b="0" i="1">
                            <a:latin typeface="Cambria Math" panose="02040503050406030204" pitchFamily="18" charset="0"/>
                          </a:rPr>
                          <m:t>model</m:t>
                        </m:r>
                      </m:sub>
                    </m:sSub>
                    <m:r>
                      <a:rPr lang="fr-FR" sz="1600" b="0">
                        <a:latin typeface="Cambria Math" panose="02040503050406030204" pitchFamily="18" charset="0"/>
                      </a:rPr>
                      <m:t>&lt;</m:t>
                    </m:r>
                    <m:r>
                      <a:rPr lang="fr-FR" sz="1600" b="0" i="1" smtClean="0">
                        <a:latin typeface="Cambria Math" panose="02040503050406030204" pitchFamily="18" charset="0"/>
                      </a:rPr>
                      <m:t>38.1</m:t>
                    </m:r>
                    <m:r>
                      <m:rPr>
                        <m:sty m:val="p"/>
                      </m:rPr>
                      <a:rPr lang="fr-FR" sz="1600" b="0" i="1">
                        <a:latin typeface="Cambria Math" panose="02040503050406030204" pitchFamily="18" charset="0"/>
                      </a:rPr>
                      <m:t>K</m:t>
                    </m:r>
                  </m:oMath>
                </a14:m>
                <a:r>
                  <a:rPr lang="en-US" sz="1600" dirty="0"/>
                  <a:t> </a:t>
                </a:r>
              </a:p>
            </p:txBody>
          </p:sp>
        </mc:Choice>
        <mc:Fallback xmlns="">
          <p:sp>
            <p:nvSpPr>
              <p:cNvPr id="6" name="TextBox 5">
                <a:extLst>
                  <a:ext uri="{FF2B5EF4-FFF2-40B4-BE49-F238E27FC236}">
                    <a16:creationId xmlns:a16="http://schemas.microsoft.com/office/drawing/2014/main" id="{D0E9DB5F-EBD0-D834-D4ED-493307BE600E}"/>
                  </a:ext>
                </a:extLst>
              </p:cNvPr>
              <p:cNvSpPr txBox="1">
                <a:spLocks noRot="1" noChangeAspect="1" noMove="1" noResize="1" noEditPoints="1" noAdjustHandles="1" noChangeArrowheads="1" noChangeShapeType="1" noTextEdit="1"/>
              </p:cNvSpPr>
              <p:nvPr/>
            </p:nvSpPr>
            <p:spPr>
              <a:xfrm>
                <a:off x="501445" y="5642899"/>
                <a:ext cx="7076768" cy="849976"/>
              </a:xfrm>
              <a:prstGeom prst="rect">
                <a:avLst/>
              </a:prstGeom>
              <a:blipFill>
                <a:blip r:embed="rId4"/>
                <a:stretch>
                  <a:fillRect l="-431" t="-2878" b="-8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5D42C7E-25E3-AF65-F96B-BB8C9D734754}"/>
                  </a:ext>
                </a:extLst>
              </p:cNvPr>
              <p:cNvSpPr txBox="1"/>
              <p:nvPr/>
            </p:nvSpPr>
            <p:spPr>
              <a:xfrm>
                <a:off x="7973961" y="3429000"/>
                <a:ext cx="3883742" cy="2464521"/>
              </a:xfrm>
              <a:prstGeom prst="rect">
                <a:avLst/>
              </a:prstGeom>
              <a:noFill/>
            </p:spPr>
            <p:txBody>
              <a:bodyPr wrap="square" rtlCol="0">
                <a:spAutoFit/>
              </a:bodyPr>
              <a:lstStyle/>
              <a:p>
                <a:r>
                  <a:rPr lang="fr-FR" b="0" dirty="0">
                    <a:latin typeface="Cambria Math" panose="02040503050406030204" pitchFamily="18" charset="0"/>
                  </a:rPr>
                  <a:t>Dans le cas d’une loi normale : </a:t>
                </a:r>
              </a:p>
              <a:p>
                <a:pPr/>
                <a14:m>
                  <m:oMathPara xmlns:m="http://schemas.openxmlformats.org/officeDocument/2006/math">
                    <m:oMathParaPr>
                      <m:jc m:val="centerGroup"/>
                    </m:oMathParaPr>
                    <m:oMath xmlns:m="http://schemas.openxmlformats.org/officeDocument/2006/math">
                      <m:d>
                        <m:dPr>
                          <m:begChr m:val="["/>
                          <m:endChr m:val="]"/>
                          <m:ctrlPr>
                            <a:rPr lang="fr-FR" b="0" i="1" smtClean="0">
                              <a:latin typeface="Cambria Math" panose="02040503050406030204" pitchFamily="18" charset="0"/>
                            </a:rPr>
                          </m:ctrlPr>
                        </m:dPr>
                        <m:e>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𝑏</m:t>
                          </m:r>
                        </m:e>
                      </m:d>
                      <m:r>
                        <a:rPr lang="fr-FR" b="0" i="1" smtClean="0">
                          <a:latin typeface="Cambria Math" panose="02040503050406030204" pitchFamily="18" charset="0"/>
                        </a:rPr>
                        <m:t>→</m:t>
                      </m:r>
                      <m:r>
                        <a:rPr lang="fr-FR" b="0" i="1" smtClean="0">
                          <a:latin typeface="Cambria Math" panose="02040503050406030204" pitchFamily="18" charset="0"/>
                        </a:rPr>
                        <m:t>𝜇</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a</m:t>
                          </m:r>
                          <m:r>
                            <a:rPr lang="fr-FR" b="0" i="1" smtClean="0">
                              <a:latin typeface="Cambria Math" panose="02040503050406030204" pitchFamily="18" charset="0"/>
                            </a:rPr>
                            <m:t>+</m:t>
                          </m:r>
                          <m:r>
                            <m:rPr>
                              <m:sty m:val="p"/>
                            </m:rPr>
                            <a:rPr lang="fr-FR" b="0" i="1" smtClean="0">
                              <a:latin typeface="Cambria Math" panose="02040503050406030204" pitchFamily="18" charset="0"/>
                            </a:rPr>
                            <m:t>b</m:t>
                          </m:r>
                        </m:num>
                        <m:den>
                          <m:r>
                            <a:rPr lang="fr-FR" b="0" i="1" smtClean="0">
                              <a:latin typeface="Cambria Math" panose="02040503050406030204" pitchFamily="18" charset="0"/>
                            </a:rPr>
                            <m:t>2</m:t>
                          </m:r>
                        </m:den>
                      </m:f>
                    </m:oMath>
                  </m:oMathPara>
                </a14:m>
                <a:endParaRPr lang="fr-FR" b="0" dirty="0"/>
              </a:p>
              <a:p>
                <a:r>
                  <a:rPr lang="en-US" dirty="0"/>
                  <a:t>Pour </a:t>
                </a:r>
                <a:r>
                  <a:rPr lang="en-US" dirty="0" err="1"/>
                  <a:t>intervalle</a:t>
                </a:r>
                <a:r>
                  <a:rPr lang="en-US" dirty="0"/>
                  <a:t> de </a:t>
                </a:r>
                <a:r>
                  <a:rPr lang="en-US" dirty="0" err="1"/>
                  <a:t>confiance</a:t>
                </a:r>
                <a:r>
                  <a:rPr lang="en-US" dirty="0"/>
                  <a:t> à 95,4% :</a:t>
                </a:r>
              </a:p>
              <a:p>
                <a14:m>
                  <m:oMath xmlns:m="http://schemas.openxmlformats.org/officeDocument/2006/math">
                    <m:r>
                      <m:rPr>
                        <m:sty m:val="p"/>
                      </m:rPr>
                      <a:rPr lang="fr-FR" b="0" i="1" smtClean="0">
                        <a:latin typeface="Cambria Math" panose="02040503050406030204" pitchFamily="18" charset="0"/>
                      </a:rPr>
                      <m:t>σ</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μ</m:t>
                        </m:r>
                        <m:r>
                          <a:rPr lang="fr-FR" b="0" i="1" smtClean="0">
                            <a:latin typeface="Cambria Math" panose="02040503050406030204" pitchFamily="18" charset="0"/>
                          </a:rPr>
                          <m:t>−</m:t>
                        </m:r>
                        <m:r>
                          <m:rPr>
                            <m:sty m:val="p"/>
                          </m:rPr>
                          <a:rPr lang="fr-FR" b="0" i="1" smtClean="0">
                            <a:latin typeface="Cambria Math" panose="02040503050406030204" pitchFamily="18" charset="0"/>
                          </a:rPr>
                          <m:t>a</m:t>
                        </m:r>
                      </m:num>
                      <m:den>
                        <m:r>
                          <a:rPr lang="fr-FR" b="0" i="1" smtClean="0">
                            <a:latin typeface="Cambria Math" panose="02040503050406030204" pitchFamily="18" charset="0"/>
                          </a:rPr>
                          <m:t>2</m:t>
                        </m:r>
                      </m:den>
                    </m:f>
                  </m:oMath>
                </a14:m>
                <a:r>
                  <a:rPr lang="en-US" dirty="0"/>
                  <a:t> </a:t>
                </a:r>
              </a:p>
              <a:p>
                <a:r>
                  <a:rPr lang="en-US" dirty="0"/>
                  <a:t>Pour </a:t>
                </a:r>
                <a:r>
                  <a:rPr lang="en-US" dirty="0" err="1"/>
                  <a:t>intervalle</a:t>
                </a:r>
                <a:r>
                  <a:rPr lang="en-US" dirty="0"/>
                  <a:t> de </a:t>
                </a:r>
                <a:r>
                  <a:rPr lang="en-US" dirty="0" err="1"/>
                  <a:t>confiance</a:t>
                </a:r>
                <a:r>
                  <a:rPr lang="en-US" dirty="0"/>
                  <a:t> à 99% :</a:t>
                </a:r>
              </a:p>
              <a:p>
                <a14:m>
                  <m:oMath xmlns:m="http://schemas.openxmlformats.org/officeDocument/2006/math">
                    <m:r>
                      <m:rPr>
                        <m:sty m:val="p"/>
                      </m:rPr>
                      <a:rPr lang="fr-FR" i="1">
                        <a:latin typeface="Cambria Math" panose="02040503050406030204" pitchFamily="18" charset="0"/>
                      </a:rPr>
                      <m:t>σ</m:t>
                    </m:r>
                    <m:r>
                      <a:rPr lang="fr-FR" i="1">
                        <a:latin typeface="Cambria Math" panose="02040503050406030204" pitchFamily="18" charset="0"/>
                      </a:rPr>
                      <m:t>= </m:t>
                    </m:r>
                    <m:f>
                      <m:fPr>
                        <m:ctrlPr>
                          <a:rPr lang="fr-FR" i="1">
                            <a:latin typeface="Cambria Math" panose="02040503050406030204" pitchFamily="18" charset="0"/>
                          </a:rPr>
                        </m:ctrlPr>
                      </m:fPr>
                      <m:num>
                        <m:r>
                          <m:rPr>
                            <m:sty m:val="p"/>
                          </m:rPr>
                          <a:rPr lang="fr-FR" i="1">
                            <a:latin typeface="Cambria Math" panose="02040503050406030204" pitchFamily="18" charset="0"/>
                          </a:rPr>
                          <m:t>μ</m:t>
                        </m:r>
                        <m:r>
                          <a:rPr lang="fr-FR" i="1">
                            <a:latin typeface="Cambria Math" panose="02040503050406030204" pitchFamily="18" charset="0"/>
                          </a:rPr>
                          <m:t>−</m:t>
                        </m:r>
                        <m:r>
                          <m:rPr>
                            <m:sty m:val="p"/>
                          </m:rPr>
                          <a:rPr lang="fr-FR" i="1">
                            <a:latin typeface="Cambria Math" panose="02040503050406030204" pitchFamily="18" charset="0"/>
                          </a:rPr>
                          <m:t>a</m:t>
                        </m:r>
                      </m:num>
                      <m:den>
                        <m:r>
                          <a:rPr lang="fr-FR" b="0" i="1" smtClean="0">
                            <a:latin typeface="Cambria Math" panose="02040503050406030204" pitchFamily="18" charset="0"/>
                          </a:rPr>
                          <m:t>5</m:t>
                        </m:r>
                      </m:den>
                    </m:f>
                  </m:oMath>
                </a14:m>
                <a:r>
                  <a:rPr lang="en-US" dirty="0"/>
                  <a:t> </a:t>
                </a:r>
              </a:p>
              <a:p>
                <a:endParaRPr lang="en-US" dirty="0"/>
              </a:p>
            </p:txBody>
          </p:sp>
        </mc:Choice>
        <mc:Fallback xmlns="">
          <p:sp>
            <p:nvSpPr>
              <p:cNvPr id="7" name="TextBox 6">
                <a:extLst>
                  <a:ext uri="{FF2B5EF4-FFF2-40B4-BE49-F238E27FC236}">
                    <a16:creationId xmlns:a16="http://schemas.microsoft.com/office/drawing/2014/main" id="{25D42C7E-25E3-AF65-F96B-BB8C9D734754}"/>
                  </a:ext>
                </a:extLst>
              </p:cNvPr>
              <p:cNvSpPr txBox="1">
                <a:spLocks noRot="1" noChangeAspect="1" noMove="1" noResize="1" noEditPoints="1" noAdjustHandles="1" noChangeArrowheads="1" noChangeShapeType="1" noTextEdit="1"/>
              </p:cNvSpPr>
              <p:nvPr/>
            </p:nvSpPr>
            <p:spPr>
              <a:xfrm>
                <a:off x="7973961" y="3429000"/>
                <a:ext cx="3883742" cy="2464521"/>
              </a:xfrm>
              <a:prstGeom prst="rect">
                <a:avLst/>
              </a:prstGeom>
              <a:blipFill>
                <a:blip r:embed="rId5"/>
                <a:stretch>
                  <a:fillRect l="-1256" t="-1733" r="-1099"/>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A2BFB8D-3C80-BD69-86E4-533DD007EAC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1445" y="3216721"/>
            <a:ext cx="6961239" cy="2261611"/>
          </a:xfrm>
          <a:prstGeom prst="rect">
            <a:avLst/>
          </a:prstGeom>
        </p:spPr>
      </p:pic>
    </p:spTree>
    <p:extLst>
      <p:ext uri="{BB962C8B-B14F-4D97-AF65-F5344CB8AC3E}">
        <p14:creationId xmlns:p14="http://schemas.microsoft.com/office/powerpoint/2010/main" val="1726723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5578-24AA-1A1D-99B9-0FD28C04FF50}"/>
              </a:ext>
            </a:extLst>
          </p:cNvPr>
          <p:cNvSpPr>
            <a:spLocks noGrp="1"/>
          </p:cNvSpPr>
          <p:nvPr>
            <p:ph type="title"/>
          </p:nvPr>
        </p:nvSpPr>
        <p:spPr/>
        <p:txBody>
          <a:bodyPr/>
          <a:lstStyle/>
          <a:p>
            <a:r>
              <a:rPr lang="fr-FR" dirty="0"/>
              <a:t>Validation – erreur du modèle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DABA39-902C-A6ED-B4EF-7E3705D66722}"/>
                  </a:ext>
                </a:extLst>
              </p:cNvPr>
              <p:cNvSpPr>
                <a:spLocks noGrp="1"/>
              </p:cNvSpPr>
              <p:nvPr>
                <p:ph idx="1"/>
              </p:nvPr>
            </p:nvSpPr>
            <p:spPr>
              <a:xfrm>
                <a:off x="838200" y="1855122"/>
                <a:ext cx="10515600" cy="4351338"/>
              </a:xfrm>
            </p:spPr>
            <p:txBody>
              <a:bodyPr/>
              <a:lstStyle/>
              <a:p>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dirty="0"/>
              </a:p>
              <a:p>
                <a:r>
                  <a:rPr lang="en-US" dirty="0" err="1"/>
                  <a:t>Où</a:t>
                </a:r>
                <a:r>
                  <a:rPr lang="en-US"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 </m:t>
                    </m:r>
                    <m:rad>
                      <m:radPr>
                        <m:degHide m:val="on"/>
                        <m:ctrlPr>
                          <a:rPr lang="fr-FR" b="0" i="1" smtClean="0">
                            <a:latin typeface="Cambria Math" panose="02040503050406030204" pitchFamily="18" charset="0"/>
                          </a:rPr>
                        </m:ctrlPr>
                      </m:radPr>
                      <m:deg/>
                      <m:e>
                        <m:sSup>
                          <m:sSupPr>
                            <m:ctrlPr>
                              <a:rPr lang="fr-FR" b="0" i="1" smtClean="0">
                                <a:latin typeface="Cambria Math" panose="02040503050406030204" pitchFamily="18" charset="0"/>
                              </a:rPr>
                            </m:ctrlPr>
                          </m:sSupPr>
                          <m:e>
                            <m:r>
                              <a:rPr lang="fr-FR" b="0" i="1" smtClean="0">
                                <a:latin typeface="Cambria Math" panose="02040503050406030204" pitchFamily="18" charset="0"/>
                              </a:rPr>
                              <m:t>1.25</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44.91</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i="1">
                                <a:latin typeface="Cambria Math" panose="02040503050406030204" pitchFamily="18" charset="0"/>
                                <a:sym typeface="Wingdings" panose="05000000000000000000" pitchFamily="2" charset="2"/>
                              </a:rPr>
                            </m:ctrlPr>
                          </m:sSupPr>
                          <m:e>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1,1</m:t>
                            </m:r>
                            <m:r>
                              <a:rPr lang="fr-FR" b="0" i="1" smtClean="0">
                                <a:latin typeface="Cambria Math" panose="02040503050406030204" pitchFamily="18" charset="0"/>
                                <a:sym typeface="Wingdings" panose="05000000000000000000" pitchFamily="2" charset="2"/>
                              </a:rPr>
                              <m:t>1</m:t>
                            </m:r>
                            <m:r>
                              <a:rPr lang="fr-FR" i="1">
                                <a:latin typeface="Cambria Math" panose="02040503050406030204" pitchFamily="18" charset="0"/>
                                <a:sym typeface="Wingdings" panose="05000000000000000000" pitchFamily="2" charset="2"/>
                              </a:rPr>
                              <m:t>×10</m:t>
                            </m:r>
                          </m:e>
                          <m:sup>
                            <m:r>
                              <a:rPr lang="fr-FR" i="1">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)²</m:t>
                        </m:r>
                      </m:e>
                    </m:rad>
                    <m:r>
                      <a:rPr lang="fr-FR" b="0" i="1" smtClean="0">
                        <a:latin typeface="Cambria Math" panose="02040503050406030204" pitchFamily="18" charset="0"/>
                      </a:rPr>
                      <m:t>= 44.93 </m:t>
                    </m:r>
                    <m:r>
                      <m:rPr>
                        <m:sty m:val="p"/>
                      </m:rPr>
                      <a:rPr lang="fr-FR" b="0" i="1" smtClean="0">
                        <a:latin typeface="Cambria Math" panose="02040503050406030204" pitchFamily="18" charset="0"/>
                      </a:rPr>
                      <m:t>K</m:t>
                    </m:r>
                  </m:oMath>
                </a14:m>
                <a:r>
                  <a:rPr lang="en-US" dirty="0"/>
                  <a:t>   </a:t>
                </a:r>
              </a:p>
              <a:p>
                <a:r>
                  <a:rPr lang="en-US" dirty="0"/>
                  <a:t>k =2 pour 95.4% de </a:t>
                </a:r>
                <a:r>
                  <a:rPr lang="en-US" dirty="0" err="1"/>
                  <a:t>confiance</a:t>
                </a:r>
                <a:r>
                  <a:rPr lang="en-US" dirty="0"/>
                  <a:t> </a:t>
                </a:r>
              </a:p>
              <a:p>
                <a:endParaRPr lang="en-US" dirty="0"/>
              </a:p>
              <a:p>
                <a:pPr marL="0" indent="0">
                  <a:buNone/>
                </a:pPr>
                <a14:m>
                  <m:oMath xmlns:m="http://schemas.openxmlformats.org/officeDocument/2006/math">
                    <m:r>
                      <a:rPr lang="fr-FR" b="1" i="0" smtClean="0">
                        <a:latin typeface="Cambria Math" panose="02040503050406030204" pitchFamily="18" charset="0"/>
                      </a:rPr>
                      <m:t>−</m:t>
                    </m:r>
                    <m:r>
                      <a:rPr lang="fr-FR" b="1" i="0" smtClean="0">
                        <a:latin typeface="Cambria Math" panose="02040503050406030204" pitchFamily="18" charset="0"/>
                      </a:rPr>
                      <m:t>𝟕𝟖</m:t>
                    </m:r>
                    <m:r>
                      <a:rPr lang="fr-FR" b="1" i="0" smtClean="0">
                        <a:latin typeface="Cambria Math" panose="02040503050406030204" pitchFamily="18" charset="0"/>
                      </a:rPr>
                      <m:t>.</m:t>
                    </m:r>
                    <m:r>
                      <a:rPr lang="fr-FR" b="1" i="0" smtClean="0">
                        <a:latin typeface="Cambria Math" panose="02040503050406030204" pitchFamily="18" charset="0"/>
                      </a:rPr>
                      <m:t>𝟎𝟓</m:t>
                    </m:r>
                    <m:r>
                      <a:rPr lang="fr-FR" b="1" i="0" smtClean="0">
                        <a:latin typeface="Cambria Math" panose="02040503050406030204" pitchFamily="18" charset="0"/>
                      </a:rPr>
                      <m:t> </m:t>
                    </m:r>
                    <m:r>
                      <a:rPr lang="fr-FR" b="1" i="0" smtClean="0">
                        <a:latin typeface="Cambria Math" panose="02040503050406030204" pitchFamily="18" charset="0"/>
                      </a:rPr>
                      <m:t>𝐊</m:t>
                    </m:r>
                    <m:r>
                      <a:rPr lang="fr-FR" b="1" i="0" smtClean="0">
                        <a:latin typeface="Cambria Math" panose="02040503050406030204" pitchFamily="18" charset="0"/>
                      </a:rPr>
                      <m:t>&lt;</m:t>
                    </m:r>
                    <m:sSub>
                      <m:sSubPr>
                        <m:ctrlPr>
                          <a:rPr lang="fr-FR" b="1" i="1">
                            <a:latin typeface="Cambria Math" panose="02040503050406030204" pitchFamily="18" charset="0"/>
                          </a:rPr>
                        </m:ctrlPr>
                      </m:sSubPr>
                      <m:e>
                        <m:r>
                          <a:rPr lang="fr-FR" b="1" i="0">
                            <a:latin typeface="Cambria Math" panose="02040503050406030204" pitchFamily="18" charset="0"/>
                          </a:rPr>
                          <m:t>𝛅</m:t>
                        </m:r>
                      </m:e>
                      <m:sub>
                        <m:r>
                          <a:rPr lang="fr-FR" b="1" i="0">
                            <a:latin typeface="Cambria Math" panose="02040503050406030204" pitchFamily="18" charset="0"/>
                          </a:rPr>
                          <m:t>𝐦𝐨𝐝𝐞𝐥</m:t>
                        </m:r>
                      </m:sub>
                    </m:sSub>
                    <m:r>
                      <a:rPr lang="fr-FR" b="1" i="0" smtClean="0">
                        <a:latin typeface="Cambria Math" panose="02040503050406030204" pitchFamily="18" charset="0"/>
                      </a:rPr>
                      <m:t> &lt;</m:t>
                    </m:r>
                    <m:r>
                      <a:rPr lang="fr-FR" b="1" i="0" smtClean="0">
                        <a:latin typeface="Cambria Math" panose="02040503050406030204" pitchFamily="18" charset="0"/>
                      </a:rPr>
                      <m:t>𝟏𝟎𝟏</m:t>
                    </m:r>
                    <m:r>
                      <a:rPr lang="fr-FR" b="1" i="0" smtClean="0">
                        <a:latin typeface="Cambria Math" panose="02040503050406030204" pitchFamily="18" charset="0"/>
                      </a:rPr>
                      <m:t>.</m:t>
                    </m:r>
                    <m:r>
                      <a:rPr lang="fr-FR" b="1" i="0" smtClean="0">
                        <a:latin typeface="Cambria Math" panose="02040503050406030204" pitchFamily="18" charset="0"/>
                      </a:rPr>
                      <m:t>𝟔𝟓</m:t>
                    </m:r>
                    <m:r>
                      <a:rPr lang="fr-FR" b="1" i="0" smtClean="0">
                        <a:latin typeface="Cambria Math" panose="02040503050406030204" pitchFamily="18" charset="0"/>
                      </a:rPr>
                      <m:t> </m:t>
                    </m:r>
                    <m:r>
                      <a:rPr lang="fr-FR" b="1" i="0" smtClean="0">
                        <a:latin typeface="Cambria Math" panose="02040503050406030204" pitchFamily="18" charset="0"/>
                      </a:rPr>
                      <m:t>𝐊</m:t>
                    </m:r>
                  </m:oMath>
                </a14:m>
                <a:r>
                  <a:rPr lang="en-US" b="1" dirty="0"/>
                  <a:t> </a:t>
                </a:r>
              </a:p>
              <a:p>
                <a:pPr marL="0" indent="0">
                  <a:buNone/>
                </a:pPr>
                <a:endParaRPr lang="en-US" b="1" dirty="0"/>
              </a:p>
              <a:p>
                <a:pPr marL="0" indent="0">
                  <a:buNone/>
                </a:pPr>
                <a14:m>
                  <m:oMath xmlns:m="http://schemas.openxmlformats.org/officeDocument/2006/math">
                    <m:r>
                      <a:rPr lang="en-US" b="1" i="1" smtClean="0">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Amélioration</a:t>
                </a:r>
                <a:r>
                  <a:rPr lang="en-US" b="1" dirty="0"/>
                  <a:t> sur </a:t>
                </a:r>
                <a:r>
                  <a:rPr lang="en-US" b="1" dirty="0" err="1"/>
                  <a:t>l’incertitude</a:t>
                </a:r>
                <a:r>
                  <a:rPr lang="en-US" b="1" dirty="0"/>
                  <a:t> de </a:t>
                </a:r>
                <a:r>
                  <a:rPr lang="en-US" b="1" dirty="0" err="1"/>
                  <a:t>l’émissivité</a:t>
                </a:r>
                <a:r>
                  <a:rPr lang="en-US" b="1" dirty="0"/>
                  <a:t> </a:t>
                </a:r>
                <a:r>
                  <a:rPr lang="en-US" b="1" dirty="0" err="1"/>
                  <a:t>nécessaire</a:t>
                </a:r>
                <a:endParaRPr lang="en-US" b="1" dirty="0"/>
              </a:p>
            </p:txBody>
          </p:sp>
        </mc:Choice>
        <mc:Fallback xmlns="">
          <p:sp>
            <p:nvSpPr>
              <p:cNvPr id="3" name="Content Placeholder 2">
                <a:extLst>
                  <a:ext uri="{FF2B5EF4-FFF2-40B4-BE49-F238E27FC236}">
                    <a16:creationId xmlns:a16="http://schemas.microsoft.com/office/drawing/2014/main" id="{41DABA39-902C-A6ED-B4EF-7E3705D66722}"/>
                  </a:ext>
                </a:extLst>
              </p:cNvPr>
              <p:cNvSpPr>
                <a:spLocks noGrp="1" noRot="1" noChangeAspect="1" noMove="1" noResize="1" noEditPoints="1" noAdjustHandles="1" noChangeArrowheads="1" noChangeShapeType="1" noTextEdit="1"/>
              </p:cNvSpPr>
              <p:nvPr>
                <p:ph idx="1"/>
              </p:nvPr>
            </p:nvSpPr>
            <p:spPr>
              <a:xfrm>
                <a:off x="838200" y="1855122"/>
                <a:ext cx="10515600" cy="4351338"/>
              </a:xfrm>
              <a:blipFill>
                <a:blip r:embed="rId2"/>
                <a:stretch>
                  <a:fillRect l="-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838200" y="3932141"/>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pic>
        <p:nvPicPr>
          <p:cNvPr id="6" name="Picture 5">
            <a:extLst>
              <a:ext uri="{FF2B5EF4-FFF2-40B4-BE49-F238E27FC236}">
                <a16:creationId xmlns:a16="http://schemas.microsoft.com/office/drawing/2014/main" id="{BA00158C-C960-342C-B0C7-9E64CB5F528C}"/>
              </a:ext>
            </a:extLst>
          </p:cNvPr>
          <p:cNvPicPr>
            <a:picLocks noChangeAspect="1"/>
          </p:cNvPicPr>
          <p:nvPr/>
        </p:nvPicPr>
        <p:blipFill>
          <a:blip r:embed="rId3"/>
          <a:srcRect l="10238" b="2376"/>
          <a:stretch>
            <a:fillRect/>
          </a:stretch>
        </p:blipFill>
        <p:spPr>
          <a:xfrm>
            <a:off x="6351639" y="3893193"/>
            <a:ext cx="5002161" cy="566116"/>
          </a:xfrm>
          <a:prstGeom prst="rect">
            <a:avLst/>
          </a:prstGeom>
        </p:spPr>
      </p:pic>
      <p:sp>
        <p:nvSpPr>
          <p:cNvPr id="5" name="Slide Number Placeholder 4">
            <a:extLst>
              <a:ext uri="{FF2B5EF4-FFF2-40B4-BE49-F238E27FC236}">
                <a16:creationId xmlns:a16="http://schemas.microsoft.com/office/drawing/2014/main" id="{7EAE2EA8-7F3E-29F7-BF38-BCFC5580D379}"/>
              </a:ext>
            </a:extLst>
          </p:cNvPr>
          <p:cNvSpPr>
            <a:spLocks noGrp="1"/>
          </p:cNvSpPr>
          <p:nvPr>
            <p:ph type="sldNum" sz="quarter" idx="12"/>
          </p:nvPr>
        </p:nvSpPr>
        <p:spPr/>
        <p:txBody>
          <a:bodyPr/>
          <a:lstStyle/>
          <a:p>
            <a:fld id="{FD85B578-4E75-4E1C-9BE3-D5DCC0715B13}" type="slidenum">
              <a:rPr lang="fr-FR" smtClean="0"/>
              <a:t>31</a:t>
            </a:fld>
            <a:endParaRPr lang="fr-FR"/>
          </a:p>
        </p:txBody>
      </p:sp>
    </p:spTree>
    <p:extLst>
      <p:ext uri="{BB962C8B-B14F-4D97-AF65-F5344CB8AC3E}">
        <p14:creationId xmlns:p14="http://schemas.microsoft.com/office/powerpoint/2010/main" val="31910331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AFEF6-8EC2-0957-BC55-0F8F644E0B4A}"/>
              </a:ext>
            </a:extLst>
          </p:cNvPr>
          <p:cNvSpPr>
            <a:spLocks noGrp="1"/>
          </p:cNvSpPr>
          <p:nvPr>
            <p:ph type="title"/>
          </p:nvPr>
        </p:nvSpPr>
        <p:spPr/>
        <p:txBody>
          <a:bodyPr/>
          <a:lstStyle/>
          <a:p>
            <a:r>
              <a:rPr lang="fr-FR" dirty="0"/>
              <a:t>Analyse</a:t>
            </a:r>
            <a:endParaRPr lang="en-US" dirty="0"/>
          </a:p>
        </p:txBody>
      </p:sp>
      <p:pic>
        <p:nvPicPr>
          <p:cNvPr id="6" name="Content Placeholder 5">
            <a:extLst>
              <a:ext uri="{FF2B5EF4-FFF2-40B4-BE49-F238E27FC236}">
                <a16:creationId xmlns:a16="http://schemas.microsoft.com/office/drawing/2014/main" id="{A9B1EB5D-6BED-13E3-7B99-2FF5E8D02C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6077" y="1847850"/>
            <a:ext cx="3565031" cy="4351338"/>
          </a:xfrm>
          <a:prstGeom prst="rect">
            <a:avLst/>
          </a:prstGeom>
        </p:spPr>
      </p:pic>
      <p:sp>
        <p:nvSpPr>
          <p:cNvPr id="4" name="Slide Number Placeholder 3">
            <a:extLst>
              <a:ext uri="{FF2B5EF4-FFF2-40B4-BE49-F238E27FC236}">
                <a16:creationId xmlns:a16="http://schemas.microsoft.com/office/drawing/2014/main" id="{8D57C330-FE28-8D25-5B72-A8BB2E6BC2C7}"/>
              </a:ext>
            </a:extLst>
          </p:cNvPr>
          <p:cNvSpPr>
            <a:spLocks noGrp="1"/>
          </p:cNvSpPr>
          <p:nvPr>
            <p:ph type="sldNum" sz="quarter" idx="12"/>
          </p:nvPr>
        </p:nvSpPr>
        <p:spPr/>
        <p:txBody>
          <a:bodyPr/>
          <a:lstStyle/>
          <a:p>
            <a:fld id="{FD85B578-4E75-4E1C-9BE3-D5DCC0715B13}" type="slidenum">
              <a:rPr lang="fr-FR" smtClean="0"/>
              <a:t>32</a:t>
            </a:fld>
            <a:endParaRPr lang="fr-FR"/>
          </a:p>
        </p:txBody>
      </p:sp>
      <p:sp>
        <p:nvSpPr>
          <p:cNvPr id="7" name="TextBox 6">
            <a:extLst>
              <a:ext uri="{FF2B5EF4-FFF2-40B4-BE49-F238E27FC236}">
                <a16:creationId xmlns:a16="http://schemas.microsoft.com/office/drawing/2014/main" id="{C1F03330-F29A-3AD5-1C0C-F14A10FA4C72}"/>
              </a:ext>
            </a:extLst>
          </p:cNvPr>
          <p:cNvSpPr txBox="1"/>
          <p:nvPr/>
        </p:nvSpPr>
        <p:spPr>
          <a:xfrm>
            <a:off x="696078" y="6199188"/>
            <a:ext cx="3565030" cy="461665"/>
          </a:xfrm>
          <a:prstGeom prst="rect">
            <a:avLst/>
          </a:prstGeom>
          <a:noFill/>
        </p:spPr>
        <p:txBody>
          <a:bodyPr wrap="square" rtlCol="0">
            <a:spAutoFit/>
          </a:bodyPr>
          <a:lstStyle/>
          <a:p>
            <a:pPr algn="ctr"/>
            <a:r>
              <a:rPr lang="fr-FR" sz="1200" dirty="0"/>
              <a:t>Diagramme TTT pour 4340, source : Thèse </a:t>
            </a:r>
            <a:r>
              <a:rPr lang="en-US" sz="1200" dirty="0"/>
              <a:t>Jean Christophe Hell sur les </a:t>
            </a:r>
            <a:r>
              <a:rPr lang="en-US" sz="1200" dirty="0" err="1"/>
              <a:t>aciers</a:t>
            </a:r>
            <a:r>
              <a:rPr lang="en-US" sz="1200" dirty="0"/>
              <a:t> </a:t>
            </a:r>
            <a:r>
              <a:rPr lang="en-US" sz="1200" dirty="0" err="1"/>
              <a:t>bainitiques</a:t>
            </a:r>
            <a:endParaRPr lang="en-US" sz="1200" dirty="0"/>
          </a:p>
        </p:txBody>
      </p:sp>
      <p:sp>
        <p:nvSpPr>
          <p:cNvPr id="8" name="TextBox 7">
            <a:extLst>
              <a:ext uri="{FF2B5EF4-FFF2-40B4-BE49-F238E27FC236}">
                <a16:creationId xmlns:a16="http://schemas.microsoft.com/office/drawing/2014/main" id="{07FFD53F-2E3A-C030-8C63-BCCF5F1B32A3}"/>
              </a:ext>
            </a:extLst>
          </p:cNvPr>
          <p:cNvSpPr txBox="1"/>
          <p:nvPr/>
        </p:nvSpPr>
        <p:spPr>
          <a:xfrm>
            <a:off x="4621161" y="1847850"/>
            <a:ext cx="7246374" cy="2585323"/>
          </a:xfrm>
          <a:prstGeom prst="rect">
            <a:avLst/>
          </a:prstGeom>
          <a:noFill/>
        </p:spPr>
        <p:txBody>
          <a:bodyPr wrap="square" rtlCol="0">
            <a:spAutoFit/>
          </a:bodyPr>
          <a:lstStyle/>
          <a:p>
            <a:r>
              <a:rPr lang="fr-FR" dirty="0"/>
              <a:t>Afin d’évaluer la pertinence du modèle pour l’application visée, cette erreur est comparée à un critère physique issu du diagramme TTT de l’acier 4340. Dans les zones critiques, une variation de l’ordre de 15°C entraîne des transformations de phase significativement différentes.</a:t>
            </a:r>
          </a:p>
          <a:p>
            <a:r>
              <a:rPr lang="fr-FR" dirty="0"/>
              <a:t>Ainsi, le modèle est considéré valide pour l’application si son erreur reste inférieure à cet ordre de grandeur.</a:t>
            </a:r>
          </a:p>
          <a:p>
            <a:endParaRPr lang="fr-FR" dirty="0"/>
          </a:p>
          <a:p>
            <a:r>
              <a:rPr lang="fr-FR" dirty="0"/>
              <a:t>Tout le travaille repose sur la caractérisation de l’écart type de l’émissivité. </a:t>
            </a:r>
          </a:p>
        </p:txBody>
      </p:sp>
    </p:spTree>
    <p:extLst>
      <p:ext uri="{BB962C8B-B14F-4D97-AF65-F5344CB8AC3E}">
        <p14:creationId xmlns:p14="http://schemas.microsoft.com/office/powerpoint/2010/main" val="37531551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1FAF8-D45E-B846-39C4-A2BDDFE609C9}"/>
              </a:ext>
            </a:extLst>
          </p:cNvPr>
          <p:cNvSpPr>
            <a:spLocks noGrp="1"/>
          </p:cNvSpPr>
          <p:nvPr>
            <p:ph type="title"/>
          </p:nvPr>
        </p:nvSpPr>
        <p:spPr/>
        <p:txBody>
          <a:bodyPr/>
          <a:lstStyle/>
          <a:p>
            <a:r>
              <a:rPr lang="fr-FR"/>
              <a:t>Améliorations possibles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282C8-F6FB-A0A2-B31D-09362B254F0F}"/>
                  </a:ext>
                </a:extLst>
              </p:cNvPr>
              <p:cNvSpPr>
                <a:spLocks noGrp="1"/>
              </p:cNvSpPr>
              <p:nvPr>
                <p:ph idx="1"/>
              </p:nvPr>
            </p:nvSpPr>
            <p:spPr/>
            <p:txBody>
              <a:bodyPr/>
              <a:lstStyle/>
              <a:p>
                <a:r>
                  <a:rPr lang="fr-FR" dirty="0"/>
                  <a:t>Affiner le pas de temps et d’espace pour la simulation SolidWorks</a:t>
                </a:r>
                <a:r>
                  <a:rPr lang="fr-FR" dirty="0">
                    <a:sym typeface="Wingdings" panose="05000000000000000000" pitchFamily="2" charset="2"/>
                  </a:rPr>
                  <a:t> précision accrue sur l’erreur de simulation</a:t>
                </a:r>
              </a:p>
              <a:p>
                <a:r>
                  <a:rPr lang="fr-FR" dirty="0">
                    <a:sym typeface="Wingdings" panose="05000000000000000000" pitchFamily="2" charset="2"/>
                  </a:rPr>
                  <a:t>Calcul de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𝐸</m:t>
                        </m:r>
                      </m:e>
                      <m:sub>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𝐿</m:t>
                            </m:r>
                          </m:e>
                          <m:sub>
                            <m:r>
                              <a:rPr lang="fr-FR" b="0" i="1" smtClean="0">
                                <a:latin typeface="Cambria Math" panose="02040503050406030204" pitchFamily="18" charset="0"/>
                                <a:sym typeface="Wingdings" panose="05000000000000000000" pitchFamily="2" charset="2"/>
                              </a:rPr>
                              <m:t>2</m:t>
                            </m:r>
                          </m:sub>
                        </m:sSub>
                      </m:sub>
                    </m:sSub>
                  </m:oMath>
                </a14:m>
                <a:r>
                  <a:rPr lang="en-US" dirty="0"/>
                  <a:t> avec plus de points</a:t>
                </a:r>
              </a:p>
            </p:txBody>
          </p:sp>
        </mc:Choice>
        <mc:Fallback xmlns="">
          <p:sp>
            <p:nvSpPr>
              <p:cNvPr id="3" name="Content Placeholder 2">
                <a:extLst>
                  <a:ext uri="{FF2B5EF4-FFF2-40B4-BE49-F238E27FC236}">
                    <a16:creationId xmlns:a16="http://schemas.microsoft.com/office/drawing/2014/main" id="{DF9282C8-F6FB-A0A2-B31D-09362B254F0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D7CA812-BFC4-E1E8-4507-25D4BC510B7C}"/>
              </a:ext>
            </a:extLst>
          </p:cNvPr>
          <p:cNvSpPr>
            <a:spLocks noGrp="1"/>
          </p:cNvSpPr>
          <p:nvPr>
            <p:ph type="sldNum" sz="quarter" idx="12"/>
          </p:nvPr>
        </p:nvSpPr>
        <p:spPr/>
        <p:txBody>
          <a:bodyPr/>
          <a:lstStyle/>
          <a:p>
            <a:fld id="{FD85B578-4E75-4E1C-9BE3-D5DCC0715B13}" type="slidenum">
              <a:rPr lang="fr-FR" smtClean="0"/>
              <a:t>33</a:t>
            </a:fld>
            <a:endParaRPr lang="fr-FR"/>
          </a:p>
        </p:txBody>
      </p:sp>
    </p:spTree>
    <p:extLst>
      <p:ext uri="{BB962C8B-B14F-4D97-AF65-F5344CB8AC3E}">
        <p14:creationId xmlns:p14="http://schemas.microsoft.com/office/powerpoint/2010/main" val="342660869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4397</TotalTime>
  <Words>2587</Words>
  <Application>Microsoft Office PowerPoint</Application>
  <PresentationFormat>Grand écran</PresentationFormat>
  <Paragraphs>393</Paragraphs>
  <Slides>33</Slides>
  <Notes>4</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33</vt:i4>
      </vt:variant>
    </vt:vector>
  </HeadingPairs>
  <TitlesOfParts>
    <vt:vector size="41" baseType="lpstr">
      <vt:lpstr>Aptos</vt:lpstr>
      <vt:lpstr>Aptos Display</vt:lpstr>
      <vt:lpstr>Arial</vt:lpstr>
      <vt:lpstr>Cambria</vt:lpstr>
      <vt:lpstr>Cambria Math</vt:lpstr>
      <vt:lpstr>Courier New</vt:lpstr>
      <vt:lpstr>Wingdings</vt:lpstr>
      <vt:lpstr>Thème Office</vt:lpstr>
      <vt:lpstr>MEC8211 – Projet final Vérification et Validation d’un solveur de différences finies réalisé dans le cadre du cours GCH2545 – Modélisation numérique en ingénierie</vt:lpstr>
      <vt:lpstr>Plan de la présentation</vt:lpstr>
      <vt:lpstr>Plan de la présentation</vt:lpstr>
      <vt:lpstr>Contexte</vt:lpstr>
      <vt:lpstr>Plan de la présentation</vt:lpstr>
      <vt:lpstr>Modélisation mathématique</vt:lpstr>
      <vt:lpstr>Modélisation mathématique</vt:lpstr>
      <vt:lpstr>Discrétisation : Milieu – Schéma d’Euler Explicite </vt:lpstr>
      <vt:lpstr>Discrétisation : frontières - Schéma d’Euler Explicite </vt:lpstr>
      <vt:lpstr>Calcul de l’ordre de convergence </vt:lpstr>
      <vt:lpstr>Calcul de l’ordre de convergence </vt:lpstr>
      <vt:lpstr>Plan de la présentation</vt:lpstr>
      <vt:lpstr>Description du code :</vt:lpstr>
      <vt:lpstr>Description du code :</vt:lpstr>
      <vt:lpstr>Description du code – Algorithme de résolution</vt:lpstr>
      <vt:lpstr>Plan de la présentation</vt:lpstr>
      <vt:lpstr>Vérification de code - Méthodologie :</vt:lpstr>
      <vt:lpstr>Vérification de code - Résultats :</vt:lpstr>
      <vt:lpstr>Vérification de code – MMS – Méthodologie </vt:lpstr>
      <vt:lpstr>Vérification de code – MMS – Résultats :</vt:lpstr>
      <vt:lpstr>Vérification de code – MMS – Résultats :</vt:lpstr>
      <vt:lpstr>Plan de la présentation</vt:lpstr>
      <vt:lpstr>Validation – erreur simulation :</vt:lpstr>
      <vt:lpstr>Validation – erreur simulation :</vt:lpstr>
      <vt:lpstr>Validation – erreur simulation </vt:lpstr>
      <vt:lpstr>Validation – erreur simulation :</vt:lpstr>
      <vt:lpstr>Validation – incertitude numérique </vt:lpstr>
      <vt:lpstr>Validation – incertitude expérimentale</vt:lpstr>
      <vt:lpstr>Validation – incertitude u_input</vt:lpstr>
      <vt:lpstr>Validation – incertitude u_input</vt:lpstr>
      <vt:lpstr>Validation – erreur du modèle </vt:lpstr>
      <vt:lpstr>Analyse</vt:lpstr>
      <vt:lpstr>Améliorations possibles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80</cp:revision>
  <dcterms:created xsi:type="dcterms:W3CDTF">2026-02-07T22:10:41Z</dcterms:created>
  <dcterms:modified xsi:type="dcterms:W3CDTF">2026-04-18T21:29:27Z</dcterms:modified>
</cp:coreProperties>
</file>