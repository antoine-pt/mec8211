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258" r:id="rId3"/>
    <p:sldId id="257" r:id="rId4"/>
    <p:sldId id="264" r:id="rId5"/>
    <p:sldId id="259" r:id="rId6"/>
    <p:sldId id="263" r:id="rId7"/>
    <p:sldId id="269" r:id="rId8"/>
    <p:sldId id="260" r:id="rId9"/>
    <p:sldId id="262" r:id="rId10"/>
    <p:sldId id="261" r:id="rId11"/>
    <p:sldId id="265" r:id="rId12"/>
    <p:sldId id="266" r:id="rId13"/>
    <p:sldId id="267" r:id="rId14"/>
    <p:sldId id="268" r:id="rId15"/>
    <p:sldId id="272" r:id="rId16"/>
    <p:sldId id="270" r:id="rId17"/>
    <p:sldId id="271" r:id="rId18"/>
    <p:sldId id="273" r:id="rId19"/>
    <p:sldId id="275" r:id="rId20"/>
    <p:sldId id="276" r:id="rId21"/>
    <p:sldId id="274" r:id="rId2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FAD46"/>
    <a:srgbClr val="5B9BD5"/>
    <a:srgbClr val="FFBF00"/>
    <a:srgbClr val="EBE9E9"/>
    <a:srgbClr val="CBCBCB"/>
    <a:srgbClr val="F4EEEC"/>
    <a:srgbClr val="F7EFED"/>
    <a:srgbClr val="F8F0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702" autoAdjust="0"/>
    <p:restoredTop sz="94782" autoAdjust="0"/>
  </p:normalViewPr>
  <p:slideViewPr>
    <p:cSldViewPr snapToGrid="0">
      <p:cViewPr varScale="1">
        <p:scale>
          <a:sx n="67" d="100"/>
          <a:sy n="67" d="100"/>
        </p:scale>
        <p:origin x="1027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0B2023-C595-443A-8D8C-AB9DF5A28D48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105186-0725-443C-BC59-E521425E81CD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411661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98252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40783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A5BB4-E065-36E2-E641-90C9FFDD7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2410028-CE57-DC42-95CE-01AA00C9DE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C76DD03-F160-73AB-38E7-83F367B7A5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636A260-3B6F-7D51-9372-EBA998234B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42273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BF20FCA-9849-8D64-289F-FB7638BA93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6829620-5708-DEC4-9272-A41F0A6301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DB910B6-110F-28F4-BC47-9CD148E69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44678E1-FCC5-EC25-725D-328119EFF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E9387A6-A3E0-90B2-ED44-78CDF4F0D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5390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97288E-ECBA-99C4-1444-DA21DAB4C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EC74A79-D906-7648-DF71-F652B3D257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EB91EF-38F8-ABFB-87B4-57EDEDB99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7709078-3A53-6606-B2E6-3BB4741E3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A92B805-A639-F55C-CC2B-178CB8A38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681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241E8AB-8B3D-7D2B-454D-A3D812AFC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D706EE7-1B52-6EDA-23CD-EBDC9D983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30CC76-8BA5-D53B-5774-461AC3B17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DF6B1B4-70DA-80E0-6D01-F2E288534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9B155F-8FEC-FE08-D681-49F2C5AAC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19936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51296E-B96C-D9C9-2CF2-546C13B03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EA025F0-4010-871A-FE66-218C9A904A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64F2629-5962-80D6-CD5A-71A7AE333F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7F91979-03FE-8AD9-0EBF-A57A38040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B9C80A-4711-E7F6-E1DF-09CC03039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4C0094B-8232-4889-218A-4184426EC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2460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F879185-61FB-F46B-A0E2-1E53FE8F8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E1E42A4-57AD-B6A7-45F6-E65565DD1E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C1CECC0-8806-8386-0361-52FF2978D3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357A7A8-EC71-9A58-7CA8-F66CE308BD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C404EC0-E68A-E4C9-B80D-BEEF06093E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1991D710-9103-9DB2-5B2C-59600B097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345A2E21-EC6F-BB4B-30CF-051112D61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1B0247-804A-34B5-9ABD-CF6115BF4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065856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37AC3B-D109-33CB-4224-A617247A7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3F6FE45-B625-B3EB-8DE6-AE665E114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3647DC-4841-391E-4311-1CCF978C4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564912E-487F-BB3C-29BD-B868B31CF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66578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86A390C-6CF6-6459-A357-00F3D73CB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E966711-8F45-F5F0-78CD-892DDBA2D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6C6A74F-9B43-9437-CA16-F699B0123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7130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13010F-0A51-7184-A92A-FB55AE059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C1D7753-D33B-ECA5-15CE-371E4C21E6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90C5936-CC3F-C564-027C-7A158FB379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B6D2F58-1DEC-05A4-9415-5505781ED3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B1FDC0B-7A72-6AF2-D8F2-FD133D818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A229BFA-2217-13B1-36D0-B45735FE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789263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44F5C3-4D43-F330-AB2E-93F7856CD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D9E71D8-C483-7218-914B-8C438B7BD3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C0105DA-F2A5-AE7D-D2C7-8E99794548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4FC808-FEB6-7DC6-E162-509C39E16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7C49D9E-6F71-6FFF-CC00-D84AF9932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86CB61D-9EC9-D900-993A-D90CFEFB4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40367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4F3AE0-0A4F-C73C-7312-C0332CB9B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93595E3-1731-DBA8-5D73-6FBC0173DE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6B2046E-A47B-EEA8-B9CA-90559DF7B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EA06073-8B5C-0924-EB9B-46644CC41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A3EE113-1D48-2091-06FD-0F833E574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2413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F4B14AC-D335-199A-8275-8FEAD60781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C344906-2881-CA33-2AED-6CE33B906A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1BED21D-D702-70A0-6DFF-537C0E9E3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3B22F45-96A6-62D2-C024-4FBD1C07F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0799B19-4092-7649-21ED-884512586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72383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E9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1ECCE51-4F19-67BD-9ACF-7D67A65B3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44C1EA9-4ED2-C33A-D018-C0313920CC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B54EE32-0D00-5F0F-B543-C3A2D5CAAB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51AFDA-D128-4B68-A211-269E2451E5DE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304F246-AFA0-B777-83BA-CAECCDA95B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3044D50-2635-7742-456B-1A644C31FA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32704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toine-pt/MEC6212.gi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12" Type="http://schemas.openxmlformats.org/officeDocument/2006/relationships/image" Target="../media/image37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11" Type="http://schemas.openxmlformats.org/officeDocument/2006/relationships/image" Target="../media/image36.png"/><Relationship Id="rId5" Type="http://schemas.openxmlformats.org/officeDocument/2006/relationships/image" Target="../media/image30.png"/><Relationship Id="rId10" Type="http://schemas.openxmlformats.org/officeDocument/2006/relationships/image" Target="../media/image35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C991BE-FE4B-ED26-E133-B404288321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03869"/>
            <a:ext cx="9144000" cy="1425131"/>
          </a:xfrm>
        </p:spPr>
        <p:txBody>
          <a:bodyPr>
            <a:normAutofit fontScale="90000"/>
          </a:bodyPr>
          <a:lstStyle/>
          <a:p>
            <a:r>
              <a:rPr lang="fr-FR" noProof="0" dirty="0"/>
              <a:t>MEC8211 – Projet final</a:t>
            </a:r>
            <a:br>
              <a:rPr lang="fr-FR" noProof="0" dirty="0"/>
            </a:br>
            <a:r>
              <a:rPr lang="fr-FR" sz="4400" noProof="0" dirty="0"/>
              <a:t>Vérification et Validation d’un solveur de différences finies réalisé dans le cadre du cours GCH2545 – Modélisation numérique en ingénierie</a:t>
            </a:r>
            <a:endParaRPr lang="fr-FR" noProof="0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0AF6114-4134-51BE-88E4-DAEE360A66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06407"/>
            <a:ext cx="9144000" cy="1945747"/>
          </a:xfrm>
        </p:spPr>
        <p:txBody>
          <a:bodyPr>
            <a:normAutofit fontScale="92500" lnSpcReduction="10000"/>
          </a:bodyPr>
          <a:lstStyle/>
          <a:p>
            <a:r>
              <a:rPr lang="fr-FR" noProof="0" dirty="0"/>
              <a:t>Antoine Payette-Toupin (2090788)</a:t>
            </a:r>
          </a:p>
          <a:p>
            <a:r>
              <a:rPr lang="fr-FR" noProof="0" dirty="0"/>
              <a:t>Charlotte Sabrié (2485495)</a:t>
            </a:r>
          </a:p>
          <a:p>
            <a:r>
              <a:rPr lang="fr-FR" noProof="0" dirty="0"/>
              <a:t>Loïc Vignaud (2485146)</a:t>
            </a:r>
          </a:p>
          <a:p>
            <a:endParaRPr lang="fr-FR" dirty="0"/>
          </a:p>
          <a:p>
            <a:r>
              <a:rPr lang="fr-FR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Répertoire </a:t>
            </a:r>
            <a:r>
              <a:rPr lang="fr-FR" sz="22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lang="fr-FR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: </a:t>
            </a:r>
            <a:r>
              <a:rPr lang="fr-FR" sz="2200" u="sng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https://github.com/antoine-pt/MEC6212.git</a:t>
            </a:r>
            <a:endParaRPr lang="fr-FR" sz="2200" noProof="0" dirty="0"/>
          </a:p>
        </p:txBody>
      </p:sp>
    </p:spTree>
    <p:extLst>
      <p:ext uri="{BB962C8B-B14F-4D97-AF65-F5344CB8AC3E}">
        <p14:creationId xmlns:p14="http://schemas.microsoft.com/office/powerpoint/2010/main" val="19183727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8CC2017-DAAB-E539-D03A-0EAF47A6CA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Contexte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B38F4B-B286-AB7C-64B1-7E3DB7D1D3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6992" y="1243584"/>
            <a:ext cx="5644896" cy="5248655"/>
          </a:xfrm>
        </p:spPr>
        <p:txBody>
          <a:bodyPr>
            <a:normAutofit lnSpcReduction="10000"/>
          </a:bodyPr>
          <a:lstStyle/>
          <a:p>
            <a:r>
              <a:rPr lang="fr-FR" dirty="0"/>
              <a:t>Vitesse de refroidissement influence les propriétés </a:t>
            </a:r>
          </a:p>
          <a:p>
            <a:pPr>
              <a:buFontTx/>
              <a:buChar char="-"/>
            </a:pPr>
            <a:r>
              <a:rPr lang="fr-FR" dirty="0"/>
              <a:t>Mécanique</a:t>
            </a:r>
          </a:p>
          <a:p>
            <a:pPr>
              <a:buFontTx/>
              <a:buChar char="-"/>
            </a:pPr>
            <a:r>
              <a:rPr lang="fr-FR" dirty="0"/>
              <a:t>Électrique</a:t>
            </a:r>
          </a:p>
          <a:p>
            <a:pPr>
              <a:buFontTx/>
              <a:buChar char="-"/>
            </a:pPr>
            <a:r>
              <a:rPr lang="fr-FR" dirty="0"/>
              <a:t>Thermique </a:t>
            </a:r>
          </a:p>
          <a:p>
            <a:pPr>
              <a:buFontTx/>
              <a:buChar char="-"/>
            </a:pPr>
            <a:endParaRPr lang="fr-FR" dirty="0"/>
          </a:p>
          <a:p>
            <a:r>
              <a:rPr lang="fr-FR" dirty="0"/>
              <a:t>Modéliser le refroidissement</a:t>
            </a:r>
          </a:p>
          <a:p>
            <a:pPr>
              <a:buFontTx/>
              <a:buChar char="-"/>
            </a:pPr>
            <a:r>
              <a:rPr lang="fr-FR" dirty="0"/>
              <a:t>Obtenir la vitesse de refroidissement</a:t>
            </a:r>
          </a:p>
          <a:p>
            <a:pPr>
              <a:buFontTx/>
              <a:buChar char="-"/>
            </a:pPr>
            <a:r>
              <a:rPr lang="fr-FR" dirty="0"/>
              <a:t>Connaître la composition du matériau final </a:t>
            </a:r>
          </a:p>
          <a:p>
            <a:pPr>
              <a:buFontTx/>
              <a:buChar char="-"/>
            </a:pPr>
            <a:r>
              <a:rPr lang="fr-FR" dirty="0"/>
              <a:t>Déduire ses propriétés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30176CA-BFB8-62B8-8124-3190FD696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883433"/>
            <a:ext cx="4839119" cy="5608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50268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37DC965-0D72-AE8E-8F68-A22FDD3D8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Modélisation mathématique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D0B43374-E0C7-ED3F-B765-703070E6A6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</p:spPr>
            <p:txBody>
              <a:bodyPr>
                <a:normAutofit/>
              </a:bodyPr>
              <a:lstStyle/>
              <a:p>
                <a:pPr fontAlgn="base"/>
                <a:r>
                  <a:rPr lang="fr-FR" dirty="0"/>
                  <a:t>Refroidissement à l'air ambient d'un lingot métallique cylindrique </a:t>
                </a:r>
                <a:r>
                  <a:rPr lang="en-US" dirty="0"/>
                  <a:t>​</a:t>
                </a:r>
              </a:p>
              <a:p>
                <a:pPr fontAlgn="base"/>
                <a:r>
                  <a:rPr lang="fr-FR" dirty="0"/>
                  <a:t>Température initiale uniforme </a:t>
                </a:r>
                <a:r>
                  <a:rPr lang="en-US" dirty="0"/>
                  <a:t>​</a:t>
                </a:r>
              </a:p>
              <a:p>
                <a:pPr fontAlgn="base"/>
                <a:r>
                  <a:rPr lang="fr-FR" dirty="0"/>
                  <a:t>Modélisation mathématique :</a:t>
                </a:r>
              </a:p>
              <a:p>
                <a:pPr marL="0" indent="0" fontAlgn="base">
                  <a:spcBef>
                    <a:spcPts val="1800"/>
                  </a:spcBef>
                  <a:buNone/>
                </a:pPr>
                <a:r>
                  <a:rPr lang="fr-FR" dirty="0"/>
                  <a:t>Equation de la chaleur en 2D </a:t>
                </a:r>
                <a:endParaRPr lang="en-US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Perte thermique surfacique </a:t>
                </a:r>
              </a:p>
              <a:p>
                <a:pPr marL="0" indent="0" algn="ctr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  <m:r>
                                <m:rPr>
                                  <m:nor/>
                                </m:rPr>
                                <a:rPr lang="fr-FR" dirty="0"/>
                                <m:t> </m:t>
                              </m:r>
                            </m:sub>
                          </m:sSub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ϵσ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dirty="0"/>
              </a:p>
              <a:p>
                <a:pPr marL="228600" marR="0" lvl="0" indent="-228600" algn="l" defTabSz="914400" rtl="0" eaLnBrk="1" fontAlgn="base" latinLnBrk="0" hangingPunct="1">
                  <a:lnSpc>
                    <a:spcPct val="90000"/>
                  </a:lnSpc>
                  <a:spcBef>
                    <a:spcPts val="24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fr-FR" dirty="0">
                    <a:solidFill>
                      <a:prstClr val="black"/>
                    </a:solidFill>
                    <a:latin typeface="Aptos" panose="02110004020202020204"/>
                  </a:rPr>
                  <a:t>Symétrie par rotation autour de l’axe central </a:t>
                </a:r>
              </a:p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𝑇</m:t>
                      </m:r>
                      <m:d>
                        <m:dPr>
                          <m:ctrlP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𝑡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𝑅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𝑧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θ</m:t>
                          </m:r>
                        </m:e>
                      </m:d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𝑇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(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𝑡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𝑅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𝑧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)</m:t>
                      </m:r>
                    </m:oMath>
                  </m:oMathPara>
                </a14:m>
                <a:endParaRPr kumimoji="0" lang="fr-FR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  <a:p>
                <a:pPr marL="0" indent="0" algn="just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D0B43374-E0C7-ED3F-B765-703070E6A6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  <a:blipFill>
                <a:blip r:embed="rId2"/>
                <a:stretch>
                  <a:fillRect l="-1566" t="-1934" b="-796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Une image contenant croquis, dessin, conception, illustration&#10;&#10;Le contenu généré par l’IA peut être incorrect.">
            <a:extLst>
              <a:ext uri="{FF2B5EF4-FFF2-40B4-BE49-F238E27FC236}">
                <a16:creationId xmlns:a16="http://schemas.microsoft.com/office/drawing/2014/main" id="{315D7CC8-D87C-AF7A-933C-0B5D336491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9114" y="232980"/>
            <a:ext cx="2171199" cy="3021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44134258-3467-C98F-64B0-DF4243CE64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2852" y="3798791"/>
            <a:ext cx="3533376" cy="2233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28607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694C9-7099-3A84-9A6D-5B2A0879B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DEC12AB-5894-7E9F-0510-EB109BFCA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Modélisation mathématique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073797C-3545-B398-B72A-5A62100200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 fontAlgn="base">
                  <a:spcBef>
                    <a:spcPts val="1800"/>
                  </a:spcBef>
                  <a:buNone/>
                </a:pPr>
                <a:r>
                  <a:rPr lang="fr-FR" dirty="0"/>
                  <a:t>Equation de la chaleur en 2D </a:t>
                </a:r>
                <a:endParaRPr lang="en-US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fr-FR" b="0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En cartésien, on a :</a:t>
                </a:r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b="0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En cylindrique, on retrouve :</a:t>
                </a:r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fr-CA">
                          <a:latin typeface="Cambria Math" panose="02040503050406030204" pitchFamily="18" charset="0"/>
                        </a:rPr>
                        <m:t>r</m:t>
                      </m:r>
                      <m:func>
                        <m:funcPr>
                          <m:ctrlPr>
                            <a:rPr lang="fr-CA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CA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fr-CA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CA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fr-CA" i="1">
                          <a:latin typeface="Cambria Math" panose="02040503050406030204" pitchFamily="18" charset="0"/>
                        </a:rPr>
                        <m:t>𝑒𝑡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fr-FR" dirty="0"/>
              </a:p>
              <a:p>
                <a:pPr marL="0" indent="0" algn="ctr">
                  <a:spcBef>
                    <a:spcPts val="1800"/>
                  </a:spcBef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dirty="0"/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i="1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fr-FR" dirty="0"/>
              </a:p>
              <a:p>
                <a:pPr marL="0" indent="0" algn="ctr">
                  <a:spcBef>
                    <a:spcPts val="1800"/>
                  </a:spcBef>
                  <a:buNone/>
                </a:pPr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CA" i="1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1800"/>
                  </a:spcBef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073797C-3545-B398-B72A-5A62100200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  <a:blipFill>
                <a:blip r:embed="rId2"/>
                <a:stretch>
                  <a:fillRect l="-1342" t="-2275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D8880BBA-A9C5-15DA-64A8-34FD76C6B27D}"/>
              </a:ext>
            </a:extLst>
          </p:cNvPr>
          <p:cNvSpPr/>
          <p:nvPr/>
        </p:nvSpPr>
        <p:spPr>
          <a:xfrm>
            <a:off x="2606040" y="5321808"/>
            <a:ext cx="4828032" cy="1325563"/>
          </a:xfrm>
          <a:prstGeom prst="rect">
            <a:avLst/>
          </a:pr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0D3DAD9B-F895-38F3-7E66-F7CE93598C25}"/>
                  </a:ext>
                </a:extLst>
              </p:cNvPr>
              <p:cNvSpPr txBox="1"/>
              <p:nvPr/>
            </p:nvSpPr>
            <p:spPr>
              <a:xfrm>
                <a:off x="8054501" y="1155033"/>
                <a:ext cx="3920247" cy="45243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/>
                  <a:t>Schéma d’Euler Explicite :</a:t>
                </a:r>
              </a:p>
              <a:p>
                <a:endParaRPr lang="fr-CA" dirty="0"/>
              </a:p>
              <a:p>
                <a:r>
                  <a:rPr lang="fr-CA" dirty="0"/>
                  <a:t>On vient évaluer l’état d’un système à un temps 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+∆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fr-CA" dirty="0"/>
                  <a:t> à l’aide de l’état de ce système au temps 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fr-CA" dirty="0"/>
                  <a:t>.</a:t>
                </a:r>
              </a:p>
              <a:p>
                <a:endParaRPr lang="fr-CA" dirty="0"/>
              </a:p>
              <a:p>
                <a:r>
                  <a:rPr lang="fr-CA" dirty="0"/>
                  <a:t>Méthode directe (pas de système à résoudre) et peu coûteuse.</a:t>
                </a:r>
              </a:p>
              <a:p>
                <a:endParaRPr lang="fr-CA" dirty="0"/>
              </a:p>
              <a:p>
                <a:r>
                  <a:rPr lang="fr-CA" dirty="0"/>
                  <a:t>Problème de stabilité : la méthode d’Euler explicite nécessite de respecter un critère de stabilité entre la discrétisation en temps et en espace :</a:t>
                </a:r>
              </a:p>
              <a:p>
                <a:endParaRPr lang="fr-CA" dirty="0"/>
              </a:p>
              <a:p>
                <a:endParaRPr lang="fr-CA" dirty="0"/>
              </a:p>
            </p:txBody>
          </p:sp>
        </mc:Choice>
        <mc:Fallback xmlns="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0D3DAD9B-F895-38F3-7E66-F7CE93598C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4501" y="1155033"/>
                <a:ext cx="3920247" cy="4524315"/>
              </a:xfrm>
              <a:prstGeom prst="rect">
                <a:avLst/>
              </a:prstGeom>
              <a:blipFill>
                <a:blip r:embed="rId3"/>
                <a:stretch>
                  <a:fillRect l="-1244" t="-538" r="-46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 7">
            <a:extLst>
              <a:ext uri="{FF2B5EF4-FFF2-40B4-BE49-F238E27FC236}">
                <a16:creationId xmlns:a16="http://schemas.microsoft.com/office/drawing/2014/main" id="{19BD9348-480B-8C6C-AE14-0653FA9994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6411" y="5073307"/>
            <a:ext cx="4258607" cy="911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07430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003BD6-209D-95E8-105B-EEC2D50173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0"/>
            <a:ext cx="11353800" cy="1325563"/>
          </a:xfrm>
        </p:spPr>
        <p:txBody>
          <a:bodyPr/>
          <a:lstStyle/>
          <a:p>
            <a:r>
              <a:rPr lang="fr-FR" dirty="0"/>
              <a:t>Discrétisation : Milieu – Schéma d’Euler Explicite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439C4FB-5092-413C-C838-32069AD0E4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1257" y="1331495"/>
                <a:ext cx="11930743" cy="51816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fr-FR" dirty="0"/>
                  <a:t>Hors des frontières (r-1, r+1, z-1, z+1 sont définis)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Δt</m:t>
                            </m:r>
                          </m:sup>
                        </m:sSub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Δt</m:t>
                        </m:r>
                        <m:r>
                          <m:rPr>
                            <m:nor/>
                          </m:rPr>
                          <a:rPr lang="fr-FR"/>
                          <m:t> </m:t>
                        </m:r>
                      </m:den>
                    </m:f>
                  </m:oMath>
                </a14:m>
                <a:r>
                  <a:rPr lang="fr-FR" dirty="0"/>
                  <a:t> , </a:t>
                </a:r>
                <a:r>
                  <a:rPr lang="fr-FR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1 </a:t>
                </a:r>
                <a:endParaRPr lang="fr-FR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</m:oMath>
                </a14:m>
                <a:r>
                  <a:rPr lang="fr-FR" dirty="0"/>
                  <a:t>, </a:t>
                </a:r>
                <a:r>
                  <a:rPr lang="fr-FR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  <a:endParaRPr lang="fr-FR" dirty="0"/>
              </a:p>
              <a:p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400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sz="2400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CA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Δt</m:t>
                          </m:r>
                        </m:sup>
                      </m:sSubSup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</a:rPr>
                            <m:t>ρ</m:t>
                          </m:r>
                          <m:sSub>
                            <m:sSub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CA" sz="2400" b="0" i="0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p>
                              <m:r>
                                <a:rPr lang="fr-FR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fr-FR" sz="2400"/>
                            <m:t> 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a:rPr lang="fr-FR" sz="24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FR" sz="240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p>
                              <m:r>
                                <a:rPr lang="fr-FR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fr-FR" sz="2400"/>
                            <m:t> 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b="0" dirty="0"/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439C4FB-5092-413C-C838-32069AD0E4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1257" y="1331495"/>
                <a:ext cx="11930743" cy="5181600"/>
              </a:xfrm>
              <a:blipFill>
                <a:blip r:embed="rId2"/>
                <a:stretch>
                  <a:fillRect l="-1073" t="-200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10518746-3A15-2C27-5A6F-6AB51FC276FA}"/>
                  </a:ext>
                </a:extLst>
              </p:cNvPr>
              <p:cNvSpPr txBox="1"/>
              <p:nvPr/>
            </p:nvSpPr>
            <p:spPr>
              <a:xfrm>
                <a:off x="4869617" y="1595314"/>
                <a:ext cx="5362519" cy="17326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fr-FR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ch</m:t>
                        </m:r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6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CA" sz="26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r</m:t>
                            </m:r>
                          </m:e>
                          <m:sup>
                            <m:r>
                              <a:rPr lang="fr-FR" sz="26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600">
                            <a:latin typeface="Cambria" panose="02040503050406030204" pitchFamily="18" charset="0"/>
                            <a:ea typeface="Cambria" panose="02040503050406030204" pitchFamily="18" charset="0"/>
                          </a:rPr>
                          <m:t> </m:t>
                        </m:r>
                      </m:den>
                    </m:f>
                  </m:oMath>
                </a14:m>
                <a:r>
                  <a:rPr lang="fr-FR" sz="26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, </a:t>
                </a:r>
                <a:r>
                  <a:rPr lang="fr-FR" sz="20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6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sz="260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p>
                            <m:r>
                              <a:rPr lang="fr-FR" sz="26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600"/>
                          <m:t> </m:t>
                        </m:r>
                      </m:den>
                    </m:f>
                  </m:oMath>
                </a14:m>
                <a:r>
                  <a:rPr lang="fr-FR" sz="2600" dirty="0"/>
                  <a:t>, </a:t>
                </a:r>
                <a:r>
                  <a:rPr lang="fr-FR" sz="20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</a:p>
            </p:txBody>
          </p:sp>
        </mc:Choice>
        <mc:Fallback xmlns=""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10518746-3A15-2C27-5A6F-6AB51FC276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9617" y="1595314"/>
                <a:ext cx="5362519" cy="1732654"/>
              </a:xfrm>
              <a:prstGeom prst="rect">
                <a:avLst/>
              </a:prstGeom>
              <a:blipFill>
                <a:blip r:embed="rId3"/>
                <a:stretch>
                  <a:fillRect b="-2113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Arc 5">
            <a:extLst>
              <a:ext uri="{FF2B5EF4-FFF2-40B4-BE49-F238E27FC236}">
                <a16:creationId xmlns:a16="http://schemas.microsoft.com/office/drawing/2014/main" id="{669E06E8-CC02-FA18-F417-BCEB210B1102}"/>
              </a:ext>
            </a:extLst>
          </p:cNvPr>
          <p:cNvSpPr/>
          <p:nvPr/>
        </p:nvSpPr>
        <p:spPr>
          <a:xfrm rot="241833" flipH="1">
            <a:off x="2857585" y="4094814"/>
            <a:ext cx="2152095" cy="1509192"/>
          </a:xfrm>
          <a:prstGeom prst="arc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1284967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9C5C6ED-CEB0-DF95-C2D4-5220839D0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876" y="-30897"/>
            <a:ext cx="11945112" cy="1325563"/>
          </a:xfrm>
        </p:spPr>
        <p:txBody>
          <a:bodyPr/>
          <a:lstStyle/>
          <a:p>
            <a:r>
              <a:rPr lang="fr-FR" dirty="0"/>
              <a:t>Discrétisation : frontières - Schéma d’Euler Explicite 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4595270A-CFC5-DE88-BDE0-18625C38E1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16619" y="4270193"/>
            <a:ext cx="4204606" cy="248797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F5871682-0B46-824A-AEFF-E8E2BCE778AB}"/>
                  </a:ext>
                </a:extLst>
              </p:cNvPr>
              <p:cNvSpPr txBox="1"/>
              <p:nvPr/>
            </p:nvSpPr>
            <p:spPr>
              <a:xfrm>
                <a:off x="667512" y="1343818"/>
                <a:ext cx="5897880" cy="12886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chemeClr val="accent2"/>
                    </a:solidFill>
                  </a:rPr>
                  <a:t>Condition de symétrie (Neumann) :</a:t>
                </a:r>
              </a:p>
              <a:p>
                <a:pPr algn="ctr"/>
                <a:r>
                  <a:rPr lang="fr-CA" dirty="0">
                    <a:solidFill>
                      <a:schemeClr val="accent2"/>
                    </a:solidFill>
                  </a:rPr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𝑑𝑇</m:t>
                        </m:r>
                      </m:num>
                      <m:den>
                        <m: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𝑑𝑧</m:t>
                        </m:r>
                      </m:den>
                    </m:f>
                    <m:r>
                      <a:rPr lang="fr-CA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CA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fr-CA" b="0" i="1" dirty="0">
                  <a:solidFill>
                    <a:schemeClr val="accent2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+∆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</m:oMath>
                  </m:oMathPara>
                </a14:m>
                <a:endParaRPr lang="fr-CA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F5871682-0B46-824A-AEFF-E8E2BCE778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512" y="1343818"/>
                <a:ext cx="5897880" cy="1288686"/>
              </a:xfrm>
              <a:prstGeom prst="rect">
                <a:avLst/>
              </a:prstGeom>
              <a:blipFill>
                <a:blip r:embed="rId3"/>
                <a:stretch>
                  <a:fillRect l="-931" t="-188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35B26447-C369-915B-101D-E4FC7C5D7482}"/>
                  </a:ext>
                </a:extLst>
              </p:cNvPr>
              <p:cNvSpPr txBox="1"/>
              <p:nvPr/>
            </p:nvSpPr>
            <p:spPr>
              <a:xfrm>
                <a:off x="582168" y="2784657"/>
                <a:ext cx="5897880" cy="12886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FFBF00"/>
                    </a:solidFill>
                  </a:rPr>
                  <a:t>Condition de symétrie (Neumann) :</a:t>
                </a:r>
              </a:p>
              <a:p>
                <a:pPr algn="ctr"/>
                <a:r>
                  <a:rPr lang="fr-CA" dirty="0">
                    <a:solidFill>
                      <a:srgbClr val="FFBF00"/>
                    </a:solidFill>
                  </a:rPr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  <m:t>𝑑𝑇</m:t>
                        </m:r>
                      </m:num>
                      <m:den>
                        <m: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  <m:t>𝑑𝑧</m:t>
                        </m:r>
                      </m:den>
                    </m:f>
                    <m:r>
                      <a:rPr lang="fr-CA" b="0" i="1" smtClean="0">
                        <a:solidFill>
                          <a:srgbClr val="FFBF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CA" b="0" i="1" smtClean="0">
                        <a:solidFill>
                          <a:srgbClr val="FFBF0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fr-CA" b="0" i="1" dirty="0">
                  <a:solidFill>
                    <a:srgbClr val="FFBF00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+∆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0" smtClean="0">
                          <a:solidFill>
                            <a:srgbClr val="FFB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0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CA" b="0" i="0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b="0" i="0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1" smtClean="0">
                          <a:solidFill>
                            <a:srgbClr val="FFB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</m:oMath>
                  </m:oMathPara>
                </a14:m>
                <a:endParaRPr lang="fr-CA" dirty="0">
                  <a:solidFill>
                    <a:srgbClr val="FFBF00"/>
                  </a:solidFill>
                </a:endParaRPr>
              </a:p>
            </p:txBody>
          </p:sp>
        </mc:Choice>
        <mc:Fallback xmlns=""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35B26447-C369-915B-101D-E4FC7C5D7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168" y="2784657"/>
                <a:ext cx="5897880" cy="1288686"/>
              </a:xfrm>
              <a:prstGeom prst="rect">
                <a:avLst/>
              </a:prstGeom>
              <a:blipFill>
                <a:blip r:embed="rId4"/>
                <a:stretch>
                  <a:fillRect l="-931" t="-237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B81FF01E-407B-CE8F-80F4-CFC728E6CA10}"/>
                  </a:ext>
                </a:extLst>
              </p:cNvPr>
              <p:cNvSpPr txBox="1"/>
              <p:nvPr/>
            </p:nvSpPr>
            <p:spPr>
              <a:xfrm>
                <a:off x="5803392" y="1268922"/>
                <a:ext cx="6141720" cy="1869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5B9BD5"/>
                    </a:solidFill>
                  </a:rPr>
                  <a:t>Condition de robin, convection-radiation :</a:t>
                </a:r>
              </a:p>
              <a:p>
                <a:pPr algn="ctr">
                  <a:spcBef>
                    <a:spcPts val="1800"/>
                  </a:spcBef>
                </a:pPr>
                <a:r>
                  <a:rPr lang="fr-CA" dirty="0">
                    <a:solidFill>
                      <a:srgbClr val="5B9BD5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m:rPr>
                        <m:sty m:val="p"/>
                      </m:rP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⃗"/>
                        <m:ctrlPr>
                          <a:rPr lang="fr-FR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acc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∞</m:t>
                            </m:r>
                            <m:r>
                              <m:rPr>
                                <m:nor/>
                              </m:rPr>
                              <a:rPr lang="fr-FR" dirty="0">
                                <a:solidFill>
                                  <a:srgbClr val="5B9BD5"/>
                                </a:solidFill>
                              </a:rPr>
                              <m:t> </m:t>
                            </m:r>
                          </m:sub>
                        </m:sSub>
                      </m:e>
                    </m:d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solidFill>
                    <a:srgbClr val="5B9BD5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=[</m:t>
                    </m:r>
                    <m:d>
                      <m:dPr>
                        <m:ctrlP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CA" b="0" i="1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CA" b="0" i="1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den>
                        </m:f>
                      </m:e>
                    </m:d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∗(</m:t>
                    </m:r>
                    <m:r>
                      <m:rPr>
                        <m:sty m:val="p"/>
                      </m:rP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-</a:t>
                </a:r>
                <a:r>
                  <a:rPr lang="fr-FR" dirty="0">
                    <a:solidFill>
                      <a:srgbClr val="5B9BD5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  <m:r>
                          <m:rPr>
                            <m:nor/>
                          </m:rPr>
                          <a:rPr lang="fr-FR" dirty="0">
                            <a:solidFill>
                              <a:srgbClr val="5B9BD5"/>
                            </a:solidFill>
                          </a:rPr>
                          <m:t> </m:t>
                        </m:r>
                      </m:sub>
                    </m:sSub>
                    <m:r>
                      <a:rPr lang="fr-CA" b="0" i="1" dirty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 +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Sup>
                          <m:sSubSupPr>
                            <m:ctrlP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e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 −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4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)]÷</m:t>
                    </m:r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i="1">
                              <a:solidFill>
                                <a:srgbClr val="5B9BD5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CA" i="1">
                              <a:solidFill>
                                <a:srgbClr val="5B9BD5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acc>
                      <m:r>
                        <a:rPr lang="fr-CA" b="0" i="1" smtClean="0">
                          <a:solidFill>
                            <a:srgbClr val="5B9BD5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fr-CA" b="0" i="1" smtClean="0">
                          <a:solidFill>
                            <a:srgbClr val="5B9BD5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fr-CA" b="0" i="1" smtClean="0">
                          <a:solidFill>
                            <a:srgbClr val="5B9BD5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CA" b="0" i="1" smtClean="0">
                          <a:solidFill>
                            <a:srgbClr val="5B9BD5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fr-CA" b="0" i="1" smtClean="0">
                          <a:solidFill>
                            <a:srgbClr val="5B9BD5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CA" dirty="0">
                  <a:solidFill>
                    <a:srgbClr val="5B9BD5"/>
                  </a:solidFill>
                </a:endParaRPr>
              </a:p>
            </p:txBody>
          </p:sp>
        </mc:Choice>
        <mc:Fallback xmlns="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B81FF01E-407B-CE8F-80F4-CFC728E6CA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3392" y="1268922"/>
                <a:ext cx="6141720" cy="1869614"/>
              </a:xfrm>
              <a:prstGeom prst="rect">
                <a:avLst/>
              </a:prstGeom>
              <a:blipFill>
                <a:blip r:embed="rId5"/>
                <a:stretch>
                  <a:fillRect l="-794" t="-1303" b="-195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A0DEE587-681A-1A82-80C1-940949F38F5B}"/>
                  </a:ext>
                </a:extLst>
              </p:cNvPr>
              <p:cNvSpPr txBox="1"/>
              <p:nvPr/>
            </p:nvSpPr>
            <p:spPr>
              <a:xfrm>
                <a:off x="5903976" y="3023260"/>
                <a:ext cx="6288024" cy="1869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6FAD46"/>
                    </a:solidFill>
                  </a:rPr>
                  <a:t>Condition de robin, convection-radiation :</a:t>
                </a:r>
              </a:p>
              <a:p>
                <a:pPr algn="ctr">
                  <a:spcBef>
                    <a:spcPts val="1800"/>
                  </a:spcBef>
                </a:pPr>
                <a:r>
                  <a:rPr lang="fr-CA" dirty="0">
                    <a:solidFill>
                      <a:srgbClr val="6FAD46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m:rPr>
                        <m:sty m:val="p"/>
                      </m:rP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⃗"/>
                        <m:ctrlPr>
                          <a:rPr lang="fr-FR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acc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∞</m:t>
                            </m:r>
                            <m:r>
                              <m:rPr>
                                <m:nor/>
                              </m:rPr>
                              <a:rPr lang="fr-FR" dirty="0">
                                <a:solidFill>
                                  <a:srgbClr val="6FAD46"/>
                                </a:solidFill>
                              </a:rPr>
                              <m:t> </m:t>
                            </m:r>
                          </m:sub>
                        </m:sSub>
                      </m:e>
                    </m:d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solidFill>
                    <a:srgbClr val="6FAD46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=[</m:t>
                    </m:r>
                    <m:d>
                      <m:dPr>
                        <m:ctrlP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CA" b="0" i="1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CA" b="0" i="1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den>
                        </m:f>
                      </m:e>
                    </m:d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∗(</m:t>
                    </m:r>
                    <m:r>
                      <m:rPr>
                        <m:sty m:val="p"/>
                      </m:rP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-</a:t>
                </a:r>
                <a:r>
                  <a:rPr lang="fr-FR" dirty="0">
                    <a:solidFill>
                      <a:srgbClr val="6FAD46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  <m:r>
                          <m:rPr>
                            <m:nor/>
                          </m:rPr>
                          <a:rPr lang="fr-FR" dirty="0">
                            <a:solidFill>
                              <a:srgbClr val="6FAD46"/>
                            </a:solidFill>
                          </a:rPr>
                          <m:t> </m:t>
                        </m:r>
                      </m:sub>
                    </m:sSub>
                    <m:r>
                      <a:rPr lang="fr-CA" b="0" i="1" dirty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 +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Sup>
                          <m:sSubSupPr>
                            <m:ctrlP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e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 −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4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)]÷</m:t>
                    </m:r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i="1">
                              <a:solidFill>
                                <a:srgbClr val="6FAD46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CA" i="1">
                              <a:solidFill>
                                <a:srgbClr val="6FAD46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acc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CA" dirty="0">
                  <a:solidFill>
                    <a:srgbClr val="6FAD46"/>
                  </a:solidFill>
                </a:endParaRPr>
              </a:p>
            </p:txBody>
          </p:sp>
        </mc:Choice>
        <mc:Fallback xmlns=""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A0DEE587-681A-1A82-80C1-940949F38F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3976" y="3023260"/>
                <a:ext cx="6288024" cy="1869614"/>
              </a:xfrm>
              <a:prstGeom prst="rect">
                <a:avLst/>
              </a:prstGeom>
              <a:blipFill>
                <a:blip r:embed="rId6"/>
                <a:stretch>
                  <a:fillRect l="-873" t="-1629" b="-1629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ZoneTexte 9">
            <a:extLst>
              <a:ext uri="{FF2B5EF4-FFF2-40B4-BE49-F238E27FC236}">
                <a16:creationId xmlns:a16="http://schemas.microsoft.com/office/drawing/2014/main" id="{841669E0-8634-2A94-9DF2-325DD99B02AA}"/>
              </a:ext>
            </a:extLst>
          </p:cNvPr>
          <p:cNvSpPr txBox="1"/>
          <p:nvPr/>
        </p:nvSpPr>
        <p:spPr>
          <a:xfrm>
            <a:off x="5999988" y="5008150"/>
            <a:ext cx="6096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 err="1"/>
              <a:t>Dicrétisations</a:t>
            </a:r>
            <a:r>
              <a:rPr lang="fr-CA" dirty="0"/>
              <a:t> réalisées à l’aide des méthodes de </a:t>
            </a:r>
            <a:r>
              <a:rPr lang="fr-CA" dirty="0" err="1"/>
              <a:t>Gear</a:t>
            </a:r>
            <a:r>
              <a:rPr lang="fr-CA" dirty="0"/>
              <a:t>, d’ordre 2 :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32A8A863-AC5E-8C31-7C35-11133CCD283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03976" y="5752785"/>
            <a:ext cx="6096000" cy="975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08825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D2072-1734-D724-EA81-E925334F5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4BB688C-D97C-481D-A291-13AA5890C4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r>
              <a:rPr lang="fr-FR" dirty="0"/>
              <a:t>Description du code 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B4B15E8C-4AC7-7351-4AC9-E6164AE5CE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1258" y="1331494"/>
                <a:ext cx="11930742" cy="5526505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fr-FR" dirty="0"/>
                  <a:t>main.py : fichier permettant d’exécuter le solveur pour une configuration prédéterminée.</a:t>
                </a:r>
              </a:p>
              <a:p>
                <a:r>
                  <a:rPr lang="fr-FR" dirty="0"/>
                  <a:t>fonctions.py : le cœur du code</a:t>
                </a:r>
              </a:p>
              <a:p>
                <a:pPr lvl="1"/>
                <a:r>
                  <a:rPr lang="fr-FR" dirty="0"/>
                  <a:t>Classe Paramètres : classe contenant la configuration du problème.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𝑛𝑟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𝑛𝑧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𝑑𝑟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𝑑𝑧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𝑑𝑡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𝑝𝑜𝑠𝑖𝑡𝑖𝑜𝑛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𝑀𝑀𝑆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𝑒𝑡𝑐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fr-CA" b="0" i="1" dirty="0">
                  <a:latin typeface="Cambria Math" panose="02040503050406030204" pitchFamily="18" charset="0"/>
                </a:endParaRPr>
              </a:p>
              <a:p>
                <a:pPr lvl="1"/>
                <a:r>
                  <a:rPr lang="fr-CA" b="0" dirty="0"/>
                  <a:t>Fonction Position : permet de générer les matrices de position des points du domaine </a:t>
                </a:r>
                <a:r>
                  <a:rPr lang="fr-CA" dirty="0"/>
                  <a:t>(</a:t>
                </a:r>
                <a:r>
                  <a:rPr lang="fr-CA" b="1" dirty="0"/>
                  <a:t>R </a:t>
                </a:r>
                <a:r>
                  <a:rPr lang="fr-CA" dirty="0"/>
                  <a:t>et </a:t>
                </a:r>
                <a:r>
                  <a:rPr lang="fr-CA" b="1" dirty="0"/>
                  <a:t>M</a:t>
                </a:r>
                <a:r>
                  <a:rPr lang="fr-CA" dirty="0"/>
                  <a:t>).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fr-CA" b="0" dirty="0"/>
              </a:p>
              <a:p>
                <a:pPr lvl="1"/>
                <a:r>
                  <a:rPr lang="fr-CA" dirty="0"/>
                  <a:t>Fonction Température : calcul l’état de la température au pas de temps suivant.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fr-CA" b="0" dirty="0"/>
                  <a:t>Génère un état intermédiaire composé de l’état au temps </a:t>
                </a:r>
                <a:r>
                  <a:rPr lang="fr-CA" b="0" i="1" dirty="0"/>
                  <a:t>t</a:t>
                </a:r>
                <a:r>
                  <a:rPr lang="fr-CA" b="0" dirty="0"/>
                  <a:t> au milieu et l’état au temps 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+∆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fr-CA" b="0" dirty="0"/>
                  <a:t> aux frontières.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fr-CA" dirty="0"/>
                  <a:t>Appelle la fonction Milieu.</a:t>
                </a:r>
                <a:endParaRPr lang="fr-CA" b="0" dirty="0"/>
              </a:p>
              <a:p>
                <a:pPr lvl="1"/>
                <a:r>
                  <a:rPr lang="fr-FR" dirty="0"/>
                  <a:t>Fonction Milieu : permet de calculer l’état de la température au pas de temps suivant à l’aide de l’état intermédiaire fourni par la fonction Température.</a:t>
                </a:r>
              </a:p>
              <a:p>
                <a:pPr lvl="1"/>
                <a:endParaRPr lang="fr-FR" dirty="0"/>
              </a:p>
              <a:p>
                <a:pPr marL="0" indent="0">
                  <a:buNone/>
                </a:pPr>
                <a:r>
                  <a:rPr lang="fr-FR" dirty="0"/>
                  <a:t>Résolution du système : on itère sur le temps en appelant la fonction Température, jusqu’à ce qu’on ait atteint le temps final.</a:t>
                </a:r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B4B15E8C-4AC7-7351-4AC9-E6164AE5CE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1258" y="1331494"/>
                <a:ext cx="11930742" cy="5526505"/>
              </a:xfrm>
              <a:blipFill>
                <a:blip r:embed="rId2"/>
                <a:stretch>
                  <a:fillRect l="-920" t="-2205" r="-66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74559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9B0DE8D-01F9-F51A-DBBD-3867112623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Calcul de l’ordre de convergence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369A214-4D5D-715B-6640-CC12B4B650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0411" y="1605124"/>
                <a:ext cx="10515600" cy="5504688"/>
              </a:xfrm>
            </p:spPr>
            <p:txBody>
              <a:bodyPr>
                <a:normAutofit/>
              </a:bodyPr>
              <a:lstStyle/>
              <a:p>
                <a:r>
                  <a:rPr lang="fr-FR" dirty="0"/>
                  <a:t>Développement de Taylor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F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b="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b="0" i="0" dirty="0">
                    <a:latin typeface="Cambria Math" panose="02040503050406030204" pitchFamily="18" charset="0"/>
                  </a:rPr>
                  <a:t>Ordre 1 en temps :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Δt</m:t>
                            </m:r>
                          </m:sup>
                        </m:sSubSup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Δt</m:t>
                        </m:r>
                        <m:r>
                          <m:rPr>
                            <m:nor/>
                          </m:rPr>
                          <a:rPr lang="fr-FR"/>
                          <m:t> 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fr-FR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r-FR" b="0" i="0" dirty="0">
                    <a:latin typeface="Cambria Math" panose="02040503050406030204" pitchFamily="18" charset="0"/>
                  </a:rPr>
                  <a:t>)</a:t>
                </a:r>
                <a:r>
                  <a:rPr lang="fr-FR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b="0" dirty="0"/>
                  <a:t>	          </a:t>
                </a:r>
                <a14:m>
                  <m:oMath xmlns:m="http://schemas.openxmlformats.org/officeDocument/2006/math">
                    <m:r>
                      <a:rPr lang="fr-FR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b="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369A214-4D5D-715B-6640-CC12B4B650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0411" y="1605124"/>
                <a:ext cx="10515600" cy="5504688"/>
              </a:xfrm>
              <a:blipFill>
                <a:blip r:embed="rId3"/>
                <a:stretch>
                  <a:fillRect l="-1217" t="-1883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160243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C4141-85F8-8321-5A47-F7279370D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7B92C8-7E5E-8CDA-7607-D5BFCF6EAD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Calcul de l’ordre de convergence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A145214A-2ADA-193F-B05A-48501377A8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29768" y="1335057"/>
                <a:ext cx="11676888" cy="550468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fr-FR" sz="2400" b="0" i="0" dirty="0">
                    <a:latin typeface="Cambria Math" panose="02040503050406030204" pitchFamily="18" charset="0"/>
                  </a:rPr>
                  <a:t>Ordre 2 en espace (r et z) :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fr-FR" sz="2400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den>
                        </m:f>
                        <m:r>
                          <a:rPr lang="fr-FR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sSub>
                      <m:sSubPr>
                        <m:ctrlPr>
                          <a:rPr lang="fr-F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CA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endParaRPr lang="fr-FR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sz="2400" b="0" dirty="0">
                    <a:solidFill>
                      <a:srgbClr val="FF0000"/>
                    </a:solidFill>
                  </a:rPr>
                  <a:t>		           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sSub>
                      <m:sSubPr>
                        <m:ctrlPr>
                          <a:rPr lang="fr-F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CA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</m:oMath>
                </a14:m>
                <a:r>
                  <a:rPr lang="fr-FR" sz="2400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fr-FR" sz="2400" dirty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r>
                  <a:rPr lang="fr-FR" sz="2400" b="0" i="0" dirty="0">
                    <a:latin typeface="Cambria Math" panose="02040503050406030204" pitchFamily="18" charset="0"/>
                  </a:rPr>
                  <a:t>)</a:t>
                </a:r>
                <a:endParaRPr lang="fr-FR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sz="2400" b="0" dirty="0"/>
                  <a:t>	          	   </a:t>
                </a:r>
                <a14:m>
                  <m:oMath xmlns:m="http://schemas.openxmlformats.org/officeDocument/2006/math"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fr-FR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2400" b="0" i="0" dirty="0">
                  <a:latin typeface="Cambria Math" panose="02040503050406030204" pitchFamily="18" charset="0"/>
                </a:endParaRPr>
              </a:p>
              <a:p>
                <a:endParaRPr lang="fr-FR" sz="240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p>
                            <m:r>
                              <a:rPr lang="fr-FR" sz="24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400"/>
                          <m:t> 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fr-FR" sz="2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sSup>
                              <m:sSupPr>
                                <m:ctrlPr>
                                  <a:rPr lang="fr-FR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40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p>
                                <m:r>
                                  <a:rPr lang="fr-FR" sz="240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fr-FR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</m:oMath>
                </a14:m>
                <a:endParaRPr lang="fr-FR" sz="2400" dirty="0"/>
              </a:p>
              <a:p>
                <a:pPr marL="0" indent="0">
                  <a:buNone/>
                </a:pPr>
                <a:r>
                  <a:rPr lang="fr-FR" sz="2400" b="0" dirty="0"/>
                  <a:t> 			</a:t>
                </a:r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</m:oMath>
                </a14:m>
                <a:endParaRPr lang="fr-FR" sz="2000" b="0" dirty="0"/>
              </a:p>
              <a:p>
                <a:pPr marL="0" indent="0">
                  <a:buNone/>
                </a:pPr>
                <a:r>
                  <a:rPr lang="fr-FR" sz="2000" dirty="0"/>
                  <a:t>			      </a:t>
                </a:r>
                <a14:m>
                  <m:oMath xmlns:m="http://schemas.openxmlformats.org/officeDocument/2006/math">
                    <m:r>
                      <a:rPr lang="fr-F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 </m:t>
                    </m:r>
                    <m:r>
                      <a:rPr lang="fr-FR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sz="2400" b="0" dirty="0">
                    <a:solidFill>
                      <a:schemeClr val="tx1"/>
                    </a:solidFill>
                  </a:rPr>
                  <a:t>)</a:t>
                </a:r>
              </a:p>
              <a:p>
                <a:pPr marL="0" indent="0">
                  <a:buNone/>
                </a:pPr>
                <a:r>
                  <a:rPr lang="fr-FR" sz="2400" dirty="0"/>
                  <a:t>			 </a:t>
                </a:r>
                <a14:m>
                  <m:oMath xmlns:m="http://schemas.openxmlformats.org/officeDocument/2006/math">
                    <m:r>
                      <a:rPr lang="fr-FR" sz="2000" b="0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fr-FR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2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fr-FR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2400" b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A145214A-2ADA-193F-B05A-48501377A8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9768" y="1335057"/>
                <a:ext cx="11676888" cy="5504688"/>
              </a:xfrm>
              <a:blipFill>
                <a:blip r:embed="rId3"/>
                <a:stretch>
                  <a:fillRect l="-836" t="-155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012905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0210F2-DE1D-E808-58AF-DFA01EAAB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- Méthodologie 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4013CAEC-1AC4-C17B-EAFA-EC1AB7DBA2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628376" cy="4351338"/>
              </a:xfrm>
            </p:spPr>
            <p:txBody>
              <a:bodyPr>
                <a:normAutofit fontScale="77500" lnSpcReduction="20000"/>
              </a:bodyPr>
              <a:lstStyle/>
              <a:p>
                <a:pPr>
                  <a:lnSpc>
                    <a:spcPct val="124000"/>
                  </a:lnSpc>
                </a:pPr>
                <a:r>
                  <a:rPr lang="fr-FR" dirty="0"/>
                  <a:t>Implémentation de divers tests avec le module </a:t>
                </a:r>
                <a:r>
                  <a:rPr lang="fr-FR" i="1" dirty="0" err="1"/>
                  <a:t>unittest</a:t>
                </a:r>
                <a:r>
                  <a:rPr lang="fr-FR" dirty="0"/>
                  <a:t> de python :</a:t>
                </a:r>
              </a:p>
              <a:p>
                <a:pPr lvl="1">
                  <a:lnSpc>
                    <a:spcPct val="124000"/>
                  </a:lnSpc>
                </a:pPr>
                <a:r>
                  <a:rPr lang="fr-FR" b="1" dirty="0"/>
                  <a:t>Tests unitaires </a:t>
                </a:r>
                <a:r>
                  <a:rPr lang="fr-FR" dirty="0"/>
                  <a:t>pour les différentes fonctions du code implémentés :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FR" b="1" dirty="0" err="1"/>
                  <a:t>testPosition</a:t>
                </a:r>
                <a:r>
                  <a:rPr lang="fr-FR" dirty="0"/>
                  <a:t> : </a:t>
                </a:r>
                <a:r>
                  <a:rPr lang="fr-CA" dirty="0"/>
                  <a:t>Test la fonction Position avec des valeurs connues.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testMilieu</a:t>
                </a:r>
                <a:r>
                  <a:rPr lang="fr-CA" dirty="0"/>
                  <a:t> : Test la fonction Milieu avec des valeurs connues.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testTemperature</a:t>
                </a:r>
                <a:r>
                  <a:rPr lang="fr-CA" dirty="0"/>
                  <a:t> : Test la fonction </a:t>
                </a:r>
                <a:r>
                  <a:rPr lang="fr-CA" dirty="0" err="1"/>
                  <a:t>Temperature</a:t>
                </a:r>
                <a:r>
                  <a:rPr lang="fr-CA" dirty="0"/>
                  <a:t> avec des valeurs connues.</a:t>
                </a:r>
              </a:p>
              <a:p>
                <a:pPr lvl="1">
                  <a:lnSpc>
                    <a:spcPct val="124000"/>
                  </a:lnSpc>
                </a:pPr>
                <a:r>
                  <a:rPr lang="fr-CA" b="1" dirty="0"/>
                  <a:t>Tests de vérification de code </a:t>
                </a:r>
                <a:r>
                  <a:rPr lang="fr-CA" dirty="0"/>
                  <a:t>implémentés :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testSymetrie</a:t>
                </a:r>
                <a:r>
                  <a:rPr lang="fr-CA" dirty="0"/>
                  <a:t> : Test la simplification de la condition de symétrie en comparant le résultat symétrique au résultat du domaine complet.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testConservationEnergie</a:t>
                </a:r>
                <a:r>
                  <a:rPr lang="fr-CA" dirty="0"/>
                  <a:t> : Test la conservation de l'énergie du solveur en effectuant un bilan </a:t>
                </a:r>
                <a:r>
                  <a:rPr lang="fr-CA" dirty="0" err="1"/>
                  <a:t>énegérique</a:t>
                </a:r>
                <a:r>
                  <a:rPr lang="fr-CA" dirty="0"/>
                  <a:t> à l'intérieur du domaine et sur la frontière. On cherche :</a:t>
                </a:r>
                <a:br>
                  <a:rPr lang="fr-CA" dirty="0"/>
                </a:b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fr-CA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𝑖𝑛𝑡</m:t>
                            </m:r>
                          </m:sub>
                        </m:sSub>
                      </m:e>
                    </m:acc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acc>
                      <m:accPr>
                        <m:chr m:val="̇"/>
                        <m:ctrlPr>
                          <a:rPr lang="fr-CA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𝑓𝑟𝑜𝑛𝑡</m:t>
                            </m:r>
                          </m:sub>
                        </m:sSub>
                      </m:e>
                    </m:acc>
                  </m:oMath>
                </a14:m>
                <a:endParaRPr lang="fr-CA" dirty="0"/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testInvarianceGalileenne</a:t>
                </a:r>
                <a:r>
                  <a:rPr lang="fr-CA" dirty="0"/>
                  <a:t> : Test l’invariance galiléenne du solveur par translation des coordonnées.</a:t>
                </a:r>
              </a:p>
              <a:p>
                <a:pPr lvl="1">
                  <a:lnSpc>
                    <a:spcPct val="124000"/>
                  </a:lnSpc>
                </a:pPr>
                <a:r>
                  <a:rPr lang="fr-CA" dirty="0"/>
                  <a:t>Implémentation de la </a:t>
                </a:r>
                <a:r>
                  <a:rPr lang="fr-CA" b="1" dirty="0"/>
                  <a:t>MMS</a:t>
                </a:r>
                <a:r>
                  <a:rPr lang="fr-CA" dirty="0"/>
                  <a:t> pour évaluer l’ordre de convergence du solveur.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endParaRPr lang="fr-CA" dirty="0"/>
              </a:p>
              <a:p>
                <a:pPr lvl="2">
                  <a:buFont typeface="Courier New" panose="02070309020205020404" pitchFamily="49" charset="0"/>
                  <a:buChar char="o"/>
                </a:pPr>
                <a:endParaRPr lang="fr-FR" dirty="0"/>
              </a:p>
              <a:p>
                <a:pPr lvl="2"/>
                <a:endParaRPr lang="fr-FR" dirty="0"/>
              </a:p>
              <a:p>
                <a:pPr lvl="2"/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4013CAEC-1AC4-C17B-EAFA-EC1AB7DBA2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628376" cy="4351338"/>
              </a:xfrm>
              <a:blipFill>
                <a:blip r:embed="rId2"/>
                <a:stretch>
                  <a:fillRect l="-688" t="-700" r="-57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787051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8461F-0ADA-F2B0-A6E7-097DBD122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CE1403-3D16-B3B5-E3F3-9368B3195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- Résultats :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699FE2D-5448-2AC8-260C-B0D0A0501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3101" y="1690688"/>
            <a:ext cx="11185187" cy="4915643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34000"/>
              </a:lnSpc>
            </a:pPr>
            <a:r>
              <a:rPr lang="fr-FR" dirty="0"/>
              <a:t>Tests unitaires : rien de surprenant, objectif de conserver une pérennité et une stabilité du code malgré des changements.</a:t>
            </a:r>
          </a:p>
          <a:p>
            <a:pPr>
              <a:lnSpc>
                <a:spcPct val="134000"/>
              </a:lnSpc>
            </a:pPr>
            <a:r>
              <a:rPr lang="fr-FR" dirty="0"/>
              <a:t>Tests de vérification de code :</a:t>
            </a:r>
          </a:p>
          <a:p>
            <a:pPr lvl="1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b="1" dirty="0" err="1"/>
              <a:t>testSymmetrie</a:t>
            </a:r>
            <a:r>
              <a:rPr lang="fr-FR" dirty="0"/>
              <a:t> :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 A révélé un </a:t>
            </a:r>
            <a:r>
              <a:rPr lang="fr-FR" i="1" dirty="0"/>
              <a:t>champ de mine</a:t>
            </a:r>
            <a:r>
              <a:rPr lang="fr-FR" dirty="0"/>
              <a:t> de </a:t>
            </a:r>
            <a:r>
              <a:rPr lang="fr-FR" b="1" dirty="0"/>
              <a:t>bugs</a:t>
            </a:r>
            <a:r>
              <a:rPr lang="fr-FR" dirty="0"/>
              <a:t> au sein du code.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A permis de revisiter et de réécrire correctement les </a:t>
            </a:r>
            <a:r>
              <a:rPr lang="fr-FR" b="1" dirty="0"/>
              <a:t>équations de discrétisation </a:t>
            </a:r>
            <a:r>
              <a:rPr lang="fr-FR" dirty="0"/>
              <a:t>(que nous croyions déjà bonne).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Problèmes </a:t>
            </a:r>
            <a:r>
              <a:rPr lang="fr-FR" b="1" dirty="0"/>
              <a:t>d’indexation des points</a:t>
            </a:r>
            <a:r>
              <a:rPr lang="fr-FR" dirty="0"/>
              <a:t>, notamment pour les conditions frontières aux </a:t>
            </a:r>
            <a:r>
              <a:rPr lang="fr-FR" i="1" dirty="0"/>
              <a:t>coins</a:t>
            </a:r>
            <a:r>
              <a:rPr lang="fr-FR" dirty="0"/>
              <a:t> du domaine.</a:t>
            </a:r>
          </a:p>
          <a:p>
            <a:pPr lvl="1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b="1" dirty="0" err="1"/>
              <a:t>testInvarianceGaliléenne</a:t>
            </a:r>
            <a:r>
              <a:rPr lang="fr-FR" dirty="0"/>
              <a:t> :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A révélé quelques subtilités du code qui on permis de l’améliorer, notamment la manière dont est calculé le rayon et la manière dont sont initialisés les paramètres.</a:t>
            </a:r>
          </a:p>
          <a:p>
            <a:pPr lvl="1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b="1" dirty="0" err="1"/>
              <a:t>testConservationEnergie</a:t>
            </a:r>
            <a:r>
              <a:rPr lang="fr-FR" dirty="0"/>
              <a:t> :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Un peu complexe à mettre en place. 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Flux de chaleur conservé de manière satisfaisante, au millième près.</a:t>
            </a:r>
          </a:p>
        </p:txBody>
      </p:sp>
    </p:spTree>
    <p:extLst>
      <p:ext uri="{BB962C8B-B14F-4D97-AF65-F5344CB8AC3E}">
        <p14:creationId xmlns:p14="http://schemas.microsoft.com/office/powerpoint/2010/main" val="8458332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8B92D-CCAF-B970-4FDC-131895046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17134A-892B-0D3A-608A-3FB298A46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– MMS – Méthodologie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26B832D3-1AFE-0930-0EA6-79DF70C198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971179" cy="4964281"/>
              </a:xfrm>
            </p:spPr>
            <p:txBody>
              <a:bodyPr>
                <a:normAutofit fontScale="70000" lnSpcReduction="20000"/>
              </a:bodyPr>
              <a:lstStyle/>
              <a:p>
                <a:pPr>
                  <a:lnSpc>
                    <a:spcPct val="134000"/>
                  </a:lnSpc>
                </a:pPr>
                <a:r>
                  <a:rPr lang="fr-FR" dirty="0"/>
                  <a:t>Implémentation de la méthode des solutions manufacturés. </a:t>
                </a:r>
              </a:p>
              <a:p>
                <a:pPr>
                  <a:lnSpc>
                    <a:spcPct val="134000"/>
                  </a:lnSpc>
                </a:pPr>
                <a:r>
                  <a:rPr lang="fr-FR" dirty="0"/>
                  <a:t>Changements nécessaires :</a:t>
                </a:r>
              </a:p>
              <a:p>
                <a:pPr lvl="1">
                  <a:lnSpc>
                    <a:spcPct val="134000"/>
                  </a:lnSpc>
                </a:pPr>
                <a:r>
                  <a:rPr lang="fr-FR" dirty="0"/>
                  <a:t>Implémentation de conditions de Dirichlet aux </a:t>
                </a:r>
                <a:r>
                  <a:rPr lang="fr-FR" b="1" dirty="0"/>
                  <a:t>frontières extérieures</a:t>
                </a:r>
                <a:r>
                  <a:rPr lang="fr-FR" dirty="0"/>
                  <a:t>:</a:t>
                </a:r>
                <a:br>
                  <a:rPr lang="fr-FR" dirty="0"/>
                </a:br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>
                          <m:sSub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𝑀𝑀𝑆</m:t>
                            </m:r>
                          </m:sub>
                        </m:sSub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endParaRPr lang="fr-FR" dirty="0"/>
              </a:p>
              <a:p>
                <a:pPr lvl="1">
                  <a:lnSpc>
                    <a:spcPct val="134000"/>
                  </a:lnSpc>
                </a:pPr>
                <a:r>
                  <a:rPr lang="fr-FR" dirty="0"/>
                  <a:t>Implémentation d’un terme source dans l’équation du milieu du domaine.</a:t>
                </a:r>
              </a:p>
              <a:p>
                <a:pPr lvl="1">
                  <a:lnSpc>
                    <a:spcPct val="134000"/>
                  </a:lnSpc>
                </a:pPr>
                <a:r>
                  <a:rPr lang="fr-FR" dirty="0"/>
                  <a:t>Repenser la classe </a:t>
                </a:r>
                <a:r>
                  <a:rPr lang="fr-FR" i="1" dirty="0"/>
                  <a:t>Paramètres</a:t>
                </a:r>
                <a:r>
                  <a:rPr lang="fr-FR" dirty="0"/>
                  <a:t> pour intégrer le tout et permettre à un utilisateur d’imposer une </a:t>
                </a:r>
                <a:r>
                  <a:rPr lang="fr-FR" i="1" dirty="0"/>
                  <a:t>MMS</a:t>
                </a:r>
                <a:r>
                  <a:rPr lang="fr-FR" dirty="0"/>
                  <a:t>, ou non.</a:t>
                </a:r>
              </a:p>
              <a:p>
                <a:pPr>
                  <a:lnSpc>
                    <a:spcPct val="134000"/>
                  </a:lnSpc>
                </a:pPr>
                <a:r>
                  <a:rPr lang="fr-FR" dirty="0"/>
                  <a:t>Équation choisie :</a:t>
                </a:r>
                <a:br>
                  <a:rPr lang="fr-FR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𝑀𝑀𝑆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𝑟𝑒𝑓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𝐴</m:t>
                    </m:r>
                    <m:sSup>
                      <m:sSup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(−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sSub>
                          <m:sSub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𝑓𝑖𝑛𝑎𝑙</m:t>
                            </m:r>
                          </m:sub>
                        </m:s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func>
                      <m:func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CA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num>
                              <m:den>
                                <m: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m:rPr>
                        <m:sty m:val="p"/>
                      </m:rPr>
                      <a:rPr lang="fr-CA" b="0" i="0" smtClean="0">
                        <a:latin typeface="Cambria Math" panose="02040503050406030204" pitchFamily="18" charset="0"/>
                      </a:rPr>
                      <m:t>cos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⁡(</m:t>
                    </m:r>
                    <m:f>
                      <m:f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num>
                      <m:den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den>
                    </m:f>
                    <m:r>
                      <a:rPr lang="fr-CA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/>
              </a:p>
              <a:p>
                <a:pPr marL="914400" lvl="2" indent="0" algn="ctr">
                  <a:lnSpc>
                    <a:spcPct val="134000"/>
                  </a:lnSpc>
                  <a:buNone/>
                </a:pPr>
                <a:r>
                  <a:rPr lang="fr-FR" dirty="0"/>
                  <a:t>Ici, on choisit 2 cosinus de manière à forcer l’équation a être symétrique aux frontières r=0, z=0.</a:t>
                </a:r>
              </a:p>
              <a:p>
                <a:pPr>
                  <a:lnSpc>
                    <a:spcPct val="134000"/>
                  </a:lnSpc>
                </a:pPr>
                <a:r>
                  <a:rPr lang="fr-FR" dirty="0"/>
                  <a:t>Le calcul du terme source est fait à l’aide de la librairie </a:t>
                </a:r>
                <a:r>
                  <a:rPr lang="fr-FR" i="1" dirty="0" err="1"/>
                  <a:t>sympy</a:t>
                </a:r>
                <a:r>
                  <a:rPr lang="fr-FR" dirty="0"/>
                  <a:t> dans Python. Les développements ne seront donc pas présentés.</a:t>
                </a:r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26B832D3-1AFE-0930-0EA6-79DF70C198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971179" cy="4964281"/>
              </a:xfrm>
              <a:blipFill>
                <a:blip r:embed="rId2"/>
                <a:stretch>
                  <a:fillRect l="-500" r="-445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080325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0F47C-EA86-426C-9E31-441BF44D6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5732BA4-6A05-72B7-DA5A-7F788E2CA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– MMS – Résultats :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C16CC2A3-774C-4A0E-8885-22E49233D8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2354" y="1690688"/>
            <a:ext cx="8387292" cy="5032375"/>
          </a:xfrm>
          <a:prstGeom prst="rect">
            <a:avLst/>
          </a:prstGeom>
        </p:spPr>
      </p:pic>
      <p:grpSp>
        <p:nvGrpSpPr>
          <p:cNvPr id="10" name="Groupe 9">
            <a:extLst>
              <a:ext uri="{FF2B5EF4-FFF2-40B4-BE49-F238E27FC236}">
                <a16:creationId xmlns:a16="http://schemas.microsoft.com/office/drawing/2014/main" id="{0733C7CD-F52D-5C54-C2B4-44406B95C157}"/>
              </a:ext>
            </a:extLst>
          </p:cNvPr>
          <p:cNvGrpSpPr/>
          <p:nvPr/>
        </p:nvGrpSpPr>
        <p:grpSpPr>
          <a:xfrm>
            <a:off x="311285" y="5077838"/>
            <a:ext cx="3385226" cy="1448624"/>
            <a:chOff x="311285" y="5077838"/>
            <a:chExt cx="3385226" cy="144862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6CB769F-2C76-74CB-5981-7343AE429DE5}"/>
                </a:ext>
              </a:extLst>
            </p:cNvPr>
            <p:cNvSpPr/>
            <p:nvPr/>
          </p:nvSpPr>
          <p:spPr>
            <a:xfrm>
              <a:off x="2373549" y="5077838"/>
              <a:ext cx="1322962" cy="398834"/>
            </a:xfrm>
            <a:prstGeom prst="rect">
              <a:avLst/>
            </a:prstGeom>
            <a:noFill/>
            <a:ln w="571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8" name="Connecteur droit avec flèche 7">
              <a:extLst>
                <a:ext uri="{FF2B5EF4-FFF2-40B4-BE49-F238E27FC236}">
                  <a16:creationId xmlns:a16="http://schemas.microsoft.com/office/drawing/2014/main" id="{CEEDC86A-29FF-1B82-1333-62836274B581}"/>
                </a:ext>
              </a:extLst>
            </p:cNvPr>
            <p:cNvCxnSpPr>
              <a:stCxn id="6" idx="1"/>
            </p:cNvCxnSpPr>
            <p:nvPr/>
          </p:nvCxnSpPr>
          <p:spPr>
            <a:xfrm flipH="1">
              <a:off x="1322962" y="5277255"/>
              <a:ext cx="1050587" cy="32587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3AD781C3-D9E5-9A25-B650-D4D2A98A52FC}"/>
                </a:ext>
              </a:extLst>
            </p:cNvPr>
            <p:cNvSpPr txBox="1"/>
            <p:nvPr/>
          </p:nvSpPr>
          <p:spPr>
            <a:xfrm>
              <a:off x="311285" y="5603132"/>
              <a:ext cx="174125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A" dirty="0"/>
                <a:t>Discrétisation spatiale prend le dessus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69147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4F719-4F8B-B0BF-A652-91D4A8E1C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6CDAA5-638A-B4E8-6AFE-7C186CA43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– MMS – Résultats :</a:t>
            </a:r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6B8E9D59-8E3B-8479-E1C7-62F3A39A5D2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2000" y="1690688"/>
            <a:ext cx="8388000" cy="5032800"/>
          </a:xfrm>
          <a:prstGeom prst="rect">
            <a:avLst/>
          </a:prstGeom>
        </p:spPr>
      </p:pic>
      <p:grpSp>
        <p:nvGrpSpPr>
          <p:cNvPr id="8" name="Groupe 7">
            <a:extLst>
              <a:ext uri="{FF2B5EF4-FFF2-40B4-BE49-F238E27FC236}">
                <a16:creationId xmlns:a16="http://schemas.microsoft.com/office/drawing/2014/main" id="{4C4CFFBA-3429-F2F4-7F11-D968906589E4}"/>
              </a:ext>
            </a:extLst>
          </p:cNvPr>
          <p:cNvGrpSpPr/>
          <p:nvPr/>
        </p:nvGrpSpPr>
        <p:grpSpPr>
          <a:xfrm>
            <a:off x="209387" y="3016251"/>
            <a:ext cx="3385226" cy="1725623"/>
            <a:chOff x="311285" y="5077838"/>
            <a:chExt cx="3385226" cy="1725623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57A2EE6-1A05-1DB3-5DAA-1C28E8D82F63}"/>
                </a:ext>
              </a:extLst>
            </p:cNvPr>
            <p:cNvSpPr/>
            <p:nvPr/>
          </p:nvSpPr>
          <p:spPr>
            <a:xfrm>
              <a:off x="2373549" y="5077838"/>
              <a:ext cx="1322962" cy="398834"/>
            </a:xfrm>
            <a:prstGeom prst="rect">
              <a:avLst/>
            </a:prstGeom>
            <a:noFill/>
            <a:ln w="571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10" name="Connecteur droit avec flèche 9">
              <a:extLst>
                <a:ext uri="{FF2B5EF4-FFF2-40B4-BE49-F238E27FC236}">
                  <a16:creationId xmlns:a16="http://schemas.microsoft.com/office/drawing/2014/main" id="{EE0D9918-4259-5FE5-2239-A38236148190}"/>
                </a:ext>
              </a:extLst>
            </p:cNvPr>
            <p:cNvCxnSpPr>
              <a:stCxn id="9" idx="1"/>
            </p:cNvCxnSpPr>
            <p:nvPr/>
          </p:nvCxnSpPr>
          <p:spPr>
            <a:xfrm flipH="1">
              <a:off x="1322962" y="5277255"/>
              <a:ext cx="1050587" cy="32587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ZoneTexte 10">
              <a:extLst>
                <a:ext uri="{FF2B5EF4-FFF2-40B4-BE49-F238E27FC236}">
                  <a16:creationId xmlns:a16="http://schemas.microsoft.com/office/drawing/2014/main" id="{FD1FA1AC-0CBB-05F3-2DE3-6DE994D15BDB}"/>
                </a:ext>
              </a:extLst>
            </p:cNvPr>
            <p:cNvSpPr txBox="1"/>
            <p:nvPr/>
          </p:nvSpPr>
          <p:spPr>
            <a:xfrm>
              <a:off x="311285" y="5603132"/>
              <a:ext cx="1741251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A" dirty="0"/>
                <a:t>Discrétisation temporelle prend le dessus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63557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8AE09-663A-81B9-7889-A42F5868E2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7894090" cy="808809"/>
          </a:xfrm>
        </p:spPr>
        <p:txBody>
          <a:bodyPr>
            <a:normAutofit/>
          </a:bodyPr>
          <a:lstStyle/>
          <a:p>
            <a:r>
              <a:rPr lang="fr-FR" dirty="0"/>
              <a:t>Validation – erreur de simulation	: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C32232-D971-F63A-4322-D27F6CDB07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1491" y="1173934"/>
                <a:ext cx="7486650" cy="2347163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2000" b="0" i="1" smtClean="0">
                          <a:latin typeface="Cambria Math" panose="02040503050406030204" pitchFamily="18" charset="0"/>
                        </a:rPr>
                        <m:t>E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̃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m:rPr>
                          <m:sty m:val="p"/>
                        </m:rPr>
                        <a:rPr lang="fr-FR" sz="2000" b="0" i="1" smtClean="0">
                          <a:latin typeface="Cambria Math" panose="02040503050406030204" pitchFamily="18" charset="0"/>
                        </a:rPr>
                        <m:t>ye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 − </m:t>
                      </m:r>
                      <m:r>
                        <m:rPr>
                          <m:sty m:val="p"/>
                        </m:rPr>
                        <a:rPr lang="fr-FR" sz="2000" b="0" i="1" smtClean="0">
                          <a:latin typeface="Cambria Math" panose="02040503050406030204" pitchFamily="18" charset="0"/>
                        </a:rPr>
                        <m:t>ym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fr-FR" sz="2000" dirty="0"/>
              </a:p>
              <a:p>
                <a:endParaRPr lang="fr-FR" sz="2000" dirty="0"/>
              </a:p>
              <a:p>
                <a:r>
                  <a:rPr lang="fr-FR" sz="2000" dirty="0"/>
                  <a:t>Problème : pas de valeur expérimentale (manque de précision dans la littérature)</a:t>
                </a:r>
              </a:p>
              <a:p>
                <a:r>
                  <a:rPr lang="fr-FR" sz="2000" dirty="0">
                    <a:sym typeface="Wingdings" panose="05000000000000000000" pitchFamily="2" charset="2"/>
                  </a:rPr>
                  <a:t>Solution : passage par un code commercial</a:t>
                </a:r>
              </a:p>
              <a:p>
                <a:r>
                  <a:rPr lang="fr-FR" sz="2000" dirty="0">
                    <a:sym typeface="Wingdings" panose="05000000000000000000" pitchFamily="2" charset="2"/>
                  </a:rPr>
                  <a:t>Modélisation du problème sous SolidWorks pour un métal AISI 4340</a:t>
                </a:r>
                <a:endParaRPr lang="en-US" sz="20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C32232-D971-F63A-4322-D27F6CDB07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1491" y="1173934"/>
                <a:ext cx="7486650" cy="2347163"/>
              </a:xfrm>
              <a:blipFill>
                <a:blip r:embed="rId2"/>
                <a:stretch>
                  <a:fillRect l="-651" t="-779" r="-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32592D05-AA83-1726-AA8E-76EA7CE430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25531" y="521767"/>
            <a:ext cx="3566469" cy="23471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100F7ED-BB1D-A4E9-64F3-B26EE6B577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7336" y="3704045"/>
            <a:ext cx="2997683" cy="299768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5B50BF5-90A1-6B98-D3FC-7350FE4FB61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2846" y="3704044"/>
            <a:ext cx="3003714" cy="299768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9A009A9-8BFC-1B9B-F910-FCE3DE41CC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732" y="4148806"/>
            <a:ext cx="3848433" cy="255292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6A5E198-79E3-ED9B-9BBD-110FAE83354B}"/>
              </a:ext>
            </a:extLst>
          </p:cNvPr>
          <p:cNvSpPr txBox="1"/>
          <p:nvPr/>
        </p:nvSpPr>
        <p:spPr>
          <a:xfrm>
            <a:off x="1144371" y="3874770"/>
            <a:ext cx="21531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Température initiale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FE961D-8228-C8D9-8233-FE31E59D1AC9}"/>
              </a:ext>
            </a:extLst>
          </p:cNvPr>
          <p:cNvSpPr txBox="1"/>
          <p:nvPr/>
        </p:nvSpPr>
        <p:spPr>
          <a:xfrm>
            <a:off x="5955189" y="3427905"/>
            <a:ext cx="22990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Radiation : émissivité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AC3AD7-E755-29F6-BDA8-03CAC197225B}"/>
              </a:ext>
            </a:extLst>
          </p:cNvPr>
          <p:cNvSpPr txBox="1"/>
          <p:nvPr/>
        </p:nvSpPr>
        <p:spPr>
          <a:xfrm>
            <a:off x="9912373" y="3427905"/>
            <a:ext cx="13276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Convection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86473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D1F89-F778-6C72-5829-94790C929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- erreur de simulation :</a:t>
            </a:r>
            <a:endParaRPr lang="en-US" dirty="0"/>
          </a:p>
        </p:txBody>
      </p:sp>
      <p:pic>
        <p:nvPicPr>
          <p:cNvPr id="35" name="Content Placeholder 34">
            <a:extLst>
              <a:ext uri="{FF2B5EF4-FFF2-40B4-BE49-F238E27FC236}">
                <a16:creationId xmlns:a16="http://schemas.microsoft.com/office/drawing/2014/main" id="{B470CD96-A82E-E0EB-A3EC-1334F9C20B6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670" y="4864715"/>
            <a:ext cx="764723" cy="1531620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BD5C8037-549E-B941-FE25-FC8B83B3AE8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481" y="4864715"/>
            <a:ext cx="770186" cy="153162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D4695AF5-14C8-8B55-5D76-A5D9F788F65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1287" y="4864715"/>
            <a:ext cx="775642" cy="1531620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AE5FD986-C902-A6A4-CE75-3F189ADA9EE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321" y="4864715"/>
            <a:ext cx="771257" cy="1531620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E4EFAB5C-E687-B58A-EE9E-79B9093375A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1810" y="4864715"/>
            <a:ext cx="764717" cy="1531620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F72B7175-DEBB-3BDD-18D7-21B44DE17A6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4095" y="4864715"/>
            <a:ext cx="752530" cy="153162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FEAD094-7ADB-7B93-230A-513191FA86A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9543" y="4864715"/>
            <a:ext cx="773458" cy="153162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E0245B62-8CC7-E885-49A0-9C13DA3242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3093" y="4864715"/>
            <a:ext cx="774537" cy="1531620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51A5B0D7-2859-21E8-101F-3B1B9D12534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258" y="4864715"/>
            <a:ext cx="770161" cy="1531620"/>
          </a:xfrm>
          <a:prstGeom prst="rect">
            <a:avLst/>
          </a:prstGeom>
        </p:spPr>
      </p:pic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7DC9A4AC-38ED-A0E8-3543-95C8B64B1948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60020" y="6533495"/>
            <a:ext cx="73380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0CEAB3DF-E113-A48A-4976-5362A80A08F7}"/>
                  </a:ext>
                </a:extLst>
              </p:cNvPr>
              <p:cNvSpPr txBox="1"/>
              <p:nvPr/>
            </p:nvSpPr>
            <p:spPr>
              <a:xfrm>
                <a:off x="560860" y="1690688"/>
                <a:ext cx="10651970" cy="29864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/>
                  <a:t>S’assurer de la qualité des résultats de SolidWorks </a:t>
                </a:r>
                <a:r>
                  <a:rPr lang="fr-FR" dirty="0">
                    <a:sym typeface="Wingdings" panose="05000000000000000000" pitchFamily="2" charset="2"/>
                  </a:rPr>
                  <a:t> analyse de convergence (temps et espace)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r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</m:t>
                    </m:r>
                    <m:f>
                      <m:fPr>
                        <m:ctrlPr>
                          <a:rPr lang="pt-B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Δt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Te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</m:oMath>
                </a14:m>
                <a:r>
                  <a:rPr lang="fr-FR" dirty="0">
                    <a:sym typeface="Wingdings" panose="05000000000000000000" pitchFamily="2" charset="2"/>
                  </a:rPr>
                  <a:t> où Te désigne la taille des éléments (cm) 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Δt</m:t>
                    </m:r>
                  </m:oMath>
                </a14:m>
                <a:r>
                  <a:rPr lang="fr-FR" dirty="0">
                    <a:sym typeface="Wingdings" panose="05000000000000000000" pitchFamily="2" charset="2"/>
                  </a:rPr>
                  <a:t> le pas de temps (s)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>
                    <a:sym typeface="Wingdings" panose="05000000000000000000" pitchFamily="2" charset="2"/>
                  </a:rPr>
                  <a:t>Analyse de convergence réalisé avec les paramètres : 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t</m:t>
                    </m:r>
                    <m:r>
                      <m:rPr>
                        <m:sty m:val="p"/>
                      </m:rPr>
                      <a:rPr lang="fr-FR" b="0" i="1" baseline="-2500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fin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= 100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s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,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r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=2</m:t>
                    </m:r>
                  </m:oMath>
                </a14:m>
                <a:endParaRPr lang="fr-FR" dirty="0">
                  <a:sym typeface="Wingdings" panose="05000000000000000000" pitchFamily="2" charset="2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dirty="0">
                  <a:sym typeface="Wingdings" panose="05000000000000000000" pitchFamily="2" charset="2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>
                    <a:sym typeface="Wingdings" panose="05000000000000000000" pitchFamily="2" charset="2"/>
                  </a:rPr>
                  <a:t>Condition : obtenir convergence des valeurs finales + symétrie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dirty="0">
                  <a:sym typeface="Wingdings" panose="05000000000000000000" pitchFamily="2" charset="2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>
                    <a:sym typeface="Wingdings" panose="05000000000000000000" pitchFamily="2" charset="2"/>
                  </a:rPr>
                  <a:t>Obtention de résultat fiable pour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Δt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 0.6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s</m:t>
                    </m:r>
                  </m:oMath>
                </a14:m>
                <a:r>
                  <a:rPr lang="fr-FR" dirty="0">
                    <a:sym typeface="Wingdings" panose="05000000000000000000" pitchFamily="2" charset="2"/>
                  </a:rPr>
                  <a:t>  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Te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= 0.3</m:t>
                    </m:r>
                  </m:oMath>
                </a14:m>
                <a:endParaRPr lang="fr-FR" dirty="0">
                  <a:sym typeface="Wingdings" panose="05000000000000000000" pitchFamily="2" charset="2"/>
                </a:endParaRPr>
              </a:p>
              <a:p>
                <a:endParaRPr lang="fr-FR" dirty="0">
                  <a:sym typeface="Wingdings" panose="05000000000000000000" pitchFamily="2" charset="2"/>
                </a:endParaRPr>
              </a:p>
              <a:p>
                <a:endParaRPr lang="fr-FR" dirty="0">
                  <a:sym typeface="Wingdings" panose="05000000000000000000" pitchFamily="2" charset="2"/>
                </a:endParaRPr>
              </a:p>
            </p:txBody>
          </p:sp>
        </mc:Choice>
        <mc:Fallback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0CEAB3DF-E113-A48A-4976-5362A80A08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860" y="1690688"/>
                <a:ext cx="10651970" cy="2986459"/>
              </a:xfrm>
              <a:prstGeom prst="rect">
                <a:avLst/>
              </a:prstGeom>
              <a:blipFill>
                <a:blip r:embed="rId11"/>
                <a:stretch>
                  <a:fillRect l="-343" t="-12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TextBox 58">
            <a:extLst>
              <a:ext uri="{FF2B5EF4-FFF2-40B4-BE49-F238E27FC236}">
                <a16:creationId xmlns:a16="http://schemas.microsoft.com/office/drawing/2014/main" id="{D1B8D06E-603C-C267-3757-24818DA1220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498081" y="6396335"/>
            <a:ext cx="7712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/>
              <a:t>Te (cm)</a:t>
            </a:r>
            <a:endParaRPr lang="en-US" sz="14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77C65A6-DFDD-665B-F68B-741DFE06640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25608" y="6550223"/>
            <a:ext cx="2808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1</a:t>
            </a:r>
            <a:endParaRPr lang="en-US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8D5B6F5-F7F2-D061-02CE-DBF9E04F574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838695" y="6550223"/>
            <a:ext cx="4283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0.2</a:t>
            </a:r>
            <a:endParaRPr lang="en-U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C2BD58C-6402-B763-16DB-A732584E4F5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555159" y="6550223"/>
            <a:ext cx="4283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0.6</a:t>
            </a:r>
            <a:endParaRPr lang="en-US" dirty="0"/>
          </a:p>
        </p:txBody>
      </p:sp>
      <p:pic>
        <p:nvPicPr>
          <p:cNvPr id="64" name="Picture 63">
            <a:extLst>
              <a:ext uri="{FF2B5EF4-FFF2-40B4-BE49-F238E27FC236}">
                <a16:creationId xmlns:a16="http://schemas.microsoft.com/office/drawing/2014/main" id="{63B385C4-FDC5-27BD-D21F-1496ACB0F44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2504" y="3146976"/>
            <a:ext cx="4330546" cy="3247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65026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98810-4DBB-A150-02D8-A72B03EB7E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- erreur simulation :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BB7CBB9-6184-B33E-4584-B7B75F6910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6454" y="365125"/>
            <a:ext cx="4060801" cy="304560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B13BC59-1CF5-FBB2-63DD-9DDC99704668}"/>
                  </a:ext>
                </a:extLst>
              </p:cNvPr>
              <p:cNvSpPr txBox="1"/>
              <p:nvPr/>
            </p:nvSpPr>
            <p:spPr>
              <a:xfrm>
                <a:off x="463497" y="1690688"/>
                <a:ext cx="4512524" cy="392985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2400" dirty="0"/>
                  <a:t>Comparaison des champs de température pour </a:t>
                </a:r>
                <a:r>
                  <a:rPr lang="fr-FR" sz="2400" dirty="0" err="1"/>
                  <a:t>t</a:t>
                </a:r>
                <a:r>
                  <a:rPr lang="fr-FR" sz="2400" baseline="-25000" dirty="0" err="1"/>
                  <a:t>fin</a:t>
                </a:r>
                <a:r>
                  <a:rPr lang="fr-FR" sz="2400" baseline="-25000" dirty="0"/>
                  <a:t> </a:t>
                </a:r>
                <a:r>
                  <a:rPr lang="fr-FR" sz="2400" dirty="0"/>
                  <a:t>= 600s</a:t>
                </a:r>
              </a:p>
              <a:p>
                <a:endParaRPr lang="fr-FR" sz="2400" dirty="0"/>
              </a:p>
              <a:p>
                <a:endParaRPr lang="fr-FR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fr-FR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fr-FR" sz="24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fr-FR" sz="240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fr-F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fr-F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  <m: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fr-F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fr-FR" sz="24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  <m: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fr-F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fr-FR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 11.8 </m:t>
                      </m:r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fr-FR" sz="2400" dirty="0"/>
              </a:p>
              <a:p>
                <a:endParaRPr lang="fr-FR" dirty="0"/>
              </a:p>
              <a:p>
                <a:r>
                  <a:rPr lang="en-US" dirty="0" err="1"/>
                  <a:t>Calculer</a:t>
                </a:r>
                <a:r>
                  <a:rPr lang="en-US" dirty="0"/>
                  <a:t> pour 4 </a:t>
                </a:r>
                <a:r>
                  <a:rPr lang="en-US" dirty="0" err="1"/>
                  <a:t>valeurs</a:t>
                </a:r>
                <a:r>
                  <a:rPr lang="en-US" dirty="0"/>
                  <a:t> de </a:t>
                </a:r>
                <a:r>
                  <a:rPr lang="en-US" dirty="0" err="1"/>
                  <a:t>températures</a:t>
                </a:r>
                <a:r>
                  <a:rPr lang="en-US" dirty="0"/>
                  <a:t> 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B13BC59-1CF5-FBB2-63DD-9DDC997046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497" y="1690688"/>
                <a:ext cx="4512524" cy="3929858"/>
              </a:xfrm>
              <a:prstGeom prst="rect">
                <a:avLst/>
              </a:prstGeom>
              <a:blipFill>
                <a:blip r:embed="rId3"/>
                <a:stretch>
                  <a:fillRect l="-2027" t="-1240" b="-15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27367D0-BA41-060B-521D-6283AD7D3C1F}"/>
                  </a:ext>
                </a:extLst>
              </p:cNvPr>
              <p:cNvSpPr txBox="1"/>
              <p:nvPr/>
            </p:nvSpPr>
            <p:spPr>
              <a:xfrm>
                <a:off x="5350724" y="1396545"/>
                <a:ext cx="2496875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0" dirty="0">
                    <a:latin typeface="Cambria Math" panose="02040503050406030204" pitchFamily="18" charset="0"/>
                  </a:rPr>
                  <a:t>Paramètres utilisés : </a:t>
                </a:r>
              </a:p>
              <a:p>
                <a:endParaRPr lang="fr-FR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=7850 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𝑘𝑔</m:t>
                    </m:r>
                    <m:r>
                      <m:rPr>
                        <m:lit/>
                      </m:rPr>
                      <a:rPr lang="fr-FR" b="0" i="1" smtClean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fr-FR" b="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𝜀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=0.525 </m:t>
                    </m:r>
                  </m:oMath>
                </a14:m>
                <a:r>
                  <a:rPr lang="fr-FR" b="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=10</m:t>
                    </m:r>
                    <m:r>
                      <m:rPr>
                        <m:nor/>
                      </m:rPr>
                      <a:rPr lang="fr-FR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/>
                      <m:t>W</m:t>
                    </m:r>
                    <m:r>
                      <m:rPr>
                        <m:nor/>
                      </m:rPr>
                      <a:rPr lang="en-US"/>
                      <m:t>/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b="0" i="1" smtClean="0"/>
                      <m:t>⋅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𝑖𝑛𝑖𝑡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=1118.15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𝑎𝑚𝑏𝑖𝑎𝑛𝑡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=298.15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=44.5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m:rPr>
                        <m:lit/>
                      </m:rPr>
                      <a:rPr lang="fr-FR" b="0" i="1" smtClean="0">
                        <a:latin typeface="Cambria Math" panose="02040503050406030204" pitchFamily="18" charset="0"/>
                      </a:rPr>
                      <m:t>/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27367D0-BA41-060B-521D-6283AD7D3C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0724" y="1396545"/>
                <a:ext cx="2496875" cy="2308324"/>
              </a:xfrm>
              <a:prstGeom prst="rect">
                <a:avLst/>
              </a:prstGeom>
              <a:blipFill>
                <a:blip r:embed="rId4"/>
                <a:stretch>
                  <a:fillRect l="-2200" t="-1583" b="-34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044402B3-46AF-8558-B0C5-725A3070DC8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98017" y="3971427"/>
            <a:ext cx="899238" cy="274343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816710B-426E-2FF9-80BD-3E520DDC9AF1}"/>
                  </a:ext>
                </a:extLst>
              </p:cNvPr>
              <p:cNvSpPr txBox="1"/>
              <p:nvPr/>
            </p:nvSpPr>
            <p:spPr>
              <a:xfrm>
                <a:off x="5350724" y="4465983"/>
                <a:ext cx="1920240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:r>
                  <a:rPr lang="fr-FR" b="0" i="0" dirty="0">
                    <a:latin typeface="Cambria Math" panose="02040503050406030204" pitchFamily="18" charset="0"/>
                  </a:rPr>
                  <a:t>Modèle python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fr-FR" b="0" i="1" baseline="-25000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𝑛𝑧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20</m:t>
                      </m:r>
                    </m:oMath>
                  </m:oMathPara>
                </a14:m>
                <a:endParaRPr lang="fr-FR" b="0" i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dt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0.025 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s</m:t>
                      </m:r>
                    </m:oMath>
                  </m:oMathPara>
                </a14:m>
                <a:endParaRPr lang="fr-FR" b="0" i="0" dirty="0">
                  <a:latin typeface="Cambria Math" panose="02040503050406030204" pitchFamily="18" charset="0"/>
                </a:endParaRPr>
              </a:p>
              <a:p>
                <a:pPr/>
                <a:r>
                  <a:rPr lang="fr-FR" b="0" i="0" dirty="0">
                    <a:latin typeface="Cambria Math" panose="02040503050406030204" pitchFamily="18" charset="0"/>
                  </a:rPr>
                  <a:t>Simulation pour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=0.6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fr-FR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Te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0.3 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cm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816710B-426E-2FF9-80BD-3E520DDC9A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0724" y="4465983"/>
                <a:ext cx="1920240" cy="1754326"/>
              </a:xfrm>
              <a:prstGeom prst="rect">
                <a:avLst/>
              </a:prstGeom>
              <a:blipFill>
                <a:blip r:embed="rId6"/>
                <a:stretch>
                  <a:fillRect l="-2857" t="-2439" r="-25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13">
            <a:extLst>
              <a:ext uri="{FF2B5EF4-FFF2-40B4-BE49-F238E27FC236}">
                <a16:creationId xmlns:a16="http://schemas.microsoft.com/office/drawing/2014/main" id="{766F6BA7-FB40-F5A0-46A1-686F83E0644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6454" y="3971427"/>
            <a:ext cx="3035833" cy="2694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25146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6439F-29E7-5985-9D89-DC076CF91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– incertitude expérimentale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659431-7107-A76B-E208-96EAABE1F90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3134995"/>
              </a:xfrm>
            </p:spPr>
            <p:txBody>
              <a:bodyPr>
                <a:normAutofit/>
              </a:bodyPr>
              <a:lstStyle/>
              <a:p>
                <a:r>
                  <a:rPr lang="fr-FR" dirty="0"/>
                  <a:t>Erreur épistémique d’un thermocouple classique : ±1.5°C*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σ</m:t>
                    </m:r>
                    <m:r>
                      <m:rPr>
                        <m:sty m:val="p"/>
                      </m:rPr>
                      <a:rPr lang="fr-FR" b="0" i="1" baseline="-25000" smtClean="0">
                        <a:latin typeface="Cambria Math" panose="02040503050406030204" pitchFamily="18" charset="0"/>
                      </a:rPr>
                      <m:t>tc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87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°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fr-FR" dirty="0"/>
                  <a:t> </a:t>
                </a:r>
              </a:p>
              <a:p>
                <a:pPr marL="0" indent="0">
                  <a:buNone/>
                </a:pPr>
                <a:r>
                  <a:rPr lang="fr-FR" dirty="0"/>
                  <a:t> car distribution normale dans cet intervalle </a:t>
                </a:r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u</m:t>
                      </m:r>
                      <m:r>
                        <m:rPr>
                          <m:sty m:val="p"/>
                        </m:rPr>
                        <a:rPr lang="fr-FR" b="0" i="1" baseline="-25000" smtClean="0">
                          <a:latin typeface="Cambria Math" panose="02040503050406030204" pitchFamily="18" charset="0"/>
                        </a:rPr>
                        <m:t>D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</m:t>
                      </m:r>
                      <m:rad>
                        <m:radPr>
                          <m:degHide m:val="on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  <m:r>
                            <m:rPr>
                              <m:sty m:val="p"/>
                            </m:rPr>
                            <a:rPr lang="fr-FR" b="0" i="1" baseline="-25000" smtClean="0">
                              <a:latin typeface="Cambria Math" panose="02040503050406030204" pitchFamily="18" charset="0"/>
                            </a:rPr>
                            <m:t>tc</m:t>
                          </m:r>
                          <m:r>
                            <a:rPr lang="fr-FR" b="0" i="1" baseline="3000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 + 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02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ra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fr-FR" i="1">
                          <a:latin typeface="Cambria Math" panose="02040503050406030204" pitchFamily="18" charset="0"/>
                        </a:rPr>
                        <m:t>σ</m:t>
                      </m:r>
                      <m:r>
                        <m:rPr>
                          <m:sty m:val="p"/>
                        </m:rPr>
                        <a:rPr lang="fr-FR" i="1" baseline="-25000">
                          <a:latin typeface="Cambria Math" panose="02040503050406030204" pitchFamily="18" charset="0"/>
                        </a:rPr>
                        <m:t>tc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87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°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C</m:t>
                      </m:r>
                    </m:oMath>
                  </m:oMathPara>
                </a14:m>
                <a:endParaRPr lang="fr-FR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659431-7107-A76B-E208-96EAABE1F9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3134995"/>
              </a:xfrm>
              <a:blipFill>
                <a:blip r:embed="rId2"/>
                <a:stretch>
                  <a:fillRect l="-1217" t="-33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2CF3D44E-FDBD-44F9-D894-E056CB9F80B0}"/>
              </a:ext>
            </a:extLst>
          </p:cNvPr>
          <p:cNvSpPr txBox="1"/>
          <p:nvPr/>
        </p:nvSpPr>
        <p:spPr>
          <a:xfrm>
            <a:off x="838200" y="6126480"/>
            <a:ext cx="112318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*Source : tcsa.fr/thermocouple/type-k-thermocouple.html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9866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4C6E061-A18D-9828-5D8A-6DB04AFF154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fr-FR" dirty="0"/>
                  <a:t>Validation – incertitude numérique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</a:rPr>
                          <m:t>num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4C6E061-A18D-9828-5D8A-6DB04AFF15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30E620-26B7-5449-95D5-A34047E15D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En fonction de la valeur de GCI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2470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F4ABDAC-1290-62BE-A747-49C13C124D1C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fr-FR" dirty="0"/>
                  <a:t>Validation – incertitude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𝑖𝑛𝑝𝑢𝑡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F4ABDAC-1290-62BE-A747-49C13C124D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3B03C2-BC51-3422-84F2-F0391762AC5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Conductivité thermique suit une loi normale</a:t>
                </a:r>
              </a:p>
              <a:p>
                <a:pPr marL="0" indent="0" algn="ctr">
                  <a:buNone/>
                </a:pPr>
                <a:r>
                  <a:rPr lang="fr-FR" dirty="0"/>
                  <a:t> </a:t>
                </a:r>
                <a14:m>
                  <m:oMath xmlns:m="http://schemas.openxmlformats.org/officeDocument/2006/math">
                    <m:r>
                      <a:rPr lang="fr-FR" b="0" i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∼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𝒩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42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75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 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m:rPr>
                        <m:lit/>
                      </m:rPr>
                      <a:rPr lang="fr-FR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K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 err="1"/>
                  <a:t>Emissivité</a:t>
                </a:r>
                <a:r>
                  <a:rPr lang="en-US" dirty="0"/>
                  <a:t> suit </a:t>
                </a:r>
                <a:r>
                  <a:rPr lang="en-US" dirty="0" err="1"/>
                  <a:t>une</a:t>
                </a:r>
                <a:r>
                  <a:rPr lang="en-US" dirty="0"/>
                  <a:t> </a:t>
                </a:r>
                <a:r>
                  <a:rPr lang="en-US" dirty="0" err="1"/>
                  <a:t>loi</a:t>
                </a:r>
                <a:r>
                  <a:rPr lang="en-US" dirty="0"/>
                  <a:t> </a:t>
                </a:r>
                <a:r>
                  <a:rPr lang="en-US" dirty="0" err="1"/>
                  <a:t>normale</a:t>
                </a:r>
                <a:r>
                  <a:rPr lang="en-US" dirty="0"/>
                  <a:t> 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𝜀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525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19</m:t>
                          </m:r>
                        </m:e>
                      </m:d>
                    </m:oMath>
                  </m:oMathPara>
                </a14:m>
                <a:endParaRPr lang="fr-FR" b="0" dirty="0"/>
              </a:p>
              <a:p>
                <a:pPr marL="0" indent="0">
                  <a:buNone/>
                </a:pPr>
                <a:r>
                  <a:rPr lang="fr-FR" dirty="0"/>
                  <a:t>Par la méthode de Monte Carlo </a:t>
                </a:r>
                <a:endParaRPr lang="fr-FR" b="0" dirty="0"/>
              </a:p>
              <a:p>
                <a:pPr marL="0" indent="0" algn="ctr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3B03C2-BC51-3422-84F2-F0391762AC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109578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71FAF8-D45E-B846-39C4-A2BDDFE60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Amélioration possible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9282C8-F6FB-A0A2-B31D-09362B254F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Rajouter une erreur d’expérimentation à partir de la littérature d’une expérience similaire</a:t>
                </a:r>
                <a:r>
                  <a:rPr lang="fr-FR" dirty="0">
                    <a:sym typeface="Wingdings" panose="05000000000000000000" pitchFamily="2" charset="2"/>
                  </a:rPr>
                  <a:t> estimation plus concrète de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latin typeface="Cambria Math" panose="02040503050406030204" pitchFamily="18" charset="0"/>
                      </a:rPr>
                      <m:t>u</m:t>
                    </m:r>
                    <m:r>
                      <m:rPr>
                        <m:sty m:val="p"/>
                      </m:rPr>
                      <a:rPr lang="fr-FR" i="1" baseline="-25000">
                        <a:latin typeface="Cambria Math" panose="02040503050406030204" pitchFamily="18" charset="0"/>
                      </a:rPr>
                      <m:t>D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fr-FR" dirty="0"/>
              </a:p>
              <a:p>
                <a:r>
                  <a:rPr lang="fr-FR" dirty="0"/>
                  <a:t>Affiner le pas de temps et d’espace pour la simulation SolidWorks</a:t>
                </a:r>
                <a:r>
                  <a:rPr lang="fr-FR" dirty="0">
                    <a:sym typeface="Wingdings" panose="05000000000000000000" pitchFamily="2" charset="2"/>
                  </a:rPr>
                  <a:t> précision accrue sur l’erreur de simulation</a:t>
                </a:r>
              </a:p>
              <a:p>
                <a:r>
                  <a:rPr lang="fr-FR" dirty="0">
                    <a:sym typeface="Wingdings" panose="05000000000000000000" pitchFamily="2" charset="2"/>
                  </a:rPr>
                  <a:t>Calcul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𝐸</m:t>
                        </m:r>
                      </m:e>
                      <m:sub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𝐿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2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dirty="0"/>
                  <a:t> avec plus de points et </a:t>
                </a:r>
                <a:r>
                  <a:rPr lang="en-US" dirty="0" err="1"/>
                  <a:t>plusieurs</a:t>
                </a:r>
                <a:r>
                  <a:rPr lang="en-US" dirty="0"/>
                  <a:t> experiences pour </a:t>
                </a:r>
                <a:r>
                  <a:rPr lang="en-US" dirty="0" err="1"/>
                  <a:t>avoir</a:t>
                </a:r>
                <a:r>
                  <a:rPr lang="en-US" dirty="0"/>
                  <a:t> un </a:t>
                </a:r>
                <a:r>
                  <a:rPr lang="en-US" dirty="0" err="1"/>
                  <a:t>intervalle</a:t>
                </a:r>
                <a:r>
                  <a:rPr lang="en-US" dirty="0"/>
                  <a:t> de </a:t>
                </a:r>
                <a:r>
                  <a:rPr lang="en-US" dirty="0" err="1"/>
                  <a:t>confiance</a:t>
                </a:r>
                <a:r>
                  <a:rPr lang="en-US" dirty="0"/>
                  <a:t> sur E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9282C8-F6FB-A0A2-B31D-09362B254F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660869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2861</TotalTime>
  <Words>1752</Words>
  <Application>Microsoft Office PowerPoint</Application>
  <PresentationFormat>Widescreen</PresentationFormat>
  <Paragraphs>224</Paragraphs>
  <Slides>21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9" baseType="lpstr">
      <vt:lpstr>Aptos</vt:lpstr>
      <vt:lpstr>Aptos Display</vt:lpstr>
      <vt:lpstr>Arial</vt:lpstr>
      <vt:lpstr>Cambria</vt:lpstr>
      <vt:lpstr>Cambria Math</vt:lpstr>
      <vt:lpstr>Courier New</vt:lpstr>
      <vt:lpstr>Wingdings</vt:lpstr>
      <vt:lpstr>Thème Office</vt:lpstr>
      <vt:lpstr>MEC8211 – Projet final Vérification et Validation d’un solveur de différences finies réalisé dans le cadre du cours GCH2545 – Modélisation numérique en ingénierie</vt:lpstr>
      <vt:lpstr>Contexte</vt:lpstr>
      <vt:lpstr>Modélisation mathématique</vt:lpstr>
      <vt:lpstr>Modélisation mathématique</vt:lpstr>
      <vt:lpstr>Discrétisation : Milieu – Schéma d’Euler Explicite </vt:lpstr>
      <vt:lpstr>Discrétisation : frontières - Schéma d’Euler Explicite </vt:lpstr>
      <vt:lpstr>Description du code :</vt:lpstr>
      <vt:lpstr>Calcul de l’ordre de convergence </vt:lpstr>
      <vt:lpstr>Calcul de l’ordre de convergence </vt:lpstr>
      <vt:lpstr>Vérification de code - Méthodologie :</vt:lpstr>
      <vt:lpstr>Vérification de code - Résultats :</vt:lpstr>
      <vt:lpstr>Vérification de code – MMS – Méthodologie </vt:lpstr>
      <vt:lpstr>Vérification de code – MMS – Résultats :</vt:lpstr>
      <vt:lpstr>Vérification de code – MMS – Résultats :</vt:lpstr>
      <vt:lpstr>Validation – erreur de simulation :</vt:lpstr>
      <vt:lpstr>Validation - erreur de simulation :</vt:lpstr>
      <vt:lpstr>Validation - erreur simulation :</vt:lpstr>
      <vt:lpstr>Validation – incertitude expérimentale</vt:lpstr>
      <vt:lpstr>Validation – incertitude numérique u_num</vt:lpstr>
      <vt:lpstr>Validation – incertitude u_input</vt:lpstr>
      <vt:lpstr>Amélioration possible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Charlotte Sabrié</dc:creator>
  <cp:lastModifiedBy>Loïc Vignaud</cp:lastModifiedBy>
  <cp:revision>46</cp:revision>
  <dcterms:created xsi:type="dcterms:W3CDTF">2026-02-07T22:10:41Z</dcterms:created>
  <dcterms:modified xsi:type="dcterms:W3CDTF">2026-04-12T15:05:52Z</dcterms:modified>
</cp:coreProperties>
</file>