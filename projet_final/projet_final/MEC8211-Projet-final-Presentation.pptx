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86" r:id="rId15"/>
    <p:sldId id="284" r:id="rId16"/>
    <p:sldId id="261" r:id="rId17"/>
    <p:sldId id="265" r:id="rId18"/>
    <p:sldId id="266" r:id="rId19"/>
    <p:sldId id="267" r:id="rId20"/>
    <p:sldId id="268" r:id="rId21"/>
    <p:sldId id="285" r:id="rId22"/>
    <p:sldId id="272" r:id="rId23"/>
    <p:sldId id="270" r:id="rId24"/>
    <p:sldId id="287" r:id="rId25"/>
    <p:sldId id="271" r:id="rId26"/>
    <p:sldId id="278" r:id="rId27"/>
    <p:sldId id="273" r:id="rId28"/>
    <p:sldId id="276" r:id="rId29"/>
    <p:sldId id="277" r:id="rId30"/>
    <p:sldId id="274" r:id="rId31"/>
    <p:sldId id="279"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02" autoAdjust="0"/>
    <p:restoredTop sz="94782" autoAdjust="0"/>
  </p:normalViewPr>
  <p:slideViewPr>
    <p:cSldViewPr snapToGrid="0">
      <p:cViewPr varScale="1">
        <p:scale>
          <a:sx n="78" d="100"/>
          <a:sy n="78" d="100"/>
        </p:scale>
        <p:origin x="89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16/04/2026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16/04/2026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16/04/2026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16/04/2026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16/04/2026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16/04/2026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16/04/2026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16/04/2026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16/04/2026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16/04/2026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16/04/2026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16/04/2026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16/04/2026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7.xml.rels><?xml version="1.0" encoding="UTF-8" standalone="yes"?>
<Relationships xmlns="http://schemas.openxmlformats.org/package/2006/relationships"><Relationship Id="rId2" Type="http://schemas.openxmlformats.org/officeDocument/2006/relationships/image" Target="../media/image44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m:t>
                          </m:r>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xmlns="">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m:t>
                          </m:r>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xmlns="">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869614"/>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m:t>
                            </m:r>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0</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1</m:t>
                      </m:r>
                      <m:r>
                        <a:rPr lang="fr-CA" b="0" i="1" smtClean="0">
                          <a:solidFill>
                            <a:srgbClr val="5B9BD5"/>
                          </a:solidFill>
                          <a:latin typeface="Cambria Math" panose="02040503050406030204" pitchFamily="18" charset="0"/>
                        </a:rPr>
                        <m:t>)</m:t>
                      </m:r>
                    </m:oMath>
                  </m:oMathPara>
                </a14:m>
                <a:endParaRPr lang="fr-CA" dirty="0">
                  <a:solidFill>
                    <a:srgbClr val="5B9BD5"/>
                  </a:solidFill>
                </a:endParaRPr>
              </a:p>
            </p:txBody>
          </p:sp>
        </mc:Choice>
        <mc:Fallback xmlns="">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869614"/>
              </a:xfrm>
              <a:prstGeom prst="rect">
                <a:avLst/>
              </a:prstGeom>
              <a:blipFill>
                <a:blip r:embed="rId5"/>
                <a:stretch>
                  <a:fillRect l="-794" t="-1303" b="-1954"/>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869614"/>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m:t>
                            </m:r>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1</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0</m:t>
                      </m:r>
                      <m:r>
                        <a:rPr lang="fr-CA" b="0" i="1" smtClean="0">
                          <a:solidFill>
                            <a:srgbClr val="6FAD46"/>
                          </a:solidFill>
                          <a:latin typeface="Cambria Math" panose="02040503050406030204" pitchFamily="18" charset="0"/>
                        </a:rPr>
                        <m:t>)</m:t>
                      </m:r>
                    </m:oMath>
                  </m:oMathPara>
                </a14:m>
                <a:endParaRPr lang="fr-CA" dirty="0">
                  <a:solidFill>
                    <a:srgbClr val="6FAD46"/>
                  </a:solidFill>
                </a:endParaRPr>
              </a:p>
            </p:txBody>
          </p:sp>
        </mc:Choice>
        <mc:Fallback xmlns="">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869614"/>
              </a:xfrm>
              <a:prstGeom prst="rect">
                <a:avLst/>
              </a:prstGeom>
              <a:blipFill>
                <a:blip r:embed="rId6"/>
                <a:stretch>
                  <a:fillRect l="-873" t="-1629" b="-1629"/>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838200" y="0"/>
            <a:ext cx="10515600" cy="1325563"/>
          </a:xfrm>
        </p:spPr>
        <p:txBody>
          <a:bodyPr>
            <a:normAutofit/>
          </a:bodyPr>
          <a:lstStyle/>
          <a:p>
            <a:r>
              <a:rPr lang="fr-FR" dirty="0"/>
              <a:t>Description du code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261258" y="1331494"/>
                <a:ext cx="11930742" cy="5526505"/>
              </a:xfrm>
            </p:spPr>
            <p:txBody>
              <a:bodyPr>
                <a:normAutofit/>
              </a:bodyPr>
              <a:lstStyle/>
              <a:p>
                <a:r>
                  <a:rPr lang="fr-FR" dirty="0"/>
                  <a:t>main.py : fichier permettant d’exécuter le solveur pour une configuration prédéterminée.</a:t>
                </a:r>
              </a:p>
              <a:p>
                <a:r>
                  <a:rPr lang="fr-FR" dirty="0"/>
                  <a:t>fonctions.py : le cœur du code</a:t>
                </a:r>
              </a:p>
              <a:p>
                <a:pPr lvl="1"/>
                <a:r>
                  <a:rPr lang="fr-FR"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𝑅</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r>
                      <a:rPr lang="fr-CA" b="0" i="1" smtClean="0">
                        <a:latin typeface="Cambria Math" panose="02040503050406030204" pitchFamily="18" charset="0"/>
                      </a:rPr>
                      <m:t>𝜌</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𝑝</m:t>
                        </m:r>
                      </m:sub>
                    </m:sSub>
                    <m:r>
                      <a:rPr lang="fr-CA" b="0" i="1" smtClean="0">
                        <a:latin typeface="Cambria Math" panose="02040503050406030204" pitchFamily="18" charset="0"/>
                      </a:rPr>
                      <m:t>, </m:t>
                    </m:r>
                    <m:r>
                      <a:rPr lang="fr-CA" b="0" i="1" smtClean="0">
                        <a:latin typeface="Cambria Math" panose="02040503050406030204" pitchFamily="18" charset="0"/>
                      </a:rPr>
                      <m:t>𝑛𝑟</m:t>
                    </m:r>
                    <m:r>
                      <a:rPr lang="fr-CA" b="0" i="1" smtClean="0">
                        <a:latin typeface="Cambria Math" panose="02040503050406030204" pitchFamily="18" charset="0"/>
                      </a:rPr>
                      <m:t>,</m:t>
                    </m:r>
                    <m:r>
                      <a:rPr lang="fr-CA" b="0" i="1" smtClean="0">
                        <a:latin typeface="Cambria Math" panose="02040503050406030204" pitchFamily="18" charset="0"/>
                      </a:rPr>
                      <m:t>𝑛𝑧</m:t>
                    </m:r>
                    <m:r>
                      <a:rPr lang="fr-CA" b="0" i="1" smtClean="0">
                        <a:latin typeface="Cambria Math" panose="02040503050406030204" pitchFamily="18" charset="0"/>
                      </a:rPr>
                      <m:t>,</m:t>
                    </m:r>
                    <m:r>
                      <a:rPr lang="fr-CA" b="0" i="1" smtClean="0">
                        <a:latin typeface="Cambria Math" panose="02040503050406030204" pitchFamily="18" charset="0"/>
                      </a:rPr>
                      <m:t>𝑑𝑟</m:t>
                    </m:r>
                    <m:r>
                      <a:rPr lang="fr-CA" b="0" i="1" smtClean="0">
                        <a:latin typeface="Cambria Math" panose="02040503050406030204" pitchFamily="18" charset="0"/>
                      </a:rPr>
                      <m:t>,</m:t>
                    </m:r>
                    <m:r>
                      <a:rPr lang="fr-CA" b="0" i="1" smtClean="0">
                        <a:latin typeface="Cambria Math" panose="02040503050406030204" pitchFamily="18" charset="0"/>
                      </a:rPr>
                      <m:t>𝑑𝑧</m:t>
                    </m:r>
                    <m:r>
                      <a:rPr lang="fr-CA" b="0" i="1" smtClean="0">
                        <a:latin typeface="Cambria Math" panose="02040503050406030204" pitchFamily="18" charset="0"/>
                      </a:rPr>
                      <m:t>,</m:t>
                    </m:r>
                    <m:r>
                      <a:rPr lang="fr-CA" b="0" i="1" smtClean="0">
                        <a:latin typeface="Cambria Math" panose="02040503050406030204" pitchFamily="18" charset="0"/>
                      </a:rPr>
                      <m:t>𝑑𝑡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i="1">
                            <a:latin typeface="Cambria Math" panose="02040503050406030204" pitchFamily="18" charset="0"/>
                            <a:ea typeface="Cambria Math" panose="02040503050406030204" pitchFamily="18" charset="0"/>
                          </a:rPr>
                          <m:t>∞</m:t>
                        </m:r>
                      </m:sub>
                    </m:sSub>
                    <m:r>
                      <a:rPr lang="fr-CA" b="0" i="1" smtClean="0">
                        <a:latin typeface="Cambria Math" panose="02040503050406030204" pitchFamily="18" charset="0"/>
                      </a:rPr>
                      <m:t>,</m:t>
                    </m:r>
                    <m:r>
                      <a:rPr lang="fr-CA" b="0" i="1" smtClean="0">
                        <a:latin typeface="Cambria Math" panose="02040503050406030204" pitchFamily="18" charset="0"/>
                      </a:rPr>
                      <m:t>𝑝𝑜𝑠𝑖𝑡𝑖𝑜𝑛</m:t>
                    </m:r>
                    <m:r>
                      <a:rPr lang="fr-CA" b="0" i="1" smtClean="0">
                        <a:latin typeface="Cambria Math" panose="02040503050406030204" pitchFamily="18" charset="0"/>
                      </a:rPr>
                      <m:t>,</m:t>
                    </m:r>
                    <m:r>
                      <a:rPr lang="fr-CA" b="0" i="1" smtClean="0">
                        <a:latin typeface="Cambria Math" panose="02040503050406030204" pitchFamily="18" charset="0"/>
                      </a:rPr>
                      <m:t>𝑀𝑀𝑆</m:t>
                    </m:r>
                    <m:r>
                      <a:rPr lang="fr-CA" b="0" i="1" smtClean="0">
                        <a:latin typeface="Cambria Math" panose="02040503050406030204" pitchFamily="18" charset="0"/>
                      </a:rPr>
                      <m:t>,</m:t>
                    </m:r>
                    <m:r>
                      <a:rPr lang="fr-CA" b="0" i="1" smtClean="0">
                        <a:latin typeface="Cambria Math" panose="02040503050406030204" pitchFamily="18" charset="0"/>
                      </a:rPr>
                      <m:t>𝑒𝑡𝑐</m:t>
                    </m:r>
                    <m:r>
                      <a:rPr lang="fr-CA" b="0" i="1" smtClean="0">
                        <a:latin typeface="Cambria Math" panose="02040503050406030204" pitchFamily="18" charset="0"/>
                      </a:rPr>
                      <m:t>.</m:t>
                    </m:r>
                  </m:oMath>
                </a14:m>
                <a:endParaRPr lang="fr-CA" b="0" i="1" dirty="0">
                  <a:latin typeface="Cambria Math" panose="02040503050406030204" pitchFamily="18" charset="0"/>
                </a:endParaRPr>
              </a:p>
              <a:p>
                <a:pPr lvl="1"/>
                <a:r>
                  <a:rPr lang="fr-CA" b="0" dirty="0"/>
                  <a:t>Fonction Position : permet de générer les matrices de position des points du domaine </a:t>
                </a:r>
                <a:r>
                  <a:rPr lang="fr-CA" dirty="0"/>
                  <a:t>(</a:t>
                </a:r>
                <a:r>
                  <a:rPr lang="fr-CA" b="1" dirty="0"/>
                  <a:t>R </a:t>
                </a:r>
                <a:r>
                  <a:rPr lang="fr-CA" dirty="0"/>
                  <a:t>et </a:t>
                </a:r>
                <a:r>
                  <a:rPr lang="fr-CA" b="1" dirty="0"/>
                  <a:t>M</a:t>
                </a:r>
                <a:r>
                  <a:rPr lang="fr-CA" dirty="0"/>
                  <a:t>).</a:t>
                </a:r>
                <a14:m>
                  <m:oMath xmlns:m="http://schemas.openxmlformats.org/officeDocument/2006/math">
                    <m:r>
                      <a:rPr lang="fr-CA" b="0" i="1" smtClean="0">
                        <a:latin typeface="Cambria Math" panose="02040503050406030204" pitchFamily="18" charset="0"/>
                      </a:rPr>
                      <m:t> </m:t>
                    </m:r>
                  </m:oMath>
                </a14:m>
                <a:endParaRPr lang="fr-CA" b="0" dirty="0"/>
              </a:p>
              <a:p>
                <a:pPr lvl="1"/>
                <a:r>
                  <a:rPr lang="fr-CA" dirty="0"/>
                  <a:t>Fonction Température : calcul l’état de la température au pas de temps suivant.</a:t>
                </a:r>
              </a:p>
              <a:p>
                <a:pPr lvl="2">
                  <a:buFont typeface="Courier New" panose="02070309020205020404" pitchFamily="49" charset="0"/>
                  <a:buChar char="o"/>
                </a:pPr>
                <a:r>
                  <a:rPr lang="fr-CA" b="0" dirty="0"/>
                  <a:t>Génère un état intermédiaire composé de l’état au temps </a:t>
                </a:r>
                <a:r>
                  <a:rPr lang="fr-CA" b="0" i="1" dirty="0"/>
                  <a:t>t</a:t>
                </a:r>
                <a:r>
                  <a:rPr lang="fr-CA" b="0" dirty="0"/>
                  <a:t> au milieu et l’état au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b="0" dirty="0"/>
                  <a:t> aux frontières.</a:t>
                </a:r>
              </a:p>
              <a:p>
                <a:pPr lvl="2">
                  <a:buFont typeface="Courier New" panose="02070309020205020404" pitchFamily="49" charset="0"/>
                  <a:buChar char="o"/>
                </a:pPr>
                <a:r>
                  <a:rPr lang="fr-CA" dirty="0"/>
                  <a:t>Appelle la fonction Milieu.</a:t>
                </a:r>
                <a:endParaRPr lang="fr-CA" b="0" dirty="0"/>
              </a:p>
              <a:p>
                <a:pPr lvl="1"/>
                <a:r>
                  <a:rPr lang="fr-FR" dirty="0"/>
                  <a:t>Fonction Milieu : permet de calculer l’état de la température au pas de temps suivant à l’aide de l’état intermédiaire fourni par la fonction Température</a:t>
                </a:r>
              </a:p>
            </p:txBody>
          </p:sp>
        </mc:Choice>
        <mc:Fallback xmlns="">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920" t="-1874" r="-25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p:txBody>
          <a:bodyPr/>
          <a:lstStyle/>
          <a:p>
            <a:fld id="{FD85B578-4E75-4E1C-9BE3-D5DCC0715B13}" type="slidenum">
              <a:rPr lang="fr-FR" smtClean="0"/>
              <a:t>13</a:t>
            </a:fld>
            <a:endParaRPr lang="fr-F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Condition initiale dans le domaine.</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suivants aux frontières du domaine à l’aide de la solution courante.</a:t>
                </a:r>
              </a:p>
              <a:p>
                <a:pPr marL="971550" lvl="1" indent="-514350">
                  <a:buAutoNum type="arabicPeriod"/>
                </a:pPr>
                <a:r>
                  <a:rPr lang="fr-FR" dirty="0"/>
                  <a:t>Calcul des nœuds suivants au milieu du domaine à l’aide de la solution courante.</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14</a:t>
            </a:fld>
            <a:endParaRPr lang="fr-FR"/>
          </a:p>
        </p:txBody>
      </p:sp>
    </p:spTree>
    <p:extLst>
      <p:ext uri="{BB962C8B-B14F-4D97-AF65-F5344CB8AC3E}">
        <p14:creationId xmlns:p14="http://schemas.microsoft.com/office/powerpoint/2010/main" val="1406409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492161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3778705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845833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3708032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6836297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888647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m:t>
                    </m:r>
                    <m:r>
                      <a:rPr lang="fr-FR" b="0" i="1" smtClean="0">
                        <a:latin typeface="Cambria Math" panose="02040503050406030204" pitchFamily="18" charset="0"/>
                        <a:sym typeface="Wingdings" panose="05000000000000000000" pitchFamily="2" charset="2"/>
                      </a:rPr>
                      <m:t>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0</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m:t>
                    </m:r>
                    <m:r>
                      <a:rPr lang="fr-FR" b="0" i="1" smtClean="0">
                        <a:latin typeface="Cambria Math" panose="02040503050406030204" pitchFamily="18" charset="0"/>
                        <a:sym typeface="Wingdings" panose="05000000000000000000" pitchFamily="2" charset="2"/>
                      </a:rPr>
                      <m:t>0</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28565026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consistent et quasi </a:t>
                </a:r>
                <a:r>
                  <a:rPr lang="en-US" b="1" dirty="0" err="1"/>
                  <a:t>uniforme</a:t>
                </a:r>
                <a:endParaRPr lang="en-US" b="1" dirty="0"/>
              </a:p>
            </p:txBody>
          </p:sp>
        </mc:Choice>
        <mc:Fallback>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24</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25</a:t>
            </a:fld>
            <a:endParaRPr lang="fr-FR"/>
          </a:p>
        </p:txBody>
      </p:sp>
    </p:spTree>
    <p:extLst>
      <p:ext uri="{BB962C8B-B14F-4D97-AF65-F5344CB8AC3E}">
        <p14:creationId xmlns:p14="http://schemas.microsoft.com/office/powerpoint/2010/main" val="4162514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=1.25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809223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134995"/>
              </a:xfrm>
            </p:spPr>
            <p:txBody>
              <a:bodyPr>
                <a:normAutofit fontScale="85000" lnSpcReduction="20000"/>
              </a:bodyPr>
              <a:lstStyle/>
              <a:p>
                <a:pPr marL="0" indent="0">
                  <a:buNone/>
                </a:pPr>
                <a:r>
                  <a:rPr lang="fr-FR" dirty="0"/>
                  <a:t>Erreur épistémique d’un thermocouple classique : ±1.5°C*</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C</m:t>
                    </m:r>
                  </m:oMath>
                </a14:m>
                <a:r>
                  <a:rPr lang="fr-FR" dirty="0"/>
                  <a:t> </a:t>
                </a:r>
              </a:p>
              <a:p>
                <a:pPr marL="0" indent="0">
                  <a:buNone/>
                </a:pPr>
                <a:r>
                  <a:rPr lang="fr-FR" dirty="0"/>
                  <a:t> car distribution uniforme dans l’intervalle [-1.5,1.5]°C.</a:t>
                </a:r>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a:rPr lang="fr-FR" b="0" i="1" smtClean="0">
                              <a:highlight>
                                <a:srgbClr val="5B9BD5"/>
                              </a:highlight>
                              <a:latin typeface="Cambria Math" panose="02040503050406030204" pitchFamily="18" charset="0"/>
                            </a:rPr>
                            <m:t> 0</m:t>
                          </m:r>
                          <m:r>
                            <a:rPr lang="fr-FR" b="0" i="1" smtClean="0">
                              <a:latin typeface="Cambria Math" panose="02040503050406030204" pitchFamily="18" charset="0"/>
                            </a:rPr>
                            <m:t>²</m:t>
                          </m:r>
                          <m:r>
                            <a:rPr lang="fr-FR" b="0" i="1" smtClean="0">
                              <a:highlight>
                                <a:srgbClr val="5B9BD5"/>
                              </a:highlight>
                              <a:latin typeface="Cambria Math" panose="02040503050406030204" pitchFamily="18" charset="0"/>
                            </a:rPr>
                            <m:t> </m:t>
                          </m:r>
                        </m:e>
                      </m:rad>
                      <m:r>
                        <a:rPr lang="fr-FR" b="0" i="1" smtClean="0">
                          <a:latin typeface="Cambria Math" panose="02040503050406030204" pitchFamily="18" charset="0"/>
                        </a:rPr>
                        <m:t>=</m:t>
                      </m:r>
                      <m:r>
                        <m:rPr>
                          <m:sty m:val="p"/>
                        </m:rPr>
                        <a:rPr lang="fr-FR" i="1">
                          <a:latin typeface="Cambria Math" panose="02040503050406030204" pitchFamily="18" charset="0"/>
                        </a:rPr>
                        <m:t>σ</m:t>
                      </m:r>
                      <m:r>
                        <m:rPr>
                          <m:sty m:val="p"/>
                        </m:rPr>
                        <a:rPr lang="fr-FR" i="1" baseline="-25000">
                          <a:latin typeface="Cambria Math" panose="02040503050406030204" pitchFamily="18" charset="0"/>
                        </a:rPr>
                        <m:t>tc</m:t>
                      </m:r>
                      <m:r>
                        <a:rPr lang="fr-FR" b="0" i="1" smtClean="0">
                          <a:latin typeface="Cambria Math" panose="02040503050406030204" pitchFamily="18" charset="0"/>
                        </a:rPr>
                        <m:t>=0.87°</m:t>
                      </m:r>
                      <m:r>
                        <m:rPr>
                          <m:sty m:val="p"/>
                        </m:rPr>
                        <a:rPr lang="fr-FR" b="0" i="1" smtClean="0">
                          <a:latin typeface="Cambria Math" panose="02040503050406030204" pitchFamily="18" charset="0"/>
                        </a:rPr>
                        <m:t>C</m:t>
                      </m:r>
                    </m:oMath>
                  </m:oMathPara>
                </a14:m>
                <a:endParaRPr lang="fr-FR" dirty="0"/>
              </a:p>
              <a:p>
                <a:pPr marL="0" indent="0">
                  <a:buNone/>
                </a:pPr>
                <a:endParaRPr lang="fr-FR" dirty="0"/>
              </a:p>
              <a:p>
                <a:pPr marL="0" indent="0">
                  <a:buNone/>
                </a:pPr>
                <a:r>
                  <a:rPr lang="fr-FR" dirty="0">
                    <a:highlight>
                      <a:srgbClr val="5B9BD5"/>
                    </a:highlight>
                  </a:rPr>
                  <a:t>On considère une incertitude sur la distribution des mesures par manque d’informations</a:t>
                </a:r>
              </a:p>
            </p:txBody>
          </p:sp>
        </mc:Choice>
        <mc:Fallback xmlns="">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134995"/>
              </a:xfrm>
              <a:blipFill>
                <a:blip r:embed="rId2"/>
                <a:stretch>
                  <a:fillRect l="-928" t="-4272" b="-271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369332"/>
          </a:xfrm>
          <a:prstGeom prst="rect">
            <a:avLst/>
          </a:prstGeom>
          <a:noFill/>
        </p:spPr>
        <p:txBody>
          <a:bodyPr wrap="square" rtlCol="0">
            <a:spAutoFit/>
          </a:bodyPr>
          <a:lstStyle/>
          <a:p>
            <a:r>
              <a:rPr lang="fr-FR" dirty="0"/>
              <a:t>*Source : tcsa.fr/thermocouple/type-k-thermocouple.html</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153986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512507"/>
                <a:ext cx="10515600" cy="1902313"/>
              </a:xfrm>
            </p:spPr>
            <p:txBody>
              <a:bodyPr>
                <a:normAutofit fontScale="77500" lnSpcReduction="20000"/>
              </a:bodyPr>
              <a:lstStyle/>
              <a:p>
                <a:r>
                  <a:rPr lang="fr-FR" dirty="0"/>
                  <a:t>Conductivité thermique suit une loi normale</a:t>
                </a:r>
              </a:p>
              <a:p>
                <a:pPr marL="0" indent="0" algn="ctr">
                  <a:buNone/>
                </a:pPr>
                <a:r>
                  <a:rPr lang="fr-FR" dirty="0"/>
                  <a:t> </a:t>
                </a:r>
                <a14:m>
                  <m:oMath xmlns:m="http://schemas.openxmlformats.org/officeDocument/2006/math">
                    <m:r>
                      <a:rPr lang="fr-FR" b="0" i="0" smtClean="0">
                        <a:latin typeface="Cambria Math" panose="02040503050406030204" pitchFamily="18" charset="0"/>
                      </a:rPr>
                      <m:t>𝑘</m:t>
                    </m:r>
                    <m:r>
                      <a:rPr lang="fr-FR" b="0" i="1" smtClean="0">
                        <a:latin typeface="Cambria Math" panose="02040503050406030204" pitchFamily="18" charset="0"/>
                      </a:rPr>
                      <m:t> ∼</m:t>
                    </m:r>
                    <m:r>
                      <a:rPr lang="fr-FR" b="0" i="1" smtClean="0">
                        <a:latin typeface="Cambria Math" panose="02040503050406030204" pitchFamily="18" charset="0"/>
                      </a:rPr>
                      <m:t>𝒩</m:t>
                    </m:r>
                    <m:r>
                      <a:rPr lang="fr-FR" b="0" i="1" smtClean="0">
                        <a:latin typeface="Cambria Math" panose="02040503050406030204" pitchFamily="18" charset="0"/>
                      </a:rPr>
                      <m:t>(42.5,3.75) </m:t>
                    </m:r>
                    <m:r>
                      <a:rPr lang="fr-FR" b="0" i="1" smtClean="0">
                        <a:latin typeface="Cambria Math" panose="02040503050406030204" pitchFamily="18" charset="0"/>
                      </a:rPr>
                      <m:t>𝑊</m:t>
                    </m:r>
                    <m:r>
                      <m:rPr>
                        <m:lit/>
                      </m:rPr>
                      <a:rPr lang="fr-FR" b="0" i="1" smtClean="0">
                        <a:latin typeface="Cambria Math" panose="02040503050406030204" pitchFamily="18" charset="0"/>
                      </a:rPr>
                      <m:t>/</m:t>
                    </m:r>
                    <m:r>
                      <a:rPr lang="fr-FR" b="0" i="1" smtClean="0">
                        <a:latin typeface="Cambria Math" panose="02040503050406030204" pitchFamily="18" charset="0"/>
                      </a:rPr>
                      <m:t>(</m:t>
                    </m:r>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r>
                      <a:rPr lang="fr-FR" b="0" i="1" smtClean="0">
                        <a:latin typeface="Cambria Math" panose="02040503050406030204" pitchFamily="18" charset="0"/>
                      </a:rPr>
                      <m:t>)</m:t>
                    </m:r>
                  </m:oMath>
                </a14:m>
                <a:endParaRPr lang="en-US" dirty="0"/>
              </a:p>
              <a:p>
                <a:r>
                  <a:rPr lang="en-US" dirty="0" err="1"/>
                  <a:t>Emissivité</a:t>
                </a:r>
                <a:r>
                  <a:rPr lang="en-US" dirty="0"/>
                  <a:t> suit </a:t>
                </a:r>
                <a:r>
                  <a:rPr lang="en-US" dirty="0" err="1"/>
                  <a:t>une</a:t>
                </a:r>
                <a:r>
                  <a:rPr lang="en-US" dirty="0"/>
                  <a:t> </a:t>
                </a:r>
                <a:r>
                  <a:rPr lang="en-US" dirty="0" err="1"/>
                  <a:t>loi</a:t>
                </a:r>
                <a:r>
                  <a:rPr lang="en-US" dirty="0"/>
                  <a:t> </a:t>
                </a:r>
                <a:r>
                  <a:rPr lang="en-US" dirty="0" err="1"/>
                  <a:t>normale</a:t>
                </a:r>
                <a:r>
                  <a:rPr lang="en-US" dirty="0"/>
                  <a:t> </a:t>
                </a:r>
              </a:p>
              <a:p>
                <a:pPr marL="0" indent="0" algn="ctr">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𝜀</m:t>
                      </m:r>
                      <m:r>
                        <a:rPr lang="fr-FR" i="1">
                          <a:latin typeface="Cambria Math" panose="02040503050406030204" pitchFamily="18" charset="0"/>
                        </a:rPr>
                        <m:t>∼</m:t>
                      </m:r>
                      <m:r>
                        <a:rPr lang="fr-FR" i="1">
                          <a:latin typeface="Cambria Math" panose="02040503050406030204" pitchFamily="18" charset="0"/>
                        </a:rPr>
                        <m:t>𝒩</m:t>
                      </m:r>
                      <m:d>
                        <m:dPr>
                          <m:ctrlPr>
                            <a:rPr lang="fr-FR" b="0" i="1" smtClean="0">
                              <a:latin typeface="Cambria Math" panose="02040503050406030204" pitchFamily="18" charset="0"/>
                            </a:rPr>
                          </m:ctrlPr>
                        </m:dPr>
                        <m:e>
                          <m:r>
                            <a:rPr lang="fr-FR" b="0" i="1" smtClean="0">
                              <a:latin typeface="Cambria Math" panose="02040503050406030204" pitchFamily="18" charset="0"/>
                            </a:rPr>
                            <m:t>0.525,0.19</m:t>
                          </m:r>
                        </m:e>
                      </m:d>
                    </m:oMath>
                  </m:oMathPara>
                </a14:m>
                <a:endParaRPr lang="fr-FR" b="0" dirty="0"/>
              </a:p>
              <a:p>
                <a:pPr marL="0" indent="0">
                  <a:buNone/>
                </a:pPr>
                <a:r>
                  <a:rPr lang="fr-FR" dirty="0"/>
                  <a:t>Par la méthode de Monte Carlo en travaillant sur la température moyenne de surface :</a:t>
                </a:r>
                <a:endParaRPr lang="fr-FR" b="0"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512507"/>
                <a:ext cx="10515600" cy="1902313"/>
              </a:xfrm>
              <a:blipFill>
                <a:blip r:embed="rId3"/>
                <a:stretch>
                  <a:fillRect l="-754" t="-641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r="67245"/>
          <a:stretch>
            <a:fillRect/>
          </a:stretch>
        </p:blipFill>
        <p:spPr>
          <a:xfrm>
            <a:off x="667378" y="3242213"/>
            <a:ext cx="3522785" cy="349418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28109578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0.87</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44.92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𝟎𝟒</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𝟔𝟒</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xmlns="">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29</a:t>
            </a:fld>
            <a:endParaRPr lang="fr-FR"/>
          </a:p>
        </p:txBody>
      </p:sp>
    </p:spTree>
    <p:extLst>
      <p:ext uri="{BB962C8B-B14F-4D97-AF65-F5344CB8AC3E}">
        <p14:creationId xmlns:p14="http://schemas.microsoft.com/office/powerpoint/2010/main" val="31910331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Rajouter une erreur d’expérimentation à partir de la littérature d’une expérience similaire</a:t>
                </a:r>
                <a:r>
                  <a:rPr lang="fr-FR" dirty="0">
                    <a:sym typeface="Wingdings" panose="05000000000000000000" pitchFamily="2" charset="2"/>
                  </a:rPr>
                  <a:t> estimation plus concrète de </a:t>
                </a:r>
                <a14:m>
                  <m:oMath xmlns:m="http://schemas.openxmlformats.org/officeDocument/2006/math">
                    <m:r>
                      <m:rPr>
                        <m:sty m:val="p"/>
                      </m:rPr>
                      <a:rPr lang="fr-FR" i="1">
                        <a:latin typeface="Cambria Math" panose="02040503050406030204" pitchFamily="18" charset="0"/>
                      </a:rPr>
                      <m:t>u</m:t>
                    </m:r>
                    <m:r>
                      <m:rPr>
                        <m:sty m:val="p"/>
                      </m:rPr>
                      <a:rPr lang="fr-FR" i="1" baseline="-25000">
                        <a:latin typeface="Cambria Math" panose="02040503050406030204" pitchFamily="18" charset="0"/>
                      </a:rPr>
                      <m:t>D</m:t>
                    </m:r>
                    <m:r>
                      <a:rPr lang="fr-FR" i="1">
                        <a:latin typeface="Cambria Math" panose="02040503050406030204" pitchFamily="18" charset="0"/>
                      </a:rPr>
                      <m:t> </m:t>
                    </m:r>
                  </m:oMath>
                </a14:m>
                <a:endParaRPr lang="fr-FR" dirty="0"/>
              </a:p>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 et </a:t>
                </a:r>
                <a:r>
                  <a:rPr lang="en-US" dirty="0" err="1"/>
                  <a:t>plusieurs</a:t>
                </a:r>
                <a:r>
                  <a:rPr lang="en-US" dirty="0"/>
                  <a:t> experiences pour </a:t>
                </a:r>
                <a:r>
                  <a:rPr lang="en-US" dirty="0" err="1"/>
                  <a:t>avoir</a:t>
                </a:r>
                <a:r>
                  <a:rPr lang="en-US" dirty="0"/>
                  <a:t> un </a:t>
                </a:r>
                <a:r>
                  <a:rPr lang="en-US" dirty="0" err="1"/>
                  <a:t>intervalle</a:t>
                </a:r>
                <a:r>
                  <a:rPr lang="en-US" dirty="0"/>
                  <a:t> de </a:t>
                </a:r>
                <a:r>
                  <a:rPr lang="en-US" dirty="0" err="1"/>
                  <a:t>confiance</a:t>
                </a:r>
                <a:r>
                  <a:rPr lang="en-US" dirty="0"/>
                  <a:t> sur E</a:t>
                </a:r>
              </a:p>
            </p:txBody>
          </p:sp>
        </mc:Choice>
        <mc:Fallback xmlns="">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30</a:t>
            </a:fld>
            <a:endParaRPr lang="fr-FR"/>
          </a:p>
        </p:txBody>
      </p:sp>
    </p:spTree>
    <p:extLst>
      <p:ext uri="{BB962C8B-B14F-4D97-AF65-F5344CB8AC3E}">
        <p14:creationId xmlns:p14="http://schemas.microsoft.com/office/powerpoint/2010/main" val="3426608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FCC7F-3AF3-6D33-FB0F-E15C4FAC0B2D}"/>
              </a:ext>
            </a:extLst>
          </p:cNvPr>
          <p:cNvSpPr>
            <a:spLocks noGrp="1"/>
          </p:cNvSpPr>
          <p:nvPr>
            <p:ph type="title"/>
          </p:nvPr>
        </p:nvSpPr>
        <p:spPr/>
        <p:txBody>
          <a:bodyPr/>
          <a:lstStyle/>
          <a:p>
            <a:r>
              <a:rPr lang="fr-FR" dirty="0"/>
              <a:t>Annexe</a:t>
            </a:r>
            <a:endParaRPr lang="en-US" dirty="0"/>
          </a:p>
        </p:txBody>
      </p:sp>
      <p:pic>
        <p:nvPicPr>
          <p:cNvPr id="5" name="Content Placeholder 4">
            <a:extLst>
              <a:ext uri="{FF2B5EF4-FFF2-40B4-BE49-F238E27FC236}">
                <a16:creationId xmlns:a16="http://schemas.microsoft.com/office/drawing/2014/main" id="{AFD8984B-B992-0FD9-B126-55C7737C1E8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690688"/>
            <a:ext cx="10515600" cy="3416374"/>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0E9DB5F-EBD0-D834-D4ED-493307BE600E}"/>
                  </a:ext>
                </a:extLst>
              </p:cNvPr>
              <p:cNvSpPr txBox="1"/>
              <p:nvPr/>
            </p:nvSpPr>
            <p:spPr>
              <a:xfrm>
                <a:off x="954593" y="5456255"/>
                <a:ext cx="10279464" cy="390748"/>
              </a:xfrm>
              <a:prstGeom prst="rect">
                <a:avLst/>
              </a:prstGeom>
              <a:noFill/>
            </p:spPr>
            <p:txBody>
              <a:bodyPr wrap="square" rtlCol="0">
                <a:spAutoFit/>
              </a:bodyPr>
              <a:lstStyle/>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r>
                      <a:rPr lang="fr-FR" b="0" i="1" smtClean="0">
                        <a:latin typeface="Cambria Math" panose="02040503050406030204" pitchFamily="18" charset="0"/>
                      </a:rPr>
                      <m:t>=9.71 </m:t>
                    </m:r>
                    <m:r>
                      <m:rPr>
                        <m:sty m:val="p"/>
                      </m:rPr>
                      <a:rPr lang="fr-FR" b="0" i="1" smtClean="0">
                        <a:latin typeface="Cambria Math" panose="02040503050406030204" pitchFamily="18" charset="0"/>
                      </a:rPr>
                      <m:t>K</m:t>
                    </m:r>
                  </m:oMath>
                </a14:m>
                <a:r>
                  <a:rPr lang="en-US" dirty="0"/>
                  <a:t> pour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𝜎</m:t>
                        </m:r>
                      </m:e>
                      <m:sub>
                        <m:r>
                          <a:rPr lang="fr-FR" b="0" i="1" smtClean="0">
                            <a:latin typeface="Cambria Math" panose="02040503050406030204" pitchFamily="18" charset="0"/>
                          </a:rPr>
                          <m:t>𝜀</m:t>
                        </m:r>
                      </m:sub>
                    </m:sSub>
                    <m:r>
                      <a:rPr lang="fr-FR" b="0" i="1" smtClean="0">
                        <a:latin typeface="Cambria Math" panose="02040503050406030204" pitchFamily="18" charset="0"/>
                      </a:rPr>
                      <m:t>=0.05</m:t>
                    </m:r>
                    <m:r>
                      <a:rPr lang="en-US" b="1" i="1">
                        <a:latin typeface="Cambria Math" panose="02040503050406030204" pitchFamily="18" charset="0"/>
                      </a:rPr>
                      <m:t>⇒</m:t>
                    </m:r>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𝒗𝒂𝒍</m:t>
                        </m:r>
                      </m:sub>
                    </m:sSub>
                    <m:r>
                      <a:rPr lang="fr-FR" b="1" i="1" smtClean="0">
                        <a:latin typeface="Cambria Math" panose="02040503050406030204" pitchFamily="18" charset="0"/>
                      </a:rPr>
                      <m:t>=</m:t>
                    </m:r>
                    <m:r>
                      <a:rPr lang="fr-FR" b="1" i="1" smtClean="0">
                        <a:latin typeface="Cambria Math" panose="02040503050406030204" pitchFamily="18" charset="0"/>
                      </a:rPr>
                      <m:t>𝟗</m:t>
                    </m:r>
                    <m:r>
                      <a:rPr lang="fr-FR" b="1" i="1" smtClean="0">
                        <a:latin typeface="Cambria Math" panose="02040503050406030204" pitchFamily="18" charset="0"/>
                      </a:rPr>
                      <m:t>.</m:t>
                    </m:r>
                    <m:r>
                      <a:rPr lang="fr-FR" b="1" i="1" smtClean="0">
                        <a:latin typeface="Cambria Math" panose="02040503050406030204" pitchFamily="18" charset="0"/>
                      </a:rPr>
                      <m:t>𝟕𝟓</m:t>
                    </m:r>
                    <m:r>
                      <a:rPr lang="fr-FR" b="1" i="1" smtClean="0">
                        <a:latin typeface="Cambria Math" panose="02040503050406030204" pitchFamily="18" charset="0"/>
                      </a:rPr>
                      <m:t> </m:t>
                    </m:r>
                    <m:r>
                      <a:rPr lang="fr-FR" b="1" i="1" smtClean="0">
                        <a:latin typeface="Cambria Math" panose="02040503050406030204" pitchFamily="18" charset="0"/>
                      </a:rPr>
                      <m:t>𝑲</m:t>
                    </m:r>
                  </m:oMath>
                </a14:m>
                <a:r>
                  <a:rPr lang="en-US" dirty="0"/>
                  <a:t> </a:t>
                </a:r>
                <a14:m>
                  <m:oMath xmlns:m="http://schemas.openxmlformats.org/officeDocument/2006/math">
                    <m:r>
                      <a:rPr lang="en-US" b="1" i="1">
                        <a:latin typeface="Cambria Math" panose="02040503050406030204" pitchFamily="18" charset="0"/>
                      </a:rPr>
                      <m:t>⇒</m:t>
                    </m:r>
                    <m:r>
                      <m:rPr>
                        <m:nor/>
                      </m:rPr>
                      <a:rPr lang="en-US" dirty="0"/>
                      <m:t>−7.70 </m:t>
                    </m:r>
                    <m:r>
                      <m:rPr>
                        <m:nor/>
                      </m:rPr>
                      <a:rPr lang="en-US" dirty="0"/>
                      <m:t>K</m:t>
                    </m:r>
                    <m:r>
                      <m:rPr>
                        <m:nor/>
                      </m:rPr>
                      <a:rPr lang="en-US" dirty="0"/>
                      <m:t> &lt;</m:t>
                    </m:r>
                    <m:sSub>
                      <m:sSubPr>
                        <m:ctrlPr>
                          <a:rPr lang="fr-FR" i="1">
                            <a:latin typeface="Cambria Math" panose="02040503050406030204" pitchFamily="18" charset="0"/>
                          </a:rPr>
                        </m:ctrlPr>
                      </m:sSubPr>
                      <m:e>
                        <m:r>
                          <a:rPr lang="fr-FR" b="0" i="1" smtClean="0">
                            <a:latin typeface="Cambria Math" panose="02040503050406030204" pitchFamily="18" charset="0"/>
                          </a:rPr>
                          <m:t> </m:t>
                        </m:r>
                        <m:r>
                          <m:rPr>
                            <m:sty m:val="p"/>
                          </m:rPr>
                          <a:rPr lang="fr-FR" b="0" i="1">
                            <a:latin typeface="Cambria Math" panose="02040503050406030204" pitchFamily="18" charset="0"/>
                          </a:rPr>
                          <m:t>δ</m:t>
                        </m:r>
                      </m:e>
                      <m:sub>
                        <m:r>
                          <m:rPr>
                            <m:sty m:val="p"/>
                          </m:rPr>
                          <a:rPr lang="fr-FR" b="0" i="1">
                            <a:latin typeface="Cambria Math" panose="02040503050406030204" pitchFamily="18" charset="0"/>
                          </a:rPr>
                          <m:t>model</m:t>
                        </m:r>
                      </m:sub>
                    </m:sSub>
                    <m:r>
                      <a:rPr lang="fr-FR" b="0">
                        <a:latin typeface="Cambria Math" panose="02040503050406030204" pitchFamily="18" charset="0"/>
                      </a:rPr>
                      <m:t>&lt;</m:t>
                    </m:r>
                    <m:r>
                      <a:rPr lang="fr-FR" b="0" i="0" smtClean="0">
                        <a:latin typeface="Cambria Math" panose="02040503050406030204" pitchFamily="18" charset="0"/>
                      </a:rPr>
                      <m:t>31.30</m:t>
                    </m:r>
                    <m:r>
                      <m:rPr>
                        <m:sty m:val="p"/>
                      </m:rPr>
                      <a:rPr lang="fr-FR" b="0" i="1">
                        <a:latin typeface="Cambria Math" panose="02040503050406030204" pitchFamily="18" charset="0"/>
                      </a:rPr>
                      <m:t>K</m:t>
                    </m:r>
                  </m:oMath>
                </a14:m>
                <a:r>
                  <a:rPr lang="en-US" dirty="0"/>
                  <a:t> </a:t>
                </a:r>
              </a:p>
            </p:txBody>
          </p:sp>
        </mc:Choice>
        <mc:Fallback xmlns="">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954593" y="5456255"/>
                <a:ext cx="10279464" cy="390748"/>
              </a:xfrm>
              <a:prstGeom prst="rect">
                <a:avLst/>
              </a:prstGeom>
              <a:blipFill>
                <a:blip r:embed="rId3"/>
                <a:stretch>
                  <a:fillRect t="-4688" b="-21875"/>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4FE09455-7A8D-7C98-051B-E028203490D8}"/>
              </a:ext>
            </a:extLst>
          </p:cNvPr>
          <p:cNvSpPr>
            <a:spLocks noGrp="1"/>
          </p:cNvSpPr>
          <p:nvPr>
            <p:ph type="sldNum" sz="quarter" idx="12"/>
          </p:nvPr>
        </p:nvSpPr>
        <p:spPr/>
        <p:txBody>
          <a:bodyPr/>
          <a:lstStyle/>
          <a:p>
            <a:fld id="{FD85B578-4E75-4E1C-9BE3-D5DCC0715B13}" type="slidenum">
              <a:rPr lang="fr-FR" smtClean="0"/>
              <a:t>31</a:t>
            </a:fld>
            <a:endParaRPr lang="fr-FR"/>
          </a:p>
        </p:txBody>
      </p:sp>
    </p:spTree>
    <p:extLst>
      <p:ext uri="{BB962C8B-B14F-4D97-AF65-F5344CB8AC3E}">
        <p14:creationId xmlns:p14="http://schemas.microsoft.com/office/powerpoint/2010/main" val="293239635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4108</TotalTime>
  <Words>2158</Words>
  <Application>Microsoft Office PowerPoint</Application>
  <PresentationFormat>Widescreen</PresentationFormat>
  <Paragraphs>357</Paragraphs>
  <Slides>31</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erreur du modèle </vt:lpstr>
      <vt:lpstr>Améliorations possibles</vt:lpstr>
      <vt:lpstr>Annexe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70</cp:revision>
  <dcterms:created xsi:type="dcterms:W3CDTF">2026-02-07T22:10:41Z</dcterms:created>
  <dcterms:modified xsi:type="dcterms:W3CDTF">2026-04-17T03:24:03Z</dcterms:modified>
</cp:coreProperties>
</file>