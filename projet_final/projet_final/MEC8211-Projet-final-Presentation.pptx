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7" r:id="rId4"/>
    <p:sldId id="264" r:id="rId5"/>
    <p:sldId id="259" r:id="rId6"/>
    <p:sldId id="263" r:id="rId7"/>
    <p:sldId id="260" r:id="rId8"/>
    <p:sldId id="262" r:id="rId9"/>
    <p:sldId id="261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FAD46"/>
    <a:srgbClr val="5B9BD5"/>
    <a:srgbClr val="FFBF00"/>
    <a:srgbClr val="EBE9E9"/>
    <a:srgbClr val="CBCBCB"/>
    <a:srgbClr val="F4EEEC"/>
    <a:srgbClr val="F7EFED"/>
    <a:srgbClr val="F8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2" autoAdjust="0"/>
    <p:restoredTop sz="94782" autoAdjust="0"/>
  </p:normalViewPr>
  <p:slideViewPr>
    <p:cSldViewPr snapToGrid="0">
      <p:cViewPr varScale="1">
        <p:scale>
          <a:sx n="98" d="100"/>
          <a:sy n="98" d="100"/>
        </p:scale>
        <p:origin x="10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0B2023-C595-443A-8D8C-AB9DF5A28D48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05186-0725-443C-BC59-E521425E81C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11661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98252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0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5BB4-E065-36E2-E641-90C9FFDD7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2410028-CE57-DC42-95CE-01AA00C9D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76DD03-F160-73AB-38E7-83F367B7A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636A260-3B6F-7D51-9372-EBA998234B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05186-0725-443C-BC59-E521425E81C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42273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E9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10/04/2026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toine-pt/MEC6212.gi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26463"/>
            <a:ext cx="9144000" cy="1425131"/>
          </a:xfrm>
        </p:spPr>
        <p:txBody>
          <a:bodyPr/>
          <a:lstStyle/>
          <a:p>
            <a:r>
              <a:rPr lang="fr-FR" noProof="0" dirty="0"/>
              <a:t>MEC8211 – Projet final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6407"/>
            <a:ext cx="9144000" cy="1945747"/>
          </a:xfrm>
        </p:spPr>
        <p:txBody>
          <a:bodyPr>
            <a:normAutofit fontScale="92500" lnSpcReduction="10000"/>
          </a:bodyPr>
          <a:lstStyle/>
          <a:p>
            <a:r>
              <a:rPr lang="fr-FR" noProof="0" dirty="0"/>
              <a:t>Antoine Payette-Toupin (2090788)</a:t>
            </a:r>
          </a:p>
          <a:p>
            <a:r>
              <a:rPr lang="fr-FR" noProof="0" dirty="0"/>
              <a:t>Charlotte Sabrié (2485495)</a:t>
            </a:r>
          </a:p>
          <a:p>
            <a:r>
              <a:rPr lang="fr-FR" noProof="0" dirty="0"/>
              <a:t>Loïc Vignaud (2485146)</a:t>
            </a:r>
          </a:p>
          <a:p>
            <a:endParaRPr lang="fr-FR" dirty="0"/>
          </a:p>
          <a:p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Répertoire </a:t>
            </a:r>
            <a:r>
              <a:rPr lang="fr-FR" sz="22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fr-FR" sz="2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: </a:t>
            </a:r>
            <a:r>
              <a:rPr lang="fr-FR" sz="2200" u="sng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https://github.com/antoine-pt/MEC6212.git</a:t>
            </a:r>
            <a:endParaRPr lang="fr-FR" sz="2200" noProof="0" dirty="0"/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8CC2017-DAAB-E539-D03A-0EAF47A6C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B38F4B-B286-AB7C-64B1-7E3DB7D1D3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243584"/>
            <a:ext cx="5644896" cy="5248655"/>
          </a:xfrm>
        </p:spPr>
        <p:txBody>
          <a:bodyPr>
            <a:normAutofit lnSpcReduction="10000"/>
          </a:bodyPr>
          <a:lstStyle/>
          <a:p>
            <a:r>
              <a:rPr lang="fr-FR" dirty="0"/>
              <a:t>Vitesse de refroidissement influence les propriétés </a:t>
            </a:r>
          </a:p>
          <a:p>
            <a:pPr>
              <a:buFontTx/>
              <a:buChar char="-"/>
            </a:pPr>
            <a:r>
              <a:rPr lang="fr-FR" dirty="0"/>
              <a:t>Mécanique</a:t>
            </a:r>
          </a:p>
          <a:p>
            <a:pPr>
              <a:buFontTx/>
              <a:buChar char="-"/>
            </a:pPr>
            <a:r>
              <a:rPr lang="fr-FR" dirty="0"/>
              <a:t>Électrique</a:t>
            </a:r>
          </a:p>
          <a:p>
            <a:pPr>
              <a:buFontTx/>
              <a:buChar char="-"/>
            </a:pPr>
            <a:r>
              <a:rPr lang="fr-FR" dirty="0"/>
              <a:t>Thermique </a:t>
            </a:r>
          </a:p>
          <a:p>
            <a:pPr>
              <a:buFontTx/>
              <a:buChar char="-"/>
            </a:pPr>
            <a:endParaRPr lang="fr-FR" dirty="0"/>
          </a:p>
          <a:p>
            <a:r>
              <a:rPr lang="fr-FR" dirty="0"/>
              <a:t>Modéliser le refroidissement</a:t>
            </a:r>
          </a:p>
          <a:p>
            <a:pPr>
              <a:buFontTx/>
              <a:buChar char="-"/>
            </a:pPr>
            <a:r>
              <a:rPr lang="fr-FR" dirty="0"/>
              <a:t>Obtenir la vitesse de refroidissement</a:t>
            </a:r>
          </a:p>
          <a:p>
            <a:pPr>
              <a:buFontTx/>
              <a:buChar char="-"/>
            </a:pPr>
            <a:r>
              <a:rPr lang="fr-FR" dirty="0"/>
              <a:t>Connaître la composition du matériau final </a:t>
            </a:r>
          </a:p>
          <a:p>
            <a:pPr>
              <a:buFontTx/>
              <a:buChar char="-"/>
            </a:pPr>
            <a:r>
              <a:rPr lang="fr-FR" dirty="0"/>
              <a:t>Déduire ses propriétés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30176CA-BFB8-62B8-8124-3190FD69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883433"/>
            <a:ext cx="4839119" cy="5608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026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7DC965-0D72-AE8E-8F68-A22FDD3D8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/>
              </a:bodyPr>
              <a:lstStyle/>
              <a:p>
                <a:pPr fontAlgn="base"/>
                <a:r>
                  <a:rPr lang="fr-FR" dirty="0"/>
                  <a:t>Refroidissement à l'air ambient d'un lingot métallique cylindrique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Température initiale uniforme 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fr-FR" dirty="0"/>
                  <a:t>Modélisation mathématique :</a:t>
                </a:r>
              </a:p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Perte thermique surfacique </a:t>
                </a:r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  <m:r>
                                <m:rPr>
                                  <m:nor/>
                                </m:rPr>
                                <a:rPr lang="fr-FR" dirty="0"/>
                                <m:t> </m:t>
                              </m:r>
                            </m:sub>
                          </m:sSub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ϵσ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  <a:p>
                <a:pPr marL="228600" marR="0" lvl="0" indent="-228600" algn="l" defTabSz="914400" rtl="0" eaLnBrk="1" fontAlgn="base" latinLnBrk="0" hangingPunct="1">
                  <a:lnSpc>
                    <a:spcPct val="90000"/>
                  </a:lnSpc>
                  <a:spcBef>
                    <a:spcPts val="24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fr-FR" dirty="0">
                    <a:solidFill>
                      <a:prstClr val="black"/>
                    </a:solidFill>
                    <a:latin typeface="Aptos" panose="02110004020202020204"/>
                  </a:rPr>
                  <a:t>Symétrie par rotation autour de l’axe central </a:t>
                </a: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d>
                        <m:dPr>
                          <m:ctrl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𝑡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𝑧</m:t>
                          </m:r>
                          <m: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kumimoji="0" lang="fr-FR" sz="2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𝑇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𝑡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𝑅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𝑧</m:t>
                      </m:r>
                      <m:r>
                        <a:rPr kumimoji="0" lang="fr-FR" sz="2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fr-FR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marR="0" lvl="0" indent="0" algn="ctr" defTabSz="914400" rtl="0" eaLnBrk="1" fontAlgn="base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  <a:p>
                <a:pPr marL="0" indent="0" algn="just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D0B43374-E0C7-ED3F-B765-703070E6A6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566" t="-1934" b="-796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e image contenant croquis, dessin, conception, illustration&#10;&#10;Le contenu généré par l’IA peut être incorrect.">
            <a:extLst>
              <a:ext uri="{FF2B5EF4-FFF2-40B4-BE49-F238E27FC236}">
                <a16:creationId xmlns:a16="http://schemas.microsoft.com/office/drawing/2014/main" id="{315D7CC8-D87C-AF7A-933C-0B5D33649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9114" y="232980"/>
            <a:ext cx="2171199" cy="302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4134258-3467-C98F-64B0-DF4243CE64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52" y="3798791"/>
            <a:ext cx="3533376" cy="2233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8607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694C9-7099-3A84-9A6D-5B2A0879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EC12AB-5894-7E9F-0510-EB109BFCA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Modélisation mathématique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fontAlgn="base">
                  <a:spcBef>
                    <a:spcPts val="1800"/>
                  </a:spcBef>
                  <a:buNone/>
                </a:pPr>
                <a:r>
                  <a:rPr lang="fr-FR" dirty="0"/>
                  <a:t>Equation de la chaleur en 2D </a:t>
                </a:r>
                <a:endParaRPr lang="en-US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sSup>
                        <m:sSup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cartésien, on a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b="0" dirty="0"/>
              </a:p>
              <a:p>
                <a:pPr marL="0" indent="0">
                  <a:spcBef>
                    <a:spcPts val="1800"/>
                  </a:spcBef>
                  <a:buNone/>
                </a:pPr>
                <a:r>
                  <a:rPr lang="fr-FR" dirty="0"/>
                  <a:t>En cylindrique, on retrouve :</a:t>
                </a:r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CA">
                          <a:latin typeface="Cambria Math" panose="02040503050406030204" pitchFamily="18" charset="0"/>
                        </a:rPr>
                        <m:t>r</m:t>
                      </m:r>
                      <m:func>
                        <m:funcPr>
                          <m:ctrlPr>
                            <a:rPr lang="fr-CA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A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A" i="1">
                          <a:latin typeface="Cambria Math" panose="02040503050406030204" pitchFamily="18" charset="0"/>
                        </a:rPr>
                        <m:t>𝑒𝑡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0" indent="0" algn="ctr">
                  <a:spcBef>
                    <a:spcPts val="1800"/>
                  </a:spcBef>
                  <a:buNone/>
                </a:pPr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1800"/>
                  </a:spcBef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 algn="ctr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073797C-3545-B398-B72A-5A6210020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55033"/>
                <a:ext cx="8177463" cy="5358062"/>
              </a:xfrm>
              <a:blipFill>
                <a:blip r:embed="rId2"/>
                <a:stretch>
                  <a:fillRect l="-1342" t="-2275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80BBA-A9C5-15DA-64A8-34FD76C6B27D}"/>
              </a:ext>
            </a:extLst>
          </p:cNvPr>
          <p:cNvSpPr/>
          <p:nvPr/>
        </p:nvSpPr>
        <p:spPr>
          <a:xfrm>
            <a:off x="2606040" y="5321808"/>
            <a:ext cx="4828032" cy="1325563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80743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003BD6-209D-95E8-105B-EEC2D501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fr-FR" dirty="0"/>
              <a:t>Discrétisation : Milieu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dirty="0"/>
                  <a:t>Hors des frontières (r-1, r+1, z-1, z+1 sont définis)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</m:oMath>
                </a14:m>
                <a:r>
                  <a:rPr lang="fr-FR" dirty="0"/>
                  <a:t> 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1 </a:t>
                </a:r>
                <a:endParaRPr lang="fr-FR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</m:oMath>
                </a14:m>
                <a:r>
                  <a:rPr lang="fr-FR" dirty="0"/>
                  <a:t>, </a:t>
                </a:r>
                <a:r>
                  <a:rPr lang="fr-FR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  <a:endParaRPr lang="fr-FR" dirty="0"/>
              </a:p>
              <a:p>
                <a:endParaRPr lang="fr-FR" dirty="0"/>
              </a:p>
              <a:p>
                <a:pPr marL="0" indent="0">
                  <a:spcBef>
                    <a:spcPts val="18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</a:rPr>
                        <m:t>ρ</m:t>
                      </m:r>
                      <m:sSub>
                        <m:sSub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CA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CA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CA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num>
                        <m:den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fr-CA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Δt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l-GR" sz="2400" i="1">
                              <a:latin typeface="Cambria Math" panose="02040503050406030204" pitchFamily="18" charset="0"/>
                            </a:rPr>
                            <m:t>ρ</m:t>
                          </m:r>
                          <m:sSub>
                            <m:sSub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CA" sz="2400" b="0" i="0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a:rPr lang="fr-F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CA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  <m:r>
                            <a:rPr lang="fr-F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fr-CA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  <m:sup>
                              <m:r>
                                <a:rPr lang="fr-F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bSup>
                        </m:num>
                        <m:den>
                          <m:r>
                            <m:rPr>
                              <m:sty m:val="p"/>
                            </m:rPr>
                            <a:rPr lang="fr-FR" sz="2400">
                              <a:latin typeface="Cambria Math" panose="02040503050406030204" pitchFamily="18" charset="0"/>
                            </a:rPr>
                            <m:t>Δ</m:t>
                          </m:r>
                          <m:sSup>
                            <m:sSupPr>
                              <m:ctrlPr>
                                <a:rPr lang="fr-F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sz="240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p>
                              <m:r>
                                <a:rPr lang="fr-FR" sz="240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m:rPr>
                              <m:nor/>
                            </m:rPr>
                            <a:rPr lang="fr-FR" sz="2400"/>
                            <m:t> </m:t>
                          </m:r>
                        </m:den>
                      </m:f>
                      <m:r>
                        <a:rPr lang="fr-FR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400" b="0" dirty="0"/>
              </a:p>
              <a:p>
                <a:pPr marL="0" indent="0">
                  <a:buNone/>
                </a:pPr>
                <a:endParaRPr lang="fr-FR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439C4FB-5092-413C-C838-32069AD0E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1257" y="1331495"/>
                <a:ext cx="11930743" cy="5181600"/>
              </a:xfrm>
              <a:blipFill>
                <a:blip r:embed="rId2"/>
                <a:stretch>
                  <a:fillRect l="-1073" t="-200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/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fr-FR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CA" sz="2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>
                            <a:latin typeface="Cambria" panose="02040503050406030204" pitchFamily="18" charset="0"/>
                            <a:ea typeface="Cambria" panose="02040503050406030204" pitchFamily="18" charset="0"/>
                          </a:rPr>
                          <m:t> </m:t>
                        </m:r>
                      </m:den>
                    </m:f>
                  </m:oMath>
                </a14:m>
                <a:r>
                  <a:rPr lang="fr-FR" sz="26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groupChr>
                      <m:groupChrPr>
                        <m:chr m:val="⇒"/>
                        <m:pos m:val="top"/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sz="2600" i="1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f>
                      <m:fPr>
                        <m:ctrlPr>
                          <a:rPr lang="fr-FR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6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6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6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6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6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600"/>
                          <m:t> </m:t>
                        </m:r>
                      </m:den>
                    </m:f>
                  </m:oMath>
                </a14:m>
                <a:r>
                  <a:rPr lang="fr-FR" sz="2600" dirty="0"/>
                  <a:t>, </a:t>
                </a:r>
                <a:r>
                  <a:rPr lang="fr-FR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ordre 2</a:t>
                </a:r>
              </a:p>
            </p:txBody>
          </p:sp>
        </mc:Choice>
        <mc:Fallback>
          <p:sp>
            <p:nvSpPr>
              <p:cNvPr id="5" name="ZoneTexte 4">
                <a:extLst>
                  <a:ext uri="{FF2B5EF4-FFF2-40B4-BE49-F238E27FC236}">
                    <a16:creationId xmlns:a16="http://schemas.microsoft.com/office/drawing/2014/main" id="{10518746-3A15-2C27-5A6F-6AB51FC27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9617" y="1595314"/>
                <a:ext cx="5362519" cy="1732654"/>
              </a:xfrm>
              <a:prstGeom prst="rect">
                <a:avLst/>
              </a:prstGeom>
              <a:blipFill>
                <a:blip r:embed="rId3"/>
                <a:stretch>
                  <a:fillRect b="-211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5">
            <a:extLst>
              <a:ext uri="{FF2B5EF4-FFF2-40B4-BE49-F238E27FC236}">
                <a16:creationId xmlns:a16="http://schemas.microsoft.com/office/drawing/2014/main" id="{669E06E8-CC02-FA18-F417-BCEB210B1102}"/>
              </a:ext>
            </a:extLst>
          </p:cNvPr>
          <p:cNvSpPr/>
          <p:nvPr/>
        </p:nvSpPr>
        <p:spPr>
          <a:xfrm rot="241833" flipH="1">
            <a:off x="2857585" y="4094814"/>
            <a:ext cx="2152095" cy="1509192"/>
          </a:xfrm>
          <a:prstGeom prst="arc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8496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C5C6ED-CEB0-DF95-C2D4-5220839D0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Discrétisation : frontières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595270A-CFC5-DE88-BDE0-18625C38E1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6619" y="4270193"/>
            <a:ext cx="4204606" cy="248797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/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chemeClr val="accent2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chemeClr val="accent2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chemeClr val="accent2"/>
                  </a:solidFill>
                </a:endParaRPr>
              </a:p>
            </p:txBody>
          </p:sp>
        </mc:Choice>
        <mc:Fallback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F5871682-0B46-824A-AEFF-E8E2BCE77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512" y="1343818"/>
                <a:ext cx="5897880" cy="1288686"/>
              </a:xfrm>
              <a:prstGeom prst="rect">
                <a:avLst/>
              </a:prstGeom>
              <a:blipFill>
                <a:blip r:embed="rId3"/>
                <a:stretch>
                  <a:fillRect l="-931" t="-188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/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FFBF00"/>
                    </a:solidFill>
                  </a:rPr>
                  <a:t>Condition de symétrie (Neumann) :</a:t>
                </a:r>
              </a:p>
              <a:p>
                <a:pPr algn="ctr"/>
                <a:r>
                  <a:rPr lang="fr-CA" dirty="0">
                    <a:solidFill>
                      <a:srgbClr val="FFBF00"/>
                    </a:solidFill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𝑑𝑇</m:t>
                        </m:r>
                      </m:num>
                      <m:den>
                        <m:r>
                          <a:rPr lang="fr-CA" b="0" i="1" smtClean="0">
                            <a:solidFill>
                              <a:srgbClr val="FFBF00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den>
                    </m:f>
                    <m:r>
                      <a:rPr lang="fr-CA" b="0" i="1" smtClean="0">
                        <a:solidFill>
                          <a:srgbClr val="FFBF00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CA" b="0" i="1" dirty="0">
                  <a:solidFill>
                    <a:srgbClr val="FFBF00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0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fr-CA" b="0" i="0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  <m:r>
                        <a:rPr lang="fr-CA" b="0" i="1" smtClean="0">
                          <a:solidFill>
                            <a:srgbClr val="FFBF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sSubSup>
                        <m:sSubSupPr>
                          <m:ctrlP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fr-CA" b="0" i="1" smtClean="0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fr-CA" i="1">
                              <a:solidFill>
                                <a:srgbClr val="FFBF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bSup>
                    </m:oMath>
                  </m:oMathPara>
                </a14:m>
                <a:endParaRPr lang="fr-CA" dirty="0">
                  <a:solidFill>
                    <a:srgbClr val="FFBF00"/>
                  </a:solidFill>
                </a:endParaRPr>
              </a:p>
            </p:txBody>
          </p:sp>
        </mc:Choice>
        <mc:Fallback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35B26447-C369-915B-101D-E4FC7C5D7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168" y="2784657"/>
                <a:ext cx="5897880" cy="1288686"/>
              </a:xfrm>
              <a:prstGeom prst="rect">
                <a:avLst/>
              </a:prstGeom>
              <a:blipFill>
                <a:blip r:embed="rId4"/>
                <a:stretch>
                  <a:fillRect l="-931" t="-237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/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5B9BD5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5B9BD5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5B9BD5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5B9BD5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[</m:t>
                    </m:r>
                    <m:d>
                      <m:dPr>
                        <m:ctrlPr>
                          <a:rPr lang="fr-CA" b="0" i="0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z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-</a:t>
                </a:r>
                <a:r>
                  <a:rPr lang="fr-FR" dirty="0">
                    <a:solidFill>
                      <a:srgbClr val="5B9BD5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5B9BD5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5B9BD5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fr-CA" i="1">
                            <a:solidFill>
                              <a:srgbClr val="5B9BD5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5B9BD5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5B9BD5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5B9BD5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5B9BD5"/>
                          </a:solidFill>
                          <a:latin typeface="Cambria Math" panose="02040503050406030204" pitchFamily="18" charset="0"/>
                        </a:rPr>
                        <m:t>=(0,1)</m:t>
                      </m:r>
                    </m:oMath>
                  </m:oMathPara>
                </a14:m>
                <a:endParaRPr lang="fr-CA" dirty="0">
                  <a:solidFill>
                    <a:srgbClr val="5B9BD5"/>
                  </a:solidFill>
                </a:endParaRPr>
              </a:p>
            </p:txBody>
          </p:sp>
        </mc:Choice>
        <mc:Fallback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B81FF01E-407B-CE8F-80F4-CFC728E6C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392" y="1268922"/>
                <a:ext cx="6141720" cy="1869614"/>
              </a:xfrm>
              <a:prstGeom prst="rect">
                <a:avLst/>
              </a:prstGeom>
              <a:blipFill>
                <a:blip r:embed="rId5"/>
                <a:stretch>
                  <a:fillRect l="-794" t="-1303" b="-195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/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CA" dirty="0">
                    <a:solidFill>
                      <a:srgbClr val="6FAD46"/>
                    </a:solidFill>
                  </a:rPr>
                  <a:t>Condition de robin, convection-radiation :</a:t>
                </a:r>
              </a:p>
              <a:p>
                <a:pPr algn="ctr">
                  <a:spcBef>
                    <a:spcPts val="1800"/>
                  </a:spcBef>
                </a:pPr>
                <a:r>
                  <a:rPr lang="fr-CA" dirty="0">
                    <a:solidFill>
                      <a:srgbClr val="6FAD46"/>
                    </a:solidFill>
                  </a:rPr>
                  <a:t>	</a:t>
                </a:r>
                <a14:m>
                  <m:oMath xmlns:m="http://schemas.openxmlformats.org/officeDocument/2006/math"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m:rPr>
                        <m:sty m:val="p"/>
                      </m:rP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.</m:t>
                    </m:r>
                    <m:acc>
                      <m:accPr>
                        <m:chr m:val="⃗"/>
                        <m:ctrlPr>
                          <a:rPr lang="fr-FR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acc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FR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∞</m:t>
                            </m:r>
                            <m:r>
                              <m:rPr>
                                <m:nor/>
                              </m:rPr>
                              <a:rPr lang="fr-FR" dirty="0">
                                <a:solidFill>
                                  <a:srgbClr val="6FAD46"/>
                                </a:solidFill>
                              </a:rPr>
                              <m:t> </m:t>
                            </m:r>
                          </m:sub>
                        </m:sSub>
                      </m:e>
                    </m:d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solidFill>
                    <a:srgbClr val="6FAD46"/>
                  </a:solidFill>
                </a:endParaRPr>
              </a:p>
              <a:p>
                <a:pPr algn="ctr"/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=[</m:t>
                    </m:r>
                    <m:d>
                      <m:dPr>
                        <m:ctrlP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  <m:r>
                              <a:rPr lang="fr-CA" b="0" i="1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∆</m:t>
                            </m:r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r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CA" b="0" i="0" smtClean="0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den>
                        </m:f>
                      </m:e>
                    </m:d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∗(</m:t>
                    </m:r>
                    <m:r>
                      <m:rPr>
                        <m:sty m:val="p"/>
                      </m:rP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fr-CA" b="0" i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-</a:t>
                </a:r>
                <a:r>
                  <a:rPr lang="fr-FR" dirty="0">
                    <a:solidFill>
                      <a:srgbClr val="6FAD46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  <m:r>
                          <m:rPr>
                            <m:nor/>
                          </m:rPr>
                          <a:rPr lang="fr-FR" dirty="0">
                            <a:solidFill>
                              <a:srgbClr val="6FAD46"/>
                            </a:solidFill>
                          </a:rPr>
                          <m:t> </m:t>
                        </m:r>
                      </m:sub>
                    </m:sSub>
                    <m:r>
                      <a:rPr lang="fr-CA" b="0" i="1" dirty="0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+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ϵσ</m:t>
                    </m:r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Sup>
                          <m:sSubSupPr>
                            <m:ctrlP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CA" i="1">
                                <a:solidFill>
                                  <a:srgbClr val="6FAD46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e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fr-FR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fr-FR" i="1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</a:rPr>
                      <m:t>) −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+4</m:t>
                    </m:r>
                    <m:sSubSup>
                      <m:sSubSupPr>
                        <m:ctrlP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CA" b="0" i="1" smtClean="0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fr-CA" i="1">
                            <a:solidFill>
                              <a:srgbClr val="6FAD46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solidFill>
                          <a:srgbClr val="6FAD4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)]÷3</m:t>
                    </m:r>
                  </m:oMath>
                </a14:m>
                <a:r>
                  <a:rPr lang="fr-CA" dirty="0">
                    <a:solidFill>
                      <a:srgbClr val="6FAD46"/>
                    </a:solidFill>
                  </a:rPr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i="1">
                              <a:solidFill>
                                <a:srgbClr val="6FAD46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acc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CA" b="0" i="1" smtClean="0">
                          <a:solidFill>
                            <a:srgbClr val="6FAD4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CA" dirty="0">
                  <a:solidFill>
                    <a:srgbClr val="6FAD46"/>
                  </a:solidFill>
                </a:endParaRPr>
              </a:p>
            </p:txBody>
          </p:sp>
        </mc:Choice>
        <mc:Fallback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A0DEE587-681A-1A82-80C1-940949F38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976" y="3023260"/>
                <a:ext cx="6288024" cy="1869614"/>
              </a:xfrm>
              <a:prstGeom prst="rect">
                <a:avLst/>
              </a:prstGeom>
              <a:blipFill>
                <a:blip r:embed="rId6"/>
                <a:stretch>
                  <a:fillRect l="-873" t="-1629" b="-1629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ZoneTexte 9">
            <a:extLst>
              <a:ext uri="{FF2B5EF4-FFF2-40B4-BE49-F238E27FC236}">
                <a16:creationId xmlns:a16="http://schemas.microsoft.com/office/drawing/2014/main" id="{841669E0-8634-2A94-9DF2-325DD99B02AA}"/>
              </a:ext>
            </a:extLst>
          </p:cNvPr>
          <p:cNvSpPr txBox="1"/>
          <p:nvPr/>
        </p:nvSpPr>
        <p:spPr>
          <a:xfrm>
            <a:off x="5999988" y="5008150"/>
            <a:ext cx="609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dirty="0" err="1"/>
              <a:t>Dicrétisations</a:t>
            </a:r>
            <a:r>
              <a:rPr lang="fr-CA" dirty="0"/>
              <a:t> réalisées à l’aide des méthodes de </a:t>
            </a:r>
            <a:r>
              <a:rPr lang="fr-CA" dirty="0" err="1"/>
              <a:t>Gear</a:t>
            </a:r>
            <a:r>
              <a:rPr lang="fr-CA" dirty="0"/>
              <a:t>, d’ordre 2 :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32A8A863-AC5E-8C31-7C35-11133CCD28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3976" y="5752785"/>
            <a:ext cx="6096000" cy="97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882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B0DE8D-01F9-F51A-DBBD-386711262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</p:spPr>
            <p:txBody>
              <a:bodyPr>
                <a:normAutofit/>
              </a:bodyPr>
              <a:lstStyle/>
              <a:p>
                <a:r>
                  <a:rPr lang="fr-FR" dirty="0"/>
                  <a:t>Développement de Taylor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fr-FR" b="0" i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i="0" dirty="0">
                    <a:latin typeface="Cambria Math" panose="02040503050406030204" pitchFamily="18" charset="0"/>
                  </a:rPr>
                  <a:t>Ordre 1 en temps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Δt</m:t>
                            </m:r>
                          </m:sup>
                        </m:sSubSup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Δt</m:t>
                        </m:r>
                        <m:r>
                          <m:rPr>
                            <m:nor/>
                          </m:rPr>
                          <a:rPr lang="fr-FR"/>
                          <m:t> 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fr-F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b="0" i="0" dirty="0">
                    <a:latin typeface="Cambria Math" panose="02040503050406030204" pitchFamily="18" charset="0"/>
                  </a:rPr>
                  <a:t>)</a:t>
                </a:r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b="0" dirty="0"/>
                  <a:t>	          </a:t>
                </a:r>
                <a14:m>
                  <m:oMath xmlns:m="http://schemas.openxmlformats.org/officeDocument/2006/math"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b="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fr-FR" b="0" dirty="0"/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369A214-4D5D-715B-6640-CC12B4B650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0411" y="1605124"/>
                <a:ext cx="10515600" cy="5504688"/>
              </a:xfrm>
              <a:blipFill>
                <a:blip r:embed="rId3"/>
                <a:stretch>
                  <a:fillRect l="-1217" t="-1883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024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C4141-85F8-8321-5A47-F7279370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7B92C8-7E5E-8CDA-7607-D5BFCF6EA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fr-FR" dirty="0"/>
              <a:t>Calcul de l’ordre de convergence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fr-FR" sz="2400" b="0" i="0" dirty="0">
                    <a:latin typeface="Cambria Math" panose="02040503050406030204" pitchFamily="18" charset="0"/>
                  </a:rPr>
                  <a:t>Ordre 2 en espace (r et z) :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fr-FR" sz="2400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den>
                        </m:f>
                        <m:r>
                          <a:rPr lang="fr-FR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>
                    <a:solidFill>
                      <a:srgbClr val="FF0000"/>
                    </a:solidFill>
                  </a:rPr>
                  <a:t>		           </a:t>
                </a:r>
                <a14:m>
                  <m:oMath xmlns:m="http://schemas.openxmlformats.org/officeDocument/2006/math"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sSub>
                      <m:sSubPr>
                        <m:ctrlPr>
                          <a:rPr lang="fr-F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CA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</m:oMath>
                </a14:m>
                <a:r>
                  <a:rPr lang="fr-FR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2400" dirty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r>
                  <a:rPr lang="fr-FR" sz="2400" b="0" i="0" dirty="0">
                    <a:latin typeface="Cambria Math" panose="02040503050406030204" pitchFamily="18" charset="0"/>
                  </a:rPr>
                  <a:t>)</a:t>
                </a:r>
                <a:endParaRPr lang="fr-FR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fr-FR" sz="2400" b="0" dirty="0"/>
                  <a:t>	          	  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CA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i="0" dirty="0">
                  <a:latin typeface="Cambria Math" panose="02040503050406030204" pitchFamily="18" charset="0"/>
                </a:endParaRPr>
              </a:p>
              <a:p>
                <a:endParaRPr lang="fr-FR" sz="24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sz="24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bSup>
                      </m:num>
                      <m:den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p>
                            <m:r>
                              <a:rPr lang="fr-FR" sz="2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nor/>
                          </m:rPr>
                          <a:rPr lang="fr-FR" sz="2400"/>
                          <m:t> 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f>
                          <m:fPr>
                            <m:ctrlPr>
                              <a:rPr lang="fr-FR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24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sSup>
                              <m:sSupPr>
                                <m:ctrlPr>
                                  <a:rPr lang="fr-FR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  <m:sup>
                                <m:r>
                                  <a:rPr lang="fr-FR" sz="24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400" dirty="0"/>
              </a:p>
              <a:p>
                <a:pPr marL="0" indent="0">
                  <a:buNone/>
                </a:pPr>
                <a:r>
                  <a:rPr lang="fr-FR" sz="2400" b="0" dirty="0"/>
                  <a:t> 			</a:t>
                </a:r>
                <a:r>
                  <a:rPr lang="fr-FR" sz="2400" dirty="0"/>
                  <a:t> </a:t>
                </a:r>
                <a14:m>
                  <m:oMath xmlns:m="http://schemas.openxmlformats.org/officeDocument/2006/math"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m:rPr>
                        <m:sty m:val="p"/>
                      </m:rPr>
                      <a:rPr lang="fr-FR" sz="240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3!</m:t>
                        </m:r>
                      </m:den>
                    </m:f>
                    <m:r>
                      <a:rPr lang="fr-FR" sz="24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</m:oMath>
                </a14:m>
                <a:endParaRPr lang="fr-FR" sz="2000" b="0" dirty="0"/>
              </a:p>
              <a:p>
                <a:pPr marL="0" indent="0">
                  <a:buNone/>
                </a:pPr>
                <a:r>
                  <a:rPr lang="fr-FR" sz="2000" dirty="0"/>
                  <a:t>			      </a:t>
                </a:r>
                <a14:m>
                  <m:oMath xmlns:m="http://schemas.openxmlformats.org/officeDocument/2006/math"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fr-FR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FR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fr-FR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2400" b="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0" indent="0">
                  <a:buNone/>
                </a:pPr>
                <a:r>
                  <a:rPr lang="fr-FR" sz="2400" dirty="0"/>
                  <a:t>			 </a:t>
                </a:r>
                <a14:m>
                  <m:oMath xmlns:m="http://schemas.openxmlformats.org/officeDocument/2006/math">
                    <m:r>
                      <a:rPr lang="fr-FR" sz="20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fr-FR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fr-FR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2</m:t>
                    </m:r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400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240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24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fr-FR" sz="24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sz="2400" i="1">
                            <a:latin typeface="Cambria Math" panose="02040503050406030204" pitchFamily="18" charset="0"/>
                          </a:rPr>
                          <m:t>4!</m:t>
                        </m:r>
                      </m:den>
                    </m:f>
                    <m:r>
                      <a:rPr lang="fr-FR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𝑜</m:t>
                    </m:r>
                    <m:r>
                      <a:rPr lang="fr-FR" sz="24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240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fr-FR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2400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A145214A-2ADA-193F-B05A-48501377A8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768" y="1335057"/>
                <a:ext cx="11676888" cy="5504688"/>
              </a:xfrm>
              <a:blipFill>
                <a:blip r:embed="rId3"/>
                <a:stretch>
                  <a:fillRect l="-836" t="-1550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1290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210F2-DE1D-E808-58AF-DFA01EAA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Méthodologie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4000"/>
                  </a:lnSpc>
                </a:pPr>
                <a:r>
                  <a:rPr lang="fr-FR" dirty="0"/>
                  <a:t>Implémentation de divers tests avec le module </a:t>
                </a:r>
                <a:r>
                  <a:rPr lang="fr-FR" i="1" dirty="0" err="1"/>
                  <a:t>unittest</a:t>
                </a:r>
                <a:r>
                  <a:rPr lang="fr-FR" dirty="0"/>
                  <a:t> de python :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FR" b="1" dirty="0"/>
                  <a:t>Tests unitaires </a:t>
                </a:r>
                <a:r>
                  <a:rPr lang="fr-FR" dirty="0"/>
                  <a:t>pour les différentes fonctions du code 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FR" b="1" dirty="0" err="1"/>
                  <a:t>testPosition</a:t>
                </a:r>
                <a:r>
                  <a:rPr lang="fr-FR" dirty="0"/>
                  <a:t> : </a:t>
                </a:r>
                <a:r>
                  <a:rPr lang="fr-CA" dirty="0"/>
                  <a:t>Test la fonction Position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testMilieu</a:t>
                </a:r>
                <a:r>
                  <a:rPr lang="fr-CA" dirty="0"/>
                  <a:t> : Test la fonction Milieu avec des valeurs connues.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testTemperature</a:t>
                </a:r>
                <a:r>
                  <a:rPr lang="fr-CA" dirty="0"/>
                  <a:t> : Test la fonction </a:t>
                </a:r>
                <a:r>
                  <a:rPr lang="fr-CA" dirty="0" err="1"/>
                  <a:t>Temperature</a:t>
                </a:r>
                <a:r>
                  <a:rPr lang="fr-CA" dirty="0"/>
                  <a:t> avec des valeurs connues.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b="1" dirty="0"/>
                  <a:t>Tests de vérification de code </a:t>
                </a:r>
                <a:r>
                  <a:rPr lang="fr-CA" dirty="0"/>
                  <a:t>implémentés :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testSymetrie</a:t>
                </a:r>
                <a:r>
                  <a:rPr lang="fr-CA" dirty="0"/>
                  <a:t> : Test la simplification de la condition de symétrie en comparant le résultat symétrique au résultat du domaine complet.</a:t>
                </a:r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testConservationEnergie</a:t>
                </a:r>
                <a:r>
                  <a:rPr lang="fr-CA" dirty="0"/>
                  <a:t> : Test la conservation de l'énergie du solveur en effectuant un bilan </a:t>
                </a:r>
                <a:r>
                  <a:rPr lang="fr-CA" dirty="0" err="1"/>
                  <a:t>énegérique</a:t>
                </a:r>
                <a:r>
                  <a:rPr lang="fr-CA" dirty="0"/>
                  <a:t> à l'intérieur du domaine et sur la frontière. On cherche :</a:t>
                </a:r>
                <a:br>
                  <a:rPr lang="fr-CA" dirty="0"/>
                </a:b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CA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𝑖𝑛𝑡</m:t>
                            </m:r>
                          </m:sub>
                        </m:sSub>
                      </m:e>
                    </m:acc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fr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CA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fr-CA" i="1">
                                <a:latin typeface="Cambria Math" panose="02040503050406030204" pitchFamily="18" charset="0"/>
                              </a:rPr>
                              <m:t>𝑓𝑟𝑜𝑛𝑡</m:t>
                            </m:r>
                          </m:sub>
                        </m:sSub>
                      </m:e>
                    </m:acc>
                  </m:oMath>
                </a14:m>
                <a:endParaRPr lang="fr-CA" dirty="0"/>
              </a:p>
              <a:p>
                <a:pPr lvl="2">
                  <a:lnSpc>
                    <a:spcPct val="124000"/>
                  </a:lnSpc>
                  <a:buFont typeface="Courier New" panose="02070309020205020404" pitchFamily="49" charset="0"/>
                  <a:buChar char="o"/>
                </a:pPr>
                <a:r>
                  <a:rPr lang="fr-CA" b="1" dirty="0" err="1"/>
                  <a:t>testInvarianceGalileenne</a:t>
                </a:r>
                <a:r>
                  <a:rPr lang="fr-CA" dirty="0"/>
                  <a:t> : Test l’invariance galiléenne du solveur par translation des coordonnées.</a:t>
                </a:r>
              </a:p>
              <a:p>
                <a:pPr lvl="1">
                  <a:lnSpc>
                    <a:spcPct val="124000"/>
                  </a:lnSpc>
                </a:pPr>
                <a:r>
                  <a:rPr lang="fr-CA" dirty="0"/>
                  <a:t>Implémentation de la </a:t>
                </a:r>
                <a:r>
                  <a:rPr lang="fr-CA" b="1" dirty="0"/>
                  <a:t>MMS</a:t>
                </a:r>
                <a:r>
                  <a:rPr lang="fr-CA" dirty="0"/>
                  <a:t> pour évaluer l’ordre de convergence du solveur.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CA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13CAEC-1AC4-C17B-EAFA-EC1AB7DBA2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28376" cy="4351338"/>
              </a:xfrm>
              <a:blipFill>
                <a:blip r:embed="rId2"/>
                <a:stretch>
                  <a:fillRect l="-688" t="-700" r="-57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705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8461F-0ADA-F2B0-A6E7-097DBD122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CE1403-3D16-B3B5-E3F3-9368B3195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Résultats :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99FE2D-5448-2AC8-260C-B0D0A0501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Tests unitaires : rien de surprenant, objectif de conserver une pérennité et une stabilité du code malgré des changements.</a:t>
            </a:r>
          </a:p>
          <a:p>
            <a:r>
              <a:rPr lang="fr-FR" dirty="0"/>
              <a:t>Tests de vérification de code 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FR" dirty="0" err="1"/>
              <a:t>testSymmetrie</a:t>
            </a:r>
            <a:r>
              <a:rPr lang="fr-FR" dirty="0"/>
              <a:t>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 A révélé un </a:t>
            </a:r>
            <a:r>
              <a:rPr lang="fr-FR" i="1" dirty="0"/>
              <a:t>champ de mine</a:t>
            </a:r>
            <a:r>
              <a:rPr lang="fr-FR" dirty="0"/>
              <a:t> de bugs au sein du code.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A permis de revisiter et de réécrire correctement les équations de discrétisation (que nous croyions déjà bonne).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Problèmes d’indexation des points, notamment pour les conditions frontières aux </a:t>
            </a:r>
            <a:r>
              <a:rPr lang="fr-FR" i="1" dirty="0"/>
              <a:t>coins</a:t>
            </a:r>
            <a:r>
              <a:rPr lang="fr-FR" dirty="0"/>
              <a:t> du domaine.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FR" dirty="0" err="1"/>
              <a:t>testInvarianceGaliléenne</a:t>
            </a:r>
            <a:r>
              <a:rPr lang="fr-FR" dirty="0"/>
              <a:t>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A révélé quelques subtilités du code qui on permis de l’améliorer, notamment la manière dont est calculé le rayon et la manière dont sont initialisés les paramètres.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fr-FR" dirty="0" err="1"/>
              <a:t>testConservationEnergie</a:t>
            </a:r>
            <a:r>
              <a:rPr lang="fr-FR" dirty="0"/>
              <a:t> 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Un peu complexe à mettre en place.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fr-FR" dirty="0"/>
              <a:t>Flux de chaleur conservé de manière satisfaisante, au millième près.</a:t>
            </a:r>
          </a:p>
        </p:txBody>
      </p:sp>
    </p:spTree>
    <p:extLst>
      <p:ext uri="{BB962C8B-B14F-4D97-AF65-F5344CB8AC3E}">
        <p14:creationId xmlns:p14="http://schemas.microsoft.com/office/powerpoint/2010/main" val="845833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8B92D-CCAF-B970-4FDC-131895046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17134A-892B-0D3A-608A-3FB298A46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- MMS 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fr-FR" dirty="0"/>
                  <a:t>Implémentation de la méthode des solutions manufacturés. </a:t>
                </a:r>
              </a:p>
              <a:p>
                <a:r>
                  <a:rPr lang="fr-FR" dirty="0"/>
                  <a:t>Changements nécessaires :</a:t>
                </a:r>
              </a:p>
              <a:p>
                <a:pPr lvl="1"/>
                <a:r>
                  <a:rPr lang="fr-FR" dirty="0"/>
                  <a:t>Implémentation de conditions de Dirichlet aux frontières extérieures:</a:t>
                </a:r>
                <a:br>
                  <a:rPr lang="fr-FR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𝑀𝑀𝑆</m:t>
                            </m:r>
                          </m:sub>
                        </m:sSub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bSup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Implémentation d’un terme source dans l’équation du milieu du domaine.</a:t>
                </a:r>
              </a:p>
              <a:p>
                <a:pPr lvl="1"/>
                <a:r>
                  <a:rPr lang="fr-FR" dirty="0"/>
                  <a:t>Repenser la classe </a:t>
                </a:r>
                <a:r>
                  <a:rPr lang="fr-FR" i="1" dirty="0"/>
                  <a:t>Paramètres</a:t>
                </a:r>
                <a:r>
                  <a:rPr lang="fr-FR" dirty="0"/>
                  <a:t> pour intégrer le tout et permettre à un utilisateur d’imposer une </a:t>
                </a:r>
                <a:r>
                  <a:rPr lang="fr-FR" i="1" dirty="0"/>
                  <a:t>MMS</a:t>
                </a:r>
                <a:r>
                  <a:rPr lang="fr-FR" dirty="0"/>
                  <a:t>, ou non.</a:t>
                </a:r>
              </a:p>
              <a:p>
                <a:r>
                  <a:rPr lang="fr-FR" dirty="0"/>
                  <a:t>Équation choisie :</a:t>
                </a:r>
                <a:br>
                  <a:rPr lang="fr-FR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𝑀𝑀𝑆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</m:sub>
                    </m:sSub>
                    <m:r>
                      <a:rPr lang="fr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(−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sSub>
                          <m:sSub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fr-CA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func>
                      <m:func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CA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fr-CA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num>
                              <m:den>
                                <m:r>
                                  <a:rPr lang="fr-CA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fr-CA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fr-CA" b="0" i="1" smtClean="0">
                        <a:latin typeface="Cambria Math" panose="02040503050406030204" pitchFamily="18" charset="0"/>
                      </a:rPr>
                      <m:t>⁡(</m:t>
                    </m:r>
                    <m:f>
                      <m:fPr>
                        <m:ctrlPr>
                          <a:rPr lang="fr-CA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fr-CA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den>
                    </m:f>
                    <m:r>
                      <a:rPr lang="fr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  <a:p>
                <a:pPr marL="914400" lvl="2" indent="0">
                  <a:buNone/>
                </a:pPr>
                <a:r>
                  <a:rPr lang="fr-FR" dirty="0"/>
                  <a:t>Ici, on choisit 2 cosinus de manière à forcer l’équation a être symétrique aux frontières r=0, z=0.</a:t>
                </a:r>
              </a:p>
              <a:p>
                <a:r>
                  <a:rPr lang="fr-FR" dirty="0"/>
                  <a:t>Le calcul du terme source est fait à l’aide de la librairie </a:t>
                </a:r>
                <a:r>
                  <a:rPr lang="fr-FR" i="1" dirty="0" err="1"/>
                  <a:t>sympy</a:t>
                </a:r>
                <a:r>
                  <a:rPr lang="fr-FR" dirty="0"/>
                  <a:t> dans Python. Les développements ne seront donc pas présentés.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26B832D3-1AFE-0930-0EA6-79DF70C198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64" b="-14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8032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0F47C-EA86-426C-9E31-441BF44D6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732BA4-6A05-72B7-DA5A-7F788E2CA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C16CC2A3-774C-4A0E-8885-22E49233D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354" y="1690688"/>
            <a:ext cx="8387292" cy="5032375"/>
          </a:xfrm>
          <a:prstGeom prst="rect">
            <a:avLst/>
          </a:prstGeom>
        </p:spPr>
      </p:pic>
      <p:grpSp>
        <p:nvGrpSpPr>
          <p:cNvPr id="10" name="Groupe 9">
            <a:extLst>
              <a:ext uri="{FF2B5EF4-FFF2-40B4-BE49-F238E27FC236}">
                <a16:creationId xmlns:a16="http://schemas.microsoft.com/office/drawing/2014/main" id="{0733C7CD-F52D-5C54-C2B4-44406B95C157}"/>
              </a:ext>
            </a:extLst>
          </p:cNvPr>
          <p:cNvGrpSpPr/>
          <p:nvPr/>
        </p:nvGrpSpPr>
        <p:grpSpPr>
          <a:xfrm>
            <a:off x="311285" y="5077838"/>
            <a:ext cx="3385226" cy="1448624"/>
            <a:chOff x="311285" y="5077838"/>
            <a:chExt cx="3385226" cy="14486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CB769F-2C76-74CB-5981-7343AE429DE5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CEEDC86A-29FF-1B82-1333-62836274B581}"/>
                </a:ext>
              </a:extLst>
            </p:cNvPr>
            <p:cNvCxnSpPr>
              <a:stCxn id="6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3AD781C3-D9E5-9A25-B650-D4D2A98A52FC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spatiale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9147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F719-4F8B-B0BF-A652-91D4A8E1C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6CDAA5-638A-B4E8-6AFE-7C186CA43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Vérification de code – MMS – Résultats :</a:t>
            </a:r>
          </a:p>
        </p:txBody>
      </p:sp>
      <p:pic>
        <p:nvPicPr>
          <p:cNvPr id="7" name="Espace réservé du contenu 6">
            <a:extLst>
              <a:ext uri="{FF2B5EF4-FFF2-40B4-BE49-F238E27FC236}">
                <a16:creationId xmlns:a16="http://schemas.microsoft.com/office/drawing/2014/main" id="{6B8E9D59-8E3B-8479-E1C7-62F3A39A5D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000" y="1690688"/>
            <a:ext cx="8388000" cy="5032800"/>
          </a:xfrm>
          <a:prstGeom prst="rect">
            <a:avLst/>
          </a:prstGeom>
        </p:spPr>
      </p:pic>
      <p:grpSp>
        <p:nvGrpSpPr>
          <p:cNvPr id="8" name="Groupe 7">
            <a:extLst>
              <a:ext uri="{FF2B5EF4-FFF2-40B4-BE49-F238E27FC236}">
                <a16:creationId xmlns:a16="http://schemas.microsoft.com/office/drawing/2014/main" id="{4C4CFFBA-3429-F2F4-7F11-D968906589E4}"/>
              </a:ext>
            </a:extLst>
          </p:cNvPr>
          <p:cNvGrpSpPr/>
          <p:nvPr/>
        </p:nvGrpSpPr>
        <p:grpSpPr>
          <a:xfrm>
            <a:off x="209387" y="3016251"/>
            <a:ext cx="3385226" cy="1725623"/>
            <a:chOff x="311285" y="5077838"/>
            <a:chExt cx="3385226" cy="1725623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A2EE6-1A05-1DB3-5DAA-1C28E8D82F63}"/>
                </a:ext>
              </a:extLst>
            </p:cNvPr>
            <p:cNvSpPr/>
            <p:nvPr/>
          </p:nvSpPr>
          <p:spPr>
            <a:xfrm>
              <a:off x="2373549" y="5077838"/>
              <a:ext cx="1322962" cy="398834"/>
            </a:xfrm>
            <a:prstGeom prst="rect">
              <a:avLst/>
            </a:prstGeom>
            <a:noFill/>
            <a:ln w="571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10" name="Connecteur droit avec flèche 9">
              <a:extLst>
                <a:ext uri="{FF2B5EF4-FFF2-40B4-BE49-F238E27FC236}">
                  <a16:creationId xmlns:a16="http://schemas.microsoft.com/office/drawing/2014/main" id="{EE0D9918-4259-5FE5-2239-A38236148190}"/>
                </a:ext>
              </a:extLst>
            </p:cNvPr>
            <p:cNvCxnSpPr>
              <a:stCxn id="9" idx="1"/>
            </p:cNvCxnSpPr>
            <p:nvPr/>
          </p:nvCxnSpPr>
          <p:spPr>
            <a:xfrm flipH="1">
              <a:off x="1322962" y="5277255"/>
              <a:ext cx="1050587" cy="32587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FD1FA1AC-0CBB-05F3-2DE3-6DE994D15BDB}"/>
                </a:ext>
              </a:extLst>
            </p:cNvPr>
            <p:cNvSpPr txBox="1"/>
            <p:nvPr/>
          </p:nvSpPr>
          <p:spPr>
            <a:xfrm>
              <a:off x="311285" y="5603132"/>
              <a:ext cx="1741251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dirty="0"/>
                <a:t>Discrétisation temporelle prend le dessus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35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2626</TotalTime>
  <Words>1109</Words>
  <Application>Microsoft Office PowerPoint</Application>
  <PresentationFormat>Grand écran</PresentationFormat>
  <Paragraphs>143</Paragraphs>
  <Slides>13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Cambria</vt:lpstr>
      <vt:lpstr>Cambria Math</vt:lpstr>
      <vt:lpstr>Courier New</vt:lpstr>
      <vt:lpstr>Thème Office</vt:lpstr>
      <vt:lpstr>MEC8211 – Projet final</vt:lpstr>
      <vt:lpstr>Contexte</vt:lpstr>
      <vt:lpstr>Modélisation mathématique</vt:lpstr>
      <vt:lpstr>Modélisation mathématique</vt:lpstr>
      <vt:lpstr>Discrétisation : Milieu </vt:lpstr>
      <vt:lpstr>Discrétisation : frontières</vt:lpstr>
      <vt:lpstr>Calcul de l’ordre de convergence </vt:lpstr>
      <vt:lpstr>Calcul de l’ordre de convergence </vt:lpstr>
      <vt:lpstr>Vérification de code - Méthodologie :</vt:lpstr>
      <vt:lpstr>Vérification de code - Résultats :</vt:lpstr>
      <vt:lpstr>Vérification de code - MMS :</vt:lpstr>
      <vt:lpstr>Vérification de code – MMS – Résultats :</vt:lpstr>
      <vt:lpstr>Vérification de code – MMS – Résultats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Antoine Payette-Toupin</cp:lastModifiedBy>
  <cp:revision>39</cp:revision>
  <dcterms:created xsi:type="dcterms:W3CDTF">2026-02-07T22:10:41Z</dcterms:created>
  <dcterms:modified xsi:type="dcterms:W3CDTF">2026-04-10T20:58:26Z</dcterms:modified>
</cp:coreProperties>
</file>