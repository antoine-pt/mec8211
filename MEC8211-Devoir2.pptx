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4" d="100"/>
          <a:sy n="84" d="100"/>
        </p:scale>
        <p:origin x="629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B0B2023-C595-443A-8D8C-AB9DF5A28D48}" type="datetimeFigureOut">
              <a:rPr lang="fr-FR" smtClean="0"/>
              <a:t>26/02/2026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105186-0725-443C-BC59-E521425E81C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411661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105186-0725-443C-BC59-E521425E81CD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401139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6009BC-69C5-7413-6837-1A56D4E1A4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9290BE61-113D-33F3-0A91-2493D55909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5F49E80A-E771-CF36-FD88-9BD68FF9E9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1FF8F47-AB35-9ED7-AF80-766197C175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105186-0725-443C-BC59-E521425E81CD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7982703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1DB5FE-EA80-353B-1B11-C7C10377E0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8CB4CFC5-4713-6786-C535-AEE7EAB957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4BBDB437-14D2-4449-AA41-AEC9DC6443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3815303-161A-E91C-3263-52DAE177D1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105186-0725-443C-BC59-E521425E81CD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4748897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187EBB-CE48-876C-FFF5-724AE32FB0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1DF6AAA2-7664-2788-A6FA-48571DC822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93A82870-6EBE-D58E-0E6E-DFE7013357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F0C2287-0ABB-0A8B-D73E-34AD6BF3E3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105186-0725-443C-BC59-E521425E81CD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989754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BF20FCA-9849-8D64-289F-FB7638BA93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76829620-5708-DEC4-9272-A41F0A6301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DB910B6-110F-28F4-BC47-9CD148E697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26/02/2026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44678E1-FCC5-EC25-725D-328119EFF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E9387A6-A3E0-90B2-ED44-78CDF4F0D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753902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C97288E-ECBA-99C4-1444-DA21DAB4C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EC74A79-D906-7648-DF71-F652B3D257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4EB91EF-38F8-ABFB-87B4-57EDEDB999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26/02/2026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7709078-3A53-6606-B2E6-3BB4741E36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A92B805-A639-F55C-CC2B-178CB8A386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39681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241E8AB-8B3D-7D2B-454D-A3D812AFCB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D706EE7-1B52-6EDA-23CD-EBDC9D983B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630CC76-8BA5-D53B-5774-461AC3B172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26/02/2026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DF6B1B4-70DA-80E0-6D01-F2E288534F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A9B155F-8FEC-FE08-D681-49F2C5AACB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319936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451296E-B96C-D9C9-2CF2-546C13B03D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EA025F0-4010-871A-FE66-218C9A904A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464F2629-5962-80D6-CD5A-71A7AE333F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97F91979-03FE-8AD9-0EBF-A57A380409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26/02/2026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8B9C80A-4711-E7F6-E1DF-09CC03039C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4C0094B-8232-4889-218A-4184426ECE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924606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F879185-61FB-F46B-A0E2-1E53FE8F8C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E1E42A4-57AD-B6A7-45F6-E65565DD1E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CC1CECC0-8806-8386-0361-52FF2978D3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A357A7A8-EC71-9A58-7CA8-F66CE308BD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EC404EC0-E68A-E4C9-B80D-BEEF06093E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1991D710-9103-9DB2-5B2C-59600B0971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26/02/2026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345A2E21-EC6F-BB4B-30CF-051112D61F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E91B0247-804A-34B5-9ABD-CF6115BF4A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065856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D37AC3B-D109-33CB-4224-A617247A7F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E3F6FE45-B625-B3EB-8DE6-AE665E1143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26/02/2026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1F3647DC-4841-391E-4311-1CCF978C4D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564912E-487F-BB3C-29BD-B868B31CFA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66578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F86A390C-6CF6-6459-A357-00F3D73CB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26/02/2026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BE966711-8F45-F5F0-78CD-892DDBA2D5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6C6A74F-9B43-9437-CA16-F699B01232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871300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A13010F-0A51-7184-A92A-FB55AE059E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C1D7753-D33B-ECA5-15CE-371E4C21E6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C90C5936-CC3F-C564-027C-7A158FB379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B6D2F58-1DEC-05A4-9415-5505781ED3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26/02/2026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B1FDC0B-7A72-6AF2-D8F2-FD133D818D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A229BFA-2217-13B1-36D0-B45735FE3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789263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D44F5C3-4D43-F330-AB2E-93F7856CD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5D9E71D8-C483-7218-914B-8C438B7BD3F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EC0105DA-F2A5-AE7D-D2C7-8E99794548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B4FC808-FEB6-7DC6-E162-509C39E166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26/02/2026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7C49D9E-6F71-6FFF-CC00-D84AF9932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86CB61D-9EC9-D900-993A-D90CFEFB4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40367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54F3AE0-0A4F-C73C-7312-C0332CB9B7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E93595E3-1731-DBA8-5D73-6FBC0173DE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6B2046E-A47B-EEA8-B9CA-90559DF7BC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26/02/2026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EA06073-8B5C-0924-EB9B-46644CC416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A3EE113-1D48-2091-06FD-0F833E574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124134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5F4B14AC-D335-199A-8275-8FEAD607815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8C344906-2881-CA33-2AED-6CE33B906A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1BED21D-D702-70A0-6DFF-537C0E9E30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26/02/2026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3B22F45-96A6-62D2-C024-4FBD1C07F0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0799B19-4092-7649-21ED-884512586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872383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F1ECCE51-4F19-67BD-9ACF-7D67A65B3A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44C1EA9-4ED2-C33A-D018-C0313920CC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B54EE32-0D00-5F0F-B543-C3A2D5CAAB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51AFDA-D128-4B68-A211-269E2451E5DE}" type="datetimeFigureOut">
              <a:rPr lang="fr-FR" smtClean="0"/>
              <a:t>26/02/2026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304F246-AFA0-B777-83BA-CAECCDA95B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3044D50-2635-7742-456B-1A644C31FA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327042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ntoine-pt/MEC6212.git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6C991BE-FE4B-ED26-E133-B404288321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426463"/>
            <a:ext cx="9144000" cy="1425131"/>
          </a:xfrm>
        </p:spPr>
        <p:txBody>
          <a:bodyPr/>
          <a:lstStyle/>
          <a:p>
            <a:r>
              <a:rPr lang="fr-FR" noProof="0" dirty="0"/>
              <a:t>MEC8211 – Devoir 2 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C0AF6114-4134-51BE-88E4-DAEE360A66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06407"/>
            <a:ext cx="9144000" cy="1945747"/>
          </a:xfrm>
        </p:spPr>
        <p:txBody>
          <a:bodyPr>
            <a:normAutofit fontScale="92500" lnSpcReduction="10000"/>
          </a:bodyPr>
          <a:lstStyle/>
          <a:p>
            <a:r>
              <a:rPr lang="fr-FR" noProof="0" dirty="0"/>
              <a:t>Antoine Payette-Toupin (2090788)</a:t>
            </a:r>
          </a:p>
          <a:p>
            <a:r>
              <a:rPr lang="fr-FR" noProof="0" dirty="0"/>
              <a:t>Charlotte Sabrié (2485495)</a:t>
            </a:r>
          </a:p>
          <a:p>
            <a:r>
              <a:rPr lang="fr-FR" noProof="0" dirty="0"/>
              <a:t>Loïc Vignaud (2485146)</a:t>
            </a:r>
          </a:p>
          <a:p>
            <a:endParaRPr lang="fr-FR" dirty="0"/>
          </a:p>
          <a:p>
            <a:r>
              <a:rPr lang="fr-FR" sz="22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Répertoire </a:t>
            </a:r>
            <a:r>
              <a:rPr lang="fr-FR" sz="2200" dirty="0" err="1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r>
              <a:rPr lang="fr-FR" sz="22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: </a:t>
            </a:r>
            <a:r>
              <a:rPr lang="fr-FR" sz="2200" u="sng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https://github.com/antoine-pt/MEC6212.git</a:t>
            </a:r>
            <a:endParaRPr lang="fr-FR" sz="2200" noProof="0" dirty="0"/>
          </a:p>
        </p:txBody>
      </p:sp>
    </p:spTree>
    <p:extLst>
      <p:ext uri="{BB962C8B-B14F-4D97-AF65-F5344CB8AC3E}">
        <p14:creationId xmlns:p14="http://schemas.microsoft.com/office/powerpoint/2010/main" val="19183727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F2D3413-E6AD-3115-9024-2BBB69581B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8582"/>
            <a:ext cx="10515600" cy="1325563"/>
          </a:xfrm>
        </p:spPr>
        <p:txBody>
          <a:bodyPr/>
          <a:lstStyle/>
          <a:p>
            <a:r>
              <a:rPr lang="fr-FR" dirty="0"/>
              <a:t>A) Nouveau schéma de discrétisation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9E15F1C8-749F-9711-228C-AFED7D9DF6B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02208" y="1690688"/>
                <a:ext cx="10515600" cy="507873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fr-FR" sz="2500" dirty="0"/>
                  <a:t>On cherche à discrétiser l’équation suivante 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sz="2500" i="1"/>
                        </m:ctrlPr>
                      </m:fPr>
                      <m:num>
                        <m:r>
                          <a:rPr lang="fr-FR" sz="2500"/>
                          <m:t>∂</m:t>
                        </m:r>
                        <m:r>
                          <a:rPr lang="fr-FR" sz="2500" i="1"/>
                          <m:t>𝐶</m:t>
                        </m:r>
                      </m:num>
                      <m:den>
                        <m:r>
                          <a:rPr lang="fr-FR" sz="2500"/>
                          <m:t>∂</m:t>
                        </m:r>
                        <m:r>
                          <a:rPr lang="fr-FR" sz="2500" i="1"/>
                          <m:t>𝑡</m:t>
                        </m:r>
                      </m:den>
                    </m:f>
                    <m:r>
                      <a:rPr lang="fr-FR" sz="2500" i="1"/>
                      <m:t>=</m:t>
                    </m:r>
                    <m:sSub>
                      <m:sSubPr>
                        <m:ctrlPr>
                          <a:rPr lang="fr-FR" sz="2500" i="1"/>
                        </m:ctrlPr>
                      </m:sSubPr>
                      <m:e>
                        <m:r>
                          <a:rPr lang="fr-FR" sz="2500" i="1"/>
                          <m:t>𝐷</m:t>
                        </m:r>
                      </m:e>
                      <m:sub>
                        <m:r>
                          <a:rPr lang="fr-FR" sz="2500" i="1"/>
                          <m:t>𝑒𝑓𝑓</m:t>
                        </m:r>
                      </m:sub>
                    </m:sSub>
                    <m:sSup>
                      <m:sSupPr>
                        <m:ctrlPr>
                          <a:rPr lang="fr-FR" sz="2500" i="1"/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fr-FR" sz="2500"/>
                          <m:t>∇</m:t>
                        </m:r>
                      </m:e>
                      <m:sup>
                        <m:r>
                          <a:rPr lang="fr-FR" sz="2500" i="1"/>
                          <m:t>2</m:t>
                        </m:r>
                      </m:sup>
                    </m:sSup>
                    <m:r>
                      <a:rPr lang="fr-FR" sz="2500" i="1"/>
                      <m:t>𝐶</m:t>
                    </m:r>
                    <m:r>
                      <a:rPr lang="fr-FR" sz="2500" i="1"/>
                      <m:t>−</m:t>
                    </m:r>
                    <m:r>
                      <a:rPr lang="fr-FR" sz="2500" i="1"/>
                      <m:t>𝑆</m:t>
                    </m:r>
                  </m:oMath>
                </a14:m>
                <a:endParaRPr lang="fr-FR" sz="2500" dirty="0"/>
              </a:p>
              <a:p>
                <a:pPr marL="0" indent="0">
                  <a:buNone/>
                </a:pPr>
                <a:r>
                  <a:rPr lang="fr-FR" sz="2500" dirty="0"/>
                  <a:t>On utilise le schéma spatial du devoir 1 et un schéma temporel implicite. </a:t>
                </a:r>
              </a:p>
              <a:p>
                <a:pPr marL="0" indent="0">
                  <a:buNone/>
                </a:pPr>
                <a:r>
                  <a:rPr lang="fr-FR" sz="2500" dirty="0"/>
                  <a:t>On obtient 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sz="2500" i="1"/>
                        </m:ctrlPr>
                      </m:fPr>
                      <m:num>
                        <m:sSubSup>
                          <m:sSubSupPr>
                            <m:ctrlPr>
                              <a:rPr lang="fr-FR" sz="2500" i="1"/>
                            </m:ctrlPr>
                          </m:sSubSupPr>
                          <m:e>
                            <m:r>
                              <a:rPr lang="fr-FR" sz="2500" i="1"/>
                              <m:t>𝐶</m:t>
                            </m:r>
                          </m:e>
                          <m:sub>
                            <m:r>
                              <a:rPr lang="fr-FR" sz="2500" i="1"/>
                              <m:t>𝑖</m:t>
                            </m:r>
                          </m:sub>
                          <m:sup>
                            <m:r>
                              <a:rPr lang="fr-FR" sz="2500" i="1"/>
                              <m:t>𝑡</m:t>
                            </m:r>
                            <m:r>
                              <a:rPr lang="fr-FR" sz="2500" i="1"/>
                              <m:t>+1</m:t>
                            </m:r>
                          </m:sup>
                        </m:sSubSup>
                        <m:r>
                          <a:rPr lang="fr-FR" sz="2500" i="1"/>
                          <m:t>−</m:t>
                        </m:r>
                        <m:sSubSup>
                          <m:sSubSupPr>
                            <m:ctrlPr>
                              <a:rPr lang="fr-FR" sz="2500" i="1"/>
                            </m:ctrlPr>
                          </m:sSubSupPr>
                          <m:e>
                            <m:r>
                              <a:rPr lang="fr-FR" sz="2500" i="1"/>
                              <m:t>𝐶</m:t>
                            </m:r>
                          </m:e>
                          <m:sub>
                            <m:r>
                              <a:rPr lang="fr-FR" sz="2500" i="1"/>
                              <m:t>𝑖</m:t>
                            </m:r>
                          </m:sub>
                          <m:sup>
                            <m:r>
                              <a:rPr lang="fr-FR" sz="2500" i="1"/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 sz="2500"/>
                          <m:t>Δ</m:t>
                        </m:r>
                        <m:r>
                          <a:rPr lang="fr-FR" sz="2500" i="1"/>
                          <m:t>𝑡</m:t>
                        </m:r>
                      </m:den>
                    </m:f>
                    <m:r>
                      <a:rPr lang="fr-FR" sz="2500" i="1"/>
                      <m:t>=</m:t>
                    </m:r>
                    <m:sSub>
                      <m:sSubPr>
                        <m:ctrlPr>
                          <a:rPr lang="fr-FR" sz="2500" i="1"/>
                        </m:ctrlPr>
                      </m:sSubPr>
                      <m:e>
                        <m:r>
                          <a:rPr lang="fr-FR" sz="2500" i="1"/>
                          <m:t>𝐷</m:t>
                        </m:r>
                      </m:e>
                      <m:sub>
                        <m:r>
                          <a:rPr lang="fr-FR" sz="2500" i="1"/>
                          <m:t>𝑒𝑓𝑓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fr-FR" sz="2500" i="1"/>
                        </m:ctrlPr>
                      </m:dPr>
                      <m:e>
                        <m:f>
                          <m:fPr>
                            <m:ctrlPr>
                              <a:rPr lang="fr-FR" sz="2500" i="1"/>
                            </m:ctrlPr>
                          </m:fPr>
                          <m:num>
                            <m:r>
                              <a:rPr lang="fr-FR" sz="2500"/>
                              <m:t>1</m:t>
                            </m:r>
                          </m:num>
                          <m:den>
                            <m:sSub>
                              <m:sSubPr>
                                <m:ctrlPr>
                                  <a:rPr lang="fr-FR" sz="2500" i="1"/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fr-FR" sz="2500"/>
                                  <m:t>r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fr-FR" sz="2500"/>
                                  <m:t>i</m:t>
                                </m:r>
                              </m:sub>
                            </m:sSub>
                          </m:den>
                        </m:f>
                        <m:f>
                          <m:fPr>
                            <m:ctrlPr>
                              <a:rPr lang="fr-FR" sz="2500" i="1"/>
                            </m:ctrlPr>
                          </m:fPr>
                          <m:num>
                            <m:sSubSup>
                              <m:sSubSupPr>
                                <m:ctrlPr>
                                  <a:rPr lang="fr-FR" sz="2500" i="1"/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fr-FR" sz="2500"/>
                                  <m:t>C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fr-FR" sz="2500"/>
                                  <m:t>i</m:t>
                                </m:r>
                                <m:r>
                                  <a:rPr lang="fr-FR" sz="2500"/>
                                  <m:t>+1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fr-FR" sz="2500"/>
                                  <m:t>t</m:t>
                                </m:r>
                                <m:r>
                                  <a:rPr lang="fr-FR" sz="2500"/>
                                  <m:t>+1</m:t>
                                </m:r>
                              </m:sup>
                            </m:sSubSup>
                            <m:r>
                              <a:rPr lang="fr-FR" sz="2500"/>
                              <m:t>−</m:t>
                            </m:r>
                            <m:sSubSup>
                              <m:sSubSupPr>
                                <m:ctrlPr>
                                  <a:rPr lang="fr-FR" sz="2500" i="1"/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fr-FR" sz="2500"/>
                                  <m:t>C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fr-FR" sz="2500"/>
                                  <m:t>i</m:t>
                                </m:r>
                                <m:r>
                                  <a:rPr lang="fr-FR" sz="2500"/>
                                  <m:t>−1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fr-FR" sz="2500"/>
                                  <m:t>t</m:t>
                                </m:r>
                                <m:r>
                                  <a:rPr lang="fr-FR" sz="2500"/>
                                  <m:t>+1</m:t>
                                </m:r>
                              </m:sup>
                            </m:sSubSup>
                          </m:num>
                          <m:den>
                            <m:r>
                              <a:rPr lang="fr-FR" sz="2500"/>
                              <m:t>2</m:t>
                            </m:r>
                            <m:r>
                              <m:rPr>
                                <m:sty m:val="p"/>
                              </m:rPr>
                              <a:rPr lang="fr-FR" sz="2500"/>
                              <m:t>Δr</m:t>
                            </m:r>
                          </m:den>
                        </m:f>
                        <m:r>
                          <a:rPr lang="fr-FR" sz="2500" i="1"/>
                          <m:t>+</m:t>
                        </m:r>
                        <m:f>
                          <m:fPr>
                            <m:ctrlPr>
                              <a:rPr lang="fr-FR" sz="2500" i="1"/>
                            </m:ctrlPr>
                          </m:fPr>
                          <m:num>
                            <m:sSubSup>
                              <m:sSubSupPr>
                                <m:ctrlPr>
                                  <a:rPr lang="fr-FR" sz="2500" i="1"/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fr-FR" sz="2500"/>
                                  <m:t>C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fr-FR" sz="2500"/>
                                  <m:t>i</m:t>
                                </m:r>
                                <m:r>
                                  <a:rPr lang="fr-FR" sz="2500"/>
                                  <m:t>+1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fr-FR" sz="2500"/>
                                  <m:t>t</m:t>
                                </m:r>
                                <m:r>
                                  <a:rPr lang="fr-FR" sz="2500"/>
                                  <m:t>+1</m:t>
                                </m:r>
                              </m:sup>
                            </m:sSubSup>
                            <m:r>
                              <a:rPr lang="fr-FR" sz="2500"/>
                              <m:t>−</m:t>
                            </m:r>
                            <m:sSubSup>
                              <m:sSubSupPr>
                                <m:ctrlPr>
                                  <a:rPr lang="fr-FR" sz="2500" i="1"/>
                                </m:ctrlPr>
                              </m:sSubSupPr>
                              <m:e>
                                <m:r>
                                  <a:rPr lang="fr-FR" sz="2500"/>
                                  <m:t>2</m:t>
                                </m:r>
                                <m:r>
                                  <m:rPr>
                                    <m:sty m:val="p"/>
                                  </m:rPr>
                                  <a:rPr lang="fr-FR" sz="2500"/>
                                  <m:t>C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fr-FR" sz="2500"/>
                                  <m:t>i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fr-FR" sz="2500"/>
                                  <m:t>t</m:t>
                                </m:r>
                                <m:r>
                                  <a:rPr lang="fr-FR" sz="2500"/>
                                  <m:t>+1</m:t>
                                </m:r>
                              </m:sup>
                            </m:sSubSup>
                            <m:r>
                              <a:rPr lang="fr-FR" sz="2500" i="1"/>
                              <m:t>+</m:t>
                            </m:r>
                            <m:sSubSup>
                              <m:sSubSupPr>
                                <m:ctrlPr>
                                  <a:rPr lang="fr-FR" sz="2500" i="1"/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fr-FR" sz="2500"/>
                                  <m:t>C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fr-FR" sz="2500"/>
                                  <m:t>i</m:t>
                                </m:r>
                                <m:r>
                                  <a:rPr lang="fr-FR" sz="2500"/>
                                  <m:t>−1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fr-FR" sz="2500"/>
                                  <m:t>t</m:t>
                                </m:r>
                                <m:r>
                                  <a:rPr lang="fr-FR" sz="2500"/>
                                  <m:t>+1</m:t>
                                </m:r>
                              </m:sup>
                            </m:sSubSup>
                          </m:num>
                          <m:den>
                            <m:r>
                              <m:rPr>
                                <m:sty m:val="p"/>
                              </m:rPr>
                              <a:rPr lang="fr-FR" sz="2500"/>
                              <m:t>Δ</m:t>
                            </m:r>
                            <m:sSup>
                              <m:sSupPr>
                                <m:ctrlPr>
                                  <a:rPr lang="fr-FR" sz="2500" i="1"/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fr-FR" sz="2500"/>
                                  <m:t>r</m:t>
                                </m:r>
                              </m:e>
                              <m:sup>
                                <m:r>
                                  <a:rPr lang="fr-FR" sz="2500"/>
                                  <m:t>2</m:t>
                                </m:r>
                              </m:sup>
                            </m:sSup>
                          </m:den>
                        </m:f>
                      </m:e>
                    </m:d>
                    <m:r>
                      <a:rPr lang="fr-FR" sz="2500" i="1"/>
                      <m:t>−</m:t>
                    </m:r>
                    <m:r>
                      <a:rPr lang="fr-FR" sz="2500" i="1"/>
                      <m:t>𝑘</m:t>
                    </m:r>
                    <m:sSubSup>
                      <m:sSubSupPr>
                        <m:ctrlPr>
                          <a:rPr lang="fr-FR" sz="2500" i="1"/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fr-FR" sz="2500"/>
                          <m:t>C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 sz="2500"/>
                          <m:t>i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fr-FR" sz="2500"/>
                          <m:t>t</m:t>
                        </m:r>
                        <m:r>
                          <a:rPr lang="fr-FR" sz="2500"/>
                          <m:t>+1</m:t>
                        </m:r>
                      </m:sup>
                    </m:sSubSup>
                  </m:oMath>
                </a14:m>
                <a:endParaRPr lang="fr-FR" sz="2500" dirty="0"/>
              </a:p>
              <a:p>
                <a:pPr marL="0" indent="0">
                  <a:buNone/>
                </a:pPr>
                <a:endParaRPr lang="fr-FR" sz="2500" dirty="0"/>
              </a:p>
              <a:p>
                <a:pPr marL="0" indent="0">
                  <a:buNone/>
                </a:pPr>
                <a:r>
                  <a:rPr lang="fr-FR" sz="2500" b="0" dirty="0"/>
                  <a:t>D’où,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fr-FR" sz="2500" i="1"/>
                        </m:ctrlPr>
                      </m:sSubSupPr>
                      <m:e>
                        <m:r>
                          <a:rPr lang="fr-FR" sz="2500" i="1"/>
                          <m:t>𝐶</m:t>
                        </m:r>
                      </m:e>
                      <m:sub>
                        <m:r>
                          <a:rPr lang="fr-FR" sz="2500" i="1"/>
                          <m:t>𝑖</m:t>
                        </m:r>
                      </m:sub>
                      <m:sup>
                        <m:r>
                          <a:rPr lang="fr-FR" sz="2500" i="1"/>
                          <m:t>𝑡</m:t>
                        </m:r>
                      </m:sup>
                    </m:sSubSup>
                    <m:r>
                      <a:rPr lang="fr-FR" sz="2500" i="1"/>
                      <m:t>=</m:t>
                    </m:r>
                    <m:sSub>
                      <m:sSubPr>
                        <m:ctrlPr>
                          <a:rPr lang="fr-FR" sz="2500" i="1"/>
                        </m:ctrlPr>
                      </m:sSubPr>
                      <m:e>
                        <m:r>
                          <a:rPr lang="fr-FR" sz="2500" i="1"/>
                          <m:t>− </m:t>
                        </m:r>
                        <m:r>
                          <m:rPr>
                            <m:sty m:val="p"/>
                          </m:rPr>
                          <a:rPr lang="fr-FR" sz="2500"/>
                          <m:t>Δ</m:t>
                        </m:r>
                        <m:r>
                          <a:rPr lang="fr-FR" sz="2500" i="1"/>
                          <m:t>𝑡</m:t>
                        </m:r>
                        <m:r>
                          <a:rPr lang="fr-FR" sz="2500"/>
                          <m:t> </m:t>
                        </m:r>
                        <m:r>
                          <a:rPr lang="fr-FR" sz="2500" i="1"/>
                          <m:t>𝐷</m:t>
                        </m:r>
                      </m:e>
                      <m:sub>
                        <m:r>
                          <a:rPr lang="fr-FR" sz="2500" i="1"/>
                          <m:t>𝑒𝑓𝑓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fr-FR" sz="2500" i="1"/>
                        </m:ctrlPr>
                      </m:dPr>
                      <m:e>
                        <m:f>
                          <m:fPr>
                            <m:ctrlPr>
                              <a:rPr lang="fr-FR" sz="2500" i="1"/>
                            </m:ctrlPr>
                          </m:fPr>
                          <m:num>
                            <m:r>
                              <a:rPr lang="fr-FR" sz="2500"/>
                              <m:t>1</m:t>
                            </m:r>
                          </m:num>
                          <m:den>
                            <m:sSub>
                              <m:sSubPr>
                                <m:ctrlPr>
                                  <a:rPr lang="fr-FR" sz="2500" i="1"/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fr-FR" sz="2500"/>
                                  <m:t>r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fr-FR" sz="2500"/>
                                  <m:t>i</m:t>
                                </m:r>
                              </m:sub>
                            </m:sSub>
                          </m:den>
                        </m:f>
                        <m:f>
                          <m:fPr>
                            <m:ctrlPr>
                              <a:rPr lang="fr-FR" sz="2500" i="1"/>
                            </m:ctrlPr>
                          </m:fPr>
                          <m:num>
                            <m:sSubSup>
                              <m:sSubSupPr>
                                <m:ctrlPr>
                                  <a:rPr lang="fr-FR" sz="2500" i="1"/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fr-FR" sz="2500"/>
                                  <m:t>C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fr-FR" sz="2500"/>
                                  <m:t>i</m:t>
                                </m:r>
                                <m:r>
                                  <a:rPr lang="fr-FR" sz="2500"/>
                                  <m:t>+1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fr-FR" sz="2500"/>
                                  <m:t>t</m:t>
                                </m:r>
                                <m:r>
                                  <a:rPr lang="fr-FR" sz="2500"/>
                                  <m:t>+1</m:t>
                                </m:r>
                              </m:sup>
                            </m:sSubSup>
                            <m:r>
                              <a:rPr lang="fr-FR" sz="2500"/>
                              <m:t>−</m:t>
                            </m:r>
                            <m:sSubSup>
                              <m:sSubSupPr>
                                <m:ctrlPr>
                                  <a:rPr lang="fr-FR" sz="2500" i="1"/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fr-FR" sz="2500"/>
                                  <m:t>C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fr-FR" sz="2500"/>
                                  <m:t>i</m:t>
                                </m:r>
                                <m:r>
                                  <a:rPr lang="fr-FR" sz="2500"/>
                                  <m:t>−1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fr-FR" sz="2500"/>
                                  <m:t>t</m:t>
                                </m:r>
                                <m:r>
                                  <a:rPr lang="fr-FR" sz="2500"/>
                                  <m:t>+1</m:t>
                                </m:r>
                              </m:sup>
                            </m:sSubSup>
                          </m:num>
                          <m:den>
                            <m:r>
                              <a:rPr lang="fr-FR" sz="2500"/>
                              <m:t>2</m:t>
                            </m:r>
                            <m:r>
                              <m:rPr>
                                <m:sty m:val="p"/>
                              </m:rPr>
                              <a:rPr lang="fr-FR" sz="2500"/>
                              <m:t>Δr</m:t>
                            </m:r>
                          </m:den>
                        </m:f>
                        <m:r>
                          <a:rPr lang="fr-FR" sz="2500" i="1"/>
                          <m:t>+</m:t>
                        </m:r>
                        <m:f>
                          <m:fPr>
                            <m:ctrlPr>
                              <a:rPr lang="fr-FR" sz="2500" i="1"/>
                            </m:ctrlPr>
                          </m:fPr>
                          <m:num>
                            <m:sSubSup>
                              <m:sSubSupPr>
                                <m:ctrlPr>
                                  <a:rPr lang="fr-FR" sz="2500" i="1"/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fr-FR" sz="2500"/>
                                  <m:t>C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fr-FR" sz="2500"/>
                                  <m:t>i</m:t>
                                </m:r>
                                <m:r>
                                  <a:rPr lang="fr-FR" sz="2500"/>
                                  <m:t>+1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fr-FR" sz="2500"/>
                                  <m:t>t</m:t>
                                </m:r>
                                <m:r>
                                  <a:rPr lang="fr-FR" sz="2500"/>
                                  <m:t>+1</m:t>
                                </m:r>
                              </m:sup>
                            </m:sSubSup>
                            <m:r>
                              <a:rPr lang="fr-FR" sz="2500"/>
                              <m:t>−</m:t>
                            </m:r>
                            <m:sSubSup>
                              <m:sSubSupPr>
                                <m:ctrlPr>
                                  <a:rPr lang="fr-FR" sz="2500" i="1"/>
                                </m:ctrlPr>
                              </m:sSubSupPr>
                              <m:e>
                                <m:r>
                                  <a:rPr lang="fr-FR" sz="2500"/>
                                  <m:t>2</m:t>
                                </m:r>
                                <m:r>
                                  <m:rPr>
                                    <m:sty m:val="p"/>
                                  </m:rPr>
                                  <a:rPr lang="fr-FR" sz="2500"/>
                                  <m:t>C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fr-FR" sz="2500"/>
                                  <m:t>i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fr-FR" sz="2500"/>
                                  <m:t>t</m:t>
                                </m:r>
                                <m:r>
                                  <a:rPr lang="fr-FR" sz="2500"/>
                                  <m:t>+1</m:t>
                                </m:r>
                              </m:sup>
                            </m:sSubSup>
                            <m:r>
                              <a:rPr lang="fr-FR" sz="2500" i="1"/>
                              <m:t>+</m:t>
                            </m:r>
                            <m:sSubSup>
                              <m:sSubSupPr>
                                <m:ctrlPr>
                                  <a:rPr lang="fr-FR" sz="2500" i="1"/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fr-FR" sz="2500"/>
                                  <m:t>C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fr-FR" sz="2500"/>
                                  <m:t>i</m:t>
                                </m:r>
                                <m:r>
                                  <a:rPr lang="fr-FR" sz="2500"/>
                                  <m:t>−1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fr-FR" sz="2500"/>
                                  <m:t>t</m:t>
                                </m:r>
                                <m:r>
                                  <a:rPr lang="fr-FR" sz="2500"/>
                                  <m:t>+1</m:t>
                                </m:r>
                              </m:sup>
                            </m:sSubSup>
                          </m:num>
                          <m:den>
                            <m:r>
                              <m:rPr>
                                <m:sty m:val="p"/>
                              </m:rPr>
                              <a:rPr lang="fr-FR" sz="2500"/>
                              <m:t>Δ</m:t>
                            </m:r>
                            <m:sSup>
                              <m:sSupPr>
                                <m:ctrlPr>
                                  <a:rPr lang="fr-FR" sz="2500" i="1"/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fr-FR" sz="2500"/>
                                  <m:t>r</m:t>
                                </m:r>
                              </m:e>
                              <m:sup>
                                <m:r>
                                  <a:rPr lang="fr-FR" sz="2500"/>
                                  <m:t>2</m:t>
                                </m:r>
                              </m:sup>
                            </m:sSup>
                          </m:den>
                        </m:f>
                      </m:e>
                    </m:d>
                    <m:r>
                      <a:rPr lang="fr-FR" sz="2500" i="1"/>
                      <m:t>+</m:t>
                    </m:r>
                    <m:sSubSup>
                      <m:sSubSupPr>
                        <m:ctrlPr>
                          <a:rPr lang="fr-FR" sz="2500" i="1"/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fr-FR" sz="2500"/>
                          <m:t>C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 sz="2500"/>
                          <m:t>i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fr-FR" sz="2500"/>
                          <m:t>t</m:t>
                        </m:r>
                        <m:r>
                          <a:rPr lang="fr-FR" sz="2500"/>
                          <m:t>+1</m:t>
                        </m:r>
                      </m:sup>
                    </m:sSubSup>
                    <m:d>
                      <m:dPr>
                        <m:ctrlPr>
                          <a:rPr lang="fr-FR" sz="2500" i="1"/>
                        </m:ctrlPr>
                      </m:dPr>
                      <m:e>
                        <m:r>
                          <a:rPr lang="fr-FR" sz="2500" i="1"/>
                          <m:t>𝑘</m:t>
                        </m:r>
                        <m:r>
                          <m:rPr>
                            <m:sty m:val="p"/>
                          </m:rPr>
                          <a:rPr lang="fr-FR" sz="2500"/>
                          <m:t>Δ</m:t>
                        </m:r>
                        <m:r>
                          <a:rPr lang="fr-FR" sz="2500" i="1"/>
                          <m:t>𝑡</m:t>
                        </m:r>
                        <m:r>
                          <a:rPr lang="fr-FR" sz="2500" i="1"/>
                          <m:t>+1</m:t>
                        </m:r>
                      </m:e>
                    </m:d>
                  </m:oMath>
                </a14:m>
                <a:endParaRPr lang="fr-FR" sz="2500" dirty="0"/>
              </a:p>
              <a:p>
                <a:pPr marL="0" indent="0">
                  <a:buNone/>
                </a:pPr>
                <a:endParaRPr lang="fr-FR" sz="2500" dirty="0"/>
              </a:p>
              <a:p>
                <a:pPr marL="0" indent="0">
                  <a:buNone/>
                </a:pPr>
                <a:r>
                  <a:rPr lang="fr-FR" sz="2500" dirty="0"/>
                  <a:t>Avec la condition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sz="2500" i="1"/>
                        </m:ctrlPr>
                      </m:fPr>
                      <m:num>
                        <m:r>
                          <a:rPr lang="fr-FR" sz="2500"/>
                          <m:t>∂</m:t>
                        </m:r>
                        <m:r>
                          <a:rPr lang="fr-FR" sz="2500" i="1"/>
                          <m:t>𝐶</m:t>
                        </m:r>
                      </m:num>
                      <m:den>
                        <m:r>
                          <a:rPr lang="fr-FR" sz="2500"/>
                          <m:t>∂</m:t>
                        </m:r>
                        <m:r>
                          <m:rPr>
                            <m:sty m:val="p"/>
                          </m:rPr>
                          <a:rPr lang="fr-FR" sz="2500"/>
                          <m:t>r</m:t>
                        </m:r>
                      </m:den>
                    </m:f>
                    <m:sSub>
                      <m:sSubPr>
                        <m:ctrlPr>
                          <a:rPr lang="fr-FR" sz="2500" i="1"/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500" i="1"/>
                            </m:ctrlPr>
                          </m:dPr>
                          <m:e>
                            <m:r>
                              <a:rPr lang="fr-FR" sz="2500" i="1"/>
                              <m:t>​</m:t>
                            </m:r>
                          </m:e>
                        </m:d>
                      </m:e>
                      <m:sub>
                        <m:r>
                          <m:rPr>
                            <m:sty m:val="p"/>
                          </m:rPr>
                          <a:rPr lang="fr-FR" sz="2500"/>
                          <m:t>i</m:t>
                        </m:r>
                        <m:r>
                          <a:rPr lang="fr-FR" sz="2500"/>
                          <m:t>=0,</m:t>
                        </m:r>
                        <m:r>
                          <m:rPr>
                            <m:sty m:val="p"/>
                          </m:rPr>
                          <a:rPr lang="fr-FR" sz="2500"/>
                          <m:t>t</m:t>
                        </m:r>
                        <m:r>
                          <a:rPr lang="fr-FR" sz="2500"/>
                          <m:t>+1</m:t>
                        </m:r>
                      </m:sub>
                    </m:sSub>
                    <m:r>
                      <a:rPr lang="fr-FR" sz="2500" i="1"/>
                      <m:t>=0</m:t>
                    </m:r>
                  </m:oMath>
                </a14:m>
                <a:r>
                  <a:rPr lang="fr-FR" sz="2500" dirty="0"/>
                  <a:t>, on obtient 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sz="25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sz="25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50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m:rPr>
                                <m:sty m:val="p"/>
                              </m:rPr>
                              <a:rPr lang="fr-FR" sz="2500">
                                <a:latin typeface="Cambria Math" panose="02040503050406030204" pitchFamily="18" charset="0"/>
                              </a:rPr>
                              <m:t>C</m:t>
                            </m:r>
                          </m:e>
                          <m:sub>
                            <m:r>
                              <a:rPr lang="fr-FR" sz="25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fr-FR" sz="2500">
                                <a:latin typeface="Cambria Math" panose="02040503050406030204" pitchFamily="18" charset="0"/>
                              </a:rPr>
                              <m:t>t</m:t>
                            </m:r>
                            <m:r>
                              <a:rPr lang="fr-FR" sz="250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p>
                        </m:sSubSup>
                        <m:r>
                          <a:rPr lang="fr-FR" sz="2500" i="1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fr-FR" sz="25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500">
                                <a:latin typeface="Cambria Math" panose="02040503050406030204" pitchFamily="18" charset="0"/>
                              </a:rPr>
                              <m:t>4</m:t>
                            </m:r>
                            <m:r>
                              <m:rPr>
                                <m:sty m:val="p"/>
                              </m:rPr>
                              <a:rPr lang="fr-FR" sz="2500">
                                <a:latin typeface="Cambria Math" panose="02040503050406030204" pitchFamily="18" charset="0"/>
                              </a:rPr>
                              <m:t>C</m:t>
                            </m:r>
                          </m:e>
                          <m:sub>
                            <m:r>
                              <a:rPr lang="fr-FR" sz="250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fr-FR" sz="2500">
                                <a:latin typeface="Cambria Math" panose="02040503050406030204" pitchFamily="18" charset="0"/>
                              </a:rPr>
                              <m:t>t</m:t>
                            </m:r>
                            <m:r>
                              <a:rPr lang="fr-FR" sz="250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p>
                        </m:sSubSup>
                        <m:r>
                          <a:rPr lang="fr-FR" sz="2500" i="1">
                            <a:latin typeface="Cambria Math" panose="02040503050406030204" pitchFamily="18" charset="0"/>
                          </a:rPr>
                          <m:t>−3</m:t>
                        </m:r>
                        <m:sSubSup>
                          <m:sSubSupPr>
                            <m:ctrlPr>
                              <a:rPr lang="fr-FR" sz="25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50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fr-FR" sz="25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  <m:sup>
                            <m:r>
                              <a:rPr lang="fr-FR" sz="25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sz="25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p>
                        </m:sSubSup>
                      </m:num>
                      <m:den>
                        <m:r>
                          <a:rPr lang="fr-FR" sz="250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fr-FR" sz="2500">
                            <a:latin typeface="Cambria Math" panose="02040503050406030204" pitchFamily="18" charset="0"/>
                          </a:rPr>
                          <m:t>Δr</m:t>
                        </m:r>
                      </m:den>
                    </m:f>
                    <m:r>
                      <a:rPr lang="fr-FR" sz="25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fr-FR" sz="2500" dirty="0"/>
              </a:p>
              <a:p>
                <a:pPr marL="0" indent="0">
                  <a:buNone/>
                </a:pPr>
                <a:endParaRPr lang="fr-FR" sz="2500" dirty="0"/>
              </a:p>
              <a:p>
                <a:pPr marL="0" indent="0">
                  <a:buNone/>
                </a:pPr>
                <a:endParaRPr lang="fr-FR" sz="2500" dirty="0"/>
              </a:p>
              <a:p>
                <a:pPr marL="0" indent="0">
                  <a:buNone/>
                </a:pPr>
                <a:endParaRPr lang="fr-FR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</p:txBody>
          </p:sp>
        </mc:Choice>
        <mc:Fallback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9E15F1C8-749F-9711-228C-AFED7D9DF6B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02208" y="1690688"/>
                <a:ext cx="10515600" cy="5078730"/>
              </a:xfrm>
              <a:blipFill>
                <a:blip r:embed="rId3"/>
                <a:stretch>
                  <a:fillRect l="-92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3872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AACFE7-7485-744F-1D80-129434FFF9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801541-A08B-0BF3-F1EC-F40D0A55CF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8237"/>
            <a:ext cx="10515600" cy="1325563"/>
          </a:xfrm>
        </p:spPr>
        <p:txBody>
          <a:bodyPr/>
          <a:lstStyle/>
          <a:p>
            <a:r>
              <a:rPr lang="fr-FR" dirty="0"/>
              <a:t>A) Nouveau schéma de discrétisation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0B6AFEAB-F772-9F60-2A08-74511ACDA6A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0515600" cy="44862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fr-FR" sz="2500" b="0" dirty="0"/>
                  <a:t>En chaque nœud, on a donc </a:t>
                </a:r>
              </a:p>
              <a:p>
                <a:r>
                  <a:rPr lang="fr-FR" sz="2500" dirty="0"/>
                  <a:t>Nœud 0 :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fr-FR" sz="2500" i="1"/>
                        </m:ctrlPr>
                      </m:sSubSupPr>
                      <m:e>
                        <m:sSubSup>
                          <m:sSubSupPr>
                            <m:ctrlPr>
                              <a:rPr lang="fr-FR" sz="2500" i="1"/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fr-FR" sz="2500"/>
                              <m:t>C</m:t>
                            </m:r>
                          </m:e>
                          <m:sub>
                            <m:r>
                              <a:rPr lang="fr-FR" sz="2500"/>
                              <m:t>0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fr-FR" sz="2500"/>
                              <m:t>t</m:t>
                            </m:r>
                          </m:sup>
                        </m:sSubSup>
                        <m:r>
                          <a:rPr lang="fr-FR" sz="2500"/>
                          <m:t>=−</m:t>
                        </m:r>
                        <m:f>
                          <m:fPr>
                            <m:ctrlPr>
                              <a:rPr lang="fr-FR" sz="2500" i="1"/>
                            </m:ctrlPr>
                          </m:fPr>
                          <m:num>
                            <m:r>
                              <a:rPr lang="fr-FR" sz="2500"/>
                              <m:t>1</m:t>
                            </m:r>
                          </m:num>
                          <m:den>
                            <m:r>
                              <a:rPr lang="fr-FR" sz="2500"/>
                              <m:t>3</m:t>
                            </m:r>
                          </m:den>
                        </m:f>
                        <m:r>
                          <a:rPr lang="fr-FR" sz="2500" i="1"/>
                          <m:t>𝐶</m:t>
                        </m:r>
                      </m:e>
                      <m:sub>
                        <m:r>
                          <a:rPr lang="fr-FR" sz="2500" i="1"/>
                          <m:t>2</m:t>
                        </m:r>
                      </m:sub>
                      <m:sup>
                        <m:r>
                          <a:rPr lang="fr-FR" sz="2500" i="1"/>
                          <m:t>𝑡</m:t>
                        </m:r>
                      </m:sup>
                    </m:sSubSup>
                    <m:r>
                      <a:rPr lang="fr-FR" sz="2500" i="1"/>
                      <m:t>+</m:t>
                    </m:r>
                    <m:sSubSup>
                      <m:sSubSupPr>
                        <m:ctrlPr>
                          <a:rPr lang="fr-FR" sz="2500" i="1"/>
                        </m:ctrlPr>
                      </m:sSubSupPr>
                      <m:e>
                        <m:f>
                          <m:fPr>
                            <m:ctrlPr>
                              <a:rPr lang="fr-FR" sz="2500" i="1"/>
                            </m:ctrlPr>
                          </m:fPr>
                          <m:num>
                            <m:r>
                              <a:rPr lang="fr-FR" sz="2500"/>
                              <m:t>4</m:t>
                            </m:r>
                          </m:num>
                          <m:den>
                            <m:r>
                              <a:rPr lang="fr-FR" sz="2500"/>
                              <m:t>3</m:t>
                            </m:r>
                          </m:den>
                        </m:f>
                        <m:r>
                          <a:rPr lang="fr-FR" sz="2500" i="1"/>
                          <m:t>𝐶</m:t>
                        </m:r>
                      </m:e>
                      <m:sub>
                        <m:r>
                          <a:rPr lang="fr-FR" sz="2500"/>
                          <m:t>1</m:t>
                        </m:r>
                      </m:sub>
                      <m:sup>
                        <m:r>
                          <a:rPr lang="fr-FR" sz="2500" i="1"/>
                          <m:t>𝑡</m:t>
                        </m:r>
                      </m:sup>
                    </m:sSubSup>
                  </m:oMath>
                </a14:m>
                <a:endParaRPr lang="fr-FR" sz="2500" dirty="0"/>
              </a:p>
              <a:p>
                <a:r>
                  <a:rPr lang="fr-FR" sz="2500" dirty="0"/>
                  <a:t>Nœud 1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2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Sup>
                          <m:sSubSupPr>
                            <m:ctrlPr>
                              <a:rPr lang="fr-FR" sz="25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5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fr-FR" sz="25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fr-FR" sz="25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5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fr-FR" sz="2500" i="1">
                            <a:latin typeface="Cambria Math" panose="02040503050406030204" pitchFamily="18" charset="0"/>
                          </a:rPr>
                          <m:t>− </m:t>
                        </m:r>
                        <m:r>
                          <m:rPr>
                            <m:sty m:val="p"/>
                          </m:rPr>
                          <a:rPr lang="fr-FR" sz="2500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FR" sz="25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50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fr-FR" sz="2500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fr-FR" sz="2500" i="1">
                            <a:latin typeface="Cambria Math" panose="02040503050406030204" pitchFamily="18" charset="0"/>
                          </a:rPr>
                          <m:t>𝑒𝑓𝑓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fr-FR" sz="25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fr-FR" sz="25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2500" b="0" i="0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num>
                          <m:den>
                            <m:r>
                              <a:rPr lang="fr-FR" sz="25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den>
                        </m:f>
                        <m:f>
                          <m:fPr>
                            <m:ctrlPr>
                              <a:rPr lang="fr-FR" sz="25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Sup>
                              <m:sSubSupPr>
                                <m:ctrlPr>
                                  <a:rPr lang="fr-FR" sz="25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C</m:t>
                                </m:r>
                              </m:e>
                              <m:sub>
                                <m:r>
                                  <a:rPr lang="fr-FR" sz="2500" b="0" i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p>
                            </m:sSubSup>
                            <m:r>
                              <a:rPr lang="fr-FR" sz="250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Sup>
                              <m:sSubSupPr>
                                <m:ctrlPr>
                                  <a:rPr lang="fr-FR" sz="25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C</m:t>
                                </m:r>
                              </m:e>
                              <m:sub>
                                <m:r>
                                  <a:rPr lang="fr-FR" sz="2500" b="0" i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p>
                            </m:sSubSup>
                          </m:num>
                          <m:den>
                            <m:r>
                              <a:rPr lang="fr-FR" sz="250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m:rPr>
                                <m:sty m:val="p"/>
                              </m:rPr>
                              <a:rPr lang="fr-FR" sz="2500">
                                <a:latin typeface="Cambria Math" panose="02040503050406030204" pitchFamily="18" charset="0"/>
                              </a:rPr>
                              <m:t>Δr</m:t>
                            </m:r>
                          </m:den>
                        </m:f>
                        <m:r>
                          <a:rPr lang="fr-FR" sz="2500" i="1">
                            <a:latin typeface="Cambria Math" panose="02040503050406030204" pitchFamily="18" charset="0"/>
                          </a:rPr>
                          <m:t>+</m:t>
                        </m:r>
                        <m:f>
                          <m:fPr>
                            <m:ctrlPr>
                              <a:rPr lang="fr-FR" sz="25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Sup>
                              <m:sSubSupPr>
                                <m:ctrlPr>
                                  <a:rPr lang="fr-FR" sz="25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C</m:t>
                                </m:r>
                              </m:e>
                              <m:sub>
                                <m:r>
                                  <a:rPr lang="fr-FR" sz="2500" b="0" i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p>
                            </m:sSubSup>
                            <m:r>
                              <a:rPr lang="fr-FR" sz="250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Sup>
                              <m:sSubSupPr>
                                <m:ctrlPr>
                                  <a:rPr lang="fr-FR" sz="25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m:rPr>
                                    <m:sty m:val="p"/>
                                  </m:rP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C</m:t>
                                </m:r>
                              </m:e>
                              <m:sub>
                                <m:r>
                                  <a:rPr lang="fr-FR" sz="2500" b="0" i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p>
                            </m:sSubSup>
                            <m:r>
                              <a:rPr lang="fr-FR" sz="25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Sup>
                              <m:sSubSupPr>
                                <m:ctrlPr>
                                  <a:rPr lang="fr-FR" sz="25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C</m:t>
                                </m:r>
                              </m:e>
                              <m:sub>
                                <m:r>
                                  <a:rPr lang="fr-FR" sz="2500" b="0" i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p>
                            </m:sSubSup>
                          </m:num>
                          <m:den>
                            <m:r>
                              <m:rPr>
                                <m:sty m:val="p"/>
                              </m:rPr>
                              <a:rPr lang="fr-FR" sz="2500">
                                <a:latin typeface="Cambria Math" panose="02040503050406030204" pitchFamily="18" charset="0"/>
                              </a:rPr>
                              <m:t>Δ</m:t>
                            </m:r>
                            <m:sSup>
                              <m:sSupPr>
                                <m:ctrlPr>
                                  <a:rPr lang="fr-FR" sz="25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r</m:t>
                                </m:r>
                              </m:e>
                              <m:sup>
                                <m: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</m:e>
                    </m:d>
                    <m:r>
                      <a:rPr lang="fr-FR" sz="2500" i="1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fr-FR" sz="25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fr-FR" sz="2500"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b>
                        <m:r>
                          <a:rPr lang="fr-FR" sz="2500" b="0" i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fr-FR" sz="2500"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fr-FR" sz="2500">
                            <a:latin typeface="Cambria Math" panose="02040503050406030204" pitchFamily="18" charset="0"/>
                          </a:rPr>
                          <m:t>+1</m:t>
                        </m:r>
                      </m:sup>
                    </m:sSubSup>
                    <m:d>
                      <m:dPr>
                        <m:ctrlPr>
                          <a:rPr lang="fr-FR" sz="25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25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m:rPr>
                            <m:sty m:val="p"/>
                          </m:rPr>
                          <a:rPr lang="fr-FR" sz="2500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FR" sz="25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500" i="1">
                            <a:latin typeface="Cambria Math" panose="02040503050406030204" pitchFamily="18" charset="0"/>
                          </a:rPr>
                          <m:t>+1</m:t>
                        </m:r>
                      </m:e>
                    </m:d>
                  </m:oMath>
                </a14:m>
                <a:endParaRPr lang="fr-FR" sz="2500" dirty="0"/>
              </a:p>
              <a:p>
                <a:r>
                  <a:rPr lang="fr-FR" sz="2500" dirty="0"/>
                  <a:t>Nœud 2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2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Sup>
                          <m:sSubSupPr>
                            <m:ctrlPr>
                              <a:rPr lang="fr-FR" sz="25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50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fr-FR" sz="25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fr-FR" sz="25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5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fr-FR" sz="2500" i="1">
                            <a:latin typeface="Cambria Math" panose="02040503050406030204" pitchFamily="18" charset="0"/>
                          </a:rPr>
                          <m:t>− </m:t>
                        </m:r>
                        <m:r>
                          <m:rPr>
                            <m:sty m:val="p"/>
                          </m:rPr>
                          <a:rPr lang="fr-FR" sz="2500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FR" sz="25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50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fr-FR" sz="2500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fr-FR" sz="2500" i="1">
                            <a:latin typeface="Cambria Math" panose="02040503050406030204" pitchFamily="18" charset="0"/>
                          </a:rPr>
                          <m:t>𝑒𝑓𝑓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fr-FR" sz="25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fr-FR" sz="25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2500">
                                <a:latin typeface="Cambria Math" panose="02040503050406030204" pitchFamily="18" charset="0"/>
                              </a:rPr>
                              <m:t>5</m:t>
                            </m:r>
                          </m:num>
                          <m:den>
                            <m:r>
                              <a:rPr lang="fr-FR" sz="25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fr-FR" sz="25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den>
                        </m:f>
                        <m:f>
                          <m:fPr>
                            <m:ctrlPr>
                              <a:rPr lang="fr-FR" sz="25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Sup>
                              <m:sSubSupPr>
                                <m:ctrlPr>
                                  <a:rPr lang="fr-FR" sz="25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C</m:t>
                                </m:r>
                              </m:e>
                              <m:sub>
                                <m:r>
                                  <a:rPr lang="fr-FR" sz="2500" b="0" i="0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p>
                            </m:sSubSup>
                            <m:r>
                              <a:rPr lang="fr-FR" sz="250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Sup>
                              <m:sSubSupPr>
                                <m:ctrlPr>
                                  <a:rPr lang="fr-FR" sz="25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C</m:t>
                                </m:r>
                              </m:e>
                              <m:sub>
                                <m:r>
                                  <a:rPr lang="fr-FR" sz="2500" b="0" i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p>
                            </m:sSubSup>
                          </m:num>
                          <m:den>
                            <m:r>
                              <a:rPr lang="fr-FR" sz="250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m:rPr>
                                <m:sty m:val="p"/>
                              </m:rPr>
                              <a:rPr lang="fr-FR" sz="2500">
                                <a:latin typeface="Cambria Math" panose="02040503050406030204" pitchFamily="18" charset="0"/>
                              </a:rPr>
                              <m:t>Δr</m:t>
                            </m:r>
                          </m:den>
                        </m:f>
                        <m:r>
                          <a:rPr lang="fr-FR" sz="2500" i="1">
                            <a:latin typeface="Cambria Math" panose="02040503050406030204" pitchFamily="18" charset="0"/>
                          </a:rPr>
                          <m:t>+</m:t>
                        </m:r>
                        <m:f>
                          <m:fPr>
                            <m:ctrlPr>
                              <a:rPr lang="fr-FR" sz="25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Sup>
                              <m:sSubSupPr>
                                <m:ctrlPr>
                                  <a:rPr lang="fr-FR" sz="25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C</m:t>
                                </m:r>
                              </m:e>
                              <m:sub>
                                <m:r>
                                  <a:rPr lang="fr-FR" sz="2500" b="0" i="0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p>
                            </m:sSubSup>
                            <m:r>
                              <a:rPr lang="fr-FR" sz="250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Sup>
                              <m:sSubSupPr>
                                <m:ctrlPr>
                                  <a:rPr lang="fr-FR" sz="25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m:rPr>
                                    <m:sty m:val="p"/>
                                  </m:rP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C</m:t>
                                </m:r>
                              </m:e>
                              <m:sub>
                                <m:r>
                                  <a:rPr lang="fr-FR" sz="2500" b="0" i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p>
                            </m:sSubSup>
                            <m:r>
                              <a:rPr lang="fr-FR" sz="25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Sup>
                              <m:sSubSupPr>
                                <m:ctrlPr>
                                  <a:rPr lang="fr-FR" sz="25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C</m:t>
                                </m:r>
                              </m:e>
                              <m:sub>
                                <m:r>
                                  <a:rPr lang="fr-FR" sz="2500" b="0" i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p>
                            </m:sSubSup>
                          </m:num>
                          <m:den>
                            <m:r>
                              <m:rPr>
                                <m:sty m:val="p"/>
                              </m:rPr>
                              <a:rPr lang="fr-FR" sz="2500">
                                <a:latin typeface="Cambria Math" panose="02040503050406030204" pitchFamily="18" charset="0"/>
                              </a:rPr>
                              <m:t>Δ</m:t>
                            </m:r>
                            <m:sSup>
                              <m:sSupPr>
                                <m:ctrlPr>
                                  <a:rPr lang="fr-FR" sz="25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r</m:t>
                                </m:r>
                              </m:e>
                              <m:sup>
                                <m: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</m:e>
                    </m:d>
                    <m:r>
                      <a:rPr lang="fr-FR" sz="2500" i="1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fr-FR" sz="25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fr-FR" sz="2500"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b>
                        <m:r>
                          <a:rPr lang="fr-FR" sz="2500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fr-FR" sz="2500"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fr-FR" sz="2500">
                            <a:latin typeface="Cambria Math" panose="02040503050406030204" pitchFamily="18" charset="0"/>
                          </a:rPr>
                          <m:t>+1</m:t>
                        </m:r>
                      </m:sup>
                    </m:sSubSup>
                    <m:d>
                      <m:dPr>
                        <m:ctrlPr>
                          <a:rPr lang="fr-FR" sz="25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25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m:rPr>
                            <m:sty m:val="p"/>
                          </m:rPr>
                          <a:rPr lang="fr-FR" sz="2500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FR" sz="25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500" i="1">
                            <a:latin typeface="Cambria Math" panose="02040503050406030204" pitchFamily="18" charset="0"/>
                          </a:rPr>
                          <m:t>+1</m:t>
                        </m:r>
                      </m:e>
                    </m:d>
                  </m:oMath>
                </a14:m>
                <a:endParaRPr lang="fr-FR" sz="2500" dirty="0"/>
              </a:p>
              <a:p>
                <a:r>
                  <a:rPr lang="fr-FR" sz="2500" dirty="0"/>
                  <a:t>Nœud 3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2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Sup>
                          <m:sSubSupPr>
                            <m:ctrlPr>
                              <a:rPr lang="fr-FR" sz="25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50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fr-FR" sz="25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  <m:sup>
                            <m:r>
                              <a:rPr lang="fr-FR" sz="25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5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fr-FR" sz="2500" i="1">
                            <a:latin typeface="Cambria Math" panose="02040503050406030204" pitchFamily="18" charset="0"/>
                          </a:rPr>
                          <m:t>− </m:t>
                        </m:r>
                        <m:r>
                          <m:rPr>
                            <m:sty m:val="p"/>
                          </m:rPr>
                          <a:rPr lang="fr-FR" sz="2500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FR" sz="25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50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fr-FR" sz="2500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fr-FR" sz="2500" i="1">
                            <a:latin typeface="Cambria Math" panose="02040503050406030204" pitchFamily="18" charset="0"/>
                          </a:rPr>
                          <m:t>𝑒𝑓𝑓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fr-FR" sz="25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fr-FR" sz="25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2500">
                                <a:latin typeface="Cambria Math" panose="02040503050406030204" pitchFamily="18" charset="0"/>
                              </a:rPr>
                              <m:t>5</m:t>
                            </m:r>
                          </m:num>
                          <m:den>
                            <m:r>
                              <a:rPr lang="fr-FR" sz="25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  <m:r>
                              <a:rPr lang="fr-FR" sz="25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den>
                        </m:f>
                        <m:f>
                          <m:fPr>
                            <m:ctrlPr>
                              <a:rPr lang="fr-FR" sz="25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Sup>
                              <m:sSubSupPr>
                                <m:ctrlPr>
                                  <a:rPr lang="fr-FR" sz="25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C</m:t>
                                </m:r>
                              </m:e>
                              <m:sub>
                                <m:r>
                                  <a:rPr lang="fr-FR" sz="2500" b="0" i="0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p>
                            </m:sSubSup>
                            <m:r>
                              <a:rPr lang="fr-FR" sz="250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Sup>
                              <m:sSubSupPr>
                                <m:ctrlPr>
                                  <a:rPr lang="fr-FR" sz="25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C</m:t>
                                </m:r>
                              </m:e>
                              <m:sub>
                                <m:r>
                                  <a:rPr lang="fr-FR" sz="2500" b="0" i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p>
                            </m:sSubSup>
                          </m:num>
                          <m:den>
                            <m:r>
                              <a:rPr lang="fr-FR" sz="250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m:rPr>
                                <m:sty m:val="p"/>
                              </m:rPr>
                              <a:rPr lang="fr-FR" sz="2500">
                                <a:latin typeface="Cambria Math" panose="02040503050406030204" pitchFamily="18" charset="0"/>
                              </a:rPr>
                              <m:t>Δr</m:t>
                            </m:r>
                          </m:den>
                        </m:f>
                        <m:r>
                          <a:rPr lang="fr-FR" sz="2500" i="1">
                            <a:latin typeface="Cambria Math" panose="02040503050406030204" pitchFamily="18" charset="0"/>
                          </a:rPr>
                          <m:t>+</m:t>
                        </m:r>
                        <m:f>
                          <m:fPr>
                            <m:ctrlPr>
                              <a:rPr lang="fr-FR" sz="25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Sup>
                              <m:sSubSupPr>
                                <m:ctrlPr>
                                  <a:rPr lang="fr-FR" sz="25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C</m:t>
                                </m:r>
                              </m:e>
                              <m:sub>
                                <m:r>
                                  <a:rPr lang="fr-FR" sz="2500" b="0" i="0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p>
                            </m:sSubSup>
                            <m:r>
                              <a:rPr lang="fr-FR" sz="250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Sup>
                              <m:sSubSupPr>
                                <m:ctrlPr>
                                  <a:rPr lang="fr-FR" sz="25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m:rPr>
                                    <m:sty m:val="p"/>
                                  </m:rP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C</m:t>
                                </m:r>
                              </m:e>
                              <m:sub>
                                <m:r>
                                  <a:rPr lang="fr-FR" sz="2500" b="0" i="0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p>
                            </m:sSubSup>
                            <m:r>
                              <a:rPr lang="fr-FR" sz="25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Sup>
                              <m:sSubSupPr>
                                <m:ctrlPr>
                                  <a:rPr lang="fr-FR" sz="25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C</m:t>
                                </m:r>
                              </m:e>
                              <m:sub>
                                <m:r>
                                  <a:rPr lang="fr-FR" sz="2500" b="0" i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p>
                            </m:sSubSup>
                          </m:num>
                          <m:den>
                            <m:r>
                              <m:rPr>
                                <m:sty m:val="p"/>
                              </m:rPr>
                              <a:rPr lang="fr-FR" sz="2500">
                                <a:latin typeface="Cambria Math" panose="02040503050406030204" pitchFamily="18" charset="0"/>
                              </a:rPr>
                              <m:t>Δ</m:t>
                            </m:r>
                            <m:sSup>
                              <m:sSupPr>
                                <m:ctrlPr>
                                  <a:rPr lang="fr-FR" sz="25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r</m:t>
                                </m:r>
                              </m:e>
                              <m:sup>
                                <m: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</m:e>
                    </m:d>
                    <m:r>
                      <a:rPr lang="fr-FR" sz="2500" i="1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fr-FR" sz="25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fr-FR" sz="2500"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b>
                        <m:r>
                          <a:rPr lang="fr-FR" sz="2500" b="0" i="0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fr-FR" sz="2500"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fr-FR" sz="2500">
                            <a:latin typeface="Cambria Math" panose="02040503050406030204" pitchFamily="18" charset="0"/>
                          </a:rPr>
                          <m:t>+1</m:t>
                        </m:r>
                      </m:sup>
                    </m:sSubSup>
                    <m:d>
                      <m:dPr>
                        <m:ctrlPr>
                          <a:rPr lang="fr-FR" sz="25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25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m:rPr>
                            <m:sty m:val="p"/>
                          </m:rPr>
                          <a:rPr lang="fr-FR" sz="2500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FR" sz="25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500" i="1">
                            <a:latin typeface="Cambria Math" panose="02040503050406030204" pitchFamily="18" charset="0"/>
                          </a:rPr>
                          <m:t>+1</m:t>
                        </m:r>
                      </m:e>
                    </m:d>
                  </m:oMath>
                </a14:m>
                <a:endParaRPr lang="fr-FR" sz="2500" dirty="0"/>
              </a:p>
              <a:p>
                <a:r>
                  <a:rPr lang="fr-FR" sz="2500" dirty="0"/>
                  <a:t>Nœud 4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2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Sup>
                          <m:sSubSupPr>
                            <m:ctrlPr>
                              <a:rPr lang="fr-FR" sz="25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50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fr-FR" sz="25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  <m:sup>
                            <m:r>
                              <a:rPr lang="fr-FR" sz="25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5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fr-FR" sz="2500" i="1">
                            <a:latin typeface="Cambria Math" panose="02040503050406030204" pitchFamily="18" charset="0"/>
                          </a:rPr>
                          <m:t>− </m:t>
                        </m:r>
                        <m:r>
                          <m:rPr>
                            <m:sty m:val="p"/>
                          </m:rPr>
                          <a:rPr lang="fr-FR" sz="2500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FR" sz="25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50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fr-FR" sz="2500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fr-FR" sz="2500" i="1">
                            <a:latin typeface="Cambria Math" panose="02040503050406030204" pitchFamily="18" charset="0"/>
                          </a:rPr>
                          <m:t>𝑒𝑓𝑓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fr-FR" sz="25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fr-FR" sz="25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2500">
                                <a:latin typeface="Cambria Math" panose="02040503050406030204" pitchFamily="18" charset="0"/>
                              </a:rPr>
                              <m:t>5</m:t>
                            </m:r>
                          </m:num>
                          <m:den>
                            <m:r>
                              <a:rPr lang="fr-FR" sz="25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  <m:r>
                              <a:rPr lang="fr-FR" sz="25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den>
                        </m:f>
                        <m:f>
                          <m:fPr>
                            <m:ctrlPr>
                              <a:rPr lang="fr-FR" sz="25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fr-FR" sz="2500" b="0" i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fr-FR" sz="2500" b="0" i="0" smtClean="0">
                                    <a:latin typeface="Cambria Math" panose="02040503050406030204" pitchFamily="18" charset="0"/>
                                  </a:rPr>
                                  <m:t>C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fr-FR" sz="2500" b="0" i="0" smtClean="0">
                                    <a:latin typeface="Cambria Math" panose="02040503050406030204" pitchFamily="18" charset="0"/>
                                  </a:rPr>
                                  <m:t>e</m:t>
                                </m:r>
                              </m:sub>
                            </m:sSub>
                            <m:r>
                              <a:rPr lang="fr-FR" sz="250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Sup>
                              <m:sSubSupPr>
                                <m:ctrlPr>
                                  <a:rPr lang="fr-FR" sz="25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C</m:t>
                                </m:r>
                              </m:e>
                              <m:sub>
                                <m:r>
                                  <a:rPr lang="fr-FR" sz="2500" b="0" i="0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p>
                            </m:sSubSup>
                          </m:num>
                          <m:den>
                            <m:r>
                              <a:rPr lang="fr-FR" sz="250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m:rPr>
                                <m:sty m:val="p"/>
                              </m:rPr>
                              <a:rPr lang="fr-FR" sz="2500">
                                <a:latin typeface="Cambria Math" panose="02040503050406030204" pitchFamily="18" charset="0"/>
                              </a:rPr>
                              <m:t>Δr</m:t>
                            </m:r>
                          </m:den>
                        </m:f>
                        <m:r>
                          <a:rPr lang="fr-FR" sz="2500" i="1">
                            <a:latin typeface="Cambria Math" panose="02040503050406030204" pitchFamily="18" charset="0"/>
                          </a:rPr>
                          <m:t>+</m:t>
                        </m:r>
                        <m:f>
                          <m:fPr>
                            <m:ctrlPr>
                              <a:rPr lang="fr-FR" sz="25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fr-FR" sz="2500" b="0" i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fr-FR" sz="2500" b="0" i="0" smtClean="0">
                                    <a:latin typeface="Cambria Math" panose="02040503050406030204" pitchFamily="18" charset="0"/>
                                  </a:rPr>
                                  <m:t>C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fr-FR" sz="2500" b="0" i="0" smtClean="0">
                                    <a:latin typeface="Cambria Math" panose="02040503050406030204" pitchFamily="18" charset="0"/>
                                  </a:rPr>
                                  <m:t>e</m:t>
                                </m:r>
                              </m:sub>
                            </m:sSub>
                            <m:r>
                              <a:rPr lang="fr-FR" sz="250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Sup>
                              <m:sSubSupPr>
                                <m:ctrlPr>
                                  <a:rPr lang="fr-FR" sz="25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m:rPr>
                                    <m:sty m:val="p"/>
                                  </m:rP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C</m:t>
                                </m:r>
                              </m:e>
                              <m:sub>
                                <m:r>
                                  <a:rPr lang="fr-FR" sz="2500" b="0" i="0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p>
                            </m:sSubSup>
                            <m:r>
                              <a:rPr lang="fr-FR" sz="25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Sup>
                              <m:sSubSupPr>
                                <m:ctrlPr>
                                  <a:rPr lang="fr-FR" sz="25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C</m:t>
                                </m:r>
                              </m:e>
                              <m:sub>
                                <m:r>
                                  <a:rPr lang="fr-FR" sz="2500" b="0" i="0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p>
                            </m:sSubSup>
                          </m:num>
                          <m:den>
                            <m:r>
                              <m:rPr>
                                <m:sty m:val="p"/>
                              </m:rPr>
                              <a:rPr lang="fr-FR" sz="2500">
                                <a:latin typeface="Cambria Math" panose="02040503050406030204" pitchFamily="18" charset="0"/>
                              </a:rPr>
                              <m:t>Δ</m:t>
                            </m:r>
                            <m:sSup>
                              <m:sSupPr>
                                <m:ctrlPr>
                                  <a:rPr lang="fr-FR" sz="25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r</m:t>
                                </m:r>
                              </m:e>
                              <m:sup>
                                <m: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</m:e>
                    </m:d>
                    <m:r>
                      <a:rPr lang="fr-FR" sz="2500" i="1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fr-FR" sz="25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fr-FR" sz="2500"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b>
                        <m:r>
                          <a:rPr lang="fr-FR" sz="2500" b="0" i="0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fr-FR" sz="2500"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fr-FR" sz="2500">
                            <a:latin typeface="Cambria Math" panose="02040503050406030204" pitchFamily="18" charset="0"/>
                          </a:rPr>
                          <m:t>+1</m:t>
                        </m:r>
                      </m:sup>
                    </m:sSubSup>
                    <m:d>
                      <m:dPr>
                        <m:ctrlPr>
                          <a:rPr lang="fr-FR" sz="25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25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m:rPr>
                            <m:sty m:val="p"/>
                          </m:rPr>
                          <a:rPr lang="fr-FR" sz="2500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FR" sz="25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500" i="1">
                            <a:latin typeface="Cambria Math" panose="02040503050406030204" pitchFamily="18" charset="0"/>
                          </a:rPr>
                          <m:t>+1</m:t>
                        </m:r>
                      </m:e>
                    </m:d>
                  </m:oMath>
                </a14:m>
                <a:endParaRPr lang="fr-FR" sz="2500" dirty="0"/>
              </a:p>
              <a:p>
                <a:r>
                  <a:rPr lang="fr-FR" sz="2500" dirty="0"/>
                  <a:t>Nœud 5 :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fr-FR" sz="25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sz="25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sz="25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  <m:sup>
                        <m:r>
                          <a:rPr lang="fr-FR" sz="2500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FR" sz="25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25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 sz="2500" b="0" i="0" smtClean="0"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 sz="2500" b="0" i="0" smtClean="0">
                            <a:latin typeface="Cambria Math" panose="02040503050406030204" pitchFamily="18" charset="0"/>
                          </a:rPr>
                          <m:t>e</m:t>
                        </m:r>
                      </m:sub>
                    </m:sSub>
                    <m:r>
                      <a:rPr lang="fr-FR" sz="250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fr-FR" sz="2500" dirty="0"/>
              </a:p>
              <a:p>
                <a:pPr marL="0" indent="0">
                  <a:buNone/>
                </a:pPr>
                <a:endParaRPr lang="fr-FR" b="0" dirty="0"/>
              </a:p>
            </p:txBody>
          </p:sp>
        </mc:Choice>
        <mc:Fallback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0B6AFEAB-F772-9F60-2A08-74511ACDA6A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0515600" cy="4486275"/>
              </a:xfrm>
              <a:blipFill>
                <a:blip r:embed="rId3"/>
                <a:stretch>
                  <a:fillRect l="-986" t="-1766" b="-339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241746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9178A0-01A4-BF69-5ADC-9C76FCC728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C5A4CE4-C0F3-D5C4-BF85-6A59EA998C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8237"/>
            <a:ext cx="10515600" cy="1325563"/>
          </a:xfrm>
        </p:spPr>
        <p:txBody>
          <a:bodyPr/>
          <a:lstStyle/>
          <a:p>
            <a:r>
              <a:rPr lang="fr-FR" dirty="0"/>
              <a:t>A) Nouveau schéma de discrétisation 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F0AC1B6-3A44-3171-6482-F04E01FBB1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4738"/>
            <a:ext cx="10515600" cy="98850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sz="2200" b="0" dirty="0"/>
              <a:t>Procédure générale : </a:t>
            </a:r>
            <a:r>
              <a:rPr lang="fr-FR" sz="2200" dirty="0"/>
              <a:t>Résoudre le système suivant</a:t>
            </a:r>
          </a:p>
          <a:p>
            <a:pPr marL="0" indent="0">
              <a:buNone/>
            </a:pPr>
            <a:endParaRPr lang="fr-FR" dirty="0"/>
          </a:p>
        </p:txBody>
      </p:sp>
      <p:pic>
        <p:nvPicPr>
          <p:cNvPr id="5" name="Image 4" descr="Une image contenant texte, Police, capture d’écran, nombre&#10;&#10;Le contenu généré par l’IA peut être incorrect.">
            <a:extLst>
              <a:ext uri="{FF2B5EF4-FFF2-40B4-BE49-F238E27FC236}">
                <a16:creationId xmlns:a16="http://schemas.microsoft.com/office/drawing/2014/main" id="{028A65C2-4249-C907-3D41-BB4942D70F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088991"/>
            <a:ext cx="7148179" cy="2225233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6" name="ZoneTexte 5">
                <a:extLst>
                  <a:ext uri="{FF2B5EF4-FFF2-40B4-BE49-F238E27FC236}">
                    <a16:creationId xmlns:a16="http://schemas.microsoft.com/office/drawing/2014/main" id="{1D35F909-ADB7-C20F-4412-2F82387B337E}"/>
                  </a:ext>
                </a:extLst>
              </p:cNvPr>
              <p:cNvSpPr txBox="1"/>
              <p:nvPr/>
            </p:nvSpPr>
            <p:spPr>
              <a:xfrm>
                <a:off x="838200" y="4959414"/>
                <a:ext cx="11018520" cy="9702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2200" dirty="0"/>
                  <a:t>Où, </a:t>
                </a:r>
                <a:endParaRPr lang="fr-FR" sz="220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fr-FR" sz="22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fr-FR" sz="22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200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fr-FR" sz="2200" i="1">
                            <a:latin typeface="Cambria Math" panose="02040503050406030204" pitchFamily="18" charset="0"/>
                          </a:rPr>
                          <m:t>𝑒𝑓𝑓</m:t>
                        </m:r>
                      </m:sub>
                    </m:sSub>
                    <m:r>
                      <m:rPr>
                        <m:sty m:val="p"/>
                      </m:rPr>
                      <a:rPr lang="fr-FR" sz="220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sz="2200" i="1">
                        <a:latin typeface="Cambria Math" panose="02040503050406030204" pitchFamily="18" charset="0"/>
                      </a:rPr>
                      <m:t>𝑡</m:t>
                    </m:r>
                    <m:d>
                      <m:dPr>
                        <m:begChr m:val="["/>
                        <m:endChr m:val="]"/>
                        <m:ctrlPr>
                          <a:rPr lang="fr-FR" sz="2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fr-FR" sz="22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22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fr-FR" sz="2200">
                                <a:latin typeface="Cambria Math" panose="02040503050406030204" pitchFamily="18" charset="0"/>
                              </a:rPr>
                              <m:t>2</m:t>
                            </m:r>
                            <m:sSub>
                              <m:sSubPr>
                                <m:ctrlPr>
                                  <a:rPr lang="fr-FR" sz="2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fr-FR" sz="2200">
                                    <a:latin typeface="Cambria Math" panose="02040503050406030204" pitchFamily="18" charset="0"/>
                                  </a:rPr>
                                  <m:t>r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fr-FR" sz="2200">
                                    <a:latin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fr-FR" sz="2200">
                                <a:latin typeface="Cambria Math" panose="02040503050406030204" pitchFamily="18" charset="0"/>
                              </a:rPr>
                              <m:t>Δr</m:t>
                            </m:r>
                          </m:den>
                        </m:f>
                        <m:r>
                          <a:rPr lang="fr-FR" sz="22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fr-FR" sz="22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22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fr-FR" sz="2200">
                                <a:latin typeface="Cambria Math" panose="02040503050406030204" pitchFamily="18" charset="0"/>
                              </a:rPr>
                              <m:t>Δ</m:t>
                            </m:r>
                            <m:sSup>
                              <m:sSupPr>
                                <m:ctrlPr>
                                  <a:rPr lang="fr-FR" sz="22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fr-FR" sz="2200">
                                    <a:latin typeface="Cambria Math" panose="02040503050406030204" pitchFamily="18" charset="0"/>
                                  </a:rPr>
                                  <m:t>r</m:t>
                                </m:r>
                              </m:e>
                              <m:sup>
                                <m:r>
                                  <a:rPr lang="fr-FR" sz="220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</m:e>
                    </m:d>
                  </m:oMath>
                </a14:m>
                <a:r>
                  <a:rPr lang="fr-FR" sz="2200" dirty="0"/>
                  <a:t>, </a:t>
                </a:r>
                <a14:m>
                  <m:oMath xmlns:m="http://schemas.openxmlformats.org/officeDocument/2006/math">
                    <m:r>
                      <a:rPr lang="fr-FR" sz="2200" i="1"/>
                      <m:t>𝐵</m:t>
                    </m:r>
                    <m:r>
                      <a:rPr lang="fr-FR" sz="2200" i="1"/>
                      <m:t>=</m:t>
                    </m:r>
                    <m:sSub>
                      <m:sSubPr>
                        <m:ctrlPr>
                          <a:rPr lang="fr-FR" sz="2200" i="1"/>
                        </m:ctrlPr>
                      </m:sSubPr>
                      <m:e>
                        <m:r>
                          <a:rPr lang="fr-FR" sz="2200"/>
                          <m:t>−</m:t>
                        </m:r>
                        <m:r>
                          <a:rPr lang="fr-FR" sz="2200" i="1"/>
                          <m:t>𝐷</m:t>
                        </m:r>
                      </m:e>
                      <m:sub>
                        <m:r>
                          <a:rPr lang="fr-FR" sz="2200" i="1"/>
                          <m:t>𝑒𝑓𝑓</m:t>
                        </m:r>
                      </m:sub>
                    </m:sSub>
                    <m:r>
                      <m:rPr>
                        <m:sty m:val="p"/>
                      </m:rPr>
                      <a:rPr lang="fr-FR" sz="2200"/>
                      <m:t>Δ</m:t>
                    </m:r>
                    <m:r>
                      <a:rPr lang="fr-FR" sz="2200" i="1"/>
                      <m:t>𝑡</m:t>
                    </m:r>
                    <m:f>
                      <m:fPr>
                        <m:ctrlPr>
                          <a:rPr lang="fr-FR" sz="2200" i="1"/>
                        </m:ctrlPr>
                      </m:fPr>
                      <m:num>
                        <m:r>
                          <a:rPr lang="fr-FR" sz="2200"/>
                          <m:t>2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fr-FR" sz="2200"/>
                          <m:t>Δ</m:t>
                        </m:r>
                        <m:sSup>
                          <m:sSupPr>
                            <m:ctrlPr>
                              <a:rPr lang="fr-FR" sz="2200" i="1"/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 sz="2200"/>
                              <m:t>r</m:t>
                            </m:r>
                          </m:e>
                          <m:sup>
                            <m:r>
                              <a:rPr lang="fr-FR" sz="2200"/>
                              <m:t>2</m:t>
                            </m:r>
                          </m:sup>
                        </m:sSup>
                      </m:den>
                    </m:f>
                    <m:r>
                      <a:rPr lang="fr-FR" sz="2200" i="1"/>
                      <m:t>+</m:t>
                    </m:r>
                    <m:r>
                      <a:rPr lang="fr-FR" sz="2200" i="1"/>
                      <m:t>𝑘</m:t>
                    </m:r>
                    <m:r>
                      <m:rPr>
                        <m:sty m:val="p"/>
                      </m:rPr>
                      <a:rPr lang="fr-FR" sz="2200"/>
                      <m:t>Δ</m:t>
                    </m:r>
                    <m:r>
                      <a:rPr lang="fr-FR" sz="2200" i="1"/>
                      <m:t>𝑡</m:t>
                    </m:r>
                    <m:r>
                      <a:rPr lang="fr-FR" sz="2200" i="1"/>
                      <m:t> +1</m:t>
                    </m:r>
                  </m:oMath>
                </a14:m>
                <a:r>
                  <a:rPr lang="fr-FR" sz="2200" dirty="0"/>
                  <a:t> et </a:t>
                </a:r>
                <a14:m>
                  <m:oMath xmlns:m="http://schemas.openxmlformats.org/officeDocument/2006/math">
                    <m:r>
                      <a:rPr lang="fr-FR" sz="2200" i="1"/>
                      <m:t>𝐶</m:t>
                    </m:r>
                    <m:r>
                      <a:rPr lang="fr-FR" sz="2200" i="1"/>
                      <m:t>=</m:t>
                    </m:r>
                    <m:sSub>
                      <m:sSubPr>
                        <m:ctrlPr>
                          <a:rPr lang="fr-FR" sz="2200" i="1"/>
                        </m:ctrlPr>
                      </m:sSubPr>
                      <m:e>
                        <m:r>
                          <a:rPr lang="fr-FR" sz="2200"/>
                          <m:t>−</m:t>
                        </m:r>
                        <m:r>
                          <a:rPr lang="fr-FR" sz="2200" i="1"/>
                          <m:t>𝐷</m:t>
                        </m:r>
                      </m:e>
                      <m:sub>
                        <m:r>
                          <a:rPr lang="fr-FR" sz="2200" i="1"/>
                          <m:t>𝑒𝑓𝑓</m:t>
                        </m:r>
                      </m:sub>
                    </m:sSub>
                    <m:r>
                      <m:rPr>
                        <m:sty m:val="p"/>
                      </m:rPr>
                      <a:rPr lang="fr-FR" sz="2200"/>
                      <m:t>Δ</m:t>
                    </m:r>
                    <m:r>
                      <a:rPr lang="fr-FR" sz="2200" i="1"/>
                      <m:t>𝑡</m:t>
                    </m:r>
                    <m:d>
                      <m:dPr>
                        <m:begChr m:val="["/>
                        <m:endChr m:val="]"/>
                        <m:ctrlPr>
                          <a:rPr lang="fr-FR" sz="2200" i="1"/>
                        </m:ctrlPr>
                      </m:dPr>
                      <m:e>
                        <m:f>
                          <m:fPr>
                            <m:ctrlPr>
                              <a:rPr lang="fr-FR" sz="2200" i="1"/>
                            </m:ctrlPr>
                          </m:fPr>
                          <m:num>
                            <m:r>
                              <a:rPr lang="fr-FR" sz="2200" i="1"/>
                              <m:t>2</m:t>
                            </m:r>
                          </m:num>
                          <m:den>
                            <m:r>
                              <a:rPr lang="fr-FR" sz="2200"/>
                              <m:t>2</m:t>
                            </m:r>
                            <m:sSub>
                              <m:sSubPr>
                                <m:ctrlPr>
                                  <a:rPr lang="fr-FR" sz="2200" i="1"/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fr-FR" sz="2200"/>
                                  <m:t>r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fr-FR" sz="2200"/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fr-FR" sz="2200"/>
                              <m:t>Δr</m:t>
                            </m:r>
                          </m:den>
                        </m:f>
                        <m:r>
                          <a:rPr lang="fr-FR" sz="2200" i="1"/>
                          <m:t>+</m:t>
                        </m:r>
                        <m:f>
                          <m:fPr>
                            <m:ctrlPr>
                              <a:rPr lang="fr-FR" sz="2200" i="1"/>
                            </m:ctrlPr>
                          </m:fPr>
                          <m:num>
                            <m:r>
                              <a:rPr lang="fr-FR" sz="2200" i="1"/>
                              <m:t>1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fr-FR" sz="2200"/>
                              <m:t>Δ</m:t>
                            </m:r>
                            <m:sSup>
                              <m:sSupPr>
                                <m:ctrlPr>
                                  <a:rPr lang="fr-FR" sz="2200" i="1"/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fr-FR" sz="2200"/>
                                  <m:t>r</m:t>
                                </m:r>
                              </m:e>
                              <m:sup>
                                <m:r>
                                  <a:rPr lang="fr-FR" sz="2200"/>
                                  <m:t>2</m:t>
                                </m:r>
                              </m:sup>
                            </m:sSup>
                          </m:den>
                        </m:f>
                      </m:e>
                    </m:d>
                  </m:oMath>
                </a14:m>
                <a:endParaRPr lang="fr-FR" sz="2200" dirty="0"/>
              </a:p>
            </p:txBody>
          </p:sp>
        </mc:Choice>
        <mc:Fallback>
          <p:sp>
            <p:nvSpPr>
              <p:cNvPr id="6" name="ZoneTexte 5">
                <a:extLst>
                  <a:ext uri="{FF2B5EF4-FFF2-40B4-BE49-F238E27FC236}">
                    <a16:creationId xmlns:a16="http://schemas.microsoft.com/office/drawing/2014/main" id="{1D35F909-ADB7-C20F-4412-2F82387B33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959414"/>
                <a:ext cx="11018520" cy="970266"/>
              </a:xfrm>
              <a:prstGeom prst="rect">
                <a:avLst/>
              </a:prstGeom>
              <a:blipFill>
                <a:blip r:embed="rId4"/>
                <a:stretch>
                  <a:fillRect l="-719" t="-3774" b="-62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34513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C1A56D-FC20-125C-6394-4ABA795D53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E1BA1E5-F201-1972-D92C-EF7A2690CF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8237"/>
            <a:ext cx="10515600" cy="1325563"/>
          </a:xfrm>
        </p:spPr>
        <p:txBody>
          <a:bodyPr/>
          <a:lstStyle/>
          <a:p>
            <a:r>
              <a:rPr lang="fr-FR" dirty="0"/>
              <a:t>A) Nouveau schéma de discrétisation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BC566139-E13C-0C28-BD58-40CF174B143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94738"/>
                <a:ext cx="10515600" cy="4577462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fr-FR" sz="2200" b="0" dirty="0"/>
                  <a:t>Erreur de troncature : En utilisant les calculs faits dans le Devoir 1 : </a:t>
                </a:r>
              </a:p>
              <a:p>
                <a:pPr marL="0" indent="0">
                  <a:buNone/>
                </a:pPr>
                <a:r>
                  <a:rPr lang="fr-FR" sz="2200" dirty="0"/>
                  <a:t>En temps 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sz="2200" i="1"/>
                        </m:ctrlPr>
                      </m:fPr>
                      <m:num>
                        <m:sSubSup>
                          <m:sSubSupPr>
                            <m:ctrlPr>
                              <a:rPr lang="fr-FR" sz="2200" i="1"/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fr-FR" sz="2200"/>
                              <m:t>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fr-FR" sz="2200"/>
                              <m:t>i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fr-FR" sz="2200"/>
                              <m:t>t</m:t>
                            </m:r>
                          </m:sup>
                        </m:sSubSup>
                        <m:r>
                          <a:rPr lang="fr-FR" sz="2200"/>
                          <m:t>−</m:t>
                        </m:r>
                        <m:sSubSup>
                          <m:sSubSupPr>
                            <m:ctrlPr>
                              <a:rPr lang="fr-FR" sz="2200" i="1"/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fr-FR" sz="2200"/>
                              <m:t>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fr-FR" sz="2200"/>
                              <m:t>i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fr-FR" sz="2200"/>
                              <m:t>t</m:t>
                            </m:r>
                            <m:r>
                              <a:rPr lang="fr-FR" sz="2200"/>
                              <m:t>−1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 sz="2200"/>
                          <m:t>Δt</m:t>
                        </m:r>
                      </m:den>
                    </m:f>
                    <m:r>
                      <a:rPr lang="fr-FR" sz="2200" i="1"/>
                      <m:t>=</m:t>
                    </m:r>
                    <m:f>
                      <m:fPr>
                        <m:ctrlPr>
                          <a:rPr lang="fr-FR" sz="2200" i="1"/>
                        </m:ctrlPr>
                      </m:fPr>
                      <m:num>
                        <m:r>
                          <a:rPr lang="fr-FR" sz="2200"/>
                          <m:t>∂</m:t>
                        </m:r>
                        <m:r>
                          <a:rPr lang="fr-FR" sz="2200" i="1"/>
                          <m:t>𝐶</m:t>
                        </m:r>
                      </m:num>
                      <m:den>
                        <m:r>
                          <a:rPr lang="fr-FR" sz="2200"/>
                          <m:t>∂</m:t>
                        </m:r>
                        <m:r>
                          <m:rPr>
                            <m:sty m:val="p"/>
                          </m:rPr>
                          <a:rPr lang="fr-FR" sz="2200"/>
                          <m:t>t</m:t>
                        </m:r>
                      </m:den>
                    </m:f>
                    <m:sSub>
                      <m:sSubPr>
                        <m:ctrlPr>
                          <a:rPr lang="fr-FR" sz="2200" i="1"/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200" i="1"/>
                            </m:ctrlPr>
                          </m:dPr>
                          <m:e>
                            <m:r>
                              <a:rPr lang="fr-FR" sz="2200" i="1"/>
                              <m:t>​</m:t>
                            </m:r>
                          </m:e>
                        </m:d>
                      </m:e>
                      <m:sub>
                        <m:r>
                          <m:rPr>
                            <m:sty m:val="p"/>
                          </m:rPr>
                          <a:rPr lang="fr-FR" sz="2200"/>
                          <m:t>i</m:t>
                        </m:r>
                        <m:r>
                          <a:rPr lang="fr-FR" sz="2200"/>
                          <m:t>,</m:t>
                        </m:r>
                        <m:r>
                          <m:rPr>
                            <m:sty m:val="p"/>
                          </m:rPr>
                          <a:rPr lang="fr-FR" sz="2200"/>
                          <m:t>t</m:t>
                        </m:r>
                      </m:sub>
                    </m:sSub>
                    <m:r>
                      <a:rPr lang="fr-FR" sz="2200" i="1"/>
                      <m:t>+</m:t>
                    </m:r>
                    <m:f>
                      <m:fPr>
                        <m:ctrlPr>
                          <a:rPr lang="fr-FR" sz="2200" i="1"/>
                        </m:ctrlPr>
                      </m:fPr>
                      <m:num>
                        <m:sSup>
                          <m:sSupPr>
                            <m:ctrlPr>
                              <a:rPr lang="fr-FR" sz="2200" i="1"/>
                            </m:ctrlPr>
                          </m:sSupPr>
                          <m:e>
                            <m:r>
                              <a:rPr lang="fr-FR" sz="2200" i="1"/>
                              <m:t>𝜕</m:t>
                            </m:r>
                          </m:e>
                          <m:sup>
                            <m:r>
                              <a:rPr lang="fr-FR" sz="2200" i="1"/>
                              <m:t>2</m:t>
                            </m:r>
                          </m:sup>
                        </m:sSup>
                        <m:r>
                          <a:rPr lang="fr-FR" sz="2200" i="1"/>
                          <m:t>𝐶</m:t>
                        </m:r>
                      </m:num>
                      <m:den>
                        <m:r>
                          <a:rPr lang="fr-FR" sz="2200" i="1"/>
                          <m:t>𝜕</m:t>
                        </m:r>
                        <m:sSup>
                          <m:sSupPr>
                            <m:ctrlPr>
                              <a:rPr lang="fr-FR" sz="2200" i="1"/>
                            </m:ctrlPr>
                          </m:sSupPr>
                          <m:e>
                            <m:r>
                              <a:rPr lang="fr-FR" sz="2200" i="1"/>
                              <m:t>𝑡</m:t>
                            </m:r>
                          </m:e>
                          <m:sup>
                            <m:r>
                              <a:rPr lang="fr-FR" sz="2200" i="1"/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200" i="1"/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200" i="1"/>
                            </m:ctrlPr>
                          </m:dPr>
                          <m:e>
                            <m:r>
                              <a:rPr lang="fr-FR" sz="2200" i="1"/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200" i="1"/>
                          <m:t>𝑖</m:t>
                        </m:r>
                        <m:r>
                          <a:rPr lang="fr-FR" sz="2200" i="1"/>
                          <m:t>,</m:t>
                        </m:r>
                        <m:r>
                          <a:rPr lang="fr-FR" sz="2200" i="1"/>
                          <m:t>𝑡</m:t>
                        </m:r>
                      </m:sub>
                    </m:sSub>
                    <m:f>
                      <m:fPr>
                        <m:ctrlPr>
                          <a:rPr lang="fr-FR" sz="2200" i="1"/>
                        </m:ctrlPr>
                      </m:fPr>
                      <m:num>
                        <m:r>
                          <a:rPr lang="fr-FR" sz="2200" i="1"/>
                          <m:t>𝛥</m:t>
                        </m:r>
                        <m:r>
                          <a:rPr lang="fr-FR" sz="2200" i="1"/>
                          <m:t>𝑡</m:t>
                        </m:r>
                      </m:num>
                      <m:den>
                        <m:r>
                          <a:rPr lang="fr-FR" sz="2200" i="1"/>
                          <m:t>2!</m:t>
                        </m:r>
                      </m:den>
                    </m:f>
                    <m:r>
                      <a:rPr lang="fr-FR" sz="2200" i="1"/>
                      <m:t>+</m:t>
                    </m:r>
                    <m:r>
                      <a:rPr lang="fr-FR" sz="2200" i="1"/>
                      <m:t>𝑜</m:t>
                    </m:r>
                    <m:d>
                      <m:dPr>
                        <m:ctrlPr>
                          <a:rPr lang="fr-FR" sz="2200" i="1"/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fr-FR" sz="2200"/>
                          <m:t>Δ</m:t>
                        </m:r>
                        <m:r>
                          <a:rPr lang="fr-FR" sz="2200" i="1"/>
                          <m:t>𝑡</m:t>
                        </m:r>
                      </m:e>
                    </m:d>
                  </m:oMath>
                </a14:m>
                <a:endParaRPr lang="fr-FR" sz="2200" dirty="0"/>
              </a:p>
              <a:p>
                <a:pPr marL="0" indent="0">
                  <a:buNone/>
                </a:pPr>
                <a:r>
                  <a:rPr lang="fr-FR" sz="2200" dirty="0"/>
                  <a:t>En espace 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sz="2200" i="1"/>
                        </m:ctrlPr>
                      </m:fPr>
                      <m:num>
                        <m:sSubSup>
                          <m:sSubSupPr>
                            <m:ctrlPr>
                              <a:rPr lang="fr-FR" sz="2200" i="1"/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fr-FR" sz="2200"/>
                              <m:t>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fr-FR" sz="2200"/>
                              <m:t>i</m:t>
                            </m:r>
                            <m:r>
                              <a:rPr lang="fr-FR" sz="2200"/>
                              <m:t>+1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fr-FR" sz="2200"/>
                              <m:t>t</m:t>
                            </m:r>
                          </m:sup>
                        </m:sSubSup>
                        <m:r>
                          <a:rPr lang="fr-FR" sz="2200"/>
                          <m:t>−</m:t>
                        </m:r>
                        <m:sSubSup>
                          <m:sSubSupPr>
                            <m:ctrlPr>
                              <a:rPr lang="fr-FR" sz="2200" i="1"/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fr-FR" sz="2200"/>
                              <m:t>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fr-FR" sz="2200"/>
                              <m:t>i</m:t>
                            </m:r>
                            <m:r>
                              <a:rPr lang="fr-FR" sz="2200"/>
                              <m:t>−1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fr-FR" sz="2200"/>
                              <m:t>t</m:t>
                            </m:r>
                            <m:r>
                              <a:rPr lang="fr-FR" sz="2200"/>
                              <m:t>−1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 sz="2200"/>
                          <m:t>Δr</m:t>
                        </m:r>
                      </m:den>
                    </m:f>
                    <m:r>
                      <a:rPr lang="fr-FR" sz="2200" i="1"/>
                      <m:t>=</m:t>
                    </m:r>
                    <m:f>
                      <m:fPr>
                        <m:ctrlPr>
                          <a:rPr lang="fr-FR" sz="2200" i="1"/>
                        </m:ctrlPr>
                      </m:fPr>
                      <m:num>
                        <m:r>
                          <a:rPr lang="fr-FR" sz="2200"/>
                          <m:t>∂</m:t>
                        </m:r>
                        <m:r>
                          <a:rPr lang="fr-FR" sz="2200" i="1"/>
                          <m:t>𝐶</m:t>
                        </m:r>
                      </m:num>
                      <m:den>
                        <m:r>
                          <a:rPr lang="fr-FR" sz="2200"/>
                          <m:t>∂</m:t>
                        </m:r>
                        <m:r>
                          <m:rPr>
                            <m:sty m:val="p"/>
                          </m:rPr>
                          <a:rPr lang="fr-FR" sz="2200"/>
                          <m:t>r</m:t>
                        </m:r>
                      </m:den>
                    </m:f>
                    <m:sSub>
                      <m:sSubPr>
                        <m:ctrlPr>
                          <a:rPr lang="fr-FR" sz="2200" i="1"/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200" i="1"/>
                            </m:ctrlPr>
                          </m:dPr>
                          <m:e>
                            <m:r>
                              <a:rPr lang="fr-FR" sz="2200" i="1"/>
                              <m:t>​</m:t>
                            </m:r>
                          </m:e>
                        </m:d>
                      </m:e>
                      <m:sub>
                        <m:r>
                          <m:rPr>
                            <m:sty m:val="p"/>
                          </m:rPr>
                          <a:rPr lang="fr-FR" sz="2200"/>
                          <m:t>i</m:t>
                        </m:r>
                        <m:r>
                          <a:rPr lang="fr-FR" sz="2200"/>
                          <m:t>,</m:t>
                        </m:r>
                        <m:r>
                          <m:rPr>
                            <m:sty m:val="p"/>
                          </m:rPr>
                          <a:rPr lang="fr-FR" sz="2200"/>
                          <m:t>t</m:t>
                        </m:r>
                      </m:sub>
                    </m:sSub>
                    <m:r>
                      <a:rPr lang="fr-FR" sz="2200" i="1"/>
                      <m:t>+</m:t>
                    </m:r>
                    <m:r>
                      <a:rPr lang="fr-FR" sz="2200" i="1"/>
                      <m:t>𝑜</m:t>
                    </m:r>
                    <m:d>
                      <m:dPr>
                        <m:ctrlPr>
                          <a:rPr lang="fr-FR" sz="2200" i="1"/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fr-FR" sz="2200"/>
                          <m:t>Δ</m:t>
                        </m:r>
                        <m:sSup>
                          <m:sSupPr>
                            <m:ctrlPr>
                              <a:rPr lang="fr-FR" sz="2200" i="1"/>
                            </m:ctrlPr>
                          </m:sSupPr>
                          <m:e>
                            <m:r>
                              <a:rPr lang="fr-FR" sz="2200" i="1"/>
                              <m:t>𝑟</m:t>
                            </m:r>
                          </m:e>
                          <m:sup>
                            <m:r>
                              <a:rPr lang="fr-FR" sz="2200" i="1"/>
                              <m:t>2</m:t>
                            </m:r>
                          </m:sup>
                        </m:sSup>
                      </m:e>
                    </m:d>
                  </m:oMath>
                </a14:m>
                <a:endParaRPr lang="fr-FR" sz="2200" dirty="0"/>
              </a:p>
              <a:p>
                <a:pPr marL="0" indent="0">
                  <a:buNone/>
                </a:pPr>
                <a:r>
                  <a:rPr lang="fr-FR" sz="2200" dirty="0"/>
                  <a:t>Et :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sz="2200" i="1"/>
                        </m:ctrlPr>
                      </m:fPr>
                      <m:num>
                        <m:sSubSup>
                          <m:sSubSupPr>
                            <m:ctrlPr>
                              <a:rPr lang="fr-FR" sz="2200" i="1"/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fr-FR" sz="2200"/>
                              <m:t>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fr-FR" sz="2200"/>
                              <m:t>i</m:t>
                            </m:r>
                            <m:r>
                              <a:rPr lang="fr-FR" sz="2200"/>
                              <m:t>+1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fr-FR" sz="2200"/>
                              <m:t>t</m:t>
                            </m:r>
                          </m:sup>
                        </m:sSubSup>
                        <m:r>
                          <a:rPr lang="fr-FR" sz="2200"/>
                          <m:t>−</m:t>
                        </m:r>
                        <m:sSubSup>
                          <m:sSubSupPr>
                            <m:ctrlPr>
                              <a:rPr lang="fr-FR" sz="2200" i="1"/>
                            </m:ctrlPr>
                          </m:sSubSupPr>
                          <m:e>
                            <m:r>
                              <a:rPr lang="fr-FR" sz="2200"/>
                              <m:t>2</m:t>
                            </m:r>
                            <m:r>
                              <m:rPr>
                                <m:sty m:val="p"/>
                              </m:rPr>
                              <a:rPr lang="fr-FR" sz="2200"/>
                              <m:t>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fr-FR" sz="2200"/>
                              <m:t>i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fr-FR" sz="2200"/>
                              <m:t>t</m:t>
                            </m:r>
                          </m:sup>
                        </m:sSubSup>
                        <m:r>
                          <a:rPr lang="fr-FR" sz="2200" i="1"/>
                          <m:t>+</m:t>
                        </m:r>
                        <m:sSubSup>
                          <m:sSubSupPr>
                            <m:ctrlPr>
                              <a:rPr lang="fr-FR" sz="2200" i="1"/>
                            </m:ctrlPr>
                          </m:sSubSupPr>
                          <m:e>
                            <m:r>
                              <a:rPr lang="fr-FR" sz="2200" i="1"/>
                              <m:t>𝐶</m:t>
                            </m:r>
                          </m:e>
                          <m:sub>
                            <m:r>
                              <a:rPr lang="fr-FR" sz="2200" i="1"/>
                              <m:t>𝑖</m:t>
                            </m:r>
                            <m:r>
                              <a:rPr lang="fr-FR" sz="2200" i="1"/>
                              <m:t>−1</m:t>
                            </m:r>
                          </m:sub>
                          <m:sup>
                            <m:r>
                              <a:rPr lang="fr-FR" sz="2200" i="1"/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 sz="2200"/>
                          <m:t>Δ</m:t>
                        </m:r>
                        <m:sSup>
                          <m:sSupPr>
                            <m:ctrlPr>
                              <a:rPr lang="fr-FR" sz="2200" i="1"/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 sz="2200"/>
                              <m:t>r</m:t>
                            </m:r>
                          </m:e>
                          <m:sup>
                            <m:r>
                              <a:rPr lang="fr-FR" sz="2200"/>
                              <m:t>2</m:t>
                            </m:r>
                          </m:sup>
                        </m:sSup>
                      </m:den>
                    </m:f>
                    <m:r>
                      <a:rPr lang="fr-FR" sz="2200" i="1"/>
                      <m:t>=</m:t>
                    </m:r>
                    <m:f>
                      <m:fPr>
                        <m:ctrlPr>
                          <a:rPr lang="fr-FR" sz="2200" i="1"/>
                        </m:ctrlPr>
                      </m:fPr>
                      <m:num>
                        <m:sSup>
                          <m:sSupPr>
                            <m:ctrlPr>
                              <a:rPr lang="fr-FR" sz="2200" i="1"/>
                            </m:ctrlPr>
                          </m:sSupPr>
                          <m:e>
                            <m:r>
                              <a:rPr lang="fr-FR" sz="2200" i="1"/>
                              <m:t>𝜕</m:t>
                            </m:r>
                          </m:e>
                          <m:sup>
                            <m:r>
                              <a:rPr lang="fr-FR" sz="2200" i="1"/>
                              <m:t>2</m:t>
                            </m:r>
                          </m:sup>
                        </m:sSup>
                        <m:r>
                          <a:rPr lang="fr-FR" sz="2200" i="1"/>
                          <m:t>𝐶</m:t>
                        </m:r>
                      </m:num>
                      <m:den>
                        <m:r>
                          <a:rPr lang="fr-FR" sz="2200" i="1"/>
                          <m:t>𝜕</m:t>
                        </m:r>
                        <m:sSup>
                          <m:sSupPr>
                            <m:ctrlPr>
                              <a:rPr lang="fr-FR" sz="2200" i="1"/>
                            </m:ctrlPr>
                          </m:sSupPr>
                          <m:e>
                            <m:r>
                              <a:rPr lang="fr-FR" sz="2200" i="1"/>
                              <m:t>𝑟</m:t>
                            </m:r>
                          </m:e>
                          <m:sup>
                            <m:r>
                              <a:rPr lang="fr-FR" sz="2200" i="1"/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200" i="1"/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200" i="1"/>
                            </m:ctrlPr>
                          </m:dPr>
                          <m:e>
                            <m:r>
                              <a:rPr lang="fr-FR" sz="2200" i="1"/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200" i="1"/>
                          <m:t>𝑖</m:t>
                        </m:r>
                        <m:r>
                          <a:rPr lang="fr-FR" sz="2200" i="1"/>
                          <m:t>,</m:t>
                        </m:r>
                        <m:r>
                          <a:rPr lang="fr-FR" sz="2200" i="1"/>
                          <m:t>𝑡</m:t>
                        </m:r>
                      </m:sub>
                    </m:sSub>
                    <m:r>
                      <a:rPr lang="fr-FR" sz="2200" i="1"/>
                      <m:t>+</m:t>
                    </m:r>
                    <m:r>
                      <a:rPr lang="fr-FR" sz="2200" i="1"/>
                      <m:t>𝑜</m:t>
                    </m:r>
                    <m:d>
                      <m:dPr>
                        <m:ctrlPr>
                          <a:rPr lang="fr-FR" sz="2200" i="1"/>
                        </m:ctrlPr>
                      </m:dPr>
                      <m:e>
                        <m:r>
                          <a:rPr lang="fr-FR" sz="2200" i="1"/>
                          <m:t>𝛥</m:t>
                        </m:r>
                        <m:sSup>
                          <m:sSupPr>
                            <m:ctrlPr>
                              <a:rPr lang="fr-FR" sz="2200" i="1"/>
                            </m:ctrlPr>
                          </m:sSupPr>
                          <m:e>
                            <m:r>
                              <a:rPr lang="fr-FR" sz="2200" i="1"/>
                              <m:t>𝑟</m:t>
                            </m:r>
                          </m:e>
                          <m:sup>
                            <m:r>
                              <a:rPr lang="fr-CA" sz="2200" i="1"/>
                              <m:t>2</m:t>
                            </m:r>
                          </m:sup>
                        </m:sSup>
                      </m:e>
                    </m:d>
                  </m:oMath>
                </a14:m>
                <a:endParaRPr lang="fr-FR" sz="2200" dirty="0"/>
              </a:p>
              <a:p>
                <a:pPr marL="0" indent="0">
                  <a:buNone/>
                </a:pPr>
                <a:endParaRPr lang="fr-FR" sz="2200" dirty="0"/>
              </a:p>
              <a:p>
                <a:pPr marL="0" indent="0">
                  <a:buNone/>
                </a:pPr>
                <a:r>
                  <a:rPr lang="fr-FR" sz="2200" dirty="0"/>
                  <a:t>Le schéma donne alors : </a:t>
                </a:r>
                <a:endParaRPr lang="fr-FR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fr-FR" sz="2400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h</m:t>
                          </m:r>
                        </m:sub>
                      </m:sSub>
                      <m:d>
                        <m:d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fr-FR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i="1">
                              <a:solidFill>
                                <a:schemeClr val="accent3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solidFill>
                                <a:schemeClr val="accent3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m:rPr>
                              <m:sty m:val="p"/>
                            </m:rPr>
                            <a:rPr lang="fr-FR" sz="2400" i="1">
                              <a:solidFill>
                                <a:schemeClr val="accent3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C</m:t>
                          </m:r>
                        </m:num>
                        <m:den>
                          <m:r>
                            <a:rPr lang="fr-FR" sz="2400" i="1">
                              <a:solidFill>
                                <a:schemeClr val="accent3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2400" b="0" i="1" smtClean="0">
                              <a:solidFill>
                                <a:schemeClr val="accent3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sSub>
                        <m:sSubPr>
                          <m:ctrlPr>
                            <a:rPr lang="fr-FR" sz="2400" i="1">
                              <a:solidFill>
                                <a:schemeClr val="accent3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"/>
                              <m:endChr m:val="|"/>
                              <m:ctrlPr>
                                <a:rPr lang="fr-FR" sz="2400" i="1">
                                  <a:solidFill>
                                    <a:schemeClr val="accent3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2400" i="1">
                                  <a:solidFill>
                                    <a:schemeClr val="accent3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​</m:t>
                              </m:r>
                            </m:e>
                          </m:d>
                        </m:e>
                        <m:sub>
                          <m:r>
                            <a:rPr lang="fr-FR" sz="2400" i="1">
                              <a:solidFill>
                                <a:schemeClr val="accent3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fr-FR" sz="2400" b="0" i="1" smtClean="0">
                              <a:solidFill>
                                <a:schemeClr val="accent3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2400" b="0" i="1" smtClean="0">
                              <a:solidFill>
                                <a:schemeClr val="accent3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fr-FR" sz="2400" b="0" i="1" smtClean="0">
                          <a:solidFill>
                            <a:schemeClr val="accent3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fr-FR" sz="2400" i="1">
                              <a:solidFill>
                                <a:schemeClr val="accent3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i="1">
                              <a:solidFill>
                                <a:schemeClr val="accent3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fr-FR" sz="2400" i="1">
                              <a:solidFill>
                                <a:schemeClr val="accent3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𝑒𝑓𝑓</m:t>
                          </m:r>
                        </m:sub>
                      </m:sSub>
                      <m:d>
                        <m:dPr>
                          <m:ctrlPr>
                            <a:rPr lang="fr-FR" sz="2400" b="0" i="1" smtClean="0">
                              <a:solidFill>
                                <a:schemeClr val="accent3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fr-FR" sz="2400" i="1">
                                  <a:solidFill>
                                    <a:schemeClr val="accent3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2400" b="0" i="1" smtClean="0">
                                  <a:solidFill>
                                    <a:schemeClr val="accent3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fr-FR" sz="2400" b="0" i="1" smtClean="0">
                                      <a:solidFill>
                                        <a:schemeClr val="accent3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2400" i="1">
                                      <a:solidFill>
                                        <a:schemeClr val="accent3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fr-FR" sz="2400" b="0" i="1" smtClean="0">
                                      <a:solidFill>
                                        <a:schemeClr val="accent3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  <m:f>
                            <m:fPr>
                              <m:ctrlPr>
                                <a:rPr lang="fr-FR" sz="2400" i="1">
                                  <a:solidFill>
                                    <a:schemeClr val="accent3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2400" i="1">
                                  <a:solidFill>
                                    <a:schemeClr val="accent3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m:rPr>
                                  <m:sty m:val="p"/>
                                </m:rPr>
                                <a:rPr lang="fr-FR" sz="2400" i="1">
                                  <a:solidFill>
                                    <a:schemeClr val="accent3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C</m:t>
                              </m:r>
                            </m:num>
                            <m:den>
                              <m:r>
                                <a:rPr lang="fr-FR" sz="2400" i="1">
                                  <a:solidFill>
                                    <a:schemeClr val="accent3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m:rPr>
                                  <m:sty m:val="p"/>
                                </m:rPr>
                                <a:rPr lang="fr-FR" sz="2400" i="1">
                                  <a:solidFill>
                                    <a:schemeClr val="accent3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den>
                          </m:f>
                          <m:sSub>
                            <m:sSubPr>
                              <m:ctrlPr>
                                <a:rPr lang="fr-FR" sz="2400" i="1">
                                  <a:solidFill>
                                    <a:schemeClr val="accent3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d>
                                <m:dPr>
                                  <m:begChr m:val=""/>
                                  <m:endChr m:val="|"/>
                                  <m:ctrlPr>
                                    <a:rPr lang="fr-FR" sz="2400" i="1">
                                      <a:solidFill>
                                        <a:schemeClr val="accent3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fr-FR" sz="2400" i="1">
                                      <a:solidFill>
                                        <a:schemeClr val="accent3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​</m:t>
                                  </m:r>
                                </m:e>
                              </m:d>
                            </m:e>
                            <m:sub>
                              <m:r>
                                <a:rPr lang="fr-FR" sz="2400" i="1">
                                  <a:solidFill>
                                    <a:schemeClr val="accent3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fr-FR" sz="2400" b="0" i="1" smtClean="0">
                                  <a:solidFill>
                                    <a:schemeClr val="accent3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b="0" i="1" smtClean="0">
                                  <a:solidFill>
                                    <a:schemeClr val="accent3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fr-FR" sz="2400" i="1" smtClean="0">
                              <a:solidFill>
                                <a:schemeClr val="accent3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fr-FR" sz="2400" i="1">
                                  <a:solidFill>
                                    <a:schemeClr val="accent3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fr-FR" sz="2400" i="1">
                                      <a:solidFill>
                                        <a:schemeClr val="accent3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sz="2400" i="1">
                                      <a:solidFill>
                                        <a:schemeClr val="accent3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</m:e>
                                <m:sup>
                                  <m:r>
                                    <a:rPr lang="fr-FR" sz="2400" i="1">
                                      <a:solidFill>
                                        <a:schemeClr val="accent3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fr-FR" sz="2400" i="1">
                                  <a:solidFill>
                                    <a:schemeClr val="accent3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num>
                            <m:den>
                              <m:r>
                                <a:rPr lang="fr-FR" sz="2400" i="1">
                                  <a:solidFill>
                                    <a:schemeClr val="accent3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p>
                                <m:sSupPr>
                                  <m:ctrlPr>
                                    <a:rPr lang="fr-FR" sz="2400" i="1">
                                      <a:solidFill>
                                        <a:schemeClr val="accent3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sz="2400" i="1">
                                      <a:solidFill>
                                        <a:schemeClr val="accent3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p>
                                  <m:r>
                                    <a:rPr lang="fr-FR" sz="2400" i="1">
                                      <a:solidFill>
                                        <a:schemeClr val="accent3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  <m:sSub>
                            <m:sSubPr>
                              <m:ctrlPr>
                                <a:rPr lang="fr-FR" sz="2400" i="1">
                                  <a:solidFill>
                                    <a:schemeClr val="accent3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d>
                                <m:dPr>
                                  <m:begChr m:val=""/>
                                  <m:endChr m:val="|"/>
                                  <m:ctrlPr>
                                    <a:rPr lang="fr-FR" sz="2400" i="1">
                                      <a:solidFill>
                                        <a:schemeClr val="accent3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fr-FR" sz="2400" i="1">
                                      <a:solidFill>
                                        <a:schemeClr val="accent3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​</m:t>
                                  </m:r>
                                </m:e>
                              </m:d>
                            </m:e>
                            <m:sub>
                              <m:r>
                                <a:rPr lang="fr-FR" sz="2400" i="1">
                                  <a:solidFill>
                                    <a:schemeClr val="accent3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fr-FR" sz="2400" b="0" i="1" smtClean="0">
                                  <a:solidFill>
                                    <a:schemeClr val="accent3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b="0" i="1" smtClean="0">
                                  <a:solidFill>
                                    <a:schemeClr val="accent3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fr-FR" sz="2400" i="1">
                          <a:solidFill>
                            <a:schemeClr val="accent3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sz="2400" b="0" i="1" smtClean="0">
                          <a:solidFill>
                            <a:schemeClr val="accent3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sSubSup>
                        <m:sSubSupPr>
                          <m:ctrlPr>
                            <a:rPr lang="fr-FR" sz="2400" b="0" i="1" smtClean="0">
                              <a:solidFill>
                                <a:schemeClr val="accent3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FR" sz="2400" b="0" i="1" smtClean="0">
                              <a:solidFill>
                                <a:schemeClr val="accent3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sz="2400" b="0" i="1" smtClean="0">
                              <a:solidFill>
                                <a:schemeClr val="accent3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fr-FR" sz="2400" b="0" i="1" smtClean="0">
                              <a:solidFill>
                                <a:schemeClr val="accent3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fr-FR" sz="24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sz="2400" i="1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2400" i="1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sz="2400" i="1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2400" i="1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num>
                        <m:den>
                          <m:r>
                            <a:rPr lang="fr-FR" sz="2400" i="1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sz="2400" i="1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2400" b="0" i="1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p>
                              <m:r>
                                <a:rPr lang="fr-FR" sz="2400" i="1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sSub>
                        <m:sSubPr>
                          <m:ctrlPr>
                            <a:rPr lang="fr-FR" sz="2400" i="1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"/>
                              <m:endChr m:val="|"/>
                              <m:ctrlPr>
                                <a:rPr lang="fr-FR" sz="2400" i="1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2400" i="1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  <m:t>​</m:t>
                              </m:r>
                            </m:e>
                          </m:d>
                        </m:e>
                        <m:sub>
                          <m:r>
                            <a:rPr lang="fr-FR" sz="2400" i="1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fr-FR" sz="2400" i="1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2400" i="1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f>
                        <m:fPr>
                          <m:ctrlPr>
                            <a:rPr lang="fr-FR" sz="2400" i="1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𝛥</m:t>
                          </m:r>
                          <m:r>
                            <a:rPr lang="fr-FR" sz="2400" i="1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num>
                        <m:den>
                          <m:r>
                            <a:rPr lang="fr-FR" sz="2400" i="1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2!</m:t>
                          </m:r>
                        </m:den>
                      </m:f>
                      <m:r>
                        <a:rPr lang="fr-FR" sz="2400" b="0" i="1" smtClean="0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fr-FR" sz="2400" i="1">
                          <a:solidFill>
                            <a:schemeClr val="accent5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𝑜</m:t>
                      </m:r>
                      <m:d>
                        <m:dPr>
                          <m:ctrlPr>
                            <a:rPr lang="fr-FR" sz="2400" i="1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fr-FR" sz="240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fr-FR" sz="2400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2400" b="0" i="1" smtClean="0">
                          <a:solidFill>
                            <a:schemeClr val="accent5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fr-FR" sz="2400" i="1">
                          <a:solidFill>
                            <a:schemeClr val="accent5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𝑜</m:t>
                      </m:r>
                      <m:d>
                        <m:dPr>
                          <m:ctrlPr>
                            <a:rPr lang="fr-FR" sz="2400" i="1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fr-FR" sz="240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Δ</m:t>
                          </m:r>
                          <m:sSup>
                            <m:sSupPr>
                              <m:ctrlPr>
                                <a:rPr lang="fr-FR" sz="2400" i="1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2400" i="1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p>
                              <m:r>
                                <a:rPr lang="fr-CA" sz="2400" i="1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fr-FR" sz="2200" dirty="0"/>
              </a:p>
              <a:p>
                <a:pPr marL="0" indent="0">
                  <a:buNone/>
                </a:pPr>
                <a:r>
                  <a:rPr lang="fr-FR" sz="2400" dirty="0">
                    <a:solidFill>
                      <a:schemeClr val="accent3">
                        <a:lumMod val="75000"/>
                      </a:schemeClr>
                    </a:solidFill>
                    <a:latin typeface="Cambria Math" panose="02040503050406030204" pitchFamily="18" charset="0"/>
                  </a:rPr>
                  <a:t>                                                             L(C)                                     </a:t>
                </a:r>
                <a:r>
                  <a:rPr lang="fr-FR" sz="2400" dirty="0">
                    <a:solidFill>
                      <a:schemeClr val="accent5">
                        <a:lumMod val="75000"/>
                      </a:schemeClr>
                    </a:solidFill>
                    <a:latin typeface="Cambria Math" panose="02040503050406030204" pitchFamily="18" charset="0"/>
                  </a:rPr>
                  <a:t>Erreur</a:t>
                </a:r>
                <a:r>
                  <a:rPr lang="fr-FR" sz="2400" i="1" dirty="0">
                    <a:solidFill>
                      <a:schemeClr val="accent5">
                        <a:lumMod val="75000"/>
                      </a:schemeClr>
                    </a:solidFill>
                    <a:latin typeface="Cambria Math" panose="02040503050406030204" pitchFamily="18" charset="0"/>
                  </a:rPr>
                  <a:t> </a:t>
                </a:r>
                <a:r>
                  <a:rPr lang="fr-FR" sz="2400" dirty="0">
                    <a:solidFill>
                      <a:schemeClr val="accent5">
                        <a:lumMod val="75000"/>
                      </a:schemeClr>
                    </a:solidFill>
                    <a:latin typeface="Cambria Math" panose="02040503050406030204" pitchFamily="18" charset="0"/>
                  </a:rPr>
                  <a:t>de</a:t>
                </a:r>
                <a:r>
                  <a:rPr lang="fr-FR" sz="2400" i="1" dirty="0">
                    <a:solidFill>
                      <a:schemeClr val="accent5">
                        <a:lumMod val="75000"/>
                      </a:schemeClr>
                    </a:solidFill>
                    <a:latin typeface="Cambria Math" panose="02040503050406030204" pitchFamily="18" charset="0"/>
                  </a:rPr>
                  <a:t> </a:t>
                </a:r>
                <a:r>
                  <a:rPr lang="fr-FR" sz="2400" dirty="0">
                    <a:solidFill>
                      <a:schemeClr val="accent5">
                        <a:lumMod val="75000"/>
                      </a:schemeClr>
                    </a:solidFill>
                    <a:latin typeface="Cambria Math" panose="02040503050406030204" pitchFamily="18" charset="0"/>
                  </a:rPr>
                  <a:t>troncature</a:t>
                </a:r>
                <a:endParaRPr lang="fr-FR" sz="2200" dirty="0"/>
              </a:p>
              <a:p>
                <a:pPr marL="0" indent="0">
                  <a:buNone/>
                </a:pPr>
                <a:r>
                  <a:rPr lang="fr-FR" sz="2400" dirty="0">
                    <a:latin typeface="Cambria Math" panose="02040503050406030204" pitchFamily="18" charset="0"/>
                  </a:rPr>
                  <a:t>Ordre de précision attendu : 2 par rapport à r et 1 par rapport à t</a:t>
                </a:r>
              </a:p>
              <a:p>
                <a:pPr marL="0" indent="0">
                  <a:buNone/>
                </a:pPr>
                <a:endParaRPr lang="fr-FR" sz="2200" dirty="0"/>
              </a:p>
              <a:p>
                <a:pPr marL="0" indent="0">
                  <a:buNone/>
                </a:pPr>
                <a:endParaRPr lang="fr-FR" dirty="0"/>
              </a:p>
              <a:p>
                <a:pPr marL="0" indent="0">
                  <a:buNone/>
                </a:pPr>
                <a:endParaRPr lang="fr-FR" dirty="0"/>
              </a:p>
              <a:p>
                <a:pPr marL="0" indent="0">
                  <a:buNone/>
                </a:pPr>
                <a:endParaRPr lang="fr-FR" dirty="0"/>
              </a:p>
              <a:p>
                <a:pPr marL="0" indent="0">
                  <a:buNone/>
                </a:pPr>
                <a:endParaRPr lang="fr-FR" sz="2200" b="0" dirty="0"/>
              </a:p>
              <a:p>
                <a:pPr marL="0" indent="0">
                  <a:buNone/>
                </a:pPr>
                <a:endParaRPr lang="fr-FR" sz="2200" b="0" dirty="0"/>
              </a:p>
              <a:p>
                <a:pPr marL="0" indent="0">
                  <a:buNone/>
                </a:pPr>
                <a:endParaRPr lang="fr-FR" sz="2200" dirty="0"/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BC566139-E13C-0C28-BD58-40CF174B143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94738"/>
                <a:ext cx="10515600" cy="4577462"/>
              </a:xfrm>
              <a:blipFill>
                <a:blip r:embed="rId3"/>
                <a:stretch>
                  <a:fillRect l="-754" t="-133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29422076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2217</TotalTime>
  <Words>305</Words>
  <Application>Microsoft Office PowerPoint</Application>
  <PresentationFormat>Grand écran</PresentationFormat>
  <Paragraphs>49</Paragraphs>
  <Slides>5</Slides>
  <Notes>4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5</vt:i4>
      </vt:variant>
    </vt:vector>
  </HeadingPairs>
  <TitlesOfParts>
    <vt:vector size="10" baseType="lpstr">
      <vt:lpstr>Aptos</vt:lpstr>
      <vt:lpstr>Aptos Display</vt:lpstr>
      <vt:lpstr>Arial</vt:lpstr>
      <vt:lpstr>Cambria Math</vt:lpstr>
      <vt:lpstr>Thème Office</vt:lpstr>
      <vt:lpstr>MEC8211 – Devoir 2 </vt:lpstr>
      <vt:lpstr>A) Nouveau schéma de discrétisation </vt:lpstr>
      <vt:lpstr>A) Nouveau schéma de discrétisation </vt:lpstr>
      <vt:lpstr>A) Nouveau schéma de discrétisation </vt:lpstr>
      <vt:lpstr>A) Nouveau schéma de discrétisation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Charlotte Sabrié</dc:creator>
  <cp:lastModifiedBy>Charlotte Sabrié</cp:lastModifiedBy>
  <cp:revision>16</cp:revision>
  <dcterms:created xsi:type="dcterms:W3CDTF">2026-02-07T22:10:41Z</dcterms:created>
  <dcterms:modified xsi:type="dcterms:W3CDTF">2026-02-26T22:38:31Z</dcterms:modified>
</cp:coreProperties>
</file>