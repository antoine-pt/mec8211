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01139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009BC-69C5-7413-6837-1A56D4E1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290BE61-113D-33F3-0A91-2493D5590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F49E80A-E771-CF36-FD88-9BD68FF9E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1FF8F47-AB35-9ED7-AF80-766197C17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9827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DB5FE-EA80-353B-1B11-C7C10377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CB4CFC5-4713-6786-C535-AEE7EAB95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BBDB437-14D2-4449-AA41-AEC9DC644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815303-161A-E91C-3263-52DAE177D1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74889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87EBB-CE48-876C-FFF5-724AE32F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DF6AAA2-7664-2788-A6FA-48571DC82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3A82870-6EBE-D58E-0E6E-DFE701335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F0C2287-0ABB-0A8B-D73E-34AD6BF3E3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897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02/03/2026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Devoir 2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2D3413-E6AD-3115-9024-2BBB69581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582"/>
            <a:ext cx="10515600" cy="1325563"/>
          </a:xfrm>
        </p:spPr>
        <p:txBody>
          <a:bodyPr/>
          <a:lstStyle/>
          <a:p>
            <a:r>
              <a:rPr lang="fr-FR" dirty="0"/>
              <a:t>A) Nouveau schéma de discrétisation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9E15F1C8-749F-9711-228C-AFED7D9DF6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2208" y="1690688"/>
                <a:ext cx="10515600" cy="50787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500" dirty="0"/>
                  <a:t>On cherche à discrétiser l’équation suivante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5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5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fr-FR" sz="25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sSup>
                      <m:s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5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fr-FR" sz="25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25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r>
                  <a:rPr lang="fr-FR" sz="2500" dirty="0"/>
                  <a:t>On utilise le schéma spatial du devoir 1 et un schéma temporel implicite. </a:t>
                </a:r>
              </a:p>
              <a:p>
                <a:pPr marL="0" indent="0">
                  <a:buNone/>
                </a:pPr>
                <a:r>
                  <a:rPr lang="fr-FR" sz="2500" dirty="0"/>
                  <a:t>On obtient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fr-FR" sz="25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sz="2500" i="1">
                        <a:latin typeface="Cambria Math" panose="02040503050406030204" pitchFamily="18" charset="0"/>
                      </a:rPr>
                      <m:t>𝑘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endParaRPr lang="fr-FR" sz="2500" dirty="0"/>
              </a:p>
              <a:p>
                <a:pPr marL="0" indent="0">
                  <a:buNone/>
                </a:pPr>
                <a:r>
                  <a:rPr lang="fr-FR" sz="2500" b="0" dirty="0"/>
                  <a:t>D’où,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FR" sz="25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endParaRPr lang="fr-FR" sz="2500" dirty="0"/>
              </a:p>
              <a:p>
                <a:pPr marL="0" indent="0">
                  <a:buNone/>
                </a:pPr>
                <a:r>
                  <a:rPr lang="fr-FR" sz="2500" dirty="0"/>
                  <a:t>Avec la condition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5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5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=0,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fr-FR" sz="2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2500" dirty="0"/>
                  <a:t>, on obtient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−3</m:t>
                        </m:r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num>
                      <m:den>
                        <m:r>
                          <a:rPr lang="fr-FR" sz="25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  <m:r>
                      <a:rPr lang="fr-FR" sz="2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endParaRPr lang="fr-FR" sz="2500" dirty="0"/>
              </a:p>
              <a:p>
                <a:pPr marL="0" indent="0">
                  <a:buNone/>
                </a:pPr>
                <a:endParaRPr lang="fr-FR" sz="250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9E15F1C8-749F-9711-228C-AFED7D9DF6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2208" y="1690688"/>
                <a:ext cx="10515600" cy="5078730"/>
              </a:xfrm>
              <a:blipFill>
                <a:blip r:embed="rId3"/>
                <a:stretch>
                  <a:fillRect l="-9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7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CFE7-7485-744F-1D80-129434FFF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801541-A08B-0BF3-F1EC-F40D0A55C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237"/>
            <a:ext cx="10515600" cy="1325563"/>
          </a:xfrm>
        </p:spPr>
        <p:txBody>
          <a:bodyPr/>
          <a:lstStyle/>
          <a:p>
            <a:r>
              <a:rPr lang="fr-FR" dirty="0"/>
              <a:t>A) Nouveau schéma de discrétisation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B6AFEAB-F772-9F60-2A08-74511ACDA6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4862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500" b="0" dirty="0"/>
                  <a:t>En chaque nœud, on a donc </a:t>
                </a:r>
              </a:p>
              <a:p>
                <a:r>
                  <a:rPr lang="fr-FR" sz="2500" dirty="0"/>
                  <a:t>Nœud 0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fr-FR" sz="2500"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5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sz="2500" dirty="0"/>
              </a:p>
              <a:p>
                <a:r>
                  <a:rPr lang="fr-FR" sz="2500" dirty="0"/>
                  <a:t>Nœud 1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5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 b="0" i="0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fr-FR" sz="25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r>
                  <a:rPr lang="fr-FR" sz="2500" dirty="0"/>
                  <a:t>Nœud 2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=−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fr-FR" sz="25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r>
                  <a:rPr lang="fr-FR" sz="2500" dirty="0"/>
                  <a:t>Nœud 3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=−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fr-FR" sz="2500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r>
                  <a:rPr lang="fr-FR" sz="2500" dirty="0"/>
                  <a:t>Nœud 4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  <m: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=− 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fr-FR" sz="25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25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sub>
                            </m:sSub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5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25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</m:sub>
                            </m:sSub>
                            <m:r>
                              <a:rPr lang="fr-FR" sz="250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  <m:r>
                              <a:rPr lang="fr-FR" sz="25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a:rPr lang="fr-FR" sz="2500" b="0" i="0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bSup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5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5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5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fr-FR" sz="2500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fr-FR" sz="2500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fr-FR" sz="250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bSup>
                    <m:d>
                      <m:d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m:rPr>
                            <m:sty m:val="p"/>
                          </m:rPr>
                          <a:rPr lang="fr-FR" sz="25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endParaRPr lang="fr-FR" sz="2500" dirty="0"/>
              </a:p>
              <a:p>
                <a:r>
                  <a:rPr lang="fr-FR" sz="2500" dirty="0"/>
                  <a:t>Nœud 5 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fr-FR" sz="25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25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  <m:sup>
                        <m:r>
                          <a:rPr lang="fr-FR" sz="25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FR" sz="25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2500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25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sub>
                    </m:sSub>
                    <m:r>
                      <a:rPr lang="fr-FR" sz="25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sz="2500" dirty="0"/>
              </a:p>
              <a:p>
                <a:pPr marL="0" indent="0">
                  <a:buNone/>
                </a:pPr>
                <a:endParaRPr lang="fr-FR" b="0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B6AFEAB-F772-9F60-2A08-74511ACDA6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486275"/>
              </a:xfrm>
              <a:blipFill>
                <a:blip r:embed="rId3"/>
                <a:stretch>
                  <a:fillRect l="-986" t="-1766" b="-339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417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178A0-01A4-BF69-5ADC-9C76FCC72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5A4CE4-C0F3-D5C4-BF85-6A59EA998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237"/>
            <a:ext cx="10515600" cy="1325563"/>
          </a:xfrm>
        </p:spPr>
        <p:txBody>
          <a:bodyPr/>
          <a:lstStyle/>
          <a:p>
            <a:r>
              <a:rPr lang="fr-FR" dirty="0"/>
              <a:t>A) Nouveau schéma de discrétisation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F0AC1B6-3A44-3171-6482-F04E01FBB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4738"/>
            <a:ext cx="10515600" cy="9885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200" b="0" dirty="0"/>
              <a:t>Procédure générale : </a:t>
            </a:r>
            <a:r>
              <a:rPr lang="fr-FR" sz="2200" dirty="0"/>
              <a:t>Résoudre le système suivant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028A65C2-4249-C907-3D41-BB4942D70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88991"/>
            <a:ext cx="7148179" cy="22252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1D35F909-ADB7-C20F-4412-2F82387B337E}"/>
                  </a:ext>
                </a:extLst>
              </p:cNvPr>
              <p:cNvSpPr txBox="1"/>
              <p:nvPr/>
            </p:nvSpPr>
            <p:spPr>
              <a:xfrm>
                <a:off x="838200" y="4959414"/>
                <a:ext cx="11018520" cy="970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200" dirty="0"/>
                  <a:t>Où, </a:t>
                </a:r>
                <a:endParaRPr lang="fr-FR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sz="2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r>
                      <m:rPr>
                        <m:sty m:val="p"/>
                      </m:rPr>
                      <a:rPr lang="fr-FR" sz="2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r>
                  <a:rPr lang="fr-FR" sz="2200" dirty="0"/>
                  <a:t>, </a:t>
                </a:r>
                <a14:m>
                  <m:oMath xmlns:m="http://schemas.openxmlformats.org/officeDocument/2006/math">
                    <m:r>
                      <a:rPr lang="fr-FR" sz="2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r>
                      <m:rPr>
                        <m:sty m:val="p"/>
                      </m:rPr>
                      <a:rPr lang="fr-FR" sz="2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𝑡</m:t>
                    </m:r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sz="2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 +1</m:t>
                    </m:r>
                  </m:oMath>
                </a14:m>
                <a:r>
                  <a:rPr lang="fr-FR" sz="2200" dirty="0"/>
                  <a:t> et </a:t>
                </a:r>
                <a14:m>
                  <m:oMath xmlns:m="http://schemas.openxmlformats.org/officeDocument/2006/math">
                    <m:r>
                      <a:rPr lang="fr-FR" sz="22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  <m:r>
                      <m:rPr>
                        <m:sty m:val="p"/>
                      </m:rPr>
                      <a:rPr lang="fr-FR" sz="2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𝑡</m:t>
                    </m:r>
                    <m:d>
                      <m:dPr>
                        <m:begChr m:val="["/>
                        <m:endChr m:val="]"/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num>
                          <m:den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Δr</m:t>
                            </m:r>
                          </m:den>
                        </m:f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p>
                                <m:r>
                                  <a:rPr lang="fr-FR" sz="22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e>
                    </m:d>
                  </m:oMath>
                </a14:m>
                <a:endParaRPr lang="fr-FR" sz="2200" dirty="0"/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1D35F909-ADB7-C20F-4412-2F82387B3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59414"/>
                <a:ext cx="11018520" cy="970266"/>
              </a:xfrm>
              <a:prstGeom prst="rect">
                <a:avLst/>
              </a:prstGeom>
              <a:blipFill>
                <a:blip r:embed="rId4"/>
                <a:stretch>
                  <a:fillRect l="-719" t="-3774" b="-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45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1A56D-FC20-125C-6394-4ABA795D5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1BA1E5-F201-1972-D92C-EF7A2690C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8237"/>
            <a:ext cx="10515600" cy="1325563"/>
          </a:xfrm>
        </p:spPr>
        <p:txBody>
          <a:bodyPr/>
          <a:lstStyle/>
          <a:p>
            <a:r>
              <a:rPr lang="fr-FR" dirty="0"/>
              <a:t>A) Nouveau schéma de discrétisation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C566139-E13C-0C28-BD58-40CF174B14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4738"/>
                <a:ext cx="10515600" cy="4577462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fr-FR" sz="2200" b="0" dirty="0"/>
                  <a:t>Erreur de troncature : En utilisant les calculs faits dans le Devoir 1 : </a:t>
                </a:r>
              </a:p>
              <a:p>
                <a:pPr marL="0" indent="0">
                  <a:buNone/>
                </a:pPr>
                <a:r>
                  <a:rPr lang="fr-FR" sz="2200" dirty="0"/>
                  <a:t>En temps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fr-FR" sz="220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Δt</m:t>
                        </m:r>
                      </m:den>
                    </m:f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2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t</m:t>
                        </m:r>
                      </m:den>
                    </m:f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sz="2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fr-FR" sz="22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𝛥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sz="2200" dirty="0"/>
              </a:p>
              <a:p>
                <a:pPr marL="0" indent="0">
                  <a:buNone/>
                </a:pPr>
                <a:r>
                  <a:rPr lang="fr-FR" sz="2200" dirty="0"/>
                  <a:t>En espace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fr-FR" sz="220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20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sz="2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fr-FR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fr-FR" sz="2200" dirty="0"/>
              </a:p>
              <a:p>
                <a:pPr marL="0" indent="0">
                  <a:buNone/>
                </a:pPr>
                <a:r>
                  <a:rPr lang="fr-FR" sz="2200" dirty="0"/>
                  <a:t>Et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fr-FR" sz="220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2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20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2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fr-FR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2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i="1">
                            <a:latin typeface="Cambria Math" panose="02040503050406030204" pitchFamily="18" charset="0"/>
                          </a:rPr>
                          <m:t>𝛥</m:t>
                        </m:r>
                        <m:sSup>
                          <m:sSupPr>
                            <m:ctrlPr>
                              <a:rPr lang="fr-FR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2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CA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fr-FR" sz="2200" dirty="0"/>
              </a:p>
              <a:p>
                <a:pPr marL="0" indent="0">
                  <a:buNone/>
                </a:pPr>
                <a:endParaRPr lang="fr-FR" sz="2200" dirty="0"/>
              </a:p>
              <a:p>
                <a:pPr marL="0" indent="0">
                  <a:buNone/>
                </a:pPr>
                <a:r>
                  <a:rPr lang="fr-FR" sz="2200" dirty="0"/>
                  <a:t>Le schéma donne alors : 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d>
                        <m:d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fr-F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C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sSub>
                        <m:sSubPr>
                          <m:ctrlP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d>
                        </m:e>
                        <m:sub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fr-FR" sz="2400" b="0" i="1" smtClean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r-FR" sz="2400" i="1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2400" b="0" i="1" smtClean="0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fr-FR" sz="2400" b="0" i="1" smtClean="0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num>
                            <m:den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m:rPr>
                                  <m:sty m:val="p"/>
                                </m:r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den>
                          </m:f>
                          <m:sSub>
                            <m:sSub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</m:e>
                              </m:d>
                            </m:e>
                            <m:sub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fr-FR" sz="240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num>
                            <m:den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sSub>
                            <m:sSubPr>
                              <m:ctrlP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"/>
                                  <m:endChr m:val="|"/>
                                  <m:ctrlP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2400" i="1">
                                      <a:solidFill>
                                        <a:schemeClr val="accent3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​</m:t>
                                  </m:r>
                                </m:e>
                              </m:d>
                            </m:e>
                            <m:sub>
                              <m:r>
                                <a:rPr lang="fr-FR" sz="2400" i="1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b="0" i="1" smtClean="0">
                                  <a:solidFill>
                                    <a:schemeClr val="accent3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fr-FR" sz="2400" i="1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400" b="0" i="1" smtClean="0">
                          <a:solidFill>
                            <a:schemeClr val="accent3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sSubSup>
                        <m:sSubSupPr>
                          <m:ctrlP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fr-FR" sz="2400" b="0" i="1" smtClean="0">
                              <a:solidFill>
                                <a:schemeClr val="accent3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b>
                        <m:sSubPr>
                          <m:ctrlP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400" i="1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e>
                          </m:d>
                        </m:e>
                        <m:sub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f>
                        <m:fPr>
                          <m:ctrlP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𝛥</m:t>
                          </m:r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fr-FR" sz="2400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2!</m:t>
                          </m:r>
                        </m:den>
                      </m:f>
                      <m:r>
                        <a:rPr lang="fr-FR" sz="2400" b="0" i="1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i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d>
                        <m:dPr>
                          <m:ctrlPr>
                            <a:rPr lang="fr-FR" sz="2400" i="1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240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2400" b="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400" b="0" i="1" smtClean="0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400" i="1">
                          <a:solidFill>
                            <a:schemeClr val="accent5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d>
                        <m:dPr>
                          <m:ctrlPr>
                            <a:rPr lang="fr-FR" sz="2400" i="1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r-FR" sz="240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CA" sz="2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fr-FR" sz="2200" dirty="0"/>
              </a:p>
              <a:p>
                <a:pPr marL="0" indent="0">
                  <a:buNone/>
                </a:pPr>
                <a:r>
                  <a:rPr lang="fr-FR" sz="2400" dirty="0">
                    <a:solidFill>
                      <a:schemeClr val="accent3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                                                             L(C)                                     </a:t>
                </a:r>
                <a:r>
                  <a:rPr lang="fr-FR" sz="2400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Erreur</a:t>
                </a:r>
                <a:r>
                  <a:rPr lang="fr-FR" sz="2400" i="1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fr-FR" sz="2400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de</a:t>
                </a:r>
                <a:r>
                  <a:rPr lang="fr-FR" sz="2400" i="1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 </a:t>
                </a:r>
                <a:r>
                  <a:rPr lang="fr-FR" sz="2400" dirty="0">
                    <a:solidFill>
                      <a:schemeClr val="accent5">
                        <a:lumMod val="75000"/>
                      </a:schemeClr>
                    </a:solidFill>
                    <a:latin typeface="Cambria Math" panose="02040503050406030204" pitchFamily="18" charset="0"/>
                  </a:rPr>
                  <a:t>troncature</a:t>
                </a:r>
                <a:endParaRPr lang="fr-FR" sz="2200" dirty="0"/>
              </a:p>
              <a:p>
                <a:pPr marL="0" indent="0">
                  <a:buNone/>
                </a:pPr>
                <a:r>
                  <a:rPr lang="fr-FR" sz="2400" dirty="0">
                    <a:latin typeface="Cambria Math" panose="02040503050406030204" pitchFamily="18" charset="0"/>
                  </a:rPr>
                  <a:t>Ordre de précision attendu : 2 par rapport à r et 1 par rapport à t</a:t>
                </a:r>
              </a:p>
              <a:p>
                <a:pPr marL="0" indent="0">
                  <a:buNone/>
                </a:pPr>
                <a:endParaRPr lang="fr-FR" sz="220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sz="2200" b="0" dirty="0"/>
              </a:p>
              <a:p>
                <a:pPr marL="0" indent="0">
                  <a:buNone/>
                </a:pPr>
                <a:endParaRPr lang="fr-FR" sz="2200" b="0" dirty="0"/>
              </a:p>
              <a:p>
                <a:pPr marL="0" indent="0">
                  <a:buNone/>
                </a:pPr>
                <a:endParaRPr lang="fr-FR" sz="220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BC566139-E13C-0C28-BD58-40CF174B14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4738"/>
                <a:ext cx="10515600" cy="4577462"/>
              </a:xfrm>
              <a:blipFill>
                <a:blip r:embed="rId3"/>
                <a:stretch>
                  <a:fillRect l="-754" t="-133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94220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2290</TotalTime>
  <Words>305</Words>
  <Application>Microsoft Office PowerPoint</Application>
  <PresentationFormat>Grand écran</PresentationFormat>
  <Paragraphs>49</Paragraphs>
  <Slides>5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Thème Office</vt:lpstr>
      <vt:lpstr>MEC8211 – Devoir 2 </vt:lpstr>
      <vt:lpstr>A) Nouveau schéma de discrétisation </vt:lpstr>
      <vt:lpstr>A) Nouveau schéma de discrétisation </vt:lpstr>
      <vt:lpstr>A) Nouveau schéma de discrétisation </vt:lpstr>
      <vt:lpstr>A) Nouveau schéma de discrétisation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19</cp:revision>
  <dcterms:created xsi:type="dcterms:W3CDTF">2026-02-07T22:10:41Z</dcterms:created>
  <dcterms:modified xsi:type="dcterms:W3CDTF">2026-03-02T18:32:44Z</dcterms:modified>
</cp:coreProperties>
</file>