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2" r:id="rId7"/>
    <p:sldId id="263" r:id="rId8"/>
    <p:sldId id="264" r:id="rId9"/>
    <p:sldId id="265" r:id="rId10"/>
    <p:sldId id="266" r:id="rId11"/>
    <p:sldId id="267"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0B2023-C595-443A-8D8C-AB9DF5A28D48}" type="datetimeFigureOut">
              <a:rPr lang="fr-FR" smtClean="0"/>
              <a:t>06/03/2026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05186-0725-443C-BC59-E521425E81CD}" type="slidenum">
              <a:rPr lang="fr-FR" smtClean="0"/>
              <a:t>‹#›</a:t>
            </a:fld>
            <a:endParaRPr lang="fr-FR"/>
          </a:p>
        </p:txBody>
      </p:sp>
    </p:spTree>
    <p:extLst>
      <p:ext uri="{BB962C8B-B14F-4D97-AF65-F5344CB8AC3E}">
        <p14:creationId xmlns:p14="http://schemas.microsoft.com/office/powerpoint/2010/main" val="2841166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105186-0725-443C-BC59-E521425E81CD}" type="slidenum">
              <a:rPr lang="fr-FR" smtClean="0"/>
              <a:t>2</a:t>
            </a:fld>
            <a:endParaRPr lang="fr-FR"/>
          </a:p>
        </p:txBody>
      </p:sp>
    </p:spTree>
    <p:extLst>
      <p:ext uri="{BB962C8B-B14F-4D97-AF65-F5344CB8AC3E}">
        <p14:creationId xmlns:p14="http://schemas.microsoft.com/office/powerpoint/2010/main" val="540113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009BC-69C5-7413-6837-1A56D4E1A4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290BE61-113D-33F3-0A91-2493D559091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49E80A-E771-CF36-FD88-9BD68FF9E9E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1FF8F47-AB35-9ED7-AF80-766197C17552}"/>
              </a:ext>
            </a:extLst>
          </p:cNvPr>
          <p:cNvSpPr>
            <a:spLocks noGrp="1"/>
          </p:cNvSpPr>
          <p:nvPr>
            <p:ph type="sldNum" sz="quarter" idx="5"/>
          </p:nvPr>
        </p:nvSpPr>
        <p:spPr/>
        <p:txBody>
          <a:bodyPr/>
          <a:lstStyle/>
          <a:p>
            <a:fld id="{F6105186-0725-443C-BC59-E521425E81CD}" type="slidenum">
              <a:rPr lang="fr-FR" smtClean="0"/>
              <a:t>3</a:t>
            </a:fld>
            <a:endParaRPr lang="fr-FR"/>
          </a:p>
        </p:txBody>
      </p:sp>
    </p:spTree>
    <p:extLst>
      <p:ext uri="{BB962C8B-B14F-4D97-AF65-F5344CB8AC3E}">
        <p14:creationId xmlns:p14="http://schemas.microsoft.com/office/powerpoint/2010/main" val="2279827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DB5FE-EA80-353B-1B11-C7C10377E0C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B4CFC5-4713-6786-C535-AEE7EAB9574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BBDB437-14D2-4449-AA41-AEC9DC6443A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3815303-161A-E91C-3263-52DAE177D164}"/>
              </a:ext>
            </a:extLst>
          </p:cNvPr>
          <p:cNvSpPr>
            <a:spLocks noGrp="1"/>
          </p:cNvSpPr>
          <p:nvPr>
            <p:ph type="sldNum" sz="quarter" idx="5"/>
          </p:nvPr>
        </p:nvSpPr>
        <p:spPr/>
        <p:txBody>
          <a:bodyPr/>
          <a:lstStyle/>
          <a:p>
            <a:fld id="{F6105186-0725-443C-BC59-E521425E81CD}" type="slidenum">
              <a:rPr lang="fr-FR" smtClean="0"/>
              <a:t>4</a:t>
            </a:fld>
            <a:endParaRPr lang="fr-FR"/>
          </a:p>
        </p:txBody>
      </p:sp>
    </p:spTree>
    <p:extLst>
      <p:ext uri="{BB962C8B-B14F-4D97-AF65-F5344CB8AC3E}">
        <p14:creationId xmlns:p14="http://schemas.microsoft.com/office/powerpoint/2010/main" val="2547488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87EBB-CE48-876C-FFF5-724AE32FB09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F6AAA2-7664-2788-A6FA-48571DC822C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A82870-6EBE-D58E-0E6E-DFE70133578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F0C2287-0ABB-0A8B-D73E-34AD6BF3E3A8}"/>
              </a:ext>
            </a:extLst>
          </p:cNvPr>
          <p:cNvSpPr>
            <a:spLocks noGrp="1"/>
          </p:cNvSpPr>
          <p:nvPr>
            <p:ph type="sldNum" sz="quarter" idx="5"/>
          </p:nvPr>
        </p:nvSpPr>
        <p:spPr/>
        <p:txBody>
          <a:bodyPr/>
          <a:lstStyle/>
          <a:p>
            <a:fld id="{F6105186-0725-443C-BC59-E521425E81CD}" type="slidenum">
              <a:rPr lang="fr-FR" smtClean="0"/>
              <a:t>5</a:t>
            </a:fld>
            <a:endParaRPr lang="fr-FR"/>
          </a:p>
        </p:txBody>
      </p:sp>
    </p:spTree>
    <p:extLst>
      <p:ext uri="{BB962C8B-B14F-4D97-AF65-F5344CB8AC3E}">
        <p14:creationId xmlns:p14="http://schemas.microsoft.com/office/powerpoint/2010/main" val="3498975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93FE8-5604-E83F-486A-4E56DE1C699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2958B0-9B5E-3C6A-6A34-E32FDF1E53D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03625AD-36A9-EF9D-2A12-E41ED86DCD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681F226-F793-F32A-2753-92C64F62AB8A}"/>
              </a:ext>
            </a:extLst>
          </p:cNvPr>
          <p:cNvSpPr>
            <a:spLocks noGrp="1"/>
          </p:cNvSpPr>
          <p:nvPr>
            <p:ph type="sldNum" sz="quarter" idx="5"/>
          </p:nvPr>
        </p:nvSpPr>
        <p:spPr/>
        <p:txBody>
          <a:bodyPr/>
          <a:lstStyle/>
          <a:p>
            <a:fld id="{F6105186-0725-443C-BC59-E521425E81CD}" type="slidenum">
              <a:rPr lang="fr-FR" smtClean="0"/>
              <a:t>6</a:t>
            </a:fld>
            <a:endParaRPr lang="fr-FR"/>
          </a:p>
        </p:txBody>
      </p:sp>
    </p:spTree>
    <p:extLst>
      <p:ext uri="{BB962C8B-B14F-4D97-AF65-F5344CB8AC3E}">
        <p14:creationId xmlns:p14="http://schemas.microsoft.com/office/powerpoint/2010/main" val="302156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0E1A3-FD76-F000-A100-2DB684065E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77E1A4E-4381-260C-B1C7-DDB9D0BECA6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671271E-8665-F78E-E114-99C8A5788A3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2E35661-87BB-08E3-248A-C88090C0FD3B}"/>
              </a:ext>
            </a:extLst>
          </p:cNvPr>
          <p:cNvSpPr>
            <a:spLocks noGrp="1"/>
          </p:cNvSpPr>
          <p:nvPr>
            <p:ph type="sldNum" sz="quarter" idx="5"/>
          </p:nvPr>
        </p:nvSpPr>
        <p:spPr/>
        <p:txBody>
          <a:bodyPr/>
          <a:lstStyle/>
          <a:p>
            <a:fld id="{F6105186-0725-443C-BC59-E521425E81CD}" type="slidenum">
              <a:rPr lang="fr-FR" smtClean="0"/>
              <a:t>7</a:t>
            </a:fld>
            <a:endParaRPr lang="fr-FR"/>
          </a:p>
        </p:txBody>
      </p:sp>
    </p:spTree>
    <p:extLst>
      <p:ext uri="{BB962C8B-B14F-4D97-AF65-F5344CB8AC3E}">
        <p14:creationId xmlns:p14="http://schemas.microsoft.com/office/powerpoint/2010/main" val="1407631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97529-EDF2-68BE-D218-BAC32F88B1E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AC71125-CE66-1F00-AA4E-42D2FFEAED5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7298D0-1075-CFA2-B9E4-F65719E1980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B74665C-DB20-2C44-A4AB-ECCF45EFC0F3}"/>
              </a:ext>
            </a:extLst>
          </p:cNvPr>
          <p:cNvSpPr>
            <a:spLocks noGrp="1"/>
          </p:cNvSpPr>
          <p:nvPr>
            <p:ph type="sldNum" sz="quarter" idx="5"/>
          </p:nvPr>
        </p:nvSpPr>
        <p:spPr/>
        <p:txBody>
          <a:bodyPr/>
          <a:lstStyle/>
          <a:p>
            <a:fld id="{F6105186-0725-443C-BC59-E521425E81CD}" type="slidenum">
              <a:rPr lang="fr-FR" smtClean="0"/>
              <a:t>8</a:t>
            </a:fld>
            <a:endParaRPr lang="fr-FR"/>
          </a:p>
        </p:txBody>
      </p:sp>
    </p:spTree>
    <p:extLst>
      <p:ext uri="{BB962C8B-B14F-4D97-AF65-F5344CB8AC3E}">
        <p14:creationId xmlns:p14="http://schemas.microsoft.com/office/powerpoint/2010/main" val="3547418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50A9E-1874-65E6-04F2-916CE1E613F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0B3DEEB-0369-7BA2-323D-3E6B857D91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94A4C0A-ECE6-BDF3-3B3D-5A7EE7EAE93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6997EC5-9BDA-B269-C3FC-735E6A0F67DB}"/>
              </a:ext>
            </a:extLst>
          </p:cNvPr>
          <p:cNvSpPr>
            <a:spLocks noGrp="1"/>
          </p:cNvSpPr>
          <p:nvPr>
            <p:ph type="sldNum" sz="quarter" idx="5"/>
          </p:nvPr>
        </p:nvSpPr>
        <p:spPr/>
        <p:txBody>
          <a:bodyPr/>
          <a:lstStyle/>
          <a:p>
            <a:fld id="{F6105186-0725-443C-BC59-E521425E81CD}" type="slidenum">
              <a:rPr lang="fr-FR" smtClean="0"/>
              <a:t>9</a:t>
            </a:fld>
            <a:endParaRPr lang="fr-FR"/>
          </a:p>
        </p:txBody>
      </p:sp>
    </p:spTree>
    <p:extLst>
      <p:ext uri="{BB962C8B-B14F-4D97-AF65-F5344CB8AC3E}">
        <p14:creationId xmlns:p14="http://schemas.microsoft.com/office/powerpoint/2010/main" val="3878790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AC75-274F-4FB2-E63B-5C6E2067BA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4865C5-1C52-D5F2-2F92-F925CAB6EA3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86E280-FB59-7D3C-4EF6-FAEF4ABC026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71DD530-E890-CC6D-410E-2B45EAF4DB59}"/>
              </a:ext>
            </a:extLst>
          </p:cNvPr>
          <p:cNvSpPr>
            <a:spLocks noGrp="1"/>
          </p:cNvSpPr>
          <p:nvPr>
            <p:ph type="sldNum" sz="quarter" idx="5"/>
          </p:nvPr>
        </p:nvSpPr>
        <p:spPr/>
        <p:txBody>
          <a:bodyPr/>
          <a:lstStyle/>
          <a:p>
            <a:fld id="{F6105186-0725-443C-BC59-E521425E81CD}" type="slidenum">
              <a:rPr lang="fr-FR" smtClean="0"/>
              <a:t>10</a:t>
            </a:fld>
            <a:endParaRPr lang="fr-FR"/>
          </a:p>
        </p:txBody>
      </p:sp>
    </p:spTree>
    <p:extLst>
      <p:ext uri="{BB962C8B-B14F-4D97-AF65-F5344CB8AC3E}">
        <p14:creationId xmlns:p14="http://schemas.microsoft.com/office/powerpoint/2010/main" val="2364212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02BA6-35E4-E2E0-913C-F6DCD1E875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E5BC6DB-3F10-0908-26C1-E9A08A3AB3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157C37D-7AF6-47A7-FBC8-C5A712B73E5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5CCC47F-30F2-4E4C-9C5B-FD066A6231D8}"/>
              </a:ext>
            </a:extLst>
          </p:cNvPr>
          <p:cNvSpPr>
            <a:spLocks noGrp="1"/>
          </p:cNvSpPr>
          <p:nvPr>
            <p:ph type="sldNum" sz="quarter" idx="5"/>
          </p:nvPr>
        </p:nvSpPr>
        <p:spPr/>
        <p:txBody>
          <a:bodyPr/>
          <a:lstStyle/>
          <a:p>
            <a:fld id="{F6105186-0725-443C-BC59-E521425E81CD}" type="slidenum">
              <a:rPr lang="fr-FR" smtClean="0"/>
              <a:t>11</a:t>
            </a:fld>
            <a:endParaRPr lang="fr-FR"/>
          </a:p>
        </p:txBody>
      </p:sp>
    </p:spTree>
    <p:extLst>
      <p:ext uri="{BB962C8B-B14F-4D97-AF65-F5344CB8AC3E}">
        <p14:creationId xmlns:p14="http://schemas.microsoft.com/office/powerpoint/2010/main" val="3301587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F20FCA-9849-8D64-289F-FB7638BA93A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6829620-5708-DEC4-9272-A41F0A6301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DB910B6-110F-28F4-BC47-9CD148E69718}"/>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5" name="Espace réservé du pied de page 4">
            <a:extLst>
              <a:ext uri="{FF2B5EF4-FFF2-40B4-BE49-F238E27FC236}">
                <a16:creationId xmlns:a16="http://schemas.microsoft.com/office/drawing/2014/main" id="{F44678E1-FCC5-EC25-725D-328119EFF80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E9387A6-A3E0-90B2-ED44-78CDF4F0D284}"/>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3775390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97288E-ECBA-99C4-1444-DA21DAB4C3D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EC74A79-D906-7648-DF71-F652B3D257E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EB91EF-38F8-ABFB-87B4-57EDEDB999A7}"/>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5" name="Espace réservé du pied de page 4">
            <a:extLst>
              <a:ext uri="{FF2B5EF4-FFF2-40B4-BE49-F238E27FC236}">
                <a16:creationId xmlns:a16="http://schemas.microsoft.com/office/drawing/2014/main" id="{37709078-3A53-6606-B2E6-3BB4741E36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A92B805-A639-F55C-CC2B-178CB8A3868B}"/>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193968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1E8AB-8B3D-7D2B-454D-A3D812AFCB5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D706EE7-1B52-6EDA-23CD-EBDC9D983B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630CC76-8BA5-D53B-5774-461AC3B17228}"/>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5" name="Espace réservé du pied de page 4">
            <a:extLst>
              <a:ext uri="{FF2B5EF4-FFF2-40B4-BE49-F238E27FC236}">
                <a16:creationId xmlns:a16="http://schemas.microsoft.com/office/drawing/2014/main" id="{8DF6B1B4-70DA-80E0-6D01-F2E288534F6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9B155F-8FEC-FE08-D681-49F2C5AACBEC}"/>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431993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51296E-B96C-D9C9-2CF2-546C13B03D1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EA025F0-4010-871A-FE66-218C9A904A5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64F2629-5962-80D6-CD5A-71A7AE333F6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7F91979-03FE-8AD9-0EBF-A57A38040945}"/>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6" name="Espace réservé du pied de page 5">
            <a:extLst>
              <a:ext uri="{FF2B5EF4-FFF2-40B4-BE49-F238E27FC236}">
                <a16:creationId xmlns:a16="http://schemas.microsoft.com/office/drawing/2014/main" id="{48B9C80A-4711-E7F6-E1DF-09CC03039CA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4C0094B-8232-4889-218A-4184426ECEE8}"/>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1192460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79185-61FB-F46B-A0E2-1E53FE8F8C9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E1E42A4-57AD-B6A7-45F6-E65565DD1E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C1CECC0-8806-8386-0361-52FF2978D3A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357A7A8-EC71-9A58-7CA8-F66CE308BD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C404EC0-E68A-E4C9-B80D-BEEF06093E7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991D710-9103-9DB2-5B2C-59600B097112}"/>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8" name="Espace réservé du pied de page 7">
            <a:extLst>
              <a:ext uri="{FF2B5EF4-FFF2-40B4-BE49-F238E27FC236}">
                <a16:creationId xmlns:a16="http://schemas.microsoft.com/office/drawing/2014/main" id="{345A2E21-EC6F-BB4B-30CF-051112D61FF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91B0247-804A-34B5-9ABD-CF6115BF4A2D}"/>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4106585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37AC3B-D109-33CB-4224-A617247A7FC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3F6FE45-B625-B3EB-8DE6-AE665E114349}"/>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4" name="Espace réservé du pied de page 3">
            <a:extLst>
              <a:ext uri="{FF2B5EF4-FFF2-40B4-BE49-F238E27FC236}">
                <a16:creationId xmlns:a16="http://schemas.microsoft.com/office/drawing/2014/main" id="{1F3647DC-4841-391E-4311-1CCF978C4D1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9564912E-487F-BB3C-29BD-B868B31CFA6E}"/>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46657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86A390C-6CF6-6459-A357-00F3D73CB434}"/>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3" name="Espace réservé du pied de page 2">
            <a:extLst>
              <a:ext uri="{FF2B5EF4-FFF2-40B4-BE49-F238E27FC236}">
                <a16:creationId xmlns:a16="http://schemas.microsoft.com/office/drawing/2014/main" id="{BE966711-8F45-F5F0-78CD-892DDBA2D5F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6C6A74F-9B43-9437-CA16-F699B01232A8}"/>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408713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3010F-0A51-7184-A92A-FB55AE059EC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C1D7753-D33B-ECA5-15CE-371E4C21E6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90C5936-CC3F-C564-027C-7A158FB37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B6D2F58-1DEC-05A4-9415-5505781ED3A0}"/>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6" name="Espace réservé du pied de page 5">
            <a:extLst>
              <a:ext uri="{FF2B5EF4-FFF2-40B4-BE49-F238E27FC236}">
                <a16:creationId xmlns:a16="http://schemas.microsoft.com/office/drawing/2014/main" id="{5B1FDC0B-7A72-6AF2-D8F2-FD133D818DF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A229BFA-2217-13B1-36D0-B45735FE3D09}"/>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2478926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44F5C3-4D43-F330-AB2E-93F7856CD0E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D9E71D8-C483-7218-914B-8C438B7BD3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C0105DA-F2A5-AE7D-D2C7-8E99794548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B4FC808-FEB6-7DC6-E162-509C39E16669}"/>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6" name="Espace réservé du pied de page 5">
            <a:extLst>
              <a:ext uri="{FF2B5EF4-FFF2-40B4-BE49-F238E27FC236}">
                <a16:creationId xmlns:a16="http://schemas.microsoft.com/office/drawing/2014/main" id="{07C49D9E-6F71-6FFF-CC00-D84AF993219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86CB61D-9EC9-D900-993A-D90CFEFB4267}"/>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154036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4F3AE0-0A4F-C73C-7312-C0332CB9B76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E93595E3-1731-DBA8-5D73-6FBC0173DEF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6B2046E-A47B-EEA8-B9CA-90559DF7BCDB}"/>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5" name="Espace réservé du pied de page 4">
            <a:extLst>
              <a:ext uri="{FF2B5EF4-FFF2-40B4-BE49-F238E27FC236}">
                <a16:creationId xmlns:a16="http://schemas.microsoft.com/office/drawing/2014/main" id="{BEA06073-8B5C-0924-EB9B-46644CC4162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3EE113-1D48-2091-06FD-0F833E5744B0}"/>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612413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F4B14AC-D335-199A-8275-8FEAD607815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C344906-2881-CA33-2AED-6CE33B906AC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1BED21D-D702-70A0-6DFF-537C0E9E302B}"/>
              </a:ext>
            </a:extLst>
          </p:cNvPr>
          <p:cNvSpPr>
            <a:spLocks noGrp="1"/>
          </p:cNvSpPr>
          <p:nvPr>
            <p:ph type="dt" sz="half" idx="10"/>
          </p:nvPr>
        </p:nvSpPr>
        <p:spPr/>
        <p:txBody>
          <a:bodyPr/>
          <a:lstStyle/>
          <a:p>
            <a:fld id="{4E51AFDA-D128-4B68-A211-269E2451E5DE}" type="datetimeFigureOut">
              <a:rPr lang="fr-FR" smtClean="0"/>
              <a:t>06/03/2026</a:t>
            </a:fld>
            <a:endParaRPr lang="fr-FR"/>
          </a:p>
        </p:txBody>
      </p:sp>
      <p:sp>
        <p:nvSpPr>
          <p:cNvPr id="5" name="Espace réservé du pied de page 4">
            <a:extLst>
              <a:ext uri="{FF2B5EF4-FFF2-40B4-BE49-F238E27FC236}">
                <a16:creationId xmlns:a16="http://schemas.microsoft.com/office/drawing/2014/main" id="{73B22F45-96A6-62D2-C024-4FBD1C07F0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0799B19-4092-7649-21ED-884512586C51}"/>
              </a:ext>
            </a:extLst>
          </p:cNvPr>
          <p:cNvSpPr>
            <a:spLocks noGrp="1"/>
          </p:cNvSpPr>
          <p:nvPr>
            <p:ph type="sldNum" sz="quarter" idx="12"/>
          </p:nvPr>
        </p:nvSpPr>
        <p:spPr/>
        <p:txBody>
          <a:bodyPr/>
          <a:lstStyle/>
          <a:p>
            <a:fld id="{FD85B578-4E75-4E1C-9BE3-D5DCC0715B13}" type="slidenum">
              <a:rPr lang="fr-FR" smtClean="0"/>
              <a:t>‹#›</a:t>
            </a:fld>
            <a:endParaRPr lang="fr-FR"/>
          </a:p>
        </p:txBody>
      </p:sp>
    </p:spTree>
    <p:extLst>
      <p:ext uri="{BB962C8B-B14F-4D97-AF65-F5344CB8AC3E}">
        <p14:creationId xmlns:p14="http://schemas.microsoft.com/office/powerpoint/2010/main" val="3487238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1ECCE51-4F19-67BD-9ACF-7D67A65B3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44C1EA9-4ED2-C33A-D018-C0313920CC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B54EE32-0D00-5F0F-B543-C3A2D5CAAB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51AFDA-D128-4B68-A211-269E2451E5DE}" type="datetimeFigureOut">
              <a:rPr lang="fr-FR" smtClean="0"/>
              <a:t>06/03/2026</a:t>
            </a:fld>
            <a:endParaRPr lang="fr-FR"/>
          </a:p>
        </p:txBody>
      </p:sp>
      <p:sp>
        <p:nvSpPr>
          <p:cNvPr id="5" name="Espace réservé du pied de page 4">
            <a:extLst>
              <a:ext uri="{FF2B5EF4-FFF2-40B4-BE49-F238E27FC236}">
                <a16:creationId xmlns:a16="http://schemas.microsoft.com/office/drawing/2014/main" id="{6304F246-AFA0-B777-83BA-CAECCDA95B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3044D50-2635-7742-456B-1A644C31FA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85B578-4E75-4E1C-9BE3-D5DCC0715B13}" type="slidenum">
              <a:rPr lang="fr-FR" smtClean="0"/>
              <a:t>‹#›</a:t>
            </a:fld>
            <a:endParaRPr lang="fr-FR"/>
          </a:p>
        </p:txBody>
      </p:sp>
    </p:spTree>
    <p:extLst>
      <p:ext uri="{BB962C8B-B14F-4D97-AF65-F5344CB8AC3E}">
        <p14:creationId xmlns:p14="http://schemas.microsoft.com/office/powerpoint/2010/main" val="932704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antoine-pt/MEC6212.g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C991BE-FE4B-ED26-E133-B4042883214D}"/>
              </a:ext>
            </a:extLst>
          </p:cNvPr>
          <p:cNvSpPr>
            <a:spLocks noGrp="1"/>
          </p:cNvSpPr>
          <p:nvPr>
            <p:ph type="ctrTitle"/>
          </p:nvPr>
        </p:nvSpPr>
        <p:spPr>
          <a:xfrm>
            <a:off x="1524000" y="1426463"/>
            <a:ext cx="9144000" cy="1425131"/>
          </a:xfrm>
        </p:spPr>
        <p:txBody>
          <a:bodyPr/>
          <a:lstStyle/>
          <a:p>
            <a:r>
              <a:rPr lang="fr-FR" noProof="0" dirty="0"/>
              <a:t>MEC8211 – Devoir 2 </a:t>
            </a:r>
          </a:p>
        </p:txBody>
      </p:sp>
      <p:sp>
        <p:nvSpPr>
          <p:cNvPr id="3" name="Sous-titre 2">
            <a:extLst>
              <a:ext uri="{FF2B5EF4-FFF2-40B4-BE49-F238E27FC236}">
                <a16:creationId xmlns:a16="http://schemas.microsoft.com/office/drawing/2014/main" id="{C0AF6114-4134-51BE-88E4-DAEE360A6665}"/>
              </a:ext>
            </a:extLst>
          </p:cNvPr>
          <p:cNvSpPr>
            <a:spLocks noGrp="1"/>
          </p:cNvSpPr>
          <p:nvPr>
            <p:ph type="subTitle" idx="1"/>
          </p:nvPr>
        </p:nvSpPr>
        <p:spPr>
          <a:xfrm>
            <a:off x="1524000" y="4006407"/>
            <a:ext cx="9144000" cy="1945747"/>
          </a:xfrm>
        </p:spPr>
        <p:txBody>
          <a:bodyPr>
            <a:normAutofit fontScale="92500" lnSpcReduction="10000"/>
          </a:bodyPr>
          <a:lstStyle/>
          <a:p>
            <a:r>
              <a:rPr lang="fr-FR" noProof="0" dirty="0"/>
              <a:t>Antoine Payette-Toupin (2090788)</a:t>
            </a:r>
          </a:p>
          <a:p>
            <a:r>
              <a:rPr lang="fr-FR" noProof="0" dirty="0"/>
              <a:t>Charlotte Sabrié (2485495)</a:t>
            </a:r>
          </a:p>
          <a:p>
            <a:r>
              <a:rPr lang="fr-FR" noProof="0" dirty="0"/>
              <a:t>Loïc Vignaud (2485146)</a:t>
            </a:r>
          </a:p>
          <a:p>
            <a:endParaRPr lang="fr-FR" dirty="0"/>
          </a:p>
          <a:p>
            <a:r>
              <a:rPr lang="fr-FR" sz="2200" dirty="0">
                <a:hlinkClick r:id="rId2">
                  <a:extLst>
                    <a:ext uri="{A12FA001-AC4F-418D-AE19-62706E023703}">
                      <ahyp:hlinkClr xmlns:ahyp="http://schemas.microsoft.com/office/drawing/2018/hyperlinkcolor" val="tx"/>
                    </a:ext>
                  </a:extLst>
                </a:hlinkClick>
              </a:rPr>
              <a:t>Répertoire </a:t>
            </a:r>
            <a:r>
              <a:rPr lang="fr-FR" sz="2200" dirty="0" err="1">
                <a:hlinkClick r:id="rId2">
                  <a:extLst>
                    <a:ext uri="{A12FA001-AC4F-418D-AE19-62706E023703}">
                      <ahyp:hlinkClr xmlns:ahyp="http://schemas.microsoft.com/office/drawing/2018/hyperlinkcolor" val="tx"/>
                    </a:ext>
                  </a:extLst>
                </a:hlinkClick>
              </a:rPr>
              <a:t>Github</a:t>
            </a:r>
            <a:r>
              <a:rPr lang="fr-FR" sz="2200" dirty="0">
                <a:hlinkClick r:id="rId2">
                  <a:extLst>
                    <a:ext uri="{A12FA001-AC4F-418D-AE19-62706E023703}">
                      <ahyp:hlinkClr xmlns:ahyp="http://schemas.microsoft.com/office/drawing/2018/hyperlinkcolor" val="tx"/>
                    </a:ext>
                  </a:extLst>
                </a:hlinkClick>
              </a:rPr>
              <a:t> : </a:t>
            </a:r>
            <a:r>
              <a:rPr lang="fr-FR" sz="2200" u="sng" dirty="0">
                <a:hlinkClick r:id="rId2">
                  <a:extLst>
                    <a:ext uri="{A12FA001-AC4F-418D-AE19-62706E023703}">
                      <ahyp:hlinkClr xmlns:ahyp="http://schemas.microsoft.com/office/drawing/2018/hyperlinkcolor" val="tx"/>
                    </a:ext>
                  </a:extLst>
                </a:hlinkClick>
              </a:rPr>
              <a:t>https://github.com/antoine-pt/MEC6212.git</a:t>
            </a:r>
            <a:endParaRPr lang="fr-FR" sz="2200" noProof="0" dirty="0"/>
          </a:p>
        </p:txBody>
      </p:sp>
    </p:spTree>
    <p:extLst>
      <p:ext uri="{BB962C8B-B14F-4D97-AF65-F5344CB8AC3E}">
        <p14:creationId xmlns:p14="http://schemas.microsoft.com/office/powerpoint/2010/main" val="1918372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2D3413-E6AD-3115-9024-2BBB69581BB5}"/>
              </a:ext>
            </a:extLst>
          </p:cNvPr>
          <p:cNvSpPr>
            <a:spLocks noGrp="1"/>
          </p:cNvSpPr>
          <p:nvPr>
            <p:ph type="title"/>
          </p:nvPr>
        </p:nvSpPr>
        <p:spPr>
          <a:xfrm>
            <a:off x="838200" y="88582"/>
            <a:ext cx="10515600" cy="1325563"/>
          </a:xfrm>
        </p:spPr>
        <p:txBody>
          <a:bodyPr/>
          <a:lstStyle/>
          <a:p>
            <a:r>
              <a:rPr lang="fr-FR" dirty="0"/>
              <a:t>A) Nouveau schéma de discrétisation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9E15F1C8-749F-9711-228C-AFED7D9DF6B1}"/>
                  </a:ext>
                </a:extLst>
              </p:cNvPr>
              <p:cNvSpPr>
                <a:spLocks noGrp="1"/>
              </p:cNvSpPr>
              <p:nvPr>
                <p:ph idx="1"/>
              </p:nvPr>
            </p:nvSpPr>
            <p:spPr>
              <a:xfrm>
                <a:off x="902208" y="1690688"/>
                <a:ext cx="10515600" cy="5078730"/>
              </a:xfrm>
            </p:spPr>
            <p:txBody>
              <a:bodyPr>
                <a:normAutofit/>
              </a:bodyPr>
              <a:lstStyle/>
              <a:p>
                <a:pPr marL="0" indent="0">
                  <a:buNone/>
                </a:pPr>
                <a:r>
                  <a:rPr lang="fr-FR" sz="2500" dirty="0"/>
                  <a:t>On cherche à discrétiser l’équation suivante : </a:t>
                </a:r>
                <a14:m>
                  <m:oMath xmlns:m="http://schemas.openxmlformats.org/officeDocument/2006/math">
                    <m:f>
                      <m:fPr>
                        <m:ctrlPr>
                          <a:rPr lang="fr-FR" sz="2500" i="1">
                            <a:latin typeface="Cambria Math" panose="02040503050406030204" pitchFamily="18" charset="0"/>
                          </a:rPr>
                        </m:ctrlPr>
                      </m:fPr>
                      <m:num>
                        <m:r>
                          <a:rPr lang="fr-FR" sz="2500">
                            <a:latin typeface="Cambria Math" panose="02040503050406030204" pitchFamily="18" charset="0"/>
                          </a:rPr>
                          <m:t>𝜕</m:t>
                        </m:r>
                        <m:r>
                          <a:rPr lang="fr-FR" sz="2500" i="1">
                            <a:latin typeface="Cambria Math" panose="02040503050406030204" pitchFamily="18" charset="0"/>
                          </a:rPr>
                          <m:t>𝐶</m:t>
                        </m:r>
                      </m:num>
                      <m:den>
                        <m:r>
                          <a:rPr lang="fr-FR" sz="2500">
                            <a:latin typeface="Cambria Math" panose="02040503050406030204" pitchFamily="18" charset="0"/>
                          </a:rPr>
                          <m:t>𝜕</m:t>
                        </m:r>
                        <m:r>
                          <a:rPr lang="fr-FR" sz="2500" i="1">
                            <a:latin typeface="Cambria Math" panose="02040503050406030204" pitchFamily="18" charset="0"/>
                          </a:rPr>
                          <m:t>𝑡</m:t>
                        </m:r>
                      </m:den>
                    </m:f>
                    <m:r>
                      <a:rPr lang="fr-FR" sz="2500" i="1">
                        <a:latin typeface="Cambria Math" panose="02040503050406030204" pitchFamily="18" charset="0"/>
                      </a:rPr>
                      <m:t>=</m:t>
                    </m:r>
                    <m:sSub>
                      <m:sSubPr>
                        <m:ctrlPr>
                          <a:rPr lang="fr-FR" sz="2500" i="1">
                            <a:latin typeface="Cambria Math" panose="02040503050406030204" pitchFamily="18" charset="0"/>
                          </a:rPr>
                        </m:ctrlPr>
                      </m:sSubPr>
                      <m:e>
                        <m:r>
                          <a:rPr lang="fr-FR" sz="2500" i="1">
                            <a:latin typeface="Cambria Math" panose="02040503050406030204" pitchFamily="18" charset="0"/>
                          </a:rPr>
                          <m:t>𝐷</m:t>
                        </m:r>
                      </m:e>
                      <m:sub>
                        <m:r>
                          <a:rPr lang="fr-FR" sz="2500" i="1">
                            <a:latin typeface="Cambria Math" panose="02040503050406030204" pitchFamily="18" charset="0"/>
                          </a:rPr>
                          <m:t>𝑒𝑓𝑓</m:t>
                        </m:r>
                      </m:sub>
                    </m:sSub>
                    <m:sSup>
                      <m:sSupPr>
                        <m:ctrlPr>
                          <a:rPr lang="fr-FR" sz="2500" i="1">
                            <a:latin typeface="Cambria Math" panose="02040503050406030204" pitchFamily="18" charset="0"/>
                          </a:rPr>
                        </m:ctrlPr>
                      </m:sSupPr>
                      <m:e>
                        <m:r>
                          <m:rPr>
                            <m:sty m:val="p"/>
                          </m:rPr>
                          <a:rPr lang="fr-FR" sz="2500">
                            <a:latin typeface="Cambria Math" panose="02040503050406030204" pitchFamily="18" charset="0"/>
                          </a:rPr>
                          <m:t>∇</m:t>
                        </m:r>
                      </m:e>
                      <m:sup>
                        <m:r>
                          <a:rPr lang="fr-FR" sz="2500" i="1">
                            <a:latin typeface="Cambria Math" panose="02040503050406030204" pitchFamily="18" charset="0"/>
                          </a:rPr>
                          <m:t>2</m:t>
                        </m:r>
                      </m:sup>
                    </m:sSup>
                    <m:r>
                      <a:rPr lang="fr-FR" sz="2500" i="1">
                        <a:latin typeface="Cambria Math" panose="02040503050406030204" pitchFamily="18" charset="0"/>
                      </a:rPr>
                      <m:t>𝐶</m:t>
                    </m:r>
                    <m:r>
                      <a:rPr lang="fr-FR" sz="2500" i="1">
                        <a:latin typeface="Cambria Math" panose="02040503050406030204" pitchFamily="18" charset="0"/>
                      </a:rPr>
                      <m:t>−</m:t>
                    </m:r>
                    <m:r>
                      <a:rPr lang="fr-FR" sz="2500" i="1">
                        <a:latin typeface="Cambria Math" panose="02040503050406030204" pitchFamily="18" charset="0"/>
                      </a:rPr>
                      <m:t>𝑆</m:t>
                    </m:r>
                  </m:oMath>
                </a14:m>
                <a:endParaRPr lang="fr-FR" sz="2500" dirty="0"/>
              </a:p>
              <a:p>
                <a:pPr marL="0" indent="0">
                  <a:buNone/>
                </a:pPr>
                <a:r>
                  <a:rPr lang="fr-FR" sz="2500" dirty="0"/>
                  <a:t>On utilise le schéma spatial du devoir 1 et un schéma temporel implicite. </a:t>
                </a:r>
              </a:p>
              <a:p>
                <a:pPr marL="0" indent="0">
                  <a:buNone/>
                </a:pPr>
                <a:r>
                  <a:rPr lang="fr-FR" sz="2500" dirty="0"/>
                  <a:t>On obtient : </a:t>
                </a:r>
                <a14:m>
                  <m:oMath xmlns:m="http://schemas.openxmlformats.org/officeDocument/2006/math">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i="1">
                                <a:latin typeface="Cambria Math" panose="02040503050406030204" pitchFamily="18" charset="0"/>
                              </a:rPr>
                              <m:t>𝑖</m:t>
                            </m:r>
                          </m:sub>
                          <m:sup>
                            <m:r>
                              <a:rPr lang="fr-FR" sz="2500" i="1">
                                <a:latin typeface="Cambria Math" panose="02040503050406030204" pitchFamily="18" charset="0"/>
                              </a:rPr>
                              <m:t>𝑡</m:t>
                            </m:r>
                            <m:r>
                              <a:rPr lang="fr-FR" sz="2500" i="1">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i="1">
                                <a:latin typeface="Cambria Math" panose="02040503050406030204" pitchFamily="18" charset="0"/>
                              </a:rPr>
                              <m:t>𝑖</m:t>
                            </m:r>
                          </m:sub>
                          <m:sup>
                            <m:r>
                              <a:rPr lang="fr-FR" sz="2500" i="1">
                                <a:latin typeface="Cambria Math" panose="02040503050406030204" pitchFamily="18" charset="0"/>
                              </a:rPr>
                              <m:t>𝑡</m:t>
                            </m:r>
                          </m:sup>
                        </m:sSubSup>
                      </m:num>
                      <m:den>
                        <m:r>
                          <m:rPr>
                            <m:sty m:val="p"/>
                          </m:rPr>
                          <a:rPr lang="fr-FR" sz="2500">
                            <a:latin typeface="Cambria Math" panose="02040503050406030204" pitchFamily="18" charset="0"/>
                          </a:rPr>
                          <m:t>Δ</m:t>
                        </m:r>
                        <m:r>
                          <a:rPr lang="fr-FR" sz="2500" i="1">
                            <a:latin typeface="Cambria Math" panose="02040503050406030204" pitchFamily="18" charset="0"/>
                          </a:rPr>
                          <m:t>𝑡</m:t>
                        </m:r>
                      </m:den>
                    </m:f>
                    <m:r>
                      <a:rPr lang="fr-FR" sz="2500" i="1">
                        <a:latin typeface="Cambria Math" panose="02040503050406030204" pitchFamily="18" charset="0"/>
                      </a:rPr>
                      <m:t>=</m:t>
                    </m:r>
                    <m:sSub>
                      <m:sSubPr>
                        <m:ctrlPr>
                          <a:rPr lang="fr-FR" sz="2500" i="1">
                            <a:latin typeface="Cambria Math" panose="02040503050406030204" pitchFamily="18" charset="0"/>
                          </a:rPr>
                        </m:ctrlPr>
                      </m:sSubPr>
                      <m:e>
                        <m:r>
                          <a:rPr lang="fr-FR" sz="2500" i="1">
                            <a:latin typeface="Cambria Math" panose="02040503050406030204" pitchFamily="18" charset="0"/>
                          </a:rPr>
                          <m:t>𝐷</m:t>
                        </m:r>
                      </m:e>
                      <m:sub>
                        <m:r>
                          <a:rPr lang="fr-FR" sz="2500" i="1">
                            <a:latin typeface="Cambria Math" panose="02040503050406030204" pitchFamily="18" charset="0"/>
                          </a:rPr>
                          <m:t>𝑒𝑓𝑓</m:t>
                        </m:r>
                      </m:sub>
                    </m:sSub>
                    <m:d>
                      <m:dPr>
                        <m:begChr m:val="["/>
                        <m:endChr m:val="]"/>
                        <m:ctrlPr>
                          <a:rPr lang="fr-FR" sz="2500" i="1">
                            <a:latin typeface="Cambria Math" panose="02040503050406030204" pitchFamily="18" charset="0"/>
                          </a:rPr>
                        </m:ctrlPr>
                      </m:dPr>
                      <m:e>
                        <m:f>
                          <m:fPr>
                            <m:ctrlPr>
                              <a:rPr lang="fr-FR" sz="2500" i="1">
                                <a:latin typeface="Cambria Math" panose="02040503050406030204" pitchFamily="18" charset="0"/>
                              </a:rPr>
                            </m:ctrlPr>
                          </m:fPr>
                          <m:num>
                            <m:r>
                              <a:rPr lang="fr-FR" sz="2500">
                                <a:latin typeface="Cambria Math" panose="02040503050406030204" pitchFamily="18" charset="0"/>
                              </a:rPr>
                              <m:t>1</m:t>
                            </m:r>
                          </m:num>
                          <m:den>
                            <m:sSub>
                              <m:sSubPr>
                                <m:ctrlPr>
                                  <a:rPr lang="fr-FR" sz="2500" i="1">
                                    <a:latin typeface="Cambria Math" panose="02040503050406030204" pitchFamily="18" charset="0"/>
                                  </a:rPr>
                                </m:ctrlPr>
                              </m:sSubPr>
                              <m:e>
                                <m:r>
                                  <m:rPr>
                                    <m:sty m:val="p"/>
                                  </m:rPr>
                                  <a:rPr lang="fr-FR" sz="2500">
                                    <a:latin typeface="Cambria Math" panose="02040503050406030204" pitchFamily="18" charset="0"/>
                                  </a:rPr>
                                  <m:t>r</m:t>
                                </m:r>
                              </m:e>
                              <m:sub>
                                <m:r>
                                  <m:rPr>
                                    <m:sty m:val="p"/>
                                  </m:rPr>
                                  <a:rPr lang="fr-FR" sz="2500">
                                    <a:latin typeface="Cambria Math" panose="02040503050406030204" pitchFamily="18" charset="0"/>
                                  </a:rPr>
                                  <m:t>i</m:t>
                                </m:r>
                              </m:sub>
                            </m:sSub>
                          </m:den>
                        </m:f>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a:rPr lang="fr-FR" sz="2500">
                                <a:latin typeface="Cambria Math" panose="02040503050406030204" pitchFamily="18" charset="0"/>
                              </a:rPr>
                              <m:t>2</m:t>
                            </m:r>
                            <m:r>
                              <m:rPr>
                                <m:sty m:val="p"/>
                              </m:rPr>
                              <a:rPr lang="fr-FR" sz="2500">
                                <a:latin typeface="Cambria Math" panose="02040503050406030204" pitchFamily="18" charset="0"/>
                              </a:rPr>
                              <m:t>Δr</m:t>
                            </m:r>
                          </m:den>
                        </m:f>
                        <m:r>
                          <a:rPr lang="fr-FR" sz="2500" i="1">
                            <a:latin typeface="Cambria Math" panose="02040503050406030204" pitchFamily="18" charset="0"/>
                          </a:rPr>
                          <m:t>+</m:t>
                        </m:r>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a:rPr lang="fr-FR" sz="2500">
                                    <a:latin typeface="Cambria Math" panose="02040503050406030204" pitchFamily="18" charset="0"/>
                                  </a:rPr>
                                  <m:t>2</m:t>
                                </m:r>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m:rPr>
                                <m:sty m:val="p"/>
                              </m:rPr>
                              <a:rPr lang="fr-FR" sz="2500">
                                <a:latin typeface="Cambria Math" panose="02040503050406030204" pitchFamily="18" charset="0"/>
                              </a:rPr>
                              <m:t>Δ</m:t>
                            </m:r>
                            <m:sSup>
                              <m:sSupPr>
                                <m:ctrlPr>
                                  <a:rPr lang="fr-FR" sz="2500" i="1">
                                    <a:latin typeface="Cambria Math" panose="02040503050406030204" pitchFamily="18" charset="0"/>
                                  </a:rPr>
                                </m:ctrlPr>
                              </m:sSupPr>
                              <m:e>
                                <m:r>
                                  <m:rPr>
                                    <m:sty m:val="p"/>
                                  </m:rPr>
                                  <a:rPr lang="fr-FR" sz="2500">
                                    <a:latin typeface="Cambria Math" panose="02040503050406030204" pitchFamily="18" charset="0"/>
                                  </a:rPr>
                                  <m:t>r</m:t>
                                </m:r>
                              </m:e>
                              <m:sup>
                                <m:r>
                                  <a:rPr lang="fr-FR" sz="2500">
                                    <a:latin typeface="Cambria Math" panose="02040503050406030204" pitchFamily="18" charset="0"/>
                                  </a:rPr>
                                  <m:t>2</m:t>
                                </m:r>
                              </m:sup>
                            </m:sSup>
                          </m:den>
                        </m:f>
                      </m:e>
                    </m:d>
                    <m:r>
                      <a:rPr lang="fr-FR" sz="2500" i="1">
                        <a:latin typeface="Cambria Math" panose="02040503050406030204" pitchFamily="18" charset="0"/>
                      </a:rPr>
                      <m:t>−</m:t>
                    </m:r>
                    <m:r>
                      <a:rPr lang="fr-FR" sz="2500" i="1">
                        <a:latin typeface="Cambria Math" panose="02040503050406030204" pitchFamily="18" charset="0"/>
                      </a:rPr>
                      <m:t>𝑘</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oMath>
                </a14:m>
                <a:endParaRPr lang="fr-FR" sz="2500" dirty="0"/>
              </a:p>
              <a:p>
                <a:pPr marL="0" indent="0">
                  <a:buNone/>
                </a:pPr>
                <a:endParaRPr lang="fr-FR" sz="2500" dirty="0"/>
              </a:p>
              <a:p>
                <a:pPr marL="0" indent="0">
                  <a:buNone/>
                </a:pPr>
                <a:r>
                  <a:rPr lang="fr-FR" sz="2500" b="0" dirty="0"/>
                  <a:t>D’où, </a:t>
                </a:r>
                <a14:m>
                  <m:oMath xmlns:m="http://schemas.openxmlformats.org/officeDocument/2006/math">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i="1">
                            <a:latin typeface="Cambria Math" panose="02040503050406030204" pitchFamily="18" charset="0"/>
                          </a:rPr>
                          <m:t>𝑖</m:t>
                        </m:r>
                      </m:sub>
                      <m:sup>
                        <m:r>
                          <a:rPr lang="fr-FR" sz="2500" i="1">
                            <a:latin typeface="Cambria Math" panose="02040503050406030204" pitchFamily="18" charset="0"/>
                          </a:rPr>
                          <m:t>𝑡</m:t>
                        </m:r>
                      </m:sup>
                    </m:sSubSup>
                    <m:r>
                      <a:rPr lang="fr-FR" sz="2500" i="1">
                        <a:latin typeface="Cambria Math" panose="02040503050406030204" pitchFamily="18" charset="0"/>
                      </a:rPr>
                      <m:t>=</m:t>
                    </m:r>
                    <m:sSub>
                      <m:sSubPr>
                        <m:ctrlPr>
                          <a:rPr lang="fr-FR" sz="2500" i="1">
                            <a:latin typeface="Cambria Math" panose="02040503050406030204" pitchFamily="18" charset="0"/>
                          </a:rPr>
                        </m:ctrlPr>
                      </m:sSubPr>
                      <m:e>
                        <m:r>
                          <a:rPr lang="fr-FR" sz="2500" i="1">
                            <a:latin typeface="Cambria Math" panose="02040503050406030204" pitchFamily="18" charset="0"/>
                          </a:rPr>
                          <m:t>− </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a:latin typeface="Cambria Math" panose="02040503050406030204" pitchFamily="18" charset="0"/>
                          </a:rPr>
                          <m:t> </m:t>
                        </m:r>
                        <m:r>
                          <a:rPr lang="fr-FR" sz="2500" i="1">
                            <a:latin typeface="Cambria Math" panose="02040503050406030204" pitchFamily="18" charset="0"/>
                          </a:rPr>
                          <m:t>𝐷</m:t>
                        </m:r>
                      </m:e>
                      <m:sub>
                        <m:r>
                          <a:rPr lang="fr-FR" sz="2500" i="1">
                            <a:latin typeface="Cambria Math" panose="02040503050406030204" pitchFamily="18" charset="0"/>
                          </a:rPr>
                          <m:t>𝑒𝑓𝑓</m:t>
                        </m:r>
                      </m:sub>
                    </m:sSub>
                    <m:d>
                      <m:dPr>
                        <m:begChr m:val="["/>
                        <m:endChr m:val="]"/>
                        <m:ctrlPr>
                          <a:rPr lang="fr-FR" sz="2500" i="1">
                            <a:latin typeface="Cambria Math" panose="02040503050406030204" pitchFamily="18" charset="0"/>
                          </a:rPr>
                        </m:ctrlPr>
                      </m:dPr>
                      <m:e>
                        <m:f>
                          <m:fPr>
                            <m:ctrlPr>
                              <a:rPr lang="fr-FR" sz="2500" i="1">
                                <a:latin typeface="Cambria Math" panose="02040503050406030204" pitchFamily="18" charset="0"/>
                              </a:rPr>
                            </m:ctrlPr>
                          </m:fPr>
                          <m:num>
                            <m:r>
                              <a:rPr lang="fr-FR" sz="2500">
                                <a:latin typeface="Cambria Math" panose="02040503050406030204" pitchFamily="18" charset="0"/>
                              </a:rPr>
                              <m:t>1</m:t>
                            </m:r>
                          </m:num>
                          <m:den>
                            <m:sSub>
                              <m:sSubPr>
                                <m:ctrlPr>
                                  <a:rPr lang="fr-FR" sz="2500" i="1">
                                    <a:latin typeface="Cambria Math" panose="02040503050406030204" pitchFamily="18" charset="0"/>
                                  </a:rPr>
                                </m:ctrlPr>
                              </m:sSubPr>
                              <m:e>
                                <m:r>
                                  <m:rPr>
                                    <m:sty m:val="p"/>
                                  </m:rPr>
                                  <a:rPr lang="fr-FR" sz="2500">
                                    <a:latin typeface="Cambria Math" panose="02040503050406030204" pitchFamily="18" charset="0"/>
                                  </a:rPr>
                                  <m:t>r</m:t>
                                </m:r>
                              </m:e>
                              <m:sub>
                                <m:r>
                                  <m:rPr>
                                    <m:sty m:val="p"/>
                                  </m:rPr>
                                  <a:rPr lang="fr-FR" sz="2500">
                                    <a:latin typeface="Cambria Math" panose="02040503050406030204" pitchFamily="18" charset="0"/>
                                  </a:rPr>
                                  <m:t>i</m:t>
                                </m:r>
                              </m:sub>
                            </m:sSub>
                          </m:den>
                        </m:f>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a:rPr lang="fr-FR" sz="2500">
                                <a:latin typeface="Cambria Math" panose="02040503050406030204" pitchFamily="18" charset="0"/>
                              </a:rPr>
                              <m:t>2</m:t>
                            </m:r>
                            <m:r>
                              <m:rPr>
                                <m:sty m:val="p"/>
                              </m:rPr>
                              <a:rPr lang="fr-FR" sz="2500">
                                <a:latin typeface="Cambria Math" panose="02040503050406030204" pitchFamily="18" charset="0"/>
                              </a:rPr>
                              <m:t>Δr</m:t>
                            </m:r>
                          </m:den>
                        </m:f>
                        <m:r>
                          <a:rPr lang="fr-FR" sz="2500" i="1">
                            <a:latin typeface="Cambria Math" panose="02040503050406030204" pitchFamily="18" charset="0"/>
                          </a:rPr>
                          <m:t>+</m:t>
                        </m:r>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a:rPr lang="fr-FR" sz="2500">
                                    <a:latin typeface="Cambria Math" panose="02040503050406030204" pitchFamily="18" charset="0"/>
                                  </a:rPr>
                                  <m:t>2</m:t>
                                </m:r>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m:rPr>
                                <m:sty m:val="p"/>
                              </m:rPr>
                              <a:rPr lang="fr-FR" sz="2500">
                                <a:latin typeface="Cambria Math" panose="02040503050406030204" pitchFamily="18" charset="0"/>
                              </a:rPr>
                              <m:t>Δ</m:t>
                            </m:r>
                            <m:sSup>
                              <m:sSupPr>
                                <m:ctrlPr>
                                  <a:rPr lang="fr-FR" sz="2500" i="1">
                                    <a:latin typeface="Cambria Math" panose="02040503050406030204" pitchFamily="18" charset="0"/>
                                  </a:rPr>
                                </m:ctrlPr>
                              </m:sSupPr>
                              <m:e>
                                <m:r>
                                  <m:rPr>
                                    <m:sty m:val="p"/>
                                  </m:rPr>
                                  <a:rPr lang="fr-FR" sz="2500">
                                    <a:latin typeface="Cambria Math" panose="02040503050406030204" pitchFamily="18" charset="0"/>
                                  </a:rPr>
                                  <m:t>r</m:t>
                                </m:r>
                              </m:e>
                              <m:sup>
                                <m:r>
                                  <a:rPr lang="fr-FR" sz="2500">
                                    <a:latin typeface="Cambria Math" panose="02040503050406030204" pitchFamily="18" charset="0"/>
                                  </a:rPr>
                                  <m:t>2</m:t>
                                </m:r>
                              </m:sup>
                            </m:sSup>
                          </m:den>
                        </m:f>
                      </m:e>
                    </m:d>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m:rPr>
                            <m:sty m:val="p"/>
                          </m:rPr>
                          <a:rPr lang="fr-FR" sz="2500">
                            <a:latin typeface="Cambria Math" panose="02040503050406030204" pitchFamily="18" charset="0"/>
                          </a:rPr>
                          <m:t>i</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d>
                      <m:dPr>
                        <m:ctrlPr>
                          <a:rPr lang="fr-FR" sz="2500" i="1">
                            <a:latin typeface="Cambria Math" panose="02040503050406030204" pitchFamily="18" charset="0"/>
                          </a:rPr>
                        </m:ctrlPr>
                      </m:dPr>
                      <m:e>
                        <m:r>
                          <a:rPr lang="fr-FR" sz="2500" i="1">
                            <a:latin typeface="Cambria Math" panose="02040503050406030204" pitchFamily="18" charset="0"/>
                          </a:rPr>
                          <m:t>𝑘</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i="1">
                            <a:latin typeface="Cambria Math" panose="02040503050406030204" pitchFamily="18" charset="0"/>
                          </a:rPr>
                          <m:t>+1</m:t>
                        </m:r>
                      </m:e>
                    </m:d>
                  </m:oMath>
                </a14:m>
                <a:endParaRPr lang="fr-FR" sz="2500" dirty="0"/>
              </a:p>
              <a:p>
                <a:pPr marL="0" indent="0">
                  <a:buNone/>
                </a:pPr>
                <a:endParaRPr lang="fr-FR" sz="2500" dirty="0"/>
              </a:p>
              <a:p>
                <a:pPr marL="0" indent="0">
                  <a:buNone/>
                </a:pPr>
                <a:r>
                  <a:rPr lang="fr-FR" sz="2500" dirty="0"/>
                  <a:t>Avec la condition </a:t>
                </a:r>
                <a14:m>
                  <m:oMath xmlns:m="http://schemas.openxmlformats.org/officeDocument/2006/math">
                    <m:f>
                      <m:fPr>
                        <m:ctrlPr>
                          <a:rPr lang="fr-FR" sz="2500" i="1">
                            <a:latin typeface="Cambria Math" panose="02040503050406030204" pitchFamily="18" charset="0"/>
                          </a:rPr>
                        </m:ctrlPr>
                      </m:fPr>
                      <m:num>
                        <m:r>
                          <a:rPr lang="fr-FR" sz="2500">
                            <a:latin typeface="Cambria Math" panose="02040503050406030204" pitchFamily="18" charset="0"/>
                          </a:rPr>
                          <m:t>𝜕</m:t>
                        </m:r>
                        <m:r>
                          <a:rPr lang="fr-FR" sz="2500" i="1">
                            <a:latin typeface="Cambria Math" panose="02040503050406030204" pitchFamily="18" charset="0"/>
                          </a:rPr>
                          <m:t>𝐶</m:t>
                        </m:r>
                      </m:num>
                      <m:den>
                        <m:r>
                          <a:rPr lang="fr-FR" sz="2500">
                            <a:latin typeface="Cambria Math" panose="02040503050406030204" pitchFamily="18" charset="0"/>
                          </a:rPr>
                          <m:t>𝜕</m:t>
                        </m:r>
                        <m:r>
                          <m:rPr>
                            <m:sty m:val="p"/>
                          </m:rPr>
                          <a:rPr lang="fr-FR" sz="2500">
                            <a:latin typeface="Cambria Math" panose="02040503050406030204" pitchFamily="18" charset="0"/>
                          </a:rPr>
                          <m:t>r</m:t>
                        </m:r>
                      </m:den>
                    </m:f>
                    <m:sSub>
                      <m:sSubPr>
                        <m:ctrlPr>
                          <a:rPr lang="fr-FR" sz="2500" i="1">
                            <a:latin typeface="Cambria Math" panose="02040503050406030204" pitchFamily="18" charset="0"/>
                          </a:rPr>
                        </m:ctrlPr>
                      </m:sSubPr>
                      <m:e>
                        <m:d>
                          <m:dPr>
                            <m:begChr m:val=""/>
                            <m:endChr m:val="|"/>
                            <m:ctrlPr>
                              <a:rPr lang="fr-FR" sz="2500" i="1">
                                <a:latin typeface="Cambria Math" panose="02040503050406030204" pitchFamily="18" charset="0"/>
                              </a:rPr>
                            </m:ctrlPr>
                          </m:dPr>
                          <m:e>
                            <m:r>
                              <a:rPr lang="fr-FR" sz="2500" i="1">
                                <a:latin typeface="Cambria Math" panose="02040503050406030204" pitchFamily="18" charset="0"/>
                              </a:rPr>
                              <m:t>​</m:t>
                            </m:r>
                          </m:e>
                        </m:d>
                      </m:e>
                      <m:sub>
                        <m:r>
                          <m:rPr>
                            <m:sty m:val="p"/>
                          </m:rPr>
                          <a:rPr lang="fr-FR" sz="2500">
                            <a:latin typeface="Cambria Math" panose="02040503050406030204" pitchFamily="18" charset="0"/>
                          </a:rPr>
                          <m:t>i</m:t>
                        </m:r>
                        <m:r>
                          <a:rPr lang="fr-FR" sz="2500">
                            <a:latin typeface="Cambria Math" panose="02040503050406030204" pitchFamily="18" charset="0"/>
                          </a:rPr>
                          <m:t>=0,</m:t>
                        </m:r>
                        <m:r>
                          <m:rPr>
                            <m:sty m:val="p"/>
                          </m:rPr>
                          <a:rPr lang="fr-FR" sz="2500">
                            <a:latin typeface="Cambria Math" panose="02040503050406030204" pitchFamily="18" charset="0"/>
                          </a:rPr>
                          <m:t>t</m:t>
                        </m:r>
                        <m:r>
                          <a:rPr lang="fr-FR" sz="2500">
                            <a:latin typeface="Cambria Math" panose="02040503050406030204" pitchFamily="18" charset="0"/>
                          </a:rPr>
                          <m:t>+1</m:t>
                        </m:r>
                      </m:sub>
                    </m:sSub>
                    <m:r>
                      <a:rPr lang="fr-FR" sz="2500" i="1">
                        <a:latin typeface="Cambria Math" panose="02040503050406030204" pitchFamily="18" charset="0"/>
                      </a:rPr>
                      <m:t>=0</m:t>
                    </m:r>
                  </m:oMath>
                </a14:m>
                <a:r>
                  <a:rPr lang="fr-FR" sz="2500" dirty="0"/>
                  <a:t>, on obtient : </a:t>
                </a:r>
                <a14:m>
                  <m:oMath xmlns:m="http://schemas.openxmlformats.org/officeDocument/2006/math">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a:rPr lang="fr-FR" sz="2500">
                                <a:latin typeface="Cambria Math" panose="02040503050406030204" pitchFamily="18" charset="0"/>
                              </a:rPr>
                              <m:t>−</m:t>
                            </m:r>
                            <m:r>
                              <m:rPr>
                                <m:sty m:val="p"/>
                              </m:rPr>
                              <a:rPr lang="fr-FR" sz="2500">
                                <a:latin typeface="Cambria Math" panose="02040503050406030204" pitchFamily="18" charset="0"/>
                              </a:rPr>
                              <m:t>C</m:t>
                            </m:r>
                          </m:e>
                          <m:sub>
                            <m:r>
                              <a:rPr lang="fr-FR" sz="2500" i="1">
                                <a:latin typeface="Cambria Math" panose="02040503050406030204" pitchFamily="18" charset="0"/>
                              </a:rPr>
                              <m:t>2</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a:rPr lang="fr-FR" sz="2500">
                                <a:latin typeface="Cambria Math" panose="02040503050406030204" pitchFamily="18" charset="0"/>
                              </a:rPr>
                              <m:t>4</m:t>
                            </m:r>
                            <m:r>
                              <m:rPr>
                                <m:sty m:val="p"/>
                              </m:rPr>
                              <a:rPr lang="fr-FR" sz="2500">
                                <a:latin typeface="Cambria Math" panose="02040503050406030204" pitchFamily="18" charset="0"/>
                              </a:rPr>
                              <m:t>C</m:t>
                            </m:r>
                          </m:e>
                          <m:sub>
                            <m:r>
                              <a:rPr lang="fr-FR" sz="250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−3</m:t>
                        </m:r>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b="0" i="1" smtClean="0">
                                <a:latin typeface="Cambria Math" panose="02040503050406030204" pitchFamily="18" charset="0"/>
                              </a:rPr>
                              <m:t>0</m:t>
                            </m:r>
                          </m:sub>
                          <m:sup>
                            <m:r>
                              <a:rPr lang="fr-FR" sz="2500" i="1">
                                <a:latin typeface="Cambria Math" panose="02040503050406030204" pitchFamily="18" charset="0"/>
                              </a:rPr>
                              <m:t>𝑡</m:t>
                            </m:r>
                            <m:r>
                              <a:rPr lang="fr-FR" sz="2500" i="1">
                                <a:latin typeface="Cambria Math" panose="02040503050406030204" pitchFamily="18" charset="0"/>
                              </a:rPr>
                              <m:t>+1</m:t>
                            </m:r>
                          </m:sup>
                        </m:sSubSup>
                      </m:num>
                      <m:den>
                        <m:r>
                          <a:rPr lang="fr-FR" sz="2500">
                            <a:latin typeface="Cambria Math" panose="02040503050406030204" pitchFamily="18" charset="0"/>
                          </a:rPr>
                          <m:t>2</m:t>
                        </m:r>
                        <m:r>
                          <m:rPr>
                            <m:sty m:val="p"/>
                          </m:rPr>
                          <a:rPr lang="fr-FR" sz="2500">
                            <a:latin typeface="Cambria Math" panose="02040503050406030204" pitchFamily="18" charset="0"/>
                          </a:rPr>
                          <m:t>Δr</m:t>
                        </m:r>
                      </m:den>
                    </m:f>
                    <m:r>
                      <a:rPr lang="fr-FR" sz="2500" i="1">
                        <a:latin typeface="Cambria Math" panose="02040503050406030204" pitchFamily="18" charset="0"/>
                      </a:rPr>
                      <m:t>=0</m:t>
                    </m:r>
                  </m:oMath>
                </a14:m>
                <a:endParaRPr lang="fr-FR" sz="2500" dirty="0"/>
              </a:p>
              <a:p>
                <a:pPr marL="0" indent="0">
                  <a:buNone/>
                </a:pPr>
                <a:endParaRPr lang="fr-FR" sz="2500" dirty="0"/>
              </a:p>
              <a:p>
                <a:pPr marL="0" indent="0">
                  <a:buNone/>
                </a:pPr>
                <a:endParaRPr lang="fr-FR" sz="2500" dirty="0"/>
              </a:p>
              <a:p>
                <a:pPr marL="0" indent="0">
                  <a:buNone/>
                </a:pPr>
                <a:endParaRPr lang="fr-FR" dirty="0"/>
              </a:p>
              <a:p>
                <a:pPr marL="0" indent="0">
                  <a:buNone/>
                </a:pPr>
                <a:endParaRPr lang="fr-FR" b="0" dirty="0"/>
              </a:p>
              <a:p>
                <a:pPr marL="0" indent="0">
                  <a:buNone/>
                </a:pPr>
                <a:endParaRPr lang="fr-FR" b="0" dirty="0"/>
              </a:p>
            </p:txBody>
          </p:sp>
        </mc:Choice>
        <mc:Fallback xmlns="">
          <p:sp>
            <p:nvSpPr>
              <p:cNvPr id="3" name="Espace réservé du contenu 2">
                <a:extLst>
                  <a:ext uri="{FF2B5EF4-FFF2-40B4-BE49-F238E27FC236}">
                    <a16:creationId xmlns:a16="http://schemas.microsoft.com/office/drawing/2014/main" id="{9E15F1C8-749F-9711-228C-AFED7D9DF6B1}"/>
                  </a:ext>
                </a:extLst>
              </p:cNvPr>
              <p:cNvSpPr>
                <a:spLocks noGrp="1" noRot="1" noChangeAspect="1" noMove="1" noResize="1" noEditPoints="1" noAdjustHandles="1" noChangeArrowheads="1" noChangeShapeType="1" noTextEdit="1"/>
              </p:cNvSpPr>
              <p:nvPr>
                <p:ph idx="1"/>
              </p:nvPr>
            </p:nvSpPr>
            <p:spPr>
              <a:xfrm>
                <a:off x="902208" y="1690688"/>
                <a:ext cx="10515600" cy="5078730"/>
              </a:xfrm>
              <a:blipFill>
                <a:blip r:embed="rId3"/>
                <a:stretch>
                  <a:fillRect l="-928"/>
                </a:stretch>
              </a:blipFill>
            </p:spPr>
            <p:txBody>
              <a:bodyPr/>
              <a:lstStyle/>
              <a:p>
                <a:r>
                  <a:rPr lang="fr-FR">
                    <a:noFill/>
                  </a:rPr>
                  <a:t> </a:t>
                </a:r>
              </a:p>
            </p:txBody>
          </p:sp>
        </mc:Fallback>
      </mc:AlternateContent>
    </p:spTree>
    <p:extLst>
      <p:ext uri="{BB962C8B-B14F-4D97-AF65-F5344CB8AC3E}">
        <p14:creationId xmlns:p14="http://schemas.microsoft.com/office/powerpoint/2010/main" val="438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CFE7-7485-744F-1D80-129434FFF97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801541-A08B-0BF3-F1EC-F40D0A55CF58}"/>
              </a:ext>
            </a:extLst>
          </p:cNvPr>
          <p:cNvSpPr>
            <a:spLocks noGrp="1"/>
          </p:cNvSpPr>
          <p:nvPr>
            <p:ph type="title"/>
          </p:nvPr>
        </p:nvSpPr>
        <p:spPr>
          <a:xfrm>
            <a:off x="838200" y="118237"/>
            <a:ext cx="10515600" cy="1325563"/>
          </a:xfrm>
        </p:spPr>
        <p:txBody>
          <a:bodyPr/>
          <a:lstStyle/>
          <a:p>
            <a:r>
              <a:rPr lang="fr-FR" dirty="0"/>
              <a:t>A) Nouveau schéma de discrétisation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0B6AFEAB-F772-9F60-2A08-74511ACDA6A8}"/>
                  </a:ext>
                </a:extLst>
              </p:cNvPr>
              <p:cNvSpPr>
                <a:spLocks noGrp="1"/>
              </p:cNvSpPr>
              <p:nvPr>
                <p:ph idx="1"/>
              </p:nvPr>
            </p:nvSpPr>
            <p:spPr>
              <a:xfrm>
                <a:off x="838200" y="1690688"/>
                <a:ext cx="10515600" cy="4486275"/>
              </a:xfrm>
            </p:spPr>
            <p:txBody>
              <a:bodyPr>
                <a:normAutofit/>
              </a:bodyPr>
              <a:lstStyle/>
              <a:p>
                <a:pPr marL="0" indent="0">
                  <a:buNone/>
                </a:pPr>
                <a:r>
                  <a:rPr lang="fr-FR" sz="2500" b="0" dirty="0"/>
                  <a:t>En chaque nœud, on a donc </a:t>
                </a:r>
              </a:p>
              <a:p>
                <a:r>
                  <a:rPr lang="fr-FR" sz="2500" dirty="0"/>
                  <a:t>Nœud 0 : </a:t>
                </a:r>
                <a14:m>
                  <m:oMath xmlns:m="http://schemas.openxmlformats.org/officeDocument/2006/math">
                    <m:sSubSup>
                      <m:sSubSupPr>
                        <m:ctrlPr>
                          <a:rPr lang="fr-FR" sz="2500" i="1">
                            <a:latin typeface="Cambria Math" panose="02040503050406030204" pitchFamily="18" charset="0"/>
                          </a:rPr>
                        </m:ctrlPr>
                      </m:sSubSupPr>
                      <m:e>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a:latin typeface="Cambria Math" panose="02040503050406030204" pitchFamily="18" charset="0"/>
                              </a:rPr>
                              <m:t>0</m:t>
                            </m:r>
                          </m:sub>
                          <m:sup>
                            <m:r>
                              <m:rPr>
                                <m:sty m:val="p"/>
                              </m:rPr>
                              <a:rPr lang="fr-FR" sz="2500">
                                <a:latin typeface="Cambria Math" panose="02040503050406030204" pitchFamily="18" charset="0"/>
                              </a:rPr>
                              <m:t>t</m:t>
                            </m:r>
                          </m:sup>
                        </m:sSubSup>
                        <m:r>
                          <a:rPr lang="fr-FR" sz="2500">
                            <a:latin typeface="Cambria Math" panose="02040503050406030204" pitchFamily="18" charset="0"/>
                          </a:rPr>
                          <m:t>=−</m:t>
                        </m:r>
                        <m:f>
                          <m:fPr>
                            <m:ctrlPr>
                              <a:rPr lang="fr-FR" sz="2500" i="1">
                                <a:latin typeface="Cambria Math" panose="02040503050406030204" pitchFamily="18" charset="0"/>
                              </a:rPr>
                            </m:ctrlPr>
                          </m:fPr>
                          <m:num>
                            <m:r>
                              <a:rPr lang="fr-FR" sz="2500">
                                <a:latin typeface="Cambria Math" panose="02040503050406030204" pitchFamily="18" charset="0"/>
                              </a:rPr>
                              <m:t>1</m:t>
                            </m:r>
                          </m:num>
                          <m:den>
                            <m:r>
                              <a:rPr lang="fr-FR" sz="2500">
                                <a:latin typeface="Cambria Math" panose="02040503050406030204" pitchFamily="18" charset="0"/>
                              </a:rPr>
                              <m:t>3</m:t>
                            </m:r>
                          </m:den>
                        </m:f>
                        <m:r>
                          <a:rPr lang="fr-FR" sz="2500" i="1">
                            <a:latin typeface="Cambria Math" panose="02040503050406030204" pitchFamily="18" charset="0"/>
                          </a:rPr>
                          <m:t>𝐶</m:t>
                        </m:r>
                      </m:e>
                      <m:sub>
                        <m:r>
                          <a:rPr lang="fr-FR" sz="2500" i="1">
                            <a:latin typeface="Cambria Math" panose="02040503050406030204" pitchFamily="18" charset="0"/>
                          </a:rPr>
                          <m:t>2</m:t>
                        </m:r>
                      </m:sub>
                      <m:sup>
                        <m:r>
                          <a:rPr lang="fr-FR" sz="2500" i="1">
                            <a:latin typeface="Cambria Math" panose="02040503050406030204" pitchFamily="18" charset="0"/>
                          </a:rPr>
                          <m:t>𝑡</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f>
                          <m:fPr>
                            <m:ctrlPr>
                              <a:rPr lang="fr-FR" sz="2500" i="1">
                                <a:latin typeface="Cambria Math" panose="02040503050406030204" pitchFamily="18" charset="0"/>
                              </a:rPr>
                            </m:ctrlPr>
                          </m:fPr>
                          <m:num>
                            <m:r>
                              <a:rPr lang="fr-FR" sz="2500">
                                <a:latin typeface="Cambria Math" panose="02040503050406030204" pitchFamily="18" charset="0"/>
                              </a:rPr>
                              <m:t>4</m:t>
                            </m:r>
                          </m:num>
                          <m:den>
                            <m:r>
                              <a:rPr lang="fr-FR" sz="2500">
                                <a:latin typeface="Cambria Math" panose="02040503050406030204" pitchFamily="18" charset="0"/>
                              </a:rPr>
                              <m:t>3</m:t>
                            </m:r>
                          </m:den>
                        </m:f>
                        <m:r>
                          <a:rPr lang="fr-FR" sz="2500" i="1">
                            <a:latin typeface="Cambria Math" panose="02040503050406030204" pitchFamily="18" charset="0"/>
                          </a:rPr>
                          <m:t>𝐶</m:t>
                        </m:r>
                      </m:e>
                      <m:sub>
                        <m:r>
                          <a:rPr lang="fr-FR" sz="2500">
                            <a:latin typeface="Cambria Math" panose="02040503050406030204" pitchFamily="18" charset="0"/>
                          </a:rPr>
                          <m:t>1</m:t>
                        </m:r>
                      </m:sub>
                      <m:sup>
                        <m:r>
                          <a:rPr lang="fr-FR" sz="2500" i="1">
                            <a:latin typeface="Cambria Math" panose="02040503050406030204" pitchFamily="18" charset="0"/>
                          </a:rPr>
                          <m:t>𝑡</m:t>
                        </m:r>
                      </m:sup>
                    </m:sSubSup>
                  </m:oMath>
                </a14:m>
                <a:endParaRPr lang="fr-FR" sz="2500" dirty="0"/>
              </a:p>
              <a:p>
                <a:r>
                  <a:rPr lang="fr-FR" sz="2500" dirty="0"/>
                  <a:t>Nœud 1 : </a:t>
                </a:r>
                <a14:m>
                  <m:oMath xmlns:m="http://schemas.openxmlformats.org/officeDocument/2006/math">
                    <m:sSub>
                      <m:sSubPr>
                        <m:ctrlPr>
                          <a:rPr lang="fr-FR" sz="2500" i="1">
                            <a:latin typeface="Cambria Math" panose="02040503050406030204" pitchFamily="18" charset="0"/>
                          </a:rPr>
                        </m:ctrlPr>
                      </m:sSubPr>
                      <m:e>
                        <m:sSubSup>
                          <m:sSubSupPr>
                            <m:ctrlPr>
                              <a:rPr lang="fr-FR" sz="2500" b="0" i="1" smtClean="0">
                                <a:latin typeface="Cambria Math" panose="02040503050406030204" pitchFamily="18" charset="0"/>
                              </a:rPr>
                            </m:ctrlPr>
                          </m:sSubSupPr>
                          <m:e>
                            <m:r>
                              <a:rPr lang="fr-FR" sz="2500" b="0" i="1" smtClean="0">
                                <a:latin typeface="Cambria Math" panose="02040503050406030204" pitchFamily="18" charset="0"/>
                              </a:rPr>
                              <m:t>𝐶</m:t>
                            </m:r>
                          </m:e>
                          <m:sub>
                            <m:r>
                              <a:rPr lang="fr-FR" sz="2500" b="0" i="1" smtClean="0">
                                <a:latin typeface="Cambria Math" panose="02040503050406030204" pitchFamily="18" charset="0"/>
                              </a:rPr>
                              <m:t>1</m:t>
                            </m:r>
                          </m:sub>
                          <m:sup>
                            <m:r>
                              <a:rPr lang="fr-FR" sz="2500" b="0" i="1" smtClean="0">
                                <a:latin typeface="Cambria Math" panose="02040503050406030204" pitchFamily="18" charset="0"/>
                              </a:rPr>
                              <m:t>𝑡</m:t>
                            </m:r>
                          </m:sup>
                        </m:sSubSup>
                        <m:r>
                          <a:rPr lang="fr-FR" sz="2500" b="0" i="1" smtClean="0">
                            <a:latin typeface="Cambria Math" panose="02040503050406030204" pitchFamily="18" charset="0"/>
                          </a:rPr>
                          <m:t>=</m:t>
                        </m:r>
                        <m:r>
                          <a:rPr lang="fr-FR" sz="2500" i="1">
                            <a:latin typeface="Cambria Math" panose="02040503050406030204" pitchFamily="18" charset="0"/>
                          </a:rPr>
                          <m:t>− </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a:latin typeface="Cambria Math" panose="02040503050406030204" pitchFamily="18" charset="0"/>
                          </a:rPr>
                          <m:t> </m:t>
                        </m:r>
                        <m:r>
                          <a:rPr lang="fr-FR" sz="2500" i="1">
                            <a:latin typeface="Cambria Math" panose="02040503050406030204" pitchFamily="18" charset="0"/>
                          </a:rPr>
                          <m:t>𝐷</m:t>
                        </m:r>
                      </m:e>
                      <m:sub>
                        <m:r>
                          <a:rPr lang="fr-FR" sz="2500" i="1">
                            <a:latin typeface="Cambria Math" panose="02040503050406030204" pitchFamily="18" charset="0"/>
                          </a:rPr>
                          <m:t>𝑒𝑓𝑓</m:t>
                        </m:r>
                      </m:sub>
                    </m:sSub>
                    <m:d>
                      <m:dPr>
                        <m:begChr m:val="["/>
                        <m:endChr m:val="]"/>
                        <m:ctrlPr>
                          <a:rPr lang="fr-FR" sz="2500" i="1">
                            <a:latin typeface="Cambria Math" panose="02040503050406030204" pitchFamily="18" charset="0"/>
                          </a:rPr>
                        </m:ctrlPr>
                      </m:dPr>
                      <m:e>
                        <m:f>
                          <m:fPr>
                            <m:ctrlPr>
                              <a:rPr lang="fr-FR" sz="2500" i="1">
                                <a:latin typeface="Cambria Math" panose="02040503050406030204" pitchFamily="18" charset="0"/>
                              </a:rPr>
                            </m:ctrlPr>
                          </m:fPr>
                          <m:num>
                            <m:r>
                              <a:rPr lang="fr-FR" sz="2500" b="0" i="0" smtClean="0">
                                <a:latin typeface="Cambria Math" panose="02040503050406030204" pitchFamily="18" charset="0"/>
                              </a:rPr>
                              <m:t>5</m:t>
                            </m:r>
                          </m:num>
                          <m:den>
                            <m:r>
                              <a:rPr lang="fr-FR" sz="2500" b="0" i="1" smtClean="0">
                                <a:latin typeface="Cambria Math" panose="02040503050406030204" pitchFamily="18" charset="0"/>
                              </a:rPr>
                              <m:t>𝑅</m:t>
                            </m:r>
                          </m:den>
                        </m:f>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2</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0</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a:rPr lang="fr-FR" sz="2500">
                                <a:latin typeface="Cambria Math" panose="02040503050406030204" pitchFamily="18" charset="0"/>
                              </a:rPr>
                              <m:t>2</m:t>
                            </m:r>
                            <m:r>
                              <m:rPr>
                                <m:sty m:val="p"/>
                              </m:rPr>
                              <a:rPr lang="fr-FR" sz="2500">
                                <a:latin typeface="Cambria Math" panose="02040503050406030204" pitchFamily="18" charset="0"/>
                              </a:rPr>
                              <m:t>Δr</m:t>
                            </m:r>
                          </m:den>
                        </m:f>
                        <m:r>
                          <a:rPr lang="fr-FR" sz="2500" i="1">
                            <a:latin typeface="Cambria Math" panose="02040503050406030204" pitchFamily="18" charset="0"/>
                          </a:rPr>
                          <m:t>+</m:t>
                        </m:r>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2</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a:rPr lang="fr-FR" sz="2500">
                                    <a:latin typeface="Cambria Math" panose="02040503050406030204" pitchFamily="18" charset="0"/>
                                  </a:rPr>
                                  <m:t>2</m:t>
                                </m:r>
                                <m:r>
                                  <m:rPr>
                                    <m:sty m:val="p"/>
                                  </m:rPr>
                                  <a:rPr lang="fr-FR" sz="2500">
                                    <a:latin typeface="Cambria Math" panose="02040503050406030204" pitchFamily="18" charset="0"/>
                                  </a:rPr>
                                  <m:t>C</m:t>
                                </m:r>
                              </m:e>
                              <m:sub>
                                <m:r>
                                  <a:rPr lang="fr-FR" sz="2500" b="0" i="0" smtClean="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0</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m:rPr>
                                <m:sty m:val="p"/>
                              </m:rPr>
                              <a:rPr lang="fr-FR" sz="2500">
                                <a:latin typeface="Cambria Math" panose="02040503050406030204" pitchFamily="18" charset="0"/>
                              </a:rPr>
                              <m:t>Δ</m:t>
                            </m:r>
                            <m:sSup>
                              <m:sSupPr>
                                <m:ctrlPr>
                                  <a:rPr lang="fr-FR" sz="2500" i="1">
                                    <a:latin typeface="Cambria Math" panose="02040503050406030204" pitchFamily="18" charset="0"/>
                                  </a:rPr>
                                </m:ctrlPr>
                              </m:sSupPr>
                              <m:e>
                                <m:r>
                                  <m:rPr>
                                    <m:sty m:val="p"/>
                                  </m:rPr>
                                  <a:rPr lang="fr-FR" sz="2500">
                                    <a:latin typeface="Cambria Math" panose="02040503050406030204" pitchFamily="18" charset="0"/>
                                  </a:rPr>
                                  <m:t>r</m:t>
                                </m:r>
                              </m:e>
                              <m:sup>
                                <m:r>
                                  <a:rPr lang="fr-FR" sz="2500">
                                    <a:latin typeface="Cambria Math" panose="02040503050406030204" pitchFamily="18" charset="0"/>
                                  </a:rPr>
                                  <m:t>2</m:t>
                                </m:r>
                              </m:sup>
                            </m:sSup>
                          </m:den>
                        </m:f>
                      </m:e>
                    </m:d>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d>
                      <m:dPr>
                        <m:ctrlPr>
                          <a:rPr lang="fr-FR" sz="2500" i="1">
                            <a:latin typeface="Cambria Math" panose="02040503050406030204" pitchFamily="18" charset="0"/>
                          </a:rPr>
                        </m:ctrlPr>
                      </m:dPr>
                      <m:e>
                        <m:r>
                          <a:rPr lang="fr-FR" sz="2500" i="1">
                            <a:latin typeface="Cambria Math" panose="02040503050406030204" pitchFamily="18" charset="0"/>
                          </a:rPr>
                          <m:t>𝑘</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i="1">
                            <a:latin typeface="Cambria Math" panose="02040503050406030204" pitchFamily="18" charset="0"/>
                          </a:rPr>
                          <m:t>+1</m:t>
                        </m:r>
                      </m:e>
                    </m:d>
                  </m:oMath>
                </a14:m>
                <a:endParaRPr lang="fr-FR" sz="2500" dirty="0"/>
              </a:p>
              <a:p>
                <a:r>
                  <a:rPr lang="fr-FR" sz="2500" dirty="0"/>
                  <a:t>Nœud 2 : </a:t>
                </a:r>
                <a14:m>
                  <m:oMath xmlns:m="http://schemas.openxmlformats.org/officeDocument/2006/math">
                    <m:sSub>
                      <m:sSubPr>
                        <m:ctrlPr>
                          <a:rPr lang="fr-FR" sz="2500" i="1">
                            <a:latin typeface="Cambria Math" panose="02040503050406030204" pitchFamily="18" charset="0"/>
                          </a:rPr>
                        </m:ctrlPr>
                      </m:sSubPr>
                      <m:e>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b="0" i="1" smtClean="0">
                                <a:latin typeface="Cambria Math" panose="02040503050406030204" pitchFamily="18" charset="0"/>
                              </a:rPr>
                              <m:t>2</m:t>
                            </m:r>
                          </m:sub>
                          <m:sup>
                            <m:r>
                              <a:rPr lang="fr-FR" sz="2500" i="1">
                                <a:latin typeface="Cambria Math" panose="02040503050406030204" pitchFamily="18" charset="0"/>
                              </a:rPr>
                              <m:t>𝑡</m:t>
                            </m:r>
                          </m:sup>
                        </m:sSubSup>
                        <m:r>
                          <a:rPr lang="fr-FR" sz="2500" i="1">
                            <a:latin typeface="Cambria Math" panose="02040503050406030204" pitchFamily="18" charset="0"/>
                          </a:rPr>
                          <m:t>=− </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a:latin typeface="Cambria Math" panose="02040503050406030204" pitchFamily="18" charset="0"/>
                          </a:rPr>
                          <m:t> </m:t>
                        </m:r>
                        <m:r>
                          <a:rPr lang="fr-FR" sz="2500" i="1">
                            <a:latin typeface="Cambria Math" panose="02040503050406030204" pitchFamily="18" charset="0"/>
                          </a:rPr>
                          <m:t>𝐷</m:t>
                        </m:r>
                      </m:e>
                      <m:sub>
                        <m:r>
                          <a:rPr lang="fr-FR" sz="2500" i="1">
                            <a:latin typeface="Cambria Math" panose="02040503050406030204" pitchFamily="18" charset="0"/>
                          </a:rPr>
                          <m:t>𝑒𝑓𝑓</m:t>
                        </m:r>
                      </m:sub>
                    </m:sSub>
                    <m:d>
                      <m:dPr>
                        <m:begChr m:val="["/>
                        <m:endChr m:val="]"/>
                        <m:ctrlPr>
                          <a:rPr lang="fr-FR" sz="2500" i="1">
                            <a:latin typeface="Cambria Math" panose="02040503050406030204" pitchFamily="18" charset="0"/>
                          </a:rPr>
                        </m:ctrlPr>
                      </m:dPr>
                      <m:e>
                        <m:f>
                          <m:fPr>
                            <m:ctrlPr>
                              <a:rPr lang="fr-FR" sz="2500" i="1">
                                <a:latin typeface="Cambria Math" panose="02040503050406030204" pitchFamily="18" charset="0"/>
                              </a:rPr>
                            </m:ctrlPr>
                          </m:fPr>
                          <m:num>
                            <m:r>
                              <a:rPr lang="fr-FR" sz="2500">
                                <a:latin typeface="Cambria Math" panose="02040503050406030204" pitchFamily="18" charset="0"/>
                              </a:rPr>
                              <m:t>5</m:t>
                            </m:r>
                          </m:num>
                          <m:den>
                            <m:r>
                              <a:rPr lang="fr-FR" sz="2500" b="0" i="1" smtClean="0">
                                <a:latin typeface="Cambria Math" panose="02040503050406030204" pitchFamily="18" charset="0"/>
                              </a:rPr>
                              <m:t>2</m:t>
                            </m:r>
                            <m:r>
                              <a:rPr lang="fr-FR" sz="2500" i="1">
                                <a:latin typeface="Cambria Math" panose="02040503050406030204" pitchFamily="18" charset="0"/>
                              </a:rPr>
                              <m:t>𝑅</m:t>
                            </m:r>
                          </m:den>
                        </m:f>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3</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a:rPr lang="fr-FR" sz="2500">
                                <a:latin typeface="Cambria Math" panose="02040503050406030204" pitchFamily="18" charset="0"/>
                              </a:rPr>
                              <m:t>2</m:t>
                            </m:r>
                            <m:r>
                              <m:rPr>
                                <m:sty m:val="p"/>
                              </m:rPr>
                              <a:rPr lang="fr-FR" sz="2500">
                                <a:latin typeface="Cambria Math" panose="02040503050406030204" pitchFamily="18" charset="0"/>
                              </a:rPr>
                              <m:t>Δr</m:t>
                            </m:r>
                          </m:den>
                        </m:f>
                        <m:r>
                          <a:rPr lang="fr-FR" sz="2500" i="1">
                            <a:latin typeface="Cambria Math" panose="02040503050406030204" pitchFamily="18" charset="0"/>
                          </a:rPr>
                          <m:t>+</m:t>
                        </m:r>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3</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a:rPr lang="fr-FR" sz="2500">
                                    <a:latin typeface="Cambria Math" panose="02040503050406030204" pitchFamily="18" charset="0"/>
                                  </a:rPr>
                                  <m:t>2</m:t>
                                </m:r>
                                <m:r>
                                  <m:rPr>
                                    <m:sty m:val="p"/>
                                  </m:rPr>
                                  <a:rPr lang="fr-FR" sz="2500">
                                    <a:latin typeface="Cambria Math" panose="02040503050406030204" pitchFamily="18" charset="0"/>
                                  </a:rPr>
                                  <m:t>C</m:t>
                                </m:r>
                              </m:e>
                              <m:sub>
                                <m:r>
                                  <a:rPr lang="fr-FR" sz="2500" b="0" i="0" smtClean="0">
                                    <a:latin typeface="Cambria Math" panose="02040503050406030204" pitchFamily="18" charset="0"/>
                                  </a:rPr>
                                  <m:t>2</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1</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m:rPr>
                                <m:sty m:val="p"/>
                              </m:rPr>
                              <a:rPr lang="fr-FR" sz="2500">
                                <a:latin typeface="Cambria Math" panose="02040503050406030204" pitchFamily="18" charset="0"/>
                              </a:rPr>
                              <m:t>Δ</m:t>
                            </m:r>
                            <m:sSup>
                              <m:sSupPr>
                                <m:ctrlPr>
                                  <a:rPr lang="fr-FR" sz="2500" i="1">
                                    <a:latin typeface="Cambria Math" panose="02040503050406030204" pitchFamily="18" charset="0"/>
                                  </a:rPr>
                                </m:ctrlPr>
                              </m:sSupPr>
                              <m:e>
                                <m:r>
                                  <m:rPr>
                                    <m:sty m:val="p"/>
                                  </m:rPr>
                                  <a:rPr lang="fr-FR" sz="2500">
                                    <a:latin typeface="Cambria Math" panose="02040503050406030204" pitchFamily="18" charset="0"/>
                                  </a:rPr>
                                  <m:t>r</m:t>
                                </m:r>
                              </m:e>
                              <m:sup>
                                <m:r>
                                  <a:rPr lang="fr-FR" sz="2500">
                                    <a:latin typeface="Cambria Math" panose="02040503050406030204" pitchFamily="18" charset="0"/>
                                  </a:rPr>
                                  <m:t>2</m:t>
                                </m:r>
                              </m:sup>
                            </m:sSup>
                          </m:den>
                        </m:f>
                      </m:e>
                    </m:d>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2</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d>
                      <m:dPr>
                        <m:ctrlPr>
                          <a:rPr lang="fr-FR" sz="2500" i="1">
                            <a:latin typeface="Cambria Math" panose="02040503050406030204" pitchFamily="18" charset="0"/>
                          </a:rPr>
                        </m:ctrlPr>
                      </m:dPr>
                      <m:e>
                        <m:r>
                          <a:rPr lang="fr-FR" sz="2500" i="1">
                            <a:latin typeface="Cambria Math" panose="02040503050406030204" pitchFamily="18" charset="0"/>
                          </a:rPr>
                          <m:t>𝑘</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i="1">
                            <a:latin typeface="Cambria Math" panose="02040503050406030204" pitchFamily="18" charset="0"/>
                          </a:rPr>
                          <m:t>+1</m:t>
                        </m:r>
                      </m:e>
                    </m:d>
                  </m:oMath>
                </a14:m>
                <a:endParaRPr lang="fr-FR" sz="2500" dirty="0"/>
              </a:p>
              <a:p>
                <a:r>
                  <a:rPr lang="fr-FR" sz="2500" dirty="0"/>
                  <a:t>Nœud 3 : </a:t>
                </a:r>
                <a14:m>
                  <m:oMath xmlns:m="http://schemas.openxmlformats.org/officeDocument/2006/math">
                    <m:sSub>
                      <m:sSubPr>
                        <m:ctrlPr>
                          <a:rPr lang="fr-FR" sz="2500" i="1">
                            <a:latin typeface="Cambria Math" panose="02040503050406030204" pitchFamily="18" charset="0"/>
                          </a:rPr>
                        </m:ctrlPr>
                      </m:sSubPr>
                      <m:e>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b="0" i="1" smtClean="0">
                                <a:latin typeface="Cambria Math" panose="02040503050406030204" pitchFamily="18" charset="0"/>
                              </a:rPr>
                              <m:t>3</m:t>
                            </m:r>
                          </m:sub>
                          <m:sup>
                            <m:r>
                              <a:rPr lang="fr-FR" sz="2500" i="1">
                                <a:latin typeface="Cambria Math" panose="02040503050406030204" pitchFamily="18" charset="0"/>
                              </a:rPr>
                              <m:t>𝑡</m:t>
                            </m:r>
                          </m:sup>
                        </m:sSubSup>
                        <m:r>
                          <a:rPr lang="fr-FR" sz="2500" i="1">
                            <a:latin typeface="Cambria Math" panose="02040503050406030204" pitchFamily="18" charset="0"/>
                          </a:rPr>
                          <m:t>=− </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a:latin typeface="Cambria Math" panose="02040503050406030204" pitchFamily="18" charset="0"/>
                          </a:rPr>
                          <m:t> </m:t>
                        </m:r>
                        <m:r>
                          <a:rPr lang="fr-FR" sz="2500" i="1">
                            <a:latin typeface="Cambria Math" panose="02040503050406030204" pitchFamily="18" charset="0"/>
                          </a:rPr>
                          <m:t>𝐷</m:t>
                        </m:r>
                      </m:e>
                      <m:sub>
                        <m:r>
                          <a:rPr lang="fr-FR" sz="2500" i="1">
                            <a:latin typeface="Cambria Math" panose="02040503050406030204" pitchFamily="18" charset="0"/>
                          </a:rPr>
                          <m:t>𝑒𝑓𝑓</m:t>
                        </m:r>
                      </m:sub>
                    </m:sSub>
                    <m:d>
                      <m:dPr>
                        <m:begChr m:val="["/>
                        <m:endChr m:val="]"/>
                        <m:ctrlPr>
                          <a:rPr lang="fr-FR" sz="2500" i="1">
                            <a:latin typeface="Cambria Math" panose="02040503050406030204" pitchFamily="18" charset="0"/>
                          </a:rPr>
                        </m:ctrlPr>
                      </m:dPr>
                      <m:e>
                        <m:f>
                          <m:fPr>
                            <m:ctrlPr>
                              <a:rPr lang="fr-FR" sz="2500" i="1">
                                <a:latin typeface="Cambria Math" panose="02040503050406030204" pitchFamily="18" charset="0"/>
                              </a:rPr>
                            </m:ctrlPr>
                          </m:fPr>
                          <m:num>
                            <m:r>
                              <a:rPr lang="fr-FR" sz="2500">
                                <a:latin typeface="Cambria Math" panose="02040503050406030204" pitchFamily="18" charset="0"/>
                              </a:rPr>
                              <m:t>5</m:t>
                            </m:r>
                          </m:num>
                          <m:den>
                            <m:r>
                              <a:rPr lang="fr-FR" sz="2500" b="0" i="1" smtClean="0">
                                <a:latin typeface="Cambria Math" panose="02040503050406030204" pitchFamily="18" charset="0"/>
                              </a:rPr>
                              <m:t>3</m:t>
                            </m:r>
                            <m:r>
                              <a:rPr lang="fr-FR" sz="2500" i="1">
                                <a:latin typeface="Cambria Math" panose="02040503050406030204" pitchFamily="18" charset="0"/>
                              </a:rPr>
                              <m:t>𝑅</m:t>
                            </m:r>
                          </m:den>
                        </m:f>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4</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2</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a:rPr lang="fr-FR" sz="2500">
                                <a:latin typeface="Cambria Math" panose="02040503050406030204" pitchFamily="18" charset="0"/>
                              </a:rPr>
                              <m:t>2</m:t>
                            </m:r>
                            <m:r>
                              <m:rPr>
                                <m:sty m:val="p"/>
                              </m:rPr>
                              <a:rPr lang="fr-FR" sz="2500">
                                <a:latin typeface="Cambria Math" panose="02040503050406030204" pitchFamily="18" charset="0"/>
                              </a:rPr>
                              <m:t>Δr</m:t>
                            </m:r>
                          </m:den>
                        </m:f>
                        <m:r>
                          <a:rPr lang="fr-FR" sz="2500" i="1">
                            <a:latin typeface="Cambria Math" panose="02040503050406030204" pitchFamily="18" charset="0"/>
                          </a:rPr>
                          <m:t>+</m:t>
                        </m:r>
                        <m:f>
                          <m:fPr>
                            <m:ctrlPr>
                              <a:rPr lang="fr-FR" sz="2500" i="1">
                                <a:latin typeface="Cambria Math" panose="02040503050406030204" pitchFamily="18" charset="0"/>
                              </a:rPr>
                            </m:ctrlPr>
                          </m:fPr>
                          <m:num>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4</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a:latin typeface="Cambria Math" panose="02040503050406030204" pitchFamily="18" charset="0"/>
                              </a:rPr>
                              <m:t>−</m:t>
                            </m:r>
                            <m:sSubSup>
                              <m:sSubSupPr>
                                <m:ctrlPr>
                                  <a:rPr lang="fr-FR" sz="2500" i="1">
                                    <a:latin typeface="Cambria Math" panose="02040503050406030204" pitchFamily="18" charset="0"/>
                                  </a:rPr>
                                </m:ctrlPr>
                              </m:sSubSupPr>
                              <m:e>
                                <m:r>
                                  <a:rPr lang="fr-FR" sz="2500">
                                    <a:latin typeface="Cambria Math" panose="02040503050406030204" pitchFamily="18" charset="0"/>
                                  </a:rPr>
                                  <m:t>2</m:t>
                                </m:r>
                                <m:r>
                                  <m:rPr>
                                    <m:sty m:val="p"/>
                                  </m:rPr>
                                  <a:rPr lang="fr-FR" sz="2500">
                                    <a:latin typeface="Cambria Math" panose="02040503050406030204" pitchFamily="18" charset="0"/>
                                  </a:rPr>
                                  <m:t>C</m:t>
                                </m:r>
                              </m:e>
                              <m:sub>
                                <m:r>
                                  <a:rPr lang="fr-FR" sz="2500" b="0" i="0" smtClean="0">
                                    <a:latin typeface="Cambria Math" panose="02040503050406030204" pitchFamily="18" charset="0"/>
                                  </a:rPr>
                                  <m:t>3</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2</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m:rPr>
                                <m:sty m:val="p"/>
                              </m:rPr>
                              <a:rPr lang="fr-FR" sz="2500">
                                <a:latin typeface="Cambria Math" panose="02040503050406030204" pitchFamily="18" charset="0"/>
                              </a:rPr>
                              <m:t>Δ</m:t>
                            </m:r>
                            <m:sSup>
                              <m:sSupPr>
                                <m:ctrlPr>
                                  <a:rPr lang="fr-FR" sz="2500" i="1">
                                    <a:latin typeface="Cambria Math" panose="02040503050406030204" pitchFamily="18" charset="0"/>
                                  </a:rPr>
                                </m:ctrlPr>
                              </m:sSupPr>
                              <m:e>
                                <m:r>
                                  <m:rPr>
                                    <m:sty m:val="p"/>
                                  </m:rPr>
                                  <a:rPr lang="fr-FR" sz="2500">
                                    <a:latin typeface="Cambria Math" panose="02040503050406030204" pitchFamily="18" charset="0"/>
                                  </a:rPr>
                                  <m:t>r</m:t>
                                </m:r>
                              </m:e>
                              <m:sup>
                                <m:r>
                                  <a:rPr lang="fr-FR" sz="2500">
                                    <a:latin typeface="Cambria Math" panose="02040503050406030204" pitchFamily="18" charset="0"/>
                                  </a:rPr>
                                  <m:t>2</m:t>
                                </m:r>
                              </m:sup>
                            </m:sSup>
                          </m:den>
                        </m:f>
                      </m:e>
                    </m:d>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3</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d>
                      <m:dPr>
                        <m:ctrlPr>
                          <a:rPr lang="fr-FR" sz="2500" i="1">
                            <a:latin typeface="Cambria Math" panose="02040503050406030204" pitchFamily="18" charset="0"/>
                          </a:rPr>
                        </m:ctrlPr>
                      </m:dPr>
                      <m:e>
                        <m:r>
                          <a:rPr lang="fr-FR" sz="2500" i="1">
                            <a:latin typeface="Cambria Math" panose="02040503050406030204" pitchFamily="18" charset="0"/>
                          </a:rPr>
                          <m:t>𝑘</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i="1">
                            <a:latin typeface="Cambria Math" panose="02040503050406030204" pitchFamily="18" charset="0"/>
                          </a:rPr>
                          <m:t>+1</m:t>
                        </m:r>
                      </m:e>
                    </m:d>
                  </m:oMath>
                </a14:m>
                <a:endParaRPr lang="fr-FR" sz="2500" dirty="0"/>
              </a:p>
              <a:p>
                <a:r>
                  <a:rPr lang="fr-FR" sz="2500" dirty="0"/>
                  <a:t>Nœud 4 : </a:t>
                </a:r>
                <a14:m>
                  <m:oMath xmlns:m="http://schemas.openxmlformats.org/officeDocument/2006/math">
                    <m:sSub>
                      <m:sSubPr>
                        <m:ctrlPr>
                          <a:rPr lang="fr-FR" sz="2500" i="1">
                            <a:latin typeface="Cambria Math" panose="02040503050406030204" pitchFamily="18" charset="0"/>
                          </a:rPr>
                        </m:ctrlPr>
                      </m:sSubPr>
                      <m:e>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b="0" i="1" smtClean="0">
                                <a:latin typeface="Cambria Math" panose="02040503050406030204" pitchFamily="18" charset="0"/>
                              </a:rPr>
                              <m:t>4</m:t>
                            </m:r>
                          </m:sub>
                          <m:sup>
                            <m:r>
                              <a:rPr lang="fr-FR" sz="2500" i="1">
                                <a:latin typeface="Cambria Math" panose="02040503050406030204" pitchFamily="18" charset="0"/>
                              </a:rPr>
                              <m:t>𝑡</m:t>
                            </m:r>
                          </m:sup>
                        </m:sSubSup>
                        <m:r>
                          <a:rPr lang="fr-FR" sz="2500" i="1">
                            <a:latin typeface="Cambria Math" panose="02040503050406030204" pitchFamily="18" charset="0"/>
                          </a:rPr>
                          <m:t>=− </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a:latin typeface="Cambria Math" panose="02040503050406030204" pitchFamily="18" charset="0"/>
                          </a:rPr>
                          <m:t> </m:t>
                        </m:r>
                        <m:r>
                          <a:rPr lang="fr-FR" sz="2500" i="1">
                            <a:latin typeface="Cambria Math" panose="02040503050406030204" pitchFamily="18" charset="0"/>
                          </a:rPr>
                          <m:t>𝐷</m:t>
                        </m:r>
                      </m:e>
                      <m:sub>
                        <m:r>
                          <a:rPr lang="fr-FR" sz="2500" i="1">
                            <a:latin typeface="Cambria Math" panose="02040503050406030204" pitchFamily="18" charset="0"/>
                          </a:rPr>
                          <m:t>𝑒𝑓𝑓</m:t>
                        </m:r>
                      </m:sub>
                    </m:sSub>
                    <m:d>
                      <m:dPr>
                        <m:begChr m:val="["/>
                        <m:endChr m:val="]"/>
                        <m:ctrlPr>
                          <a:rPr lang="fr-FR" sz="2500" i="1">
                            <a:latin typeface="Cambria Math" panose="02040503050406030204" pitchFamily="18" charset="0"/>
                          </a:rPr>
                        </m:ctrlPr>
                      </m:dPr>
                      <m:e>
                        <m:f>
                          <m:fPr>
                            <m:ctrlPr>
                              <a:rPr lang="fr-FR" sz="2500" i="1">
                                <a:latin typeface="Cambria Math" panose="02040503050406030204" pitchFamily="18" charset="0"/>
                              </a:rPr>
                            </m:ctrlPr>
                          </m:fPr>
                          <m:num>
                            <m:r>
                              <a:rPr lang="fr-FR" sz="2500">
                                <a:latin typeface="Cambria Math" panose="02040503050406030204" pitchFamily="18" charset="0"/>
                              </a:rPr>
                              <m:t>5</m:t>
                            </m:r>
                          </m:num>
                          <m:den>
                            <m:r>
                              <a:rPr lang="fr-FR" sz="2500" b="0" i="1" smtClean="0">
                                <a:latin typeface="Cambria Math" panose="02040503050406030204" pitchFamily="18" charset="0"/>
                              </a:rPr>
                              <m:t>4</m:t>
                            </m:r>
                            <m:r>
                              <a:rPr lang="fr-FR" sz="2500" i="1">
                                <a:latin typeface="Cambria Math" panose="02040503050406030204" pitchFamily="18" charset="0"/>
                              </a:rPr>
                              <m:t>𝑅</m:t>
                            </m:r>
                          </m:den>
                        </m:f>
                        <m:f>
                          <m:fPr>
                            <m:ctrlPr>
                              <a:rPr lang="fr-FR" sz="2500" i="1">
                                <a:latin typeface="Cambria Math" panose="02040503050406030204" pitchFamily="18" charset="0"/>
                              </a:rPr>
                            </m:ctrlPr>
                          </m:fPr>
                          <m:num>
                            <m:sSub>
                              <m:sSubPr>
                                <m:ctrlPr>
                                  <a:rPr lang="fr-FR" sz="2500" b="0" i="1" smtClean="0">
                                    <a:latin typeface="Cambria Math" panose="02040503050406030204" pitchFamily="18" charset="0"/>
                                  </a:rPr>
                                </m:ctrlPr>
                              </m:sSubPr>
                              <m:e>
                                <m:r>
                                  <m:rPr>
                                    <m:sty m:val="p"/>
                                  </m:rPr>
                                  <a:rPr lang="fr-FR" sz="2500" b="0" i="0" smtClean="0">
                                    <a:latin typeface="Cambria Math" panose="02040503050406030204" pitchFamily="18" charset="0"/>
                                  </a:rPr>
                                  <m:t>C</m:t>
                                </m:r>
                              </m:e>
                              <m:sub>
                                <m:r>
                                  <m:rPr>
                                    <m:sty m:val="p"/>
                                  </m:rPr>
                                  <a:rPr lang="fr-FR" sz="2500" b="0" i="0" smtClean="0">
                                    <a:latin typeface="Cambria Math" panose="02040503050406030204" pitchFamily="18" charset="0"/>
                                  </a:rPr>
                                  <m:t>e</m:t>
                                </m:r>
                              </m:sub>
                            </m:sSub>
                            <m:r>
                              <a:rPr lang="fr-FR" sz="2500">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3</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a:rPr lang="fr-FR" sz="2500">
                                <a:latin typeface="Cambria Math" panose="02040503050406030204" pitchFamily="18" charset="0"/>
                              </a:rPr>
                              <m:t>2</m:t>
                            </m:r>
                            <m:r>
                              <m:rPr>
                                <m:sty m:val="p"/>
                              </m:rPr>
                              <a:rPr lang="fr-FR" sz="2500">
                                <a:latin typeface="Cambria Math" panose="02040503050406030204" pitchFamily="18" charset="0"/>
                              </a:rPr>
                              <m:t>Δr</m:t>
                            </m:r>
                          </m:den>
                        </m:f>
                        <m:r>
                          <a:rPr lang="fr-FR" sz="2500" i="1">
                            <a:latin typeface="Cambria Math" panose="02040503050406030204" pitchFamily="18" charset="0"/>
                          </a:rPr>
                          <m:t>+</m:t>
                        </m:r>
                        <m:f>
                          <m:fPr>
                            <m:ctrlPr>
                              <a:rPr lang="fr-FR" sz="2500" i="1">
                                <a:latin typeface="Cambria Math" panose="02040503050406030204" pitchFamily="18" charset="0"/>
                              </a:rPr>
                            </m:ctrlPr>
                          </m:fPr>
                          <m:num>
                            <m:sSub>
                              <m:sSubPr>
                                <m:ctrlPr>
                                  <a:rPr lang="fr-FR" sz="2500" b="0" i="1" smtClean="0">
                                    <a:latin typeface="Cambria Math" panose="02040503050406030204" pitchFamily="18" charset="0"/>
                                  </a:rPr>
                                </m:ctrlPr>
                              </m:sSubPr>
                              <m:e>
                                <m:r>
                                  <m:rPr>
                                    <m:sty m:val="p"/>
                                  </m:rPr>
                                  <a:rPr lang="fr-FR" sz="2500" b="0" i="0" smtClean="0">
                                    <a:latin typeface="Cambria Math" panose="02040503050406030204" pitchFamily="18" charset="0"/>
                                  </a:rPr>
                                  <m:t>C</m:t>
                                </m:r>
                              </m:e>
                              <m:sub>
                                <m:r>
                                  <m:rPr>
                                    <m:sty m:val="p"/>
                                  </m:rPr>
                                  <a:rPr lang="fr-FR" sz="2500" b="0" i="0" smtClean="0">
                                    <a:latin typeface="Cambria Math" panose="02040503050406030204" pitchFamily="18" charset="0"/>
                                  </a:rPr>
                                  <m:t>e</m:t>
                                </m:r>
                              </m:sub>
                            </m:sSub>
                            <m:r>
                              <a:rPr lang="fr-FR" sz="2500">
                                <a:latin typeface="Cambria Math" panose="02040503050406030204" pitchFamily="18" charset="0"/>
                              </a:rPr>
                              <m:t>−</m:t>
                            </m:r>
                            <m:sSubSup>
                              <m:sSubSupPr>
                                <m:ctrlPr>
                                  <a:rPr lang="fr-FR" sz="2500" i="1">
                                    <a:latin typeface="Cambria Math" panose="02040503050406030204" pitchFamily="18" charset="0"/>
                                  </a:rPr>
                                </m:ctrlPr>
                              </m:sSubSupPr>
                              <m:e>
                                <m:r>
                                  <a:rPr lang="fr-FR" sz="2500">
                                    <a:latin typeface="Cambria Math" panose="02040503050406030204" pitchFamily="18" charset="0"/>
                                  </a:rPr>
                                  <m:t>2</m:t>
                                </m:r>
                                <m:r>
                                  <m:rPr>
                                    <m:sty m:val="p"/>
                                  </m:rPr>
                                  <a:rPr lang="fr-FR" sz="2500">
                                    <a:latin typeface="Cambria Math" panose="02040503050406030204" pitchFamily="18" charset="0"/>
                                  </a:rPr>
                                  <m:t>C</m:t>
                                </m:r>
                              </m:e>
                              <m:sub>
                                <m:r>
                                  <a:rPr lang="fr-FR" sz="2500" b="0" i="0" smtClean="0">
                                    <a:latin typeface="Cambria Math" panose="02040503050406030204" pitchFamily="18" charset="0"/>
                                  </a:rPr>
                                  <m:t>4</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3</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num>
                          <m:den>
                            <m:r>
                              <m:rPr>
                                <m:sty m:val="p"/>
                              </m:rPr>
                              <a:rPr lang="fr-FR" sz="2500">
                                <a:latin typeface="Cambria Math" panose="02040503050406030204" pitchFamily="18" charset="0"/>
                              </a:rPr>
                              <m:t>Δ</m:t>
                            </m:r>
                            <m:sSup>
                              <m:sSupPr>
                                <m:ctrlPr>
                                  <a:rPr lang="fr-FR" sz="2500" i="1">
                                    <a:latin typeface="Cambria Math" panose="02040503050406030204" pitchFamily="18" charset="0"/>
                                  </a:rPr>
                                </m:ctrlPr>
                              </m:sSupPr>
                              <m:e>
                                <m:r>
                                  <m:rPr>
                                    <m:sty m:val="p"/>
                                  </m:rPr>
                                  <a:rPr lang="fr-FR" sz="2500">
                                    <a:latin typeface="Cambria Math" panose="02040503050406030204" pitchFamily="18" charset="0"/>
                                  </a:rPr>
                                  <m:t>r</m:t>
                                </m:r>
                              </m:e>
                              <m:sup>
                                <m:r>
                                  <a:rPr lang="fr-FR" sz="2500">
                                    <a:latin typeface="Cambria Math" panose="02040503050406030204" pitchFamily="18" charset="0"/>
                                  </a:rPr>
                                  <m:t>2</m:t>
                                </m:r>
                              </m:sup>
                            </m:sSup>
                          </m:den>
                        </m:f>
                      </m:e>
                    </m:d>
                    <m:r>
                      <a:rPr lang="fr-FR" sz="2500" i="1">
                        <a:latin typeface="Cambria Math" panose="02040503050406030204" pitchFamily="18" charset="0"/>
                      </a:rPr>
                      <m:t>+</m:t>
                    </m:r>
                    <m:sSubSup>
                      <m:sSubSupPr>
                        <m:ctrlPr>
                          <a:rPr lang="fr-FR" sz="2500" i="1">
                            <a:latin typeface="Cambria Math" panose="02040503050406030204" pitchFamily="18" charset="0"/>
                          </a:rPr>
                        </m:ctrlPr>
                      </m:sSubSupPr>
                      <m:e>
                        <m:r>
                          <m:rPr>
                            <m:sty m:val="p"/>
                          </m:rPr>
                          <a:rPr lang="fr-FR" sz="2500">
                            <a:latin typeface="Cambria Math" panose="02040503050406030204" pitchFamily="18" charset="0"/>
                          </a:rPr>
                          <m:t>C</m:t>
                        </m:r>
                      </m:e>
                      <m:sub>
                        <m:r>
                          <a:rPr lang="fr-FR" sz="2500" b="0" i="0" smtClean="0">
                            <a:latin typeface="Cambria Math" panose="02040503050406030204" pitchFamily="18" charset="0"/>
                          </a:rPr>
                          <m:t>4</m:t>
                        </m:r>
                      </m:sub>
                      <m:sup>
                        <m:r>
                          <m:rPr>
                            <m:sty m:val="p"/>
                          </m:rPr>
                          <a:rPr lang="fr-FR" sz="2500">
                            <a:latin typeface="Cambria Math" panose="02040503050406030204" pitchFamily="18" charset="0"/>
                          </a:rPr>
                          <m:t>t</m:t>
                        </m:r>
                        <m:r>
                          <a:rPr lang="fr-FR" sz="2500">
                            <a:latin typeface="Cambria Math" panose="02040503050406030204" pitchFamily="18" charset="0"/>
                          </a:rPr>
                          <m:t>+1</m:t>
                        </m:r>
                      </m:sup>
                    </m:sSubSup>
                    <m:d>
                      <m:dPr>
                        <m:ctrlPr>
                          <a:rPr lang="fr-FR" sz="2500" i="1">
                            <a:latin typeface="Cambria Math" panose="02040503050406030204" pitchFamily="18" charset="0"/>
                          </a:rPr>
                        </m:ctrlPr>
                      </m:dPr>
                      <m:e>
                        <m:r>
                          <a:rPr lang="fr-FR" sz="2500" i="1">
                            <a:latin typeface="Cambria Math" panose="02040503050406030204" pitchFamily="18" charset="0"/>
                          </a:rPr>
                          <m:t>𝑘</m:t>
                        </m:r>
                        <m:r>
                          <m:rPr>
                            <m:sty m:val="p"/>
                          </m:rPr>
                          <a:rPr lang="fr-FR" sz="2500">
                            <a:latin typeface="Cambria Math" panose="02040503050406030204" pitchFamily="18" charset="0"/>
                          </a:rPr>
                          <m:t>Δ</m:t>
                        </m:r>
                        <m:r>
                          <a:rPr lang="fr-FR" sz="2500" i="1">
                            <a:latin typeface="Cambria Math" panose="02040503050406030204" pitchFamily="18" charset="0"/>
                          </a:rPr>
                          <m:t>𝑡</m:t>
                        </m:r>
                        <m:r>
                          <a:rPr lang="fr-FR" sz="2500" i="1">
                            <a:latin typeface="Cambria Math" panose="02040503050406030204" pitchFamily="18" charset="0"/>
                          </a:rPr>
                          <m:t>+1</m:t>
                        </m:r>
                      </m:e>
                    </m:d>
                  </m:oMath>
                </a14:m>
                <a:endParaRPr lang="fr-FR" sz="2500" dirty="0"/>
              </a:p>
              <a:p>
                <a:r>
                  <a:rPr lang="fr-FR" sz="2500" dirty="0"/>
                  <a:t>Nœud 5 : </a:t>
                </a:r>
                <a14:m>
                  <m:oMath xmlns:m="http://schemas.openxmlformats.org/officeDocument/2006/math">
                    <m:sSubSup>
                      <m:sSubSupPr>
                        <m:ctrlPr>
                          <a:rPr lang="fr-FR" sz="2500" i="1">
                            <a:latin typeface="Cambria Math" panose="02040503050406030204" pitchFamily="18" charset="0"/>
                          </a:rPr>
                        </m:ctrlPr>
                      </m:sSubSupPr>
                      <m:e>
                        <m:r>
                          <a:rPr lang="fr-FR" sz="2500" i="1">
                            <a:latin typeface="Cambria Math" panose="02040503050406030204" pitchFamily="18" charset="0"/>
                          </a:rPr>
                          <m:t>𝐶</m:t>
                        </m:r>
                      </m:e>
                      <m:sub>
                        <m:r>
                          <a:rPr lang="fr-FR" sz="2500" b="0" i="1" smtClean="0">
                            <a:latin typeface="Cambria Math" panose="02040503050406030204" pitchFamily="18" charset="0"/>
                          </a:rPr>
                          <m:t>5</m:t>
                        </m:r>
                      </m:sub>
                      <m:sup>
                        <m:r>
                          <a:rPr lang="fr-FR" sz="2500" i="1">
                            <a:latin typeface="Cambria Math" panose="02040503050406030204" pitchFamily="18" charset="0"/>
                          </a:rPr>
                          <m:t>𝑡</m:t>
                        </m:r>
                      </m:sup>
                    </m:sSubSup>
                    <m:r>
                      <a:rPr lang="fr-FR" sz="2500" i="1">
                        <a:latin typeface="Cambria Math" panose="02040503050406030204" pitchFamily="18" charset="0"/>
                      </a:rPr>
                      <m:t>=</m:t>
                    </m:r>
                    <m:sSub>
                      <m:sSubPr>
                        <m:ctrlPr>
                          <a:rPr lang="fr-FR" sz="2500" b="0" i="1" smtClean="0">
                            <a:latin typeface="Cambria Math" panose="02040503050406030204" pitchFamily="18" charset="0"/>
                          </a:rPr>
                        </m:ctrlPr>
                      </m:sSubPr>
                      <m:e>
                        <m:r>
                          <m:rPr>
                            <m:sty m:val="p"/>
                          </m:rPr>
                          <a:rPr lang="fr-FR" sz="2500" b="0" i="0" smtClean="0">
                            <a:latin typeface="Cambria Math" panose="02040503050406030204" pitchFamily="18" charset="0"/>
                          </a:rPr>
                          <m:t>C</m:t>
                        </m:r>
                      </m:e>
                      <m:sub>
                        <m:r>
                          <m:rPr>
                            <m:sty m:val="p"/>
                          </m:rPr>
                          <a:rPr lang="fr-FR" sz="2500" b="0" i="0" smtClean="0">
                            <a:latin typeface="Cambria Math" panose="02040503050406030204" pitchFamily="18" charset="0"/>
                          </a:rPr>
                          <m:t>e</m:t>
                        </m:r>
                      </m:sub>
                    </m:sSub>
                    <m:r>
                      <a:rPr lang="fr-FR" sz="2500">
                        <a:latin typeface="Cambria Math" panose="02040503050406030204" pitchFamily="18" charset="0"/>
                      </a:rPr>
                      <m:t> </m:t>
                    </m:r>
                  </m:oMath>
                </a14:m>
                <a:endParaRPr lang="fr-FR" sz="2500" dirty="0"/>
              </a:p>
              <a:p>
                <a:pPr marL="0" indent="0">
                  <a:buNone/>
                </a:pPr>
                <a:endParaRPr lang="fr-FR" b="0" dirty="0"/>
              </a:p>
            </p:txBody>
          </p:sp>
        </mc:Choice>
        <mc:Fallback xmlns="">
          <p:sp>
            <p:nvSpPr>
              <p:cNvPr id="3" name="Espace réservé du contenu 2">
                <a:extLst>
                  <a:ext uri="{FF2B5EF4-FFF2-40B4-BE49-F238E27FC236}">
                    <a16:creationId xmlns:a16="http://schemas.microsoft.com/office/drawing/2014/main" id="{0B6AFEAB-F772-9F60-2A08-74511ACDA6A8}"/>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3"/>
                <a:stretch>
                  <a:fillRect l="-986" t="-1766" b="-3397"/>
                </a:stretch>
              </a:blipFill>
            </p:spPr>
            <p:txBody>
              <a:bodyPr/>
              <a:lstStyle/>
              <a:p>
                <a:r>
                  <a:rPr lang="fr-FR">
                    <a:noFill/>
                  </a:rPr>
                  <a:t> </a:t>
                </a:r>
              </a:p>
            </p:txBody>
          </p:sp>
        </mc:Fallback>
      </mc:AlternateContent>
    </p:spTree>
    <p:extLst>
      <p:ext uri="{BB962C8B-B14F-4D97-AF65-F5344CB8AC3E}">
        <p14:creationId xmlns:p14="http://schemas.microsoft.com/office/powerpoint/2010/main" val="1124174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178A0-01A4-BF69-5ADC-9C76FCC7287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C5A4CE4-C0F3-D5C4-BF85-6A59EA998C43}"/>
              </a:ext>
            </a:extLst>
          </p:cNvPr>
          <p:cNvSpPr>
            <a:spLocks noGrp="1"/>
          </p:cNvSpPr>
          <p:nvPr>
            <p:ph type="title"/>
          </p:nvPr>
        </p:nvSpPr>
        <p:spPr>
          <a:xfrm>
            <a:off x="838200" y="118237"/>
            <a:ext cx="10515600" cy="1325563"/>
          </a:xfrm>
        </p:spPr>
        <p:txBody>
          <a:bodyPr/>
          <a:lstStyle/>
          <a:p>
            <a:r>
              <a:rPr lang="fr-FR" dirty="0"/>
              <a:t>A) Nouveau schéma de discrétisation </a:t>
            </a:r>
          </a:p>
        </p:txBody>
      </p:sp>
      <p:sp>
        <p:nvSpPr>
          <p:cNvPr id="3" name="Espace réservé du contenu 2">
            <a:extLst>
              <a:ext uri="{FF2B5EF4-FFF2-40B4-BE49-F238E27FC236}">
                <a16:creationId xmlns:a16="http://schemas.microsoft.com/office/drawing/2014/main" id="{4F0AC1B6-3A44-3171-6482-F04E01FBB13F}"/>
              </a:ext>
            </a:extLst>
          </p:cNvPr>
          <p:cNvSpPr>
            <a:spLocks noGrp="1"/>
          </p:cNvSpPr>
          <p:nvPr>
            <p:ph idx="1"/>
          </p:nvPr>
        </p:nvSpPr>
        <p:spPr>
          <a:xfrm>
            <a:off x="838200" y="1594738"/>
            <a:ext cx="10515600" cy="988503"/>
          </a:xfrm>
        </p:spPr>
        <p:txBody>
          <a:bodyPr>
            <a:normAutofit/>
          </a:bodyPr>
          <a:lstStyle/>
          <a:p>
            <a:pPr marL="0" indent="0">
              <a:buNone/>
            </a:pPr>
            <a:r>
              <a:rPr lang="fr-FR" sz="2200" b="0" dirty="0"/>
              <a:t>Procédure générale : </a:t>
            </a:r>
            <a:r>
              <a:rPr lang="fr-FR" sz="2200" dirty="0"/>
              <a:t>Résoudre le système suivant</a:t>
            </a:r>
          </a:p>
          <a:p>
            <a:pPr marL="0" indent="0">
              <a:buNone/>
            </a:pPr>
            <a:endParaRPr lang="fr-FR" dirty="0"/>
          </a:p>
        </p:txBody>
      </p:sp>
      <p:pic>
        <p:nvPicPr>
          <p:cNvPr id="5" name="Image 4" descr="Une image contenant texte, Police, capture d’écran, nombre&#10;&#10;Le contenu généré par l’IA peut être incorrect.">
            <a:extLst>
              <a:ext uri="{FF2B5EF4-FFF2-40B4-BE49-F238E27FC236}">
                <a16:creationId xmlns:a16="http://schemas.microsoft.com/office/drawing/2014/main" id="{028A65C2-4249-C907-3D41-BB4942D70F04}"/>
              </a:ext>
            </a:extLst>
          </p:cNvPr>
          <p:cNvPicPr>
            <a:picLocks noChangeAspect="1"/>
          </p:cNvPicPr>
          <p:nvPr/>
        </p:nvPicPr>
        <p:blipFill>
          <a:blip r:embed="rId3"/>
          <a:stretch>
            <a:fillRect/>
          </a:stretch>
        </p:blipFill>
        <p:spPr>
          <a:xfrm>
            <a:off x="838200" y="2088991"/>
            <a:ext cx="7148179" cy="2225233"/>
          </a:xfrm>
          <a:prstGeom prst="rect">
            <a:avLst/>
          </a:prstGeom>
        </p:spPr>
      </p:pic>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1D35F909-ADB7-C20F-4412-2F82387B337E}"/>
                  </a:ext>
                </a:extLst>
              </p:cNvPr>
              <p:cNvSpPr txBox="1"/>
              <p:nvPr/>
            </p:nvSpPr>
            <p:spPr>
              <a:xfrm>
                <a:off x="838200" y="4959414"/>
                <a:ext cx="11018520" cy="970266"/>
              </a:xfrm>
              <a:prstGeom prst="rect">
                <a:avLst/>
              </a:prstGeom>
              <a:noFill/>
            </p:spPr>
            <p:txBody>
              <a:bodyPr wrap="square" rtlCol="0">
                <a:spAutoFit/>
              </a:bodyPr>
              <a:lstStyle/>
              <a:p>
                <a:r>
                  <a:rPr lang="fr-FR" sz="2200" dirty="0"/>
                  <a:t>Où, </a:t>
                </a:r>
                <a:endParaRPr lang="fr-FR" sz="2200" i="1" dirty="0">
                  <a:latin typeface="Cambria Math" panose="02040503050406030204" pitchFamily="18" charset="0"/>
                </a:endParaRPr>
              </a:p>
              <a:p>
                <a14:m>
                  <m:oMath xmlns:m="http://schemas.openxmlformats.org/officeDocument/2006/math">
                    <m:r>
                      <a:rPr lang="fr-FR" sz="2200" i="1">
                        <a:latin typeface="Cambria Math" panose="02040503050406030204" pitchFamily="18" charset="0"/>
                      </a:rPr>
                      <m:t>𝐴</m:t>
                    </m:r>
                    <m:r>
                      <a:rPr lang="fr-FR" sz="2200" i="1">
                        <a:latin typeface="Cambria Math" panose="02040503050406030204" pitchFamily="18" charset="0"/>
                      </a:rPr>
                      <m:t>=</m:t>
                    </m:r>
                    <m:sSub>
                      <m:sSubPr>
                        <m:ctrlPr>
                          <a:rPr lang="fr-FR" sz="2200" i="1">
                            <a:latin typeface="Cambria Math" panose="02040503050406030204" pitchFamily="18" charset="0"/>
                          </a:rPr>
                        </m:ctrlPr>
                      </m:sSubPr>
                      <m:e>
                        <m:r>
                          <a:rPr lang="fr-FR" sz="2200" i="1">
                            <a:latin typeface="Cambria Math" panose="02040503050406030204" pitchFamily="18" charset="0"/>
                          </a:rPr>
                          <m:t>𝐷</m:t>
                        </m:r>
                      </m:e>
                      <m:sub>
                        <m:r>
                          <a:rPr lang="fr-FR" sz="2200" i="1">
                            <a:latin typeface="Cambria Math" panose="02040503050406030204" pitchFamily="18" charset="0"/>
                          </a:rPr>
                          <m:t>𝑒𝑓𝑓</m:t>
                        </m:r>
                      </m:sub>
                    </m:sSub>
                    <m:r>
                      <m:rPr>
                        <m:sty m:val="p"/>
                      </m:rPr>
                      <a:rPr lang="fr-FR" sz="2200">
                        <a:latin typeface="Cambria Math" panose="02040503050406030204" pitchFamily="18" charset="0"/>
                      </a:rPr>
                      <m:t>Δ</m:t>
                    </m:r>
                    <m:r>
                      <a:rPr lang="fr-FR" sz="2200" i="1">
                        <a:latin typeface="Cambria Math" panose="02040503050406030204" pitchFamily="18" charset="0"/>
                      </a:rPr>
                      <m:t>𝑡</m:t>
                    </m:r>
                    <m:d>
                      <m:dPr>
                        <m:begChr m:val="["/>
                        <m:endChr m:val="]"/>
                        <m:ctrlPr>
                          <a:rPr lang="fr-FR" sz="2200" i="1">
                            <a:latin typeface="Cambria Math" panose="02040503050406030204" pitchFamily="18" charset="0"/>
                          </a:rPr>
                        </m:ctrlPr>
                      </m:dPr>
                      <m:e>
                        <m:f>
                          <m:fPr>
                            <m:ctrlPr>
                              <a:rPr lang="fr-FR" sz="2200" i="1">
                                <a:latin typeface="Cambria Math" panose="02040503050406030204" pitchFamily="18" charset="0"/>
                              </a:rPr>
                            </m:ctrlPr>
                          </m:fPr>
                          <m:num>
                            <m:r>
                              <a:rPr lang="fr-FR" sz="2200" i="1">
                                <a:latin typeface="Cambria Math" panose="02040503050406030204" pitchFamily="18" charset="0"/>
                              </a:rPr>
                              <m:t>1</m:t>
                            </m:r>
                          </m:num>
                          <m:den>
                            <m:r>
                              <a:rPr lang="fr-FR" sz="2200">
                                <a:latin typeface="Cambria Math" panose="02040503050406030204" pitchFamily="18" charset="0"/>
                              </a:rPr>
                              <m:t>2</m:t>
                            </m:r>
                            <m:sSub>
                              <m:sSubPr>
                                <m:ctrlPr>
                                  <a:rPr lang="fr-FR" sz="2200" i="1">
                                    <a:latin typeface="Cambria Math" panose="02040503050406030204" pitchFamily="18" charset="0"/>
                                  </a:rPr>
                                </m:ctrlPr>
                              </m:sSubPr>
                              <m:e>
                                <m:r>
                                  <m:rPr>
                                    <m:sty m:val="p"/>
                                  </m:rPr>
                                  <a:rPr lang="fr-FR" sz="2200">
                                    <a:latin typeface="Cambria Math" panose="02040503050406030204" pitchFamily="18" charset="0"/>
                                  </a:rPr>
                                  <m:t>r</m:t>
                                </m:r>
                              </m:e>
                              <m:sub>
                                <m:r>
                                  <m:rPr>
                                    <m:sty m:val="p"/>
                                  </m:rPr>
                                  <a:rPr lang="fr-FR" sz="2200">
                                    <a:latin typeface="Cambria Math" panose="02040503050406030204" pitchFamily="18" charset="0"/>
                                  </a:rPr>
                                  <m:t>i</m:t>
                                </m:r>
                              </m:sub>
                            </m:sSub>
                            <m:r>
                              <m:rPr>
                                <m:sty m:val="p"/>
                              </m:rPr>
                              <a:rPr lang="fr-FR" sz="2200">
                                <a:latin typeface="Cambria Math" panose="02040503050406030204" pitchFamily="18" charset="0"/>
                              </a:rPr>
                              <m:t>Δr</m:t>
                            </m:r>
                          </m:den>
                        </m:f>
                        <m:r>
                          <a:rPr lang="fr-FR" sz="2200" b="0" i="1" smtClean="0">
                            <a:latin typeface="Cambria Math" panose="02040503050406030204" pitchFamily="18" charset="0"/>
                          </a:rPr>
                          <m:t>−</m:t>
                        </m:r>
                        <m:f>
                          <m:fPr>
                            <m:ctrlPr>
                              <a:rPr lang="fr-FR" sz="2200" i="1">
                                <a:latin typeface="Cambria Math" panose="02040503050406030204" pitchFamily="18" charset="0"/>
                              </a:rPr>
                            </m:ctrlPr>
                          </m:fPr>
                          <m:num>
                            <m:r>
                              <a:rPr lang="fr-FR" sz="2200" i="1">
                                <a:latin typeface="Cambria Math" panose="02040503050406030204" pitchFamily="18" charset="0"/>
                              </a:rPr>
                              <m:t>1</m:t>
                            </m:r>
                          </m:num>
                          <m:den>
                            <m:r>
                              <m:rPr>
                                <m:sty m:val="p"/>
                              </m:rPr>
                              <a:rPr lang="fr-FR" sz="2200">
                                <a:latin typeface="Cambria Math" panose="02040503050406030204" pitchFamily="18" charset="0"/>
                              </a:rPr>
                              <m:t>Δ</m:t>
                            </m:r>
                            <m:sSup>
                              <m:sSupPr>
                                <m:ctrlPr>
                                  <a:rPr lang="fr-FR" sz="2200" i="1">
                                    <a:latin typeface="Cambria Math" panose="02040503050406030204" pitchFamily="18" charset="0"/>
                                  </a:rPr>
                                </m:ctrlPr>
                              </m:sSupPr>
                              <m:e>
                                <m:r>
                                  <m:rPr>
                                    <m:sty m:val="p"/>
                                  </m:rPr>
                                  <a:rPr lang="fr-FR" sz="2200">
                                    <a:latin typeface="Cambria Math" panose="02040503050406030204" pitchFamily="18" charset="0"/>
                                  </a:rPr>
                                  <m:t>r</m:t>
                                </m:r>
                              </m:e>
                              <m:sup>
                                <m:r>
                                  <a:rPr lang="fr-FR" sz="2200">
                                    <a:latin typeface="Cambria Math" panose="02040503050406030204" pitchFamily="18" charset="0"/>
                                  </a:rPr>
                                  <m:t>2</m:t>
                                </m:r>
                              </m:sup>
                            </m:sSup>
                          </m:den>
                        </m:f>
                      </m:e>
                    </m:d>
                  </m:oMath>
                </a14:m>
                <a:r>
                  <a:rPr lang="fr-FR" sz="2200" dirty="0"/>
                  <a:t>, </a:t>
                </a:r>
                <a14:m>
                  <m:oMath xmlns:m="http://schemas.openxmlformats.org/officeDocument/2006/math">
                    <m:r>
                      <a:rPr lang="fr-FR" sz="2200" i="1">
                        <a:latin typeface="Cambria Math" panose="02040503050406030204" pitchFamily="18" charset="0"/>
                      </a:rPr>
                      <m:t>𝐵</m:t>
                    </m:r>
                    <m:r>
                      <a:rPr lang="fr-FR" sz="2200" i="1">
                        <a:latin typeface="Cambria Math" panose="02040503050406030204" pitchFamily="18" charset="0"/>
                      </a:rPr>
                      <m:t>=</m:t>
                    </m:r>
                    <m:sSub>
                      <m:sSubPr>
                        <m:ctrlPr>
                          <a:rPr lang="fr-FR" sz="2200" i="1">
                            <a:latin typeface="Cambria Math" panose="02040503050406030204" pitchFamily="18" charset="0"/>
                          </a:rPr>
                        </m:ctrlPr>
                      </m:sSubPr>
                      <m:e>
                        <m:r>
                          <a:rPr lang="fr-FR" sz="2200" i="1">
                            <a:latin typeface="Cambria Math" panose="02040503050406030204" pitchFamily="18" charset="0"/>
                          </a:rPr>
                          <m:t>𝐷</m:t>
                        </m:r>
                      </m:e>
                      <m:sub>
                        <m:r>
                          <a:rPr lang="fr-FR" sz="2200" i="1">
                            <a:latin typeface="Cambria Math" panose="02040503050406030204" pitchFamily="18" charset="0"/>
                          </a:rPr>
                          <m:t>𝑒𝑓𝑓</m:t>
                        </m:r>
                      </m:sub>
                    </m:sSub>
                    <m:r>
                      <m:rPr>
                        <m:sty m:val="p"/>
                      </m:rPr>
                      <a:rPr lang="fr-FR" sz="2200">
                        <a:latin typeface="Cambria Math" panose="02040503050406030204" pitchFamily="18" charset="0"/>
                      </a:rPr>
                      <m:t>Δ</m:t>
                    </m:r>
                    <m:r>
                      <a:rPr lang="fr-FR" sz="2200" i="1">
                        <a:latin typeface="Cambria Math" panose="02040503050406030204" pitchFamily="18" charset="0"/>
                      </a:rPr>
                      <m:t>𝑡</m:t>
                    </m:r>
                    <m:f>
                      <m:fPr>
                        <m:ctrlPr>
                          <a:rPr lang="fr-FR" sz="2200" i="1">
                            <a:latin typeface="Cambria Math" panose="02040503050406030204" pitchFamily="18" charset="0"/>
                          </a:rPr>
                        </m:ctrlPr>
                      </m:fPr>
                      <m:num>
                        <m:r>
                          <a:rPr lang="fr-FR" sz="2200">
                            <a:latin typeface="Cambria Math" panose="02040503050406030204" pitchFamily="18" charset="0"/>
                          </a:rPr>
                          <m:t>2</m:t>
                        </m:r>
                      </m:num>
                      <m:den>
                        <m:r>
                          <m:rPr>
                            <m:sty m:val="p"/>
                          </m:rPr>
                          <a:rPr lang="fr-FR" sz="2200">
                            <a:latin typeface="Cambria Math" panose="02040503050406030204" pitchFamily="18" charset="0"/>
                          </a:rPr>
                          <m:t>Δ</m:t>
                        </m:r>
                        <m:sSup>
                          <m:sSupPr>
                            <m:ctrlPr>
                              <a:rPr lang="fr-FR" sz="2200" i="1">
                                <a:latin typeface="Cambria Math" panose="02040503050406030204" pitchFamily="18" charset="0"/>
                              </a:rPr>
                            </m:ctrlPr>
                          </m:sSupPr>
                          <m:e>
                            <m:r>
                              <m:rPr>
                                <m:sty m:val="p"/>
                              </m:rPr>
                              <a:rPr lang="fr-FR" sz="2200">
                                <a:latin typeface="Cambria Math" panose="02040503050406030204" pitchFamily="18" charset="0"/>
                              </a:rPr>
                              <m:t>r</m:t>
                            </m:r>
                          </m:e>
                          <m:sup>
                            <m:r>
                              <a:rPr lang="fr-FR" sz="2200">
                                <a:latin typeface="Cambria Math" panose="02040503050406030204" pitchFamily="18" charset="0"/>
                              </a:rPr>
                              <m:t>2</m:t>
                            </m:r>
                          </m:sup>
                        </m:sSup>
                      </m:den>
                    </m:f>
                    <m:r>
                      <a:rPr lang="fr-FR" sz="2200" i="1">
                        <a:latin typeface="Cambria Math" panose="02040503050406030204" pitchFamily="18" charset="0"/>
                      </a:rPr>
                      <m:t>+</m:t>
                    </m:r>
                    <m:r>
                      <a:rPr lang="fr-FR" sz="2200" i="1">
                        <a:latin typeface="Cambria Math" panose="02040503050406030204" pitchFamily="18" charset="0"/>
                      </a:rPr>
                      <m:t>𝑘</m:t>
                    </m:r>
                    <m:r>
                      <m:rPr>
                        <m:sty m:val="p"/>
                      </m:rPr>
                      <a:rPr lang="fr-FR" sz="2200">
                        <a:latin typeface="Cambria Math" panose="02040503050406030204" pitchFamily="18" charset="0"/>
                      </a:rPr>
                      <m:t>Δ</m:t>
                    </m:r>
                    <m:r>
                      <a:rPr lang="fr-FR" sz="2200" i="1">
                        <a:latin typeface="Cambria Math" panose="02040503050406030204" pitchFamily="18" charset="0"/>
                      </a:rPr>
                      <m:t>𝑡</m:t>
                    </m:r>
                    <m:r>
                      <a:rPr lang="fr-FR" sz="2200" i="1">
                        <a:latin typeface="Cambria Math" panose="02040503050406030204" pitchFamily="18" charset="0"/>
                      </a:rPr>
                      <m:t> +1</m:t>
                    </m:r>
                  </m:oMath>
                </a14:m>
                <a:r>
                  <a:rPr lang="fr-FR" sz="2200" dirty="0"/>
                  <a:t> et </a:t>
                </a:r>
                <a14:m>
                  <m:oMath xmlns:m="http://schemas.openxmlformats.org/officeDocument/2006/math">
                    <m:r>
                      <a:rPr lang="fr-FR" sz="2200" i="1">
                        <a:latin typeface="Cambria Math" panose="02040503050406030204" pitchFamily="18" charset="0"/>
                      </a:rPr>
                      <m:t>𝐶</m:t>
                    </m:r>
                    <m:r>
                      <a:rPr lang="fr-FR" sz="2200" i="1">
                        <a:latin typeface="Cambria Math" panose="02040503050406030204" pitchFamily="18" charset="0"/>
                      </a:rPr>
                      <m:t>=</m:t>
                    </m:r>
                    <m:sSub>
                      <m:sSubPr>
                        <m:ctrlPr>
                          <a:rPr lang="fr-FR" sz="2200" i="1">
                            <a:latin typeface="Cambria Math" panose="02040503050406030204" pitchFamily="18" charset="0"/>
                          </a:rPr>
                        </m:ctrlPr>
                      </m:sSubPr>
                      <m:e>
                        <m:r>
                          <a:rPr lang="fr-FR" sz="2200">
                            <a:latin typeface="Cambria Math" panose="02040503050406030204" pitchFamily="18" charset="0"/>
                          </a:rPr>
                          <m:t>−</m:t>
                        </m:r>
                        <m:r>
                          <a:rPr lang="fr-FR" sz="2200" i="1">
                            <a:latin typeface="Cambria Math" panose="02040503050406030204" pitchFamily="18" charset="0"/>
                          </a:rPr>
                          <m:t>𝐷</m:t>
                        </m:r>
                      </m:e>
                      <m:sub>
                        <m:r>
                          <a:rPr lang="fr-FR" sz="2200" i="1">
                            <a:latin typeface="Cambria Math" panose="02040503050406030204" pitchFamily="18" charset="0"/>
                          </a:rPr>
                          <m:t>𝑒𝑓𝑓</m:t>
                        </m:r>
                      </m:sub>
                    </m:sSub>
                    <m:r>
                      <m:rPr>
                        <m:sty m:val="p"/>
                      </m:rPr>
                      <a:rPr lang="fr-FR" sz="2200">
                        <a:latin typeface="Cambria Math" panose="02040503050406030204" pitchFamily="18" charset="0"/>
                      </a:rPr>
                      <m:t>Δ</m:t>
                    </m:r>
                    <m:r>
                      <a:rPr lang="fr-FR" sz="2200" i="1">
                        <a:latin typeface="Cambria Math" panose="02040503050406030204" pitchFamily="18" charset="0"/>
                      </a:rPr>
                      <m:t>𝑡</m:t>
                    </m:r>
                    <m:d>
                      <m:dPr>
                        <m:begChr m:val="["/>
                        <m:endChr m:val="]"/>
                        <m:ctrlPr>
                          <a:rPr lang="fr-FR" sz="2200" i="1">
                            <a:latin typeface="Cambria Math" panose="02040503050406030204" pitchFamily="18" charset="0"/>
                          </a:rPr>
                        </m:ctrlPr>
                      </m:dPr>
                      <m:e>
                        <m:f>
                          <m:fPr>
                            <m:ctrlPr>
                              <a:rPr lang="fr-FR" sz="2200" i="1">
                                <a:latin typeface="Cambria Math" panose="02040503050406030204" pitchFamily="18" charset="0"/>
                              </a:rPr>
                            </m:ctrlPr>
                          </m:fPr>
                          <m:num>
                            <m:r>
                              <a:rPr lang="fr-FR" sz="2200" i="1">
                                <a:latin typeface="Cambria Math" panose="02040503050406030204" pitchFamily="18" charset="0"/>
                              </a:rPr>
                              <m:t>2</m:t>
                            </m:r>
                          </m:num>
                          <m:den>
                            <m:r>
                              <a:rPr lang="fr-FR" sz="2200">
                                <a:latin typeface="Cambria Math" panose="02040503050406030204" pitchFamily="18" charset="0"/>
                              </a:rPr>
                              <m:t>2</m:t>
                            </m:r>
                            <m:sSub>
                              <m:sSubPr>
                                <m:ctrlPr>
                                  <a:rPr lang="fr-FR" sz="2200" i="1">
                                    <a:latin typeface="Cambria Math" panose="02040503050406030204" pitchFamily="18" charset="0"/>
                                  </a:rPr>
                                </m:ctrlPr>
                              </m:sSubPr>
                              <m:e>
                                <m:r>
                                  <m:rPr>
                                    <m:sty m:val="p"/>
                                  </m:rPr>
                                  <a:rPr lang="fr-FR" sz="2200">
                                    <a:latin typeface="Cambria Math" panose="02040503050406030204" pitchFamily="18" charset="0"/>
                                  </a:rPr>
                                  <m:t>r</m:t>
                                </m:r>
                              </m:e>
                              <m:sub>
                                <m:r>
                                  <m:rPr>
                                    <m:sty m:val="p"/>
                                  </m:rPr>
                                  <a:rPr lang="fr-FR" sz="2200">
                                    <a:latin typeface="Cambria Math" panose="02040503050406030204" pitchFamily="18" charset="0"/>
                                  </a:rPr>
                                  <m:t>i</m:t>
                                </m:r>
                              </m:sub>
                            </m:sSub>
                            <m:r>
                              <m:rPr>
                                <m:sty m:val="p"/>
                              </m:rPr>
                              <a:rPr lang="fr-FR" sz="2200">
                                <a:latin typeface="Cambria Math" panose="02040503050406030204" pitchFamily="18" charset="0"/>
                              </a:rPr>
                              <m:t>Δr</m:t>
                            </m:r>
                          </m:den>
                        </m:f>
                        <m:r>
                          <a:rPr lang="fr-FR" sz="2200" i="1">
                            <a:latin typeface="Cambria Math" panose="02040503050406030204" pitchFamily="18" charset="0"/>
                          </a:rPr>
                          <m:t>+</m:t>
                        </m:r>
                        <m:f>
                          <m:fPr>
                            <m:ctrlPr>
                              <a:rPr lang="fr-FR" sz="2200" i="1">
                                <a:latin typeface="Cambria Math" panose="02040503050406030204" pitchFamily="18" charset="0"/>
                              </a:rPr>
                            </m:ctrlPr>
                          </m:fPr>
                          <m:num>
                            <m:r>
                              <a:rPr lang="fr-FR" sz="2200" i="1">
                                <a:latin typeface="Cambria Math" panose="02040503050406030204" pitchFamily="18" charset="0"/>
                              </a:rPr>
                              <m:t>1</m:t>
                            </m:r>
                          </m:num>
                          <m:den>
                            <m:r>
                              <m:rPr>
                                <m:sty m:val="p"/>
                              </m:rPr>
                              <a:rPr lang="fr-FR" sz="2200">
                                <a:latin typeface="Cambria Math" panose="02040503050406030204" pitchFamily="18" charset="0"/>
                              </a:rPr>
                              <m:t>Δ</m:t>
                            </m:r>
                            <m:sSup>
                              <m:sSupPr>
                                <m:ctrlPr>
                                  <a:rPr lang="fr-FR" sz="2200" i="1">
                                    <a:latin typeface="Cambria Math" panose="02040503050406030204" pitchFamily="18" charset="0"/>
                                  </a:rPr>
                                </m:ctrlPr>
                              </m:sSupPr>
                              <m:e>
                                <m:r>
                                  <m:rPr>
                                    <m:sty m:val="p"/>
                                  </m:rPr>
                                  <a:rPr lang="fr-FR" sz="2200">
                                    <a:latin typeface="Cambria Math" panose="02040503050406030204" pitchFamily="18" charset="0"/>
                                  </a:rPr>
                                  <m:t>r</m:t>
                                </m:r>
                              </m:e>
                              <m:sup>
                                <m:r>
                                  <a:rPr lang="fr-FR" sz="2200">
                                    <a:latin typeface="Cambria Math" panose="02040503050406030204" pitchFamily="18" charset="0"/>
                                  </a:rPr>
                                  <m:t>2</m:t>
                                </m:r>
                              </m:sup>
                            </m:sSup>
                          </m:den>
                        </m:f>
                      </m:e>
                    </m:d>
                  </m:oMath>
                </a14:m>
                <a:endParaRPr lang="fr-FR" sz="2200" dirty="0"/>
              </a:p>
            </p:txBody>
          </p:sp>
        </mc:Choice>
        <mc:Fallback xmlns="">
          <p:sp>
            <p:nvSpPr>
              <p:cNvPr id="6" name="ZoneTexte 5">
                <a:extLst>
                  <a:ext uri="{FF2B5EF4-FFF2-40B4-BE49-F238E27FC236}">
                    <a16:creationId xmlns:a16="http://schemas.microsoft.com/office/drawing/2014/main" id="{1D35F909-ADB7-C20F-4412-2F82387B337E}"/>
                  </a:ext>
                </a:extLst>
              </p:cNvPr>
              <p:cNvSpPr txBox="1">
                <a:spLocks noRot="1" noChangeAspect="1" noMove="1" noResize="1" noEditPoints="1" noAdjustHandles="1" noChangeArrowheads="1" noChangeShapeType="1" noTextEdit="1"/>
              </p:cNvSpPr>
              <p:nvPr/>
            </p:nvSpPr>
            <p:spPr>
              <a:xfrm>
                <a:off x="838200" y="4959414"/>
                <a:ext cx="11018520" cy="970266"/>
              </a:xfrm>
              <a:prstGeom prst="rect">
                <a:avLst/>
              </a:prstGeom>
              <a:blipFill>
                <a:blip r:embed="rId4"/>
                <a:stretch>
                  <a:fillRect l="-719" t="-3774" b="-629"/>
                </a:stretch>
              </a:blipFill>
            </p:spPr>
            <p:txBody>
              <a:bodyPr/>
              <a:lstStyle/>
              <a:p>
                <a:r>
                  <a:rPr lang="fr-CA">
                    <a:noFill/>
                  </a:rPr>
                  <a:t> </a:t>
                </a:r>
              </a:p>
            </p:txBody>
          </p:sp>
        </mc:Fallback>
      </mc:AlternateContent>
    </p:spTree>
    <p:extLst>
      <p:ext uri="{BB962C8B-B14F-4D97-AF65-F5344CB8AC3E}">
        <p14:creationId xmlns:p14="http://schemas.microsoft.com/office/powerpoint/2010/main" val="363451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1A56D-FC20-125C-6394-4ABA795D53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E1BA1E5-F201-1972-D92C-EF7A2690CF43}"/>
              </a:ext>
            </a:extLst>
          </p:cNvPr>
          <p:cNvSpPr>
            <a:spLocks noGrp="1"/>
          </p:cNvSpPr>
          <p:nvPr>
            <p:ph type="title"/>
          </p:nvPr>
        </p:nvSpPr>
        <p:spPr>
          <a:xfrm>
            <a:off x="838200" y="118237"/>
            <a:ext cx="10515600" cy="1325563"/>
          </a:xfrm>
        </p:spPr>
        <p:txBody>
          <a:bodyPr/>
          <a:lstStyle/>
          <a:p>
            <a:r>
              <a:rPr lang="fr-FR" dirty="0"/>
              <a:t>A) Nouveau schéma de discrétisation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BC566139-E13C-0C28-BD58-40CF174B143A}"/>
                  </a:ext>
                </a:extLst>
              </p:cNvPr>
              <p:cNvSpPr>
                <a:spLocks noGrp="1"/>
              </p:cNvSpPr>
              <p:nvPr>
                <p:ph idx="1"/>
              </p:nvPr>
            </p:nvSpPr>
            <p:spPr>
              <a:xfrm>
                <a:off x="838200" y="1594738"/>
                <a:ext cx="10515600" cy="4577462"/>
              </a:xfrm>
            </p:spPr>
            <p:txBody>
              <a:bodyPr>
                <a:normAutofit fontScale="92500"/>
              </a:bodyPr>
              <a:lstStyle/>
              <a:p>
                <a:pPr marL="0" indent="0">
                  <a:buNone/>
                </a:pPr>
                <a:r>
                  <a:rPr lang="fr-FR" sz="2200" b="0" dirty="0"/>
                  <a:t>Erreur de troncature : En utilisant les calculs faits dans le Devoir 1 : </a:t>
                </a:r>
              </a:p>
              <a:p>
                <a:pPr marL="0" indent="0">
                  <a:buNone/>
                </a:pPr>
                <a:r>
                  <a:rPr lang="fr-FR" sz="2200" dirty="0"/>
                  <a:t>En temps : </a:t>
                </a:r>
                <a14:m>
                  <m:oMath xmlns:m="http://schemas.openxmlformats.org/officeDocument/2006/math">
                    <m:f>
                      <m:fPr>
                        <m:ctrlPr>
                          <a:rPr lang="fr-FR" sz="2200" i="1">
                            <a:latin typeface="Cambria Math" panose="02040503050406030204" pitchFamily="18" charset="0"/>
                          </a:rPr>
                        </m:ctrlPr>
                      </m:fPr>
                      <m:num>
                        <m:sSubSup>
                          <m:sSubSupPr>
                            <m:ctrlPr>
                              <a:rPr lang="fr-FR" sz="2200" i="1">
                                <a:latin typeface="Cambria Math" panose="02040503050406030204" pitchFamily="18" charset="0"/>
                              </a:rPr>
                            </m:ctrlPr>
                          </m:sSubSupPr>
                          <m:e>
                            <m:r>
                              <m:rPr>
                                <m:sty m:val="p"/>
                              </m:rPr>
                              <a:rPr lang="fr-FR" sz="2200">
                                <a:latin typeface="Cambria Math" panose="02040503050406030204" pitchFamily="18" charset="0"/>
                              </a:rPr>
                              <m:t>C</m:t>
                            </m:r>
                          </m:e>
                          <m:sub>
                            <m:r>
                              <m:rPr>
                                <m:sty m:val="p"/>
                              </m:rPr>
                              <a:rPr lang="fr-FR" sz="2200">
                                <a:latin typeface="Cambria Math" panose="02040503050406030204" pitchFamily="18" charset="0"/>
                              </a:rPr>
                              <m:t>i</m:t>
                            </m:r>
                          </m:sub>
                          <m:sup>
                            <m:r>
                              <m:rPr>
                                <m:sty m:val="p"/>
                              </m:rPr>
                              <a:rPr lang="fr-FR" sz="2200">
                                <a:latin typeface="Cambria Math" panose="02040503050406030204" pitchFamily="18" charset="0"/>
                              </a:rPr>
                              <m:t>t</m:t>
                            </m:r>
                          </m:sup>
                        </m:sSubSup>
                        <m:r>
                          <a:rPr lang="fr-FR" sz="2200">
                            <a:latin typeface="Cambria Math" panose="02040503050406030204" pitchFamily="18" charset="0"/>
                          </a:rPr>
                          <m:t>−</m:t>
                        </m:r>
                        <m:sSubSup>
                          <m:sSubSupPr>
                            <m:ctrlPr>
                              <a:rPr lang="fr-FR" sz="2200" i="1">
                                <a:latin typeface="Cambria Math" panose="02040503050406030204" pitchFamily="18" charset="0"/>
                              </a:rPr>
                            </m:ctrlPr>
                          </m:sSubSupPr>
                          <m:e>
                            <m:r>
                              <m:rPr>
                                <m:sty m:val="p"/>
                              </m:rPr>
                              <a:rPr lang="fr-FR" sz="2200">
                                <a:latin typeface="Cambria Math" panose="02040503050406030204" pitchFamily="18" charset="0"/>
                              </a:rPr>
                              <m:t>C</m:t>
                            </m:r>
                          </m:e>
                          <m:sub>
                            <m:r>
                              <m:rPr>
                                <m:sty m:val="p"/>
                              </m:rPr>
                              <a:rPr lang="fr-FR" sz="2200">
                                <a:latin typeface="Cambria Math" panose="02040503050406030204" pitchFamily="18" charset="0"/>
                              </a:rPr>
                              <m:t>i</m:t>
                            </m:r>
                          </m:sub>
                          <m:sup>
                            <m:r>
                              <m:rPr>
                                <m:sty m:val="p"/>
                              </m:rPr>
                              <a:rPr lang="fr-FR" sz="2200">
                                <a:latin typeface="Cambria Math" panose="02040503050406030204" pitchFamily="18" charset="0"/>
                              </a:rPr>
                              <m:t>t</m:t>
                            </m:r>
                            <m:r>
                              <a:rPr lang="fr-FR" sz="2200">
                                <a:latin typeface="Cambria Math" panose="02040503050406030204" pitchFamily="18" charset="0"/>
                              </a:rPr>
                              <m:t>−1</m:t>
                            </m:r>
                          </m:sup>
                        </m:sSubSup>
                      </m:num>
                      <m:den>
                        <m:r>
                          <m:rPr>
                            <m:sty m:val="p"/>
                          </m:rPr>
                          <a:rPr lang="fr-FR" sz="2200">
                            <a:latin typeface="Cambria Math" panose="02040503050406030204" pitchFamily="18" charset="0"/>
                          </a:rPr>
                          <m:t>Δt</m:t>
                        </m:r>
                      </m:den>
                    </m:f>
                    <m:r>
                      <a:rPr lang="fr-FR" sz="2200" i="1">
                        <a:latin typeface="Cambria Math" panose="02040503050406030204" pitchFamily="18" charset="0"/>
                      </a:rPr>
                      <m:t>=</m:t>
                    </m:r>
                    <m:f>
                      <m:fPr>
                        <m:ctrlPr>
                          <a:rPr lang="fr-FR" sz="2200" i="1">
                            <a:latin typeface="Cambria Math" panose="02040503050406030204" pitchFamily="18" charset="0"/>
                          </a:rPr>
                        </m:ctrlPr>
                      </m:fPr>
                      <m:num>
                        <m:r>
                          <a:rPr lang="fr-FR" sz="2200">
                            <a:latin typeface="Cambria Math" panose="02040503050406030204" pitchFamily="18" charset="0"/>
                          </a:rPr>
                          <m:t>𝜕</m:t>
                        </m:r>
                        <m:r>
                          <a:rPr lang="fr-FR" sz="2200" i="1">
                            <a:latin typeface="Cambria Math" panose="02040503050406030204" pitchFamily="18" charset="0"/>
                          </a:rPr>
                          <m:t>𝐶</m:t>
                        </m:r>
                      </m:num>
                      <m:den>
                        <m:r>
                          <a:rPr lang="fr-FR" sz="2200">
                            <a:latin typeface="Cambria Math" panose="02040503050406030204" pitchFamily="18" charset="0"/>
                          </a:rPr>
                          <m:t>𝜕</m:t>
                        </m:r>
                        <m:r>
                          <m:rPr>
                            <m:sty m:val="p"/>
                          </m:rPr>
                          <a:rPr lang="fr-FR" sz="2200">
                            <a:latin typeface="Cambria Math" panose="02040503050406030204" pitchFamily="18" charset="0"/>
                          </a:rPr>
                          <m:t>t</m:t>
                        </m:r>
                      </m:den>
                    </m:f>
                    <m:sSub>
                      <m:sSubPr>
                        <m:ctrlPr>
                          <a:rPr lang="fr-FR" sz="2200" i="1">
                            <a:latin typeface="Cambria Math" panose="02040503050406030204" pitchFamily="18" charset="0"/>
                          </a:rPr>
                        </m:ctrlPr>
                      </m:sSubPr>
                      <m:e>
                        <m:d>
                          <m:dPr>
                            <m:begChr m:val=""/>
                            <m:endChr m:val="|"/>
                            <m:ctrlPr>
                              <a:rPr lang="fr-FR" sz="2200" i="1">
                                <a:latin typeface="Cambria Math" panose="02040503050406030204" pitchFamily="18" charset="0"/>
                              </a:rPr>
                            </m:ctrlPr>
                          </m:dPr>
                          <m:e>
                            <m:r>
                              <a:rPr lang="fr-FR" sz="2200" i="1">
                                <a:latin typeface="Cambria Math" panose="02040503050406030204" pitchFamily="18" charset="0"/>
                              </a:rPr>
                              <m:t>​</m:t>
                            </m:r>
                          </m:e>
                        </m:d>
                      </m:e>
                      <m:sub>
                        <m:r>
                          <m:rPr>
                            <m:sty m:val="p"/>
                          </m:rPr>
                          <a:rPr lang="fr-FR" sz="2200">
                            <a:latin typeface="Cambria Math" panose="02040503050406030204" pitchFamily="18" charset="0"/>
                          </a:rPr>
                          <m:t>i</m:t>
                        </m:r>
                        <m:r>
                          <a:rPr lang="fr-FR" sz="2200">
                            <a:latin typeface="Cambria Math" panose="02040503050406030204" pitchFamily="18" charset="0"/>
                          </a:rPr>
                          <m:t>,</m:t>
                        </m:r>
                        <m:r>
                          <m:rPr>
                            <m:sty m:val="p"/>
                          </m:rPr>
                          <a:rPr lang="fr-FR" sz="2200">
                            <a:latin typeface="Cambria Math" panose="02040503050406030204" pitchFamily="18" charset="0"/>
                          </a:rPr>
                          <m:t>t</m:t>
                        </m:r>
                      </m:sub>
                    </m:sSub>
                    <m:r>
                      <a:rPr lang="fr-FR" sz="2200" i="1">
                        <a:latin typeface="Cambria Math" panose="02040503050406030204" pitchFamily="18" charset="0"/>
                      </a:rPr>
                      <m:t>+</m:t>
                    </m:r>
                    <m:f>
                      <m:fPr>
                        <m:ctrlPr>
                          <a:rPr lang="fr-FR" sz="2200" i="1">
                            <a:latin typeface="Cambria Math" panose="02040503050406030204" pitchFamily="18" charset="0"/>
                          </a:rPr>
                        </m:ctrlPr>
                      </m:fPr>
                      <m:num>
                        <m:sSup>
                          <m:sSupPr>
                            <m:ctrlPr>
                              <a:rPr lang="fr-FR" sz="2200" i="1">
                                <a:latin typeface="Cambria Math" panose="02040503050406030204" pitchFamily="18" charset="0"/>
                              </a:rPr>
                            </m:ctrlPr>
                          </m:sSupPr>
                          <m:e>
                            <m:r>
                              <a:rPr lang="fr-FR" sz="2200" i="1">
                                <a:latin typeface="Cambria Math" panose="02040503050406030204" pitchFamily="18" charset="0"/>
                              </a:rPr>
                              <m:t>𝜕</m:t>
                            </m:r>
                          </m:e>
                          <m:sup>
                            <m:r>
                              <a:rPr lang="fr-FR" sz="2200" i="1">
                                <a:latin typeface="Cambria Math" panose="02040503050406030204" pitchFamily="18" charset="0"/>
                              </a:rPr>
                              <m:t>2</m:t>
                            </m:r>
                          </m:sup>
                        </m:sSup>
                        <m:r>
                          <a:rPr lang="fr-FR" sz="2200" i="1">
                            <a:latin typeface="Cambria Math" panose="02040503050406030204" pitchFamily="18" charset="0"/>
                          </a:rPr>
                          <m:t>𝐶</m:t>
                        </m:r>
                      </m:num>
                      <m:den>
                        <m:r>
                          <a:rPr lang="fr-FR" sz="2200" i="1">
                            <a:latin typeface="Cambria Math" panose="02040503050406030204" pitchFamily="18" charset="0"/>
                          </a:rPr>
                          <m:t>𝜕</m:t>
                        </m:r>
                        <m:sSup>
                          <m:sSupPr>
                            <m:ctrlPr>
                              <a:rPr lang="fr-FR" sz="2200" i="1">
                                <a:latin typeface="Cambria Math" panose="02040503050406030204" pitchFamily="18" charset="0"/>
                              </a:rPr>
                            </m:ctrlPr>
                          </m:sSupPr>
                          <m:e>
                            <m:r>
                              <a:rPr lang="fr-FR" sz="2200" i="1">
                                <a:latin typeface="Cambria Math" panose="02040503050406030204" pitchFamily="18" charset="0"/>
                              </a:rPr>
                              <m:t>𝑡</m:t>
                            </m:r>
                          </m:e>
                          <m:sup>
                            <m:r>
                              <a:rPr lang="fr-FR" sz="2200" i="1">
                                <a:latin typeface="Cambria Math" panose="02040503050406030204" pitchFamily="18" charset="0"/>
                              </a:rPr>
                              <m:t>2</m:t>
                            </m:r>
                          </m:sup>
                        </m:sSup>
                      </m:den>
                    </m:f>
                    <m:sSub>
                      <m:sSubPr>
                        <m:ctrlPr>
                          <a:rPr lang="fr-FR" sz="2200" i="1">
                            <a:latin typeface="Cambria Math" panose="02040503050406030204" pitchFamily="18" charset="0"/>
                          </a:rPr>
                        </m:ctrlPr>
                      </m:sSubPr>
                      <m:e>
                        <m:d>
                          <m:dPr>
                            <m:begChr m:val=""/>
                            <m:endChr m:val="|"/>
                            <m:ctrlPr>
                              <a:rPr lang="fr-FR" sz="2200" i="1">
                                <a:latin typeface="Cambria Math" panose="02040503050406030204" pitchFamily="18" charset="0"/>
                              </a:rPr>
                            </m:ctrlPr>
                          </m:dPr>
                          <m:e>
                            <m:r>
                              <a:rPr lang="fr-FR" sz="2200" i="1">
                                <a:latin typeface="Cambria Math" panose="02040503050406030204" pitchFamily="18" charset="0"/>
                              </a:rPr>
                              <m:t>​</m:t>
                            </m:r>
                          </m:e>
                        </m:d>
                      </m:e>
                      <m:sub>
                        <m:r>
                          <a:rPr lang="fr-FR" sz="2200" i="1">
                            <a:latin typeface="Cambria Math" panose="02040503050406030204" pitchFamily="18" charset="0"/>
                          </a:rPr>
                          <m:t>𝑖</m:t>
                        </m:r>
                        <m:r>
                          <a:rPr lang="fr-FR" sz="2200" i="1">
                            <a:latin typeface="Cambria Math" panose="02040503050406030204" pitchFamily="18" charset="0"/>
                          </a:rPr>
                          <m:t>,</m:t>
                        </m:r>
                        <m:r>
                          <a:rPr lang="fr-FR" sz="2200" i="1">
                            <a:latin typeface="Cambria Math" panose="02040503050406030204" pitchFamily="18" charset="0"/>
                          </a:rPr>
                          <m:t>𝑡</m:t>
                        </m:r>
                      </m:sub>
                    </m:sSub>
                    <m:f>
                      <m:fPr>
                        <m:ctrlPr>
                          <a:rPr lang="fr-FR" sz="2200" i="1">
                            <a:latin typeface="Cambria Math" panose="02040503050406030204" pitchFamily="18" charset="0"/>
                          </a:rPr>
                        </m:ctrlPr>
                      </m:fPr>
                      <m:num>
                        <m:r>
                          <a:rPr lang="fr-FR" sz="2200" i="1">
                            <a:latin typeface="Cambria Math" panose="02040503050406030204" pitchFamily="18" charset="0"/>
                          </a:rPr>
                          <m:t>𝛥</m:t>
                        </m:r>
                        <m:r>
                          <a:rPr lang="fr-FR" sz="2200" i="1">
                            <a:latin typeface="Cambria Math" panose="02040503050406030204" pitchFamily="18" charset="0"/>
                          </a:rPr>
                          <m:t>𝑡</m:t>
                        </m:r>
                      </m:num>
                      <m:den>
                        <m:r>
                          <a:rPr lang="fr-FR" sz="2200" i="1">
                            <a:latin typeface="Cambria Math" panose="02040503050406030204" pitchFamily="18" charset="0"/>
                          </a:rPr>
                          <m:t>2!</m:t>
                        </m:r>
                      </m:den>
                    </m:f>
                    <m:r>
                      <a:rPr lang="fr-FR" sz="2200" i="1">
                        <a:latin typeface="Cambria Math" panose="02040503050406030204" pitchFamily="18" charset="0"/>
                      </a:rPr>
                      <m:t>+</m:t>
                    </m:r>
                    <m:r>
                      <a:rPr lang="fr-FR" sz="2200" i="1">
                        <a:latin typeface="Cambria Math" panose="02040503050406030204" pitchFamily="18" charset="0"/>
                      </a:rPr>
                      <m:t>𝑜</m:t>
                    </m:r>
                    <m:d>
                      <m:dPr>
                        <m:ctrlPr>
                          <a:rPr lang="fr-FR" sz="2200" i="1">
                            <a:latin typeface="Cambria Math" panose="02040503050406030204" pitchFamily="18" charset="0"/>
                          </a:rPr>
                        </m:ctrlPr>
                      </m:dPr>
                      <m:e>
                        <m:r>
                          <m:rPr>
                            <m:sty m:val="p"/>
                          </m:rPr>
                          <a:rPr lang="fr-FR" sz="2200">
                            <a:latin typeface="Cambria Math" panose="02040503050406030204" pitchFamily="18" charset="0"/>
                          </a:rPr>
                          <m:t>Δ</m:t>
                        </m:r>
                        <m:r>
                          <a:rPr lang="fr-FR" sz="2200" i="1">
                            <a:latin typeface="Cambria Math" panose="02040503050406030204" pitchFamily="18" charset="0"/>
                          </a:rPr>
                          <m:t>𝑡</m:t>
                        </m:r>
                      </m:e>
                    </m:d>
                  </m:oMath>
                </a14:m>
                <a:endParaRPr lang="fr-FR" sz="2200" dirty="0"/>
              </a:p>
              <a:p>
                <a:pPr marL="0" indent="0">
                  <a:buNone/>
                </a:pPr>
                <a:r>
                  <a:rPr lang="fr-FR" sz="2200" dirty="0"/>
                  <a:t>En espace : </a:t>
                </a:r>
                <a14:m>
                  <m:oMath xmlns:m="http://schemas.openxmlformats.org/officeDocument/2006/math">
                    <m:f>
                      <m:fPr>
                        <m:ctrlPr>
                          <a:rPr lang="fr-FR" sz="2200" i="1">
                            <a:latin typeface="Cambria Math" panose="02040503050406030204" pitchFamily="18" charset="0"/>
                          </a:rPr>
                        </m:ctrlPr>
                      </m:fPr>
                      <m:num>
                        <m:sSubSup>
                          <m:sSubSupPr>
                            <m:ctrlPr>
                              <a:rPr lang="fr-FR" sz="2200" i="1">
                                <a:latin typeface="Cambria Math" panose="02040503050406030204" pitchFamily="18" charset="0"/>
                              </a:rPr>
                            </m:ctrlPr>
                          </m:sSubSupPr>
                          <m:e>
                            <m:r>
                              <m:rPr>
                                <m:sty m:val="p"/>
                              </m:rPr>
                              <a:rPr lang="fr-FR" sz="2200">
                                <a:latin typeface="Cambria Math" panose="02040503050406030204" pitchFamily="18" charset="0"/>
                              </a:rPr>
                              <m:t>C</m:t>
                            </m:r>
                          </m:e>
                          <m:sub>
                            <m:r>
                              <m:rPr>
                                <m:sty m:val="p"/>
                              </m:rPr>
                              <a:rPr lang="fr-FR" sz="2200">
                                <a:latin typeface="Cambria Math" panose="02040503050406030204" pitchFamily="18" charset="0"/>
                              </a:rPr>
                              <m:t>i</m:t>
                            </m:r>
                            <m:r>
                              <a:rPr lang="fr-FR" sz="2200">
                                <a:latin typeface="Cambria Math" panose="02040503050406030204" pitchFamily="18" charset="0"/>
                              </a:rPr>
                              <m:t>+1</m:t>
                            </m:r>
                          </m:sub>
                          <m:sup>
                            <m:r>
                              <m:rPr>
                                <m:sty m:val="p"/>
                              </m:rPr>
                              <a:rPr lang="fr-FR" sz="2200">
                                <a:latin typeface="Cambria Math" panose="02040503050406030204" pitchFamily="18" charset="0"/>
                              </a:rPr>
                              <m:t>t</m:t>
                            </m:r>
                          </m:sup>
                        </m:sSubSup>
                        <m:r>
                          <a:rPr lang="fr-FR" sz="2200">
                            <a:latin typeface="Cambria Math" panose="02040503050406030204" pitchFamily="18" charset="0"/>
                          </a:rPr>
                          <m:t>−</m:t>
                        </m:r>
                        <m:sSubSup>
                          <m:sSubSupPr>
                            <m:ctrlPr>
                              <a:rPr lang="fr-FR" sz="2200" i="1">
                                <a:latin typeface="Cambria Math" panose="02040503050406030204" pitchFamily="18" charset="0"/>
                              </a:rPr>
                            </m:ctrlPr>
                          </m:sSubSupPr>
                          <m:e>
                            <m:r>
                              <m:rPr>
                                <m:sty m:val="p"/>
                              </m:rPr>
                              <a:rPr lang="fr-FR" sz="2200">
                                <a:latin typeface="Cambria Math" panose="02040503050406030204" pitchFamily="18" charset="0"/>
                              </a:rPr>
                              <m:t>C</m:t>
                            </m:r>
                          </m:e>
                          <m:sub>
                            <m:r>
                              <m:rPr>
                                <m:sty m:val="p"/>
                              </m:rPr>
                              <a:rPr lang="fr-FR" sz="2200">
                                <a:latin typeface="Cambria Math" panose="02040503050406030204" pitchFamily="18" charset="0"/>
                              </a:rPr>
                              <m:t>i</m:t>
                            </m:r>
                            <m:r>
                              <a:rPr lang="fr-FR" sz="2200">
                                <a:latin typeface="Cambria Math" panose="02040503050406030204" pitchFamily="18" charset="0"/>
                              </a:rPr>
                              <m:t>−1</m:t>
                            </m:r>
                          </m:sub>
                          <m:sup>
                            <m:r>
                              <m:rPr>
                                <m:sty m:val="p"/>
                              </m:rPr>
                              <a:rPr lang="fr-FR" sz="2200">
                                <a:latin typeface="Cambria Math" panose="02040503050406030204" pitchFamily="18" charset="0"/>
                              </a:rPr>
                              <m:t>t</m:t>
                            </m:r>
                            <m:r>
                              <a:rPr lang="fr-FR" sz="2200">
                                <a:latin typeface="Cambria Math" panose="02040503050406030204" pitchFamily="18" charset="0"/>
                              </a:rPr>
                              <m:t>−1</m:t>
                            </m:r>
                          </m:sup>
                        </m:sSubSup>
                      </m:num>
                      <m:den>
                        <m:r>
                          <m:rPr>
                            <m:sty m:val="p"/>
                          </m:rPr>
                          <a:rPr lang="fr-FR" sz="2200">
                            <a:latin typeface="Cambria Math" panose="02040503050406030204" pitchFamily="18" charset="0"/>
                          </a:rPr>
                          <m:t>Δr</m:t>
                        </m:r>
                      </m:den>
                    </m:f>
                    <m:r>
                      <a:rPr lang="fr-FR" sz="2200" i="1">
                        <a:latin typeface="Cambria Math" panose="02040503050406030204" pitchFamily="18" charset="0"/>
                      </a:rPr>
                      <m:t>=</m:t>
                    </m:r>
                    <m:f>
                      <m:fPr>
                        <m:ctrlPr>
                          <a:rPr lang="fr-FR" sz="2200" i="1">
                            <a:latin typeface="Cambria Math" panose="02040503050406030204" pitchFamily="18" charset="0"/>
                          </a:rPr>
                        </m:ctrlPr>
                      </m:fPr>
                      <m:num>
                        <m:r>
                          <a:rPr lang="fr-FR" sz="2200">
                            <a:latin typeface="Cambria Math" panose="02040503050406030204" pitchFamily="18" charset="0"/>
                          </a:rPr>
                          <m:t>𝜕</m:t>
                        </m:r>
                        <m:r>
                          <a:rPr lang="fr-FR" sz="2200" i="1">
                            <a:latin typeface="Cambria Math" panose="02040503050406030204" pitchFamily="18" charset="0"/>
                          </a:rPr>
                          <m:t>𝐶</m:t>
                        </m:r>
                      </m:num>
                      <m:den>
                        <m:r>
                          <a:rPr lang="fr-FR" sz="2200">
                            <a:latin typeface="Cambria Math" panose="02040503050406030204" pitchFamily="18" charset="0"/>
                          </a:rPr>
                          <m:t>𝜕</m:t>
                        </m:r>
                        <m:r>
                          <m:rPr>
                            <m:sty m:val="p"/>
                          </m:rPr>
                          <a:rPr lang="fr-FR" sz="2200">
                            <a:latin typeface="Cambria Math" panose="02040503050406030204" pitchFamily="18" charset="0"/>
                          </a:rPr>
                          <m:t>r</m:t>
                        </m:r>
                      </m:den>
                    </m:f>
                    <m:sSub>
                      <m:sSubPr>
                        <m:ctrlPr>
                          <a:rPr lang="fr-FR" sz="2200" i="1">
                            <a:latin typeface="Cambria Math" panose="02040503050406030204" pitchFamily="18" charset="0"/>
                          </a:rPr>
                        </m:ctrlPr>
                      </m:sSubPr>
                      <m:e>
                        <m:d>
                          <m:dPr>
                            <m:begChr m:val=""/>
                            <m:endChr m:val="|"/>
                            <m:ctrlPr>
                              <a:rPr lang="fr-FR" sz="2200" i="1">
                                <a:latin typeface="Cambria Math" panose="02040503050406030204" pitchFamily="18" charset="0"/>
                              </a:rPr>
                            </m:ctrlPr>
                          </m:dPr>
                          <m:e>
                            <m:r>
                              <a:rPr lang="fr-FR" sz="2200" i="1">
                                <a:latin typeface="Cambria Math" panose="02040503050406030204" pitchFamily="18" charset="0"/>
                              </a:rPr>
                              <m:t>​</m:t>
                            </m:r>
                          </m:e>
                        </m:d>
                      </m:e>
                      <m:sub>
                        <m:r>
                          <m:rPr>
                            <m:sty m:val="p"/>
                          </m:rPr>
                          <a:rPr lang="fr-FR" sz="2200">
                            <a:latin typeface="Cambria Math" panose="02040503050406030204" pitchFamily="18" charset="0"/>
                          </a:rPr>
                          <m:t>i</m:t>
                        </m:r>
                        <m:r>
                          <a:rPr lang="fr-FR" sz="2200">
                            <a:latin typeface="Cambria Math" panose="02040503050406030204" pitchFamily="18" charset="0"/>
                          </a:rPr>
                          <m:t>,</m:t>
                        </m:r>
                        <m:r>
                          <m:rPr>
                            <m:sty m:val="p"/>
                          </m:rPr>
                          <a:rPr lang="fr-FR" sz="2200">
                            <a:latin typeface="Cambria Math" panose="02040503050406030204" pitchFamily="18" charset="0"/>
                          </a:rPr>
                          <m:t>t</m:t>
                        </m:r>
                      </m:sub>
                    </m:sSub>
                    <m:r>
                      <a:rPr lang="fr-FR" sz="2200" i="1">
                        <a:latin typeface="Cambria Math" panose="02040503050406030204" pitchFamily="18" charset="0"/>
                      </a:rPr>
                      <m:t>+</m:t>
                    </m:r>
                    <m:r>
                      <a:rPr lang="fr-FR" sz="2200" i="1">
                        <a:latin typeface="Cambria Math" panose="02040503050406030204" pitchFamily="18" charset="0"/>
                      </a:rPr>
                      <m:t>𝑜</m:t>
                    </m:r>
                    <m:d>
                      <m:dPr>
                        <m:ctrlPr>
                          <a:rPr lang="fr-FR" sz="2200" i="1">
                            <a:latin typeface="Cambria Math" panose="02040503050406030204" pitchFamily="18" charset="0"/>
                          </a:rPr>
                        </m:ctrlPr>
                      </m:dPr>
                      <m:e>
                        <m:r>
                          <m:rPr>
                            <m:sty m:val="p"/>
                          </m:rPr>
                          <a:rPr lang="fr-FR" sz="2200">
                            <a:latin typeface="Cambria Math" panose="02040503050406030204" pitchFamily="18" charset="0"/>
                          </a:rPr>
                          <m:t>Δ</m:t>
                        </m:r>
                        <m:sSup>
                          <m:sSupPr>
                            <m:ctrlPr>
                              <a:rPr lang="fr-FR" sz="2200" i="1">
                                <a:latin typeface="Cambria Math" panose="02040503050406030204" pitchFamily="18" charset="0"/>
                              </a:rPr>
                            </m:ctrlPr>
                          </m:sSupPr>
                          <m:e>
                            <m:r>
                              <a:rPr lang="fr-FR" sz="2200" i="1">
                                <a:latin typeface="Cambria Math" panose="02040503050406030204" pitchFamily="18" charset="0"/>
                              </a:rPr>
                              <m:t>𝑟</m:t>
                            </m:r>
                          </m:e>
                          <m:sup>
                            <m:r>
                              <a:rPr lang="fr-FR" sz="2200" i="1">
                                <a:latin typeface="Cambria Math" panose="02040503050406030204" pitchFamily="18" charset="0"/>
                              </a:rPr>
                              <m:t>2</m:t>
                            </m:r>
                          </m:sup>
                        </m:sSup>
                      </m:e>
                    </m:d>
                  </m:oMath>
                </a14:m>
                <a:endParaRPr lang="fr-FR" sz="2200" dirty="0"/>
              </a:p>
              <a:p>
                <a:pPr marL="0" indent="0">
                  <a:buNone/>
                </a:pPr>
                <a:r>
                  <a:rPr lang="fr-FR" sz="2200" dirty="0"/>
                  <a:t>Et :  </a:t>
                </a:r>
                <a14:m>
                  <m:oMath xmlns:m="http://schemas.openxmlformats.org/officeDocument/2006/math">
                    <m:f>
                      <m:fPr>
                        <m:ctrlPr>
                          <a:rPr lang="fr-FR" sz="2200" i="1">
                            <a:latin typeface="Cambria Math" panose="02040503050406030204" pitchFamily="18" charset="0"/>
                          </a:rPr>
                        </m:ctrlPr>
                      </m:fPr>
                      <m:num>
                        <m:sSubSup>
                          <m:sSubSupPr>
                            <m:ctrlPr>
                              <a:rPr lang="fr-FR" sz="2200" i="1">
                                <a:latin typeface="Cambria Math" panose="02040503050406030204" pitchFamily="18" charset="0"/>
                              </a:rPr>
                            </m:ctrlPr>
                          </m:sSubSupPr>
                          <m:e>
                            <m:r>
                              <m:rPr>
                                <m:sty m:val="p"/>
                              </m:rPr>
                              <a:rPr lang="fr-FR" sz="2200">
                                <a:latin typeface="Cambria Math" panose="02040503050406030204" pitchFamily="18" charset="0"/>
                              </a:rPr>
                              <m:t>C</m:t>
                            </m:r>
                          </m:e>
                          <m:sub>
                            <m:r>
                              <m:rPr>
                                <m:sty m:val="p"/>
                              </m:rPr>
                              <a:rPr lang="fr-FR" sz="2200">
                                <a:latin typeface="Cambria Math" panose="02040503050406030204" pitchFamily="18" charset="0"/>
                              </a:rPr>
                              <m:t>i</m:t>
                            </m:r>
                            <m:r>
                              <a:rPr lang="fr-FR" sz="2200">
                                <a:latin typeface="Cambria Math" panose="02040503050406030204" pitchFamily="18" charset="0"/>
                              </a:rPr>
                              <m:t>+1</m:t>
                            </m:r>
                          </m:sub>
                          <m:sup>
                            <m:r>
                              <m:rPr>
                                <m:sty m:val="p"/>
                              </m:rPr>
                              <a:rPr lang="fr-FR" sz="2200">
                                <a:latin typeface="Cambria Math" panose="02040503050406030204" pitchFamily="18" charset="0"/>
                              </a:rPr>
                              <m:t>t</m:t>
                            </m:r>
                          </m:sup>
                        </m:sSubSup>
                        <m:r>
                          <a:rPr lang="fr-FR" sz="2200">
                            <a:latin typeface="Cambria Math" panose="02040503050406030204" pitchFamily="18" charset="0"/>
                          </a:rPr>
                          <m:t>−</m:t>
                        </m:r>
                        <m:sSubSup>
                          <m:sSubSupPr>
                            <m:ctrlPr>
                              <a:rPr lang="fr-FR" sz="2200" i="1">
                                <a:latin typeface="Cambria Math" panose="02040503050406030204" pitchFamily="18" charset="0"/>
                              </a:rPr>
                            </m:ctrlPr>
                          </m:sSubSupPr>
                          <m:e>
                            <m:r>
                              <a:rPr lang="fr-FR" sz="2200">
                                <a:latin typeface="Cambria Math" panose="02040503050406030204" pitchFamily="18" charset="0"/>
                              </a:rPr>
                              <m:t>2</m:t>
                            </m:r>
                            <m:r>
                              <m:rPr>
                                <m:sty m:val="p"/>
                              </m:rPr>
                              <a:rPr lang="fr-FR" sz="2200">
                                <a:latin typeface="Cambria Math" panose="02040503050406030204" pitchFamily="18" charset="0"/>
                              </a:rPr>
                              <m:t>C</m:t>
                            </m:r>
                          </m:e>
                          <m:sub>
                            <m:r>
                              <m:rPr>
                                <m:sty m:val="p"/>
                              </m:rPr>
                              <a:rPr lang="fr-FR" sz="2200">
                                <a:latin typeface="Cambria Math" panose="02040503050406030204" pitchFamily="18" charset="0"/>
                              </a:rPr>
                              <m:t>i</m:t>
                            </m:r>
                          </m:sub>
                          <m:sup>
                            <m:r>
                              <m:rPr>
                                <m:sty m:val="p"/>
                              </m:rPr>
                              <a:rPr lang="fr-FR" sz="2200">
                                <a:latin typeface="Cambria Math" panose="02040503050406030204" pitchFamily="18" charset="0"/>
                              </a:rPr>
                              <m:t>t</m:t>
                            </m:r>
                          </m:sup>
                        </m:sSubSup>
                        <m:r>
                          <a:rPr lang="fr-FR" sz="2200" i="1">
                            <a:latin typeface="Cambria Math" panose="02040503050406030204" pitchFamily="18" charset="0"/>
                          </a:rPr>
                          <m:t>+</m:t>
                        </m:r>
                        <m:sSubSup>
                          <m:sSubSupPr>
                            <m:ctrlPr>
                              <a:rPr lang="fr-FR" sz="2200" i="1">
                                <a:latin typeface="Cambria Math" panose="02040503050406030204" pitchFamily="18" charset="0"/>
                              </a:rPr>
                            </m:ctrlPr>
                          </m:sSubSupPr>
                          <m:e>
                            <m:r>
                              <a:rPr lang="fr-FR" sz="2200" i="1">
                                <a:latin typeface="Cambria Math" panose="02040503050406030204" pitchFamily="18" charset="0"/>
                              </a:rPr>
                              <m:t>𝐶</m:t>
                            </m:r>
                          </m:e>
                          <m:sub>
                            <m:r>
                              <a:rPr lang="fr-FR" sz="2200" i="1">
                                <a:latin typeface="Cambria Math" panose="02040503050406030204" pitchFamily="18" charset="0"/>
                              </a:rPr>
                              <m:t>𝑖</m:t>
                            </m:r>
                            <m:r>
                              <a:rPr lang="fr-FR" sz="2200" i="1">
                                <a:latin typeface="Cambria Math" panose="02040503050406030204" pitchFamily="18" charset="0"/>
                              </a:rPr>
                              <m:t>−1</m:t>
                            </m:r>
                          </m:sub>
                          <m:sup>
                            <m:r>
                              <a:rPr lang="fr-FR" sz="2200" i="1">
                                <a:latin typeface="Cambria Math" panose="02040503050406030204" pitchFamily="18" charset="0"/>
                              </a:rPr>
                              <m:t>𝑡</m:t>
                            </m:r>
                          </m:sup>
                        </m:sSubSup>
                      </m:num>
                      <m:den>
                        <m:r>
                          <m:rPr>
                            <m:sty m:val="p"/>
                          </m:rPr>
                          <a:rPr lang="fr-FR" sz="2200">
                            <a:latin typeface="Cambria Math" panose="02040503050406030204" pitchFamily="18" charset="0"/>
                          </a:rPr>
                          <m:t>Δ</m:t>
                        </m:r>
                        <m:sSup>
                          <m:sSupPr>
                            <m:ctrlPr>
                              <a:rPr lang="fr-FR" sz="2200" i="1">
                                <a:latin typeface="Cambria Math" panose="02040503050406030204" pitchFamily="18" charset="0"/>
                              </a:rPr>
                            </m:ctrlPr>
                          </m:sSupPr>
                          <m:e>
                            <m:r>
                              <m:rPr>
                                <m:sty m:val="p"/>
                              </m:rPr>
                              <a:rPr lang="fr-FR" sz="2200">
                                <a:latin typeface="Cambria Math" panose="02040503050406030204" pitchFamily="18" charset="0"/>
                              </a:rPr>
                              <m:t>r</m:t>
                            </m:r>
                          </m:e>
                          <m:sup>
                            <m:r>
                              <a:rPr lang="fr-FR" sz="2200">
                                <a:latin typeface="Cambria Math" panose="02040503050406030204" pitchFamily="18" charset="0"/>
                              </a:rPr>
                              <m:t>2</m:t>
                            </m:r>
                          </m:sup>
                        </m:sSup>
                      </m:den>
                    </m:f>
                    <m:r>
                      <a:rPr lang="fr-FR" sz="2200" i="1">
                        <a:latin typeface="Cambria Math" panose="02040503050406030204" pitchFamily="18" charset="0"/>
                      </a:rPr>
                      <m:t>=</m:t>
                    </m:r>
                    <m:f>
                      <m:fPr>
                        <m:ctrlPr>
                          <a:rPr lang="fr-FR" sz="2200" i="1">
                            <a:latin typeface="Cambria Math" panose="02040503050406030204" pitchFamily="18" charset="0"/>
                          </a:rPr>
                        </m:ctrlPr>
                      </m:fPr>
                      <m:num>
                        <m:sSup>
                          <m:sSupPr>
                            <m:ctrlPr>
                              <a:rPr lang="fr-FR" sz="2200" i="1">
                                <a:latin typeface="Cambria Math" panose="02040503050406030204" pitchFamily="18" charset="0"/>
                              </a:rPr>
                            </m:ctrlPr>
                          </m:sSupPr>
                          <m:e>
                            <m:r>
                              <a:rPr lang="fr-FR" sz="2200" i="1">
                                <a:latin typeface="Cambria Math" panose="02040503050406030204" pitchFamily="18" charset="0"/>
                              </a:rPr>
                              <m:t>𝜕</m:t>
                            </m:r>
                          </m:e>
                          <m:sup>
                            <m:r>
                              <a:rPr lang="fr-FR" sz="2200" i="1">
                                <a:latin typeface="Cambria Math" panose="02040503050406030204" pitchFamily="18" charset="0"/>
                              </a:rPr>
                              <m:t>2</m:t>
                            </m:r>
                          </m:sup>
                        </m:sSup>
                        <m:r>
                          <a:rPr lang="fr-FR" sz="2200" i="1">
                            <a:latin typeface="Cambria Math" panose="02040503050406030204" pitchFamily="18" charset="0"/>
                          </a:rPr>
                          <m:t>𝐶</m:t>
                        </m:r>
                      </m:num>
                      <m:den>
                        <m:r>
                          <a:rPr lang="fr-FR" sz="2200" i="1">
                            <a:latin typeface="Cambria Math" panose="02040503050406030204" pitchFamily="18" charset="0"/>
                          </a:rPr>
                          <m:t>𝜕</m:t>
                        </m:r>
                        <m:sSup>
                          <m:sSupPr>
                            <m:ctrlPr>
                              <a:rPr lang="fr-FR" sz="2200" i="1">
                                <a:latin typeface="Cambria Math" panose="02040503050406030204" pitchFamily="18" charset="0"/>
                              </a:rPr>
                            </m:ctrlPr>
                          </m:sSupPr>
                          <m:e>
                            <m:r>
                              <a:rPr lang="fr-FR" sz="2200" i="1">
                                <a:latin typeface="Cambria Math" panose="02040503050406030204" pitchFamily="18" charset="0"/>
                              </a:rPr>
                              <m:t>𝑟</m:t>
                            </m:r>
                          </m:e>
                          <m:sup>
                            <m:r>
                              <a:rPr lang="fr-FR" sz="2200" i="1">
                                <a:latin typeface="Cambria Math" panose="02040503050406030204" pitchFamily="18" charset="0"/>
                              </a:rPr>
                              <m:t>2</m:t>
                            </m:r>
                          </m:sup>
                        </m:sSup>
                      </m:den>
                    </m:f>
                    <m:sSub>
                      <m:sSubPr>
                        <m:ctrlPr>
                          <a:rPr lang="fr-FR" sz="2200" i="1">
                            <a:latin typeface="Cambria Math" panose="02040503050406030204" pitchFamily="18" charset="0"/>
                          </a:rPr>
                        </m:ctrlPr>
                      </m:sSubPr>
                      <m:e>
                        <m:d>
                          <m:dPr>
                            <m:begChr m:val=""/>
                            <m:endChr m:val="|"/>
                            <m:ctrlPr>
                              <a:rPr lang="fr-FR" sz="2200" i="1">
                                <a:latin typeface="Cambria Math" panose="02040503050406030204" pitchFamily="18" charset="0"/>
                              </a:rPr>
                            </m:ctrlPr>
                          </m:dPr>
                          <m:e>
                            <m:r>
                              <a:rPr lang="fr-FR" sz="2200" i="1">
                                <a:latin typeface="Cambria Math" panose="02040503050406030204" pitchFamily="18" charset="0"/>
                              </a:rPr>
                              <m:t>​</m:t>
                            </m:r>
                          </m:e>
                        </m:d>
                      </m:e>
                      <m:sub>
                        <m:r>
                          <a:rPr lang="fr-FR" sz="2200" i="1">
                            <a:latin typeface="Cambria Math" panose="02040503050406030204" pitchFamily="18" charset="0"/>
                          </a:rPr>
                          <m:t>𝑖</m:t>
                        </m:r>
                        <m:r>
                          <a:rPr lang="fr-FR" sz="2200" i="1">
                            <a:latin typeface="Cambria Math" panose="02040503050406030204" pitchFamily="18" charset="0"/>
                          </a:rPr>
                          <m:t>,</m:t>
                        </m:r>
                        <m:r>
                          <a:rPr lang="fr-FR" sz="2200" i="1">
                            <a:latin typeface="Cambria Math" panose="02040503050406030204" pitchFamily="18" charset="0"/>
                          </a:rPr>
                          <m:t>𝑡</m:t>
                        </m:r>
                      </m:sub>
                    </m:sSub>
                    <m:r>
                      <a:rPr lang="fr-FR" sz="2200" i="1">
                        <a:latin typeface="Cambria Math" panose="02040503050406030204" pitchFamily="18" charset="0"/>
                      </a:rPr>
                      <m:t>+</m:t>
                    </m:r>
                    <m:r>
                      <a:rPr lang="fr-FR" sz="2200" i="1">
                        <a:latin typeface="Cambria Math" panose="02040503050406030204" pitchFamily="18" charset="0"/>
                      </a:rPr>
                      <m:t>𝑜</m:t>
                    </m:r>
                    <m:d>
                      <m:dPr>
                        <m:ctrlPr>
                          <a:rPr lang="fr-FR" sz="2200" i="1">
                            <a:latin typeface="Cambria Math" panose="02040503050406030204" pitchFamily="18" charset="0"/>
                          </a:rPr>
                        </m:ctrlPr>
                      </m:dPr>
                      <m:e>
                        <m:r>
                          <a:rPr lang="fr-FR" sz="2200" i="1">
                            <a:latin typeface="Cambria Math" panose="02040503050406030204" pitchFamily="18" charset="0"/>
                          </a:rPr>
                          <m:t>𝛥</m:t>
                        </m:r>
                        <m:sSup>
                          <m:sSupPr>
                            <m:ctrlPr>
                              <a:rPr lang="fr-FR" sz="2200" i="1">
                                <a:latin typeface="Cambria Math" panose="02040503050406030204" pitchFamily="18" charset="0"/>
                              </a:rPr>
                            </m:ctrlPr>
                          </m:sSupPr>
                          <m:e>
                            <m:r>
                              <a:rPr lang="fr-FR" sz="2200" i="1">
                                <a:latin typeface="Cambria Math" panose="02040503050406030204" pitchFamily="18" charset="0"/>
                              </a:rPr>
                              <m:t>𝑟</m:t>
                            </m:r>
                          </m:e>
                          <m:sup>
                            <m:r>
                              <a:rPr lang="fr-CA" sz="2200" i="1">
                                <a:latin typeface="Cambria Math" panose="02040503050406030204" pitchFamily="18" charset="0"/>
                              </a:rPr>
                              <m:t>2</m:t>
                            </m:r>
                          </m:sup>
                        </m:sSup>
                      </m:e>
                    </m:d>
                  </m:oMath>
                </a14:m>
                <a:endParaRPr lang="fr-FR" sz="2200" dirty="0"/>
              </a:p>
              <a:p>
                <a:pPr marL="0" indent="0">
                  <a:buNone/>
                </a:pPr>
                <a:endParaRPr lang="fr-FR" sz="2200" dirty="0"/>
              </a:p>
              <a:p>
                <a:pPr marL="0" indent="0">
                  <a:buNone/>
                </a:pPr>
                <a:r>
                  <a:rPr lang="fr-FR" sz="2200" dirty="0"/>
                  <a:t>Le schéma donne alors : </a:t>
                </a:r>
                <a:endParaRPr lang="fr-FR"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fr-FR" sz="2400" i="1">
                              <a:latin typeface="Cambria Math" panose="02040503050406030204" pitchFamily="18" charset="0"/>
                            </a:rPr>
                          </m:ctrlPr>
                        </m:sSubPr>
                        <m:e>
                          <m:r>
                            <m:rPr>
                              <m:sty m:val="p"/>
                            </m:rPr>
                            <a:rPr lang="fr-FR" sz="2400" i="1">
                              <a:latin typeface="Cambria Math" panose="02040503050406030204" pitchFamily="18" charset="0"/>
                            </a:rPr>
                            <m:t>L</m:t>
                          </m:r>
                        </m:e>
                        <m:sub>
                          <m:r>
                            <a:rPr lang="fr-FR" sz="2400" i="1">
                              <a:latin typeface="Cambria Math" panose="02040503050406030204" pitchFamily="18" charset="0"/>
                            </a:rPr>
                            <m:t>h</m:t>
                          </m:r>
                        </m:sub>
                      </m:sSub>
                      <m:d>
                        <m:dPr>
                          <m:ctrlPr>
                            <a:rPr lang="fr-FR" sz="2400" i="1">
                              <a:latin typeface="Cambria Math" panose="02040503050406030204" pitchFamily="18" charset="0"/>
                            </a:rPr>
                          </m:ctrlPr>
                        </m:dPr>
                        <m:e>
                          <m:r>
                            <a:rPr lang="fr-FR" sz="2400" i="1">
                              <a:latin typeface="Cambria Math" panose="02040503050406030204" pitchFamily="18" charset="0"/>
                            </a:rPr>
                            <m:t>𝐶</m:t>
                          </m:r>
                        </m:e>
                      </m:d>
                      <m:r>
                        <a:rPr lang="fr-FR" sz="2400" i="1">
                          <a:latin typeface="Cambria Math" panose="02040503050406030204" pitchFamily="18" charset="0"/>
                        </a:rPr>
                        <m:t>=</m:t>
                      </m:r>
                      <m:f>
                        <m:fPr>
                          <m:ctrlPr>
                            <a:rPr lang="fr-FR" sz="2400" i="1">
                              <a:solidFill>
                                <a:schemeClr val="accent3">
                                  <a:lumMod val="75000"/>
                                </a:schemeClr>
                              </a:solidFill>
                              <a:latin typeface="Cambria Math" panose="02040503050406030204" pitchFamily="18" charset="0"/>
                            </a:rPr>
                          </m:ctrlPr>
                        </m:fPr>
                        <m:num>
                          <m:r>
                            <a:rPr lang="fr-FR" sz="2400" i="1">
                              <a:solidFill>
                                <a:schemeClr val="accent3">
                                  <a:lumMod val="75000"/>
                                </a:schemeClr>
                              </a:solidFill>
                              <a:latin typeface="Cambria Math" panose="02040503050406030204" pitchFamily="18" charset="0"/>
                            </a:rPr>
                            <m:t>𝜕</m:t>
                          </m:r>
                          <m:r>
                            <m:rPr>
                              <m:sty m:val="p"/>
                            </m:rPr>
                            <a:rPr lang="fr-FR" sz="2400" i="1">
                              <a:solidFill>
                                <a:schemeClr val="accent3">
                                  <a:lumMod val="75000"/>
                                </a:schemeClr>
                              </a:solidFill>
                              <a:latin typeface="Cambria Math" panose="02040503050406030204" pitchFamily="18" charset="0"/>
                            </a:rPr>
                            <m:t>C</m:t>
                          </m:r>
                        </m:num>
                        <m:den>
                          <m:r>
                            <a:rPr lang="fr-FR" sz="2400" i="1">
                              <a:solidFill>
                                <a:schemeClr val="accent3">
                                  <a:lumMod val="75000"/>
                                </a:schemeClr>
                              </a:solidFill>
                              <a:latin typeface="Cambria Math" panose="02040503050406030204" pitchFamily="18" charset="0"/>
                            </a:rPr>
                            <m:t>𝜕</m:t>
                          </m:r>
                          <m:r>
                            <a:rPr lang="fr-FR" sz="2400" b="0" i="1" smtClean="0">
                              <a:solidFill>
                                <a:schemeClr val="accent3">
                                  <a:lumMod val="75000"/>
                                </a:schemeClr>
                              </a:solidFill>
                              <a:latin typeface="Cambria Math" panose="02040503050406030204" pitchFamily="18" charset="0"/>
                            </a:rPr>
                            <m:t>𝑡</m:t>
                          </m:r>
                        </m:den>
                      </m:f>
                      <m:sSub>
                        <m:sSubPr>
                          <m:ctrlPr>
                            <a:rPr lang="fr-FR" sz="2400" i="1">
                              <a:solidFill>
                                <a:schemeClr val="accent3">
                                  <a:lumMod val="75000"/>
                                </a:schemeClr>
                              </a:solidFill>
                              <a:latin typeface="Cambria Math" panose="02040503050406030204" pitchFamily="18" charset="0"/>
                            </a:rPr>
                          </m:ctrlPr>
                        </m:sSubPr>
                        <m:e>
                          <m:d>
                            <m:dPr>
                              <m:begChr m:val=""/>
                              <m:endChr m:val="|"/>
                              <m:ctrlPr>
                                <a:rPr lang="fr-FR" sz="2400" i="1">
                                  <a:solidFill>
                                    <a:schemeClr val="accent3">
                                      <a:lumMod val="75000"/>
                                    </a:schemeClr>
                                  </a:solidFill>
                                  <a:latin typeface="Cambria Math" panose="02040503050406030204" pitchFamily="18" charset="0"/>
                                </a:rPr>
                              </m:ctrlPr>
                            </m:dPr>
                            <m:e>
                              <m:r>
                                <a:rPr lang="fr-FR" sz="2400" i="1">
                                  <a:solidFill>
                                    <a:schemeClr val="accent3">
                                      <a:lumMod val="75000"/>
                                    </a:schemeClr>
                                  </a:solidFill>
                                  <a:latin typeface="Cambria Math" panose="02040503050406030204" pitchFamily="18" charset="0"/>
                                </a:rPr>
                                <m:t>​</m:t>
                              </m:r>
                            </m:e>
                          </m:d>
                        </m:e>
                        <m:sub>
                          <m:r>
                            <a:rPr lang="fr-FR" sz="2400" i="1">
                              <a:solidFill>
                                <a:schemeClr val="accent3">
                                  <a:lumMod val="75000"/>
                                </a:schemeClr>
                              </a:solidFill>
                              <a:latin typeface="Cambria Math" panose="02040503050406030204" pitchFamily="18" charset="0"/>
                            </a:rPr>
                            <m:t>𝑖</m:t>
                          </m:r>
                          <m:r>
                            <a:rPr lang="fr-FR" sz="2400" b="0" i="1" smtClean="0">
                              <a:solidFill>
                                <a:schemeClr val="accent3">
                                  <a:lumMod val="75000"/>
                                </a:schemeClr>
                              </a:solidFill>
                              <a:latin typeface="Cambria Math" panose="02040503050406030204" pitchFamily="18" charset="0"/>
                            </a:rPr>
                            <m:t>,</m:t>
                          </m:r>
                          <m:r>
                            <a:rPr lang="fr-FR" sz="2400" b="0" i="1" smtClean="0">
                              <a:solidFill>
                                <a:schemeClr val="accent3">
                                  <a:lumMod val="75000"/>
                                </a:schemeClr>
                              </a:solidFill>
                              <a:latin typeface="Cambria Math" panose="02040503050406030204" pitchFamily="18" charset="0"/>
                            </a:rPr>
                            <m:t>𝑡</m:t>
                          </m:r>
                        </m:sub>
                      </m:sSub>
                      <m:r>
                        <a:rPr lang="fr-FR" sz="2400" b="0" i="1" smtClean="0">
                          <a:solidFill>
                            <a:schemeClr val="accent3">
                              <a:lumMod val="75000"/>
                            </a:schemeClr>
                          </a:solidFill>
                          <a:latin typeface="Cambria Math" panose="02040503050406030204" pitchFamily="18" charset="0"/>
                        </a:rPr>
                        <m:t>−</m:t>
                      </m:r>
                      <m:sSub>
                        <m:sSubPr>
                          <m:ctrlPr>
                            <a:rPr lang="fr-FR" sz="2400" i="1">
                              <a:solidFill>
                                <a:schemeClr val="accent3">
                                  <a:lumMod val="75000"/>
                                </a:schemeClr>
                              </a:solidFill>
                              <a:latin typeface="Cambria Math" panose="02040503050406030204" pitchFamily="18" charset="0"/>
                            </a:rPr>
                          </m:ctrlPr>
                        </m:sSubPr>
                        <m:e>
                          <m:r>
                            <a:rPr lang="fr-FR" sz="2400" i="1">
                              <a:solidFill>
                                <a:schemeClr val="accent3">
                                  <a:lumMod val="75000"/>
                                </a:schemeClr>
                              </a:solidFill>
                              <a:latin typeface="Cambria Math" panose="02040503050406030204" pitchFamily="18" charset="0"/>
                            </a:rPr>
                            <m:t>𝐷</m:t>
                          </m:r>
                        </m:e>
                        <m:sub>
                          <m:r>
                            <a:rPr lang="fr-FR" sz="2400" i="1">
                              <a:solidFill>
                                <a:schemeClr val="accent3">
                                  <a:lumMod val="75000"/>
                                </a:schemeClr>
                              </a:solidFill>
                              <a:latin typeface="Cambria Math" panose="02040503050406030204" pitchFamily="18" charset="0"/>
                            </a:rPr>
                            <m:t>𝑒𝑓𝑓</m:t>
                          </m:r>
                        </m:sub>
                      </m:sSub>
                      <m:d>
                        <m:dPr>
                          <m:ctrlPr>
                            <a:rPr lang="fr-FR" sz="2400" b="0" i="1" smtClean="0">
                              <a:solidFill>
                                <a:schemeClr val="accent3">
                                  <a:lumMod val="75000"/>
                                </a:schemeClr>
                              </a:solidFill>
                              <a:latin typeface="Cambria Math" panose="02040503050406030204" pitchFamily="18" charset="0"/>
                            </a:rPr>
                          </m:ctrlPr>
                        </m:dPr>
                        <m:e>
                          <m:f>
                            <m:fPr>
                              <m:ctrlPr>
                                <a:rPr lang="fr-FR" sz="2400" i="1">
                                  <a:solidFill>
                                    <a:schemeClr val="accent3">
                                      <a:lumMod val="75000"/>
                                    </a:schemeClr>
                                  </a:solidFill>
                                  <a:latin typeface="Cambria Math" panose="02040503050406030204" pitchFamily="18" charset="0"/>
                                </a:rPr>
                              </m:ctrlPr>
                            </m:fPr>
                            <m:num>
                              <m:r>
                                <a:rPr lang="fr-FR" sz="2400" b="0" i="1" smtClean="0">
                                  <a:solidFill>
                                    <a:schemeClr val="accent3">
                                      <a:lumMod val="75000"/>
                                    </a:schemeClr>
                                  </a:solidFill>
                                  <a:latin typeface="Cambria Math" panose="02040503050406030204" pitchFamily="18" charset="0"/>
                                </a:rPr>
                                <m:t>1</m:t>
                              </m:r>
                            </m:num>
                            <m:den>
                              <m:sSub>
                                <m:sSubPr>
                                  <m:ctrlPr>
                                    <a:rPr lang="fr-FR" sz="2400" b="0" i="1" smtClean="0">
                                      <a:solidFill>
                                        <a:schemeClr val="accent3">
                                          <a:lumMod val="75000"/>
                                        </a:schemeClr>
                                      </a:solidFill>
                                      <a:latin typeface="Cambria Math" panose="02040503050406030204" pitchFamily="18" charset="0"/>
                                    </a:rPr>
                                  </m:ctrlPr>
                                </m:sSubPr>
                                <m:e>
                                  <m:r>
                                    <a:rPr lang="fr-FR" sz="2400" i="1">
                                      <a:solidFill>
                                        <a:schemeClr val="accent3">
                                          <a:lumMod val="75000"/>
                                        </a:schemeClr>
                                      </a:solidFill>
                                      <a:latin typeface="Cambria Math" panose="02040503050406030204" pitchFamily="18" charset="0"/>
                                    </a:rPr>
                                    <m:t>𝑟</m:t>
                                  </m:r>
                                </m:e>
                                <m:sub>
                                  <m:r>
                                    <a:rPr lang="fr-FR" sz="2400" b="0" i="1" smtClean="0">
                                      <a:solidFill>
                                        <a:schemeClr val="accent3">
                                          <a:lumMod val="75000"/>
                                        </a:schemeClr>
                                      </a:solidFill>
                                      <a:latin typeface="Cambria Math" panose="02040503050406030204" pitchFamily="18" charset="0"/>
                                    </a:rPr>
                                    <m:t>𝑖</m:t>
                                  </m:r>
                                </m:sub>
                              </m:sSub>
                            </m:den>
                          </m:f>
                          <m:f>
                            <m:fPr>
                              <m:ctrlPr>
                                <a:rPr lang="fr-FR" sz="2400" i="1">
                                  <a:solidFill>
                                    <a:schemeClr val="accent3">
                                      <a:lumMod val="75000"/>
                                    </a:schemeClr>
                                  </a:solidFill>
                                  <a:latin typeface="Cambria Math" panose="02040503050406030204" pitchFamily="18" charset="0"/>
                                </a:rPr>
                              </m:ctrlPr>
                            </m:fPr>
                            <m:num>
                              <m:r>
                                <a:rPr lang="fr-FR" sz="2400" i="1">
                                  <a:solidFill>
                                    <a:schemeClr val="accent3">
                                      <a:lumMod val="75000"/>
                                    </a:schemeClr>
                                  </a:solidFill>
                                  <a:latin typeface="Cambria Math" panose="02040503050406030204" pitchFamily="18" charset="0"/>
                                </a:rPr>
                                <m:t>𝜕</m:t>
                              </m:r>
                              <m:r>
                                <m:rPr>
                                  <m:sty m:val="p"/>
                                </m:rPr>
                                <a:rPr lang="fr-FR" sz="2400" i="1">
                                  <a:solidFill>
                                    <a:schemeClr val="accent3">
                                      <a:lumMod val="75000"/>
                                    </a:schemeClr>
                                  </a:solidFill>
                                  <a:latin typeface="Cambria Math" panose="02040503050406030204" pitchFamily="18" charset="0"/>
                                </a:rPr>
                                <m:t>C</m:t>
                              </m:r>
                            </m:num>
                            <m:den>
                              <m:r>
                                <a:rPr lang="fr-FR" sz="2400" i="1">
                                  <a:solidFill>
                                    <a:schemeClr val="accent3">
                                      <a:lumMod val="75000"/>
                                    </a:schemeClr>
                                  </a:solidFill>
                                  <a:latin typeface="Cambria Math" panose="02040503050406030204" pitchFamily="18" charset="0"/>
                                </a:rPr>
                                <m:t>𝜕</m:t>
                              </m:r>
                              <m:r>
                                <m:rPr>
                                  <m:sty m:val="p"/>
                                </m:rPr>
                                <a:rPr lang="fr-FR" sz="2400" i="1">
                                  <a:solidFill>
                                    <a:schemeClr val="accent3">
                                      <a:lumMod val="75000"/>
                                    </a:schemeClr>
                                  </a:solidFill>
                                  <a:latin typeface="Cambria Math" panose="02040503050406030204" pitchFamily="18" charset="0"/>
                                </a:rPr>
                                <m:t>r</m:t>
                              </m:r>
                            </m:den>
                          </m:f>
                          <m:sSub>
                            <m:sSubPr>
                              <m:ctrlPr>
                                <a:rPr lang="fr-FR" sz="2400" i="1">
                                  <a:solidFill>
                                    <a:schemeClr val="accent3">
                                      <a:lumMod val="75000"/>
                                    </a:schemeClr>
                                  </a:solidFill>
                                  <a:latin typeface="Cambria Math" panose="02040503050406030204" pitchFamily="18" charset="0"/>
                                </a:rPr>
                              </m:ctrlPr>
                            </m:sSubPr>
                            <m:e>
                              <m:d>
                                <m:dPr>
                                  <m:begChr m:val=""/>
                                  <m:endChr m:val="|"/>
                                  <m:ctrlPr>
                                    <a:rPr lang="fr-FR" sz="2400" i="1">
                                      <a:solidFill>
                                        <a:schemeClr val="accent3">
                                          <a:lumMod val="75000"/>
                                        </a:schemeClr>
                                      </a:solidFill>
                                      <a:latin typeface="Cambria Math" panose="02040503050406030204" pitchFamily="18" charset="0"/>
                                    </a:rPr>
                                  </m:ctrlPr>
                                </m:dPr>
                                <m:e>
                                  <m:r>
                                    <a:rPr lang="fr-FR" sz="2400" i="1">
                                      <a:solidFill>
                                        <a:schemeClr val="accent3">
                                          <a:lumMod val="75000"/>
                                        </a:schemeClr>
                                      </a:solidFill>
                                      <a:latin typeface="Cambria Math" panose="02040503050406030204" pitchFamily="18" charset="0"/>
                                    </a:rPr>
                                    <m:t>​</m:t>
                                  </m:r>
                                </m:e>
                              </m:d>
                            </m:e>
                            <m:sub>
                              <m:r>
                                <a:rPr lang="fr-FR" sz="2400" i="1">
                                  <a:solidFill>
                                    <a:schemeClr val="accent3">
                                      <a:lumMod val="75000"/>
                                    </a:schemeClr>
                                  </a:solidFill>
                                  <a:latin typeface="Cambria Math" panose="02040503050406030204" pitchFamily="18" charset="0"/>
                                </a:rPr>
                                <m:t>𝑖</m:t>
                              </m:r>
                              <m:r>
                                <a:rPr lang="fr-FR" sz="2400" b="0" i="1" smtClean="0">
                                  <a:solidFill>
                                    <a:schemeClr val="accent3">
                                      <a:lumMod val="75000"/>
                                    </a:schemeClr>
                                  </a:solidFill>
                                  <a:latin typeface="Cambria Math" panose="02040503050406030204" pitchFamily="18" charset="0"/>
                                </a:rPr>
                                <m:t>,</m:t>
                              </m:r>
                              <m:r>
                                <a:rPr lang="fr-FR" sz="2400" b="0" i="1" smtClean="0">
                                  <a:solidFill>
                                    <a:schemeClr val="accent3">
                                      <a:lumMod val="75000"/>
                                    </a:schemeClr>
                                  </a:solidFill>
                                  <a:latin typeface="Cambria Math" panose="02040503050406030204" pitchFamily="18" charset="0"/>
                                </a:rPr>
                                <m:t>𝑡</m:t>
                              </m:r>
                            </m:sub>
                          </m:sSub>
                          <m:r>
                            <a:rPr lang="fr-FR" sz="2400" i="1" smtClean="0">
                              <a:solidFill>
                                <a:schemeClr val="accent3">
                                  <a:lumMod val="75000"/>
                                </a:schemeClr>
                              </a:solidFill>
                              <a:latin typeface="Cambria Math" panose="02040503050406030204" pitchFamily="18" charset="0"/>
                            </a:rPr>
                            <m:t>+</m:t>
                          </m:r>
                          <m:f>
                            <m:fPr>
                              <m:ctrlPr>
                                <a:rPr lang="fr-FR" sz="2400" i="1">
                                  <a:solidFill>
                                    <a:schemeClr val="accent3">
                                      <a:lumMod val="75000"/>
                                    </a:schemeClr>
                                  </a:solidFill>
                                  <a:latin typeface="Cambria Math" panose="02040503050406030204" pitchFamily="18" charset="0"/>
                                </a:rPr>
                              </m:ctrlPr>
                            </m:fPr>
                            <m:num>
                              <m:sSup>
                                <m:sSupPr>
                                  <m:ctrlPr>
                                    <a:rPr lang="fr-FR" sz="2400" i="1">
                                      <a:solidFill>
                                        <a:schemeClr val="accent3">
                                          <a:lumMod val="75000"/>
                                        </a:schemeClr>
                                      </a:solidFill>
                                      <a:latin typeface="Cambria Math" panose="02040503050406030204" pitchFamily="18" charset="0"/>
                                    </a:rPr>
                                  </m:ctrlPr>
                                </m:sSupPr>
                                <m:e>
                                  <m:r>
                                    <a:rPr lang="fr-FR" sz="2400" i="1">
                                      <a:solidFill>
                                        <a:schemeClr val="accent3">
                                          <a:lumMod val="75000"/>
                                        </a:schemeClr>
                                      </a:solidFill>
                                      <a:latin typeface="Cambria Math" panose="02040503050406030204" pitchFamily="18" charset="0"/>
                                    </a:rPr>
                                    <m:t>𝜕</m:t>
                                  </m:r>
                                </m:e>
                                <m:sup>
                                  <m:r>
                                    <a:rPr lang="fr-FR" sz="2400" i="1">
                                      <a:solidFill>
                                        <a:schemeClr val="accent3">
                                          <a:lumMod val="75000"/>
                                        </a:schemeClr>
                                      </a:solidFill>
                                      <a:latin typeface="Cambria Math" panose="02040503050406030204" pitchFamily="18" charset="0"/>
                                    </a:rPr>
                                    <m:t>2</m:t>
                                  </m:r>
                                </m:sup>
                              </m:sSup>
                              <m:r>
                                <a:rPr lang="fr-FR" sz="2400" i="1">
                                  <a:solidFill>
                                    <a:schemeClr val="accent3">
                                      <a:lumMod val="75000"/>
                                    </a:schemeClr>
                                  </a:solidFill>
                                  <a:latin typeface="Cambria Math" panose="02040503050406030204" pitchFamily="18" charset="0"/>
                                </a:rPr>
                                <m:t>𝐶</m:t>
                              </m:r>
                            </m:num>
                            <m:den>
                              <m:r>
                                <a:rPr lang="fr-FR" sz="2400" i="1">
                                  <a:solidFill>
                                    <a:schemeClr val="accent3">
                                      <a:lumMod val="75000"/>
                                    </a:schemeClr>
                                  </a:solidFill>
                                  <a:latin typeface="Cambria Math" panose="02040503050406030204" pitchFamily="18" charset="0"/>
                                </a:rPr>
                                <m:t>𝜕</m:t>
                              </m:r>
                              <m:sSup>
                                <m:sSupPr>
                                  <m:ctrlPr>
                                    <a:rPr lang="fr-FR" sz="2400" i="1">
                                      <a:solidFill>
                                        <a:schemeClr val="accent3">
                                          <a:lumMod val="75000"/>
                                        </a:schemeClr>
                                      </a:solidFill>
                                      <a:latin typeface="Cambria Math" panose="02040503050406030204" pitchFamily="18" charset="0"/>
                                    </a:rPr>
                                  </m:ctrlPr>
                                </m:sSupPr>
                                <m:e>
                                  <m:r>
                                    <a:rPr lang="fr-FR" sz="2400" i="1">
                                      <a:solidFill>
                                        <a:schemeClr val="accent3">
                                          <a:lumMod val="75000"/>
                                        </a:schemeClr>
                                      </a:solidFill>
                                      <a:latin typeface="Cambria Math" panose="02040503050406030204" pitchFamily="18" charset="0"/>
                                    </a:rPr>
                                    <m:t>𝑟</m:t>
                                  </m:r>
                                </m:e>
                                <m:sup>
                                  <m:r>
                                    <a:rPr lang="fr-FR" sz="2400" i="1">
                                      <a:solidFill>
                                        <a:schemeClr val="accent3">
                                          <a:lumMod val="75000"/>
                                        </a:schemeClr>
                                      </a:solidFill>
                                      <a:latin typeface="Cambria Math" panose="02040503050406030204" pitchFamily="18" charset="0"/>
                                    </a:rPr>
                                    <m:t>2</m:t>
                                  </m:r>
                                </m:sup>
                              </m:sSup>
                            </m:den>
                          </m:f>
                          <m:sSub>
                            <m:sSubPr>
                              <m:ctrlPr>
                                <a:rPr lang="fr-FR" sz="2400" i="1">
                                  <a:solidFill>
                                    <a:schemeClr val="accent3">
                                      <a:lumMod val="75000"/>
                                    </a:schemeClr>
                                  </a:solidFill>
                                  <a:latin typeface="Cambria Math" panose="02040503050406030204" pitchFamily="18" charset="0"/>
                                </a:rPr>
                              </m:ctrlPr>
                            </m:sSubPr>
                            <m:e>
                              <m:d>
                                <m:dPr>
                                  <m:begChr m:val=""/>
                                  <m:endChr m:val="|"/>
                                  <m:ctrlPr>
                                    <a:rPr lang="fr-FR" sz="2400" i="1">
                                      <a:solidFill>
                                        <a:schemeClr val="accent3">
                                          <a:lumMod val="75000"/>
                                        </a:schemeClr>
                                      </a:solidFill>
                                      <a:latin typeface="Cambria Math" panose="02040503050406030204" pitchFamily="18" charset="0"/>
                                    </a:rPr>
                                  </m:ctrlPr>
                                </m:dPr>
                                <m:e>
                                  <m:r>
                                    <a:rPr lang="fr-FR" sz="2400" i="1">
                                      <a:solidFill>
                                        <a:schemeClr val="accent3">
                                          <a:lumMod val="75000"/>
                                        </a:schemeClr>
                                      </a:solidFill>
                                      <a:latin typeface="Cambria Math" panose="02040503050406030204" pitchFamily="18" charset="0"/>
                                    </a:rPr>
                                    <m:t>​</m:t>
                                  </m:r>
                                </m:e>
                              </m:d>
                            </m:e>
                            <m:sub>
                              <m:r>
                                <a:rPr lang="fr-FR" sz="2400" i="1">
                                  <a:solidFill>
                                    <a:schemeClr val="accent3">
                                      <a:lumMod val="75000"/>
                                    </a:schemeClr>
                                  </a:solidFill>
                                  <a:latin typeface="Cambria Math" panose="02040503050406030204" pitchFamily="18" charset="0"/>
                                </a:rPr>
                                <m:t>𝑖</m:t>
                              </m:r>
                              <m:r>
                                <a:rPr lang="fr-FR" sz="2400" b="0" i="1" smtClean="0">
                                  <a:solidFill>
                                    <a:schemeClr val="accent3">
                                      <a:lumMod val="75000"/>
                                    </a:schemeClr>
                                  </a:solidFill>
                                  <a:latin typeface="Cambria Math" panose="02040503050406030204" pitchFamily="18" charset="0"/>
                                </a:rPr>
                                <m:t>,</m:t>
                              </m:r>
                              <m:r>
                                <a:rPr lang="fr-FR" sz="2400" b="0" i="1" smtClean="0">
                                  <a:solidFill>
                                    <a:schemeClr val="accent3">
                                      <a:lumMod val="75000"/>
                                    </a:schemeClr>
                                  </a:solidFill>
                                  <a:latin typeface="Cambria Math" panose="02040503050406030204" pitchFamily="18" charset="0"/>
                                </a:rPr>
                                <m:t>𝑡</m:t>
                              </m:r>
                            </m:sub>
                          </m:sSub>
                        </m:e>
                      </m:d>
                      <m:r>
                        <a:rPr lang="fr-FR" sz="2400" i="1">
                          <a:solidFill>
                            <a:schemeClr val="accent3">
                              <a:lumMod val="75000"/>
                            </a:schemeClr>
                          </a:solidFill>
                          <a:latin typeface="Cambria Math" panose="02040503050406030204" pitchFamily="18" charset="0"/>
                        </a:rPr>
                        <m:t>−</m:t>
                      </m:r>
                      <m:r>
                        <a:rPr lang="fr-FR" sz="2400" b="0" i="1" smtClean="0">
                          <a:solidFill>
                            <a:schemeClr val="accent3">
                              <a:lumMod val="75000"/>
                            </a:schemeClr>
                          </a:solidFill>
                          <a:latin typeface="Cambria Math" panose="02040503050406030204" pitchFamily="18" charset="0"/>
                        </a:rPr>
                        <m:t>𝑘</m:t>
                      </m:r>
                      <m:sSubSup>
                        <m:sSubSupPr>
                          <m:ctrlPr>
                            <a:rPr lang="fr-FR" sz="2400" b="0" i="1" smtClean="0">
                              <a:solidFill>
                                <a:schemeClr val="accent3">
                                  <a:lumMod val="75000"/>
                                </a:schemeClr>
                              </a:solidFill>
                              <a:latin typeface="Cambria Math" panose="02040503050406030204" pitchFamily="18" charset="0"/>
                            </a:rPr>
                          </m:ctrlPr>
                        </m:sSubSupPr>
                        <m:e>
                          <m:r>
                            <a:rPr lang="fr-FR" sz="2400" b="0" i="1" smtClean="0">
                              <a:solidFill>
                                <a:schemeClr val="accent3">
                                  <a:lumMod val="75000"/>
                                </a:schemeClr>
                              </a:solidFill>
                              <a:latin typeface="Cambria Math" panose="02040503050406030204" pitchFamily="18" charset="0"/>
                            </a:rPr>
                            <m:t>𝐶</m:t>
                          </m:r>
                        </m:e>
                        <m:sub>
                          <m:r>
                            <a:rPr lang="fr-FR" sz="2400" b="0" i="1" smtClean="0">
                              <a:solidFill>
                                <a:schemeClr val="accent3">
                                  <a:lumMod val="75000"/>
                                </a:schemeClr>
                              </a:solidFill>
                              <a:latin typeface="Cambria Math" panose="02040503050406030204" pitchFamily="18" charset="0"/>
                            </a:rPr>
                            <m:t>𝑖</m:t>
                          </m:r>
                        </m:sub>
                        <m:sup>
                          <m:r>
                            <a:rPr lang="fr-FR" sz="2400" b="0" i="1" smtClean="0">
                              <a:solidFill>
                                <a:schemeClr val="accent3">
                                  <a:lumMod val="75000"/>
                                </a:schemeClr>
                              </a:solidFill>
                              <a:latin typeface="Cambria Math" panose="02040503050406030204" pitchFamily="18" charset="0"/>
                            </a:rPr>
                            <m:t>𝑡</m:t>
                          </m:r>
                        </m:sup>
                      </m:sSubSup>
                      <m:r>
                        <a:rPr lang="fr-FR" sz="2400" i="1">
                          <a:latin typeface="Cambria Math" panose="02040503050406030204" pitchFamily="18" charset="0"/>
                        </a:rPr>
                        <m:t>+</m:t>
                      </m:r>
                      <m:f>
                        <m:fPr>
                          <m:ctrlPr>
                            <a:rPr lang="fr-FR" sz="2400" i="1" smtClean="0">
                              <a:solidFill>
                                <a:schemeClr val="accent5"/>
                              </a:solidFill>
                              <a:latin typeface="Cambria Math" panose="02040503050406030204" pitchFamily="18" charset="0"/>
                            </a:rPr>
                          </m:ctrlPr>
                        </m:fPr>
                        <m:num>
                          <m:sSup>
                            <m:sSupPr>
                              <m:ctrlPr>
                                <a:rPr lang="fr-FR" sz="2400" i="1">
                                  <a:solidFill>
                                    <a:schemeClr val="accent5"/>
                                  </a:solidFill>
                                  <a:latin typeface="Cambria Math" panose="02040503050406030204" pitchFamily="18" charset="0"/>
                                </a:rPr>
                              </m:ctrlPr>
                            </m:sSupPr>
                            <m:e>
                              <m:r>
                                <a:rPr lang="fr-FR" sz="2400" i="1">
                                  <a:solidFill>
                                    <a:schemeClr val="accent5"/>
                                  </a:solidFill>
                                  <a:latin typeface="Cambria Math" panose="02040503050406030204" pitchFamily="18" charset="0"/>
                                </a:rPr>
                                <m:t>𝜕</m:t>
                              </m:r>
                            </m:e>
                            <m:sup>
                              <m:r>
                                <a:rPr lang="fr-FR" sz="2400" i="1">
                                  <a:solidFill>
                                    <a:schemeClr val="accent5"/>
                                  </a:solidFill>
                                  <a:latin typeface="Cambria Math" panose="02040503050406030204" pitchFamily="18" charset="0"/>
                                </a:rPr>
                                <m:t>2</m:t>
                              </m:r>
                            </m:sup>
                          </m:sSup>
                          <m:r>
                            <a:rPr lang="fr-FR" sz="2400" i="1">
                              <a:solidFill>
                                <a:schemeClr val="accent5"/>
                              </a:solidFill>
                              <a:latin typeface="Cambria Math" panose="02040503050406030204" pitchFamily="18" charset="0"/>
                            </a:rPr>
                            <m:t>𝐶</m:t>
                          </m:r>
                        </m:num>
                        <m:den>
                          <m:r>
                            <a:rPr lang="fr-FR" sz="2400" i="1">
                              <a:solidFill>
                                <a:schemeClr val="accent5"/>
                              </a:solidFill>
                              <a:latin typeface="Cambria Math" panose="02040503050406030204" pitchFamily="18" charset="0"/>
                            </a:rPr>
                            <m:t>𝜕</m:t>
                          </m:r>
                          <m:sSup>
                            <m:sSupPr>
                              <m:ctrlPr>
                                <a:rPr lang="fr-FR" sz="2400" i="1">
                                  <a:solidFill>
                                    <a:schemeClr val="accent5"/>
                                  </a:solidFill>
                                  <a:latin typeface="Cambria Math" panose="02040503050406030204" pitchFamily="18" charset="0"/>
                                </a:rPr>
                              </m:ctrlPr>
                            </m:sSupPr>
                            <m:e>
                              <m:r>
                                <a:rPr lang="fr-FR" sz="2400" b="0" i="1" smtClean="0">
                                  <a:solidFill>
                                    <a:schemeClr val="accent5"/>
                                  </a:solidFill>
                                  <a:latin typeface="Cambria Math" panose="02040503050406030204" pitchFamily="18" charset="0"/>
                                </a:rPr>
                                <m:t>𝑡</m:t>
                              </m:r>
                            </m:e>
                            <m:sup>
                              <m:r>
                                <a:rPr lang="fr-FR" sz="2400" i="1">
                                  <a:solidFill>
                                    <a:schemeClr val="accent5"/>
                                  </a:solidFill>
                                  <a:latin typeface="Cambria Math" panose="02040503050406030204" pitchFamily="18" charset="0"/>
                                </a:rPr>
                                <m:t>2</m:t>
                              </m:r>
                            </m:sup>
                          </m:sSup>
                        </m:den>
                      </m:f>
                      <m:sSub>
                        <m:sSubPr>
                          <m:ctrlPr>
                            <a:rPr lang="fr-FR" sz="2400" i="1">
                              <a:solidFill>
                                <a:schemeClr val="accent5"/>
                              </a:solidFill>
                              <a:latin typeface="Cambria Math" panose="02040503050406030204" pitchFamily="18" charset="0"/>
                            </a:rPr>
                          </m:ctrlPr>
                        </m:sSubPr>
                        <m:e>
                          <m:d>
                            <m:dPr>
                              <m:begChr m:val=""/>
                              <m:endChr m:val="|"/>
                              <m:ctrlPr>
                                <a:rPr lang="fr-FR" sz="2400" i="1">
                                  <a:solidFill>
                                    <a:schemeClr val="accent5"/>
                                  </a:solidFill>
                                  <a:latin typeface="Cambria Math" panose="02040503050406030204" pitchFamily="18" charset="0"/>
                                </a:rPr>
                              </m:ctrlPr>
                            </m:dPr>
                            <m:e>
                              <m:r>
                                <a:rPr lang="fr-FR" sz="2400" i="1">
                                  <a:solidFill>
                                    <a:schemeClr val="accent5"/>
                                  </a:solidFill>
                                  <a:latin typeface="Cambria Math" panose="02040503050406030204" pitchFamily="18" charset="0"/>
                                </a:rPr>
                                <m:t>​</m:t>
                              </m:r>
                            </m:e>
                          </m:d>
                        </m:e>
                        <m:sub>
                          <m:r>
                            <a:rPr lang="fr-FR" sz="2400" i="1">
                              <a:solidFill>
                                <a:schemeClr val="accent5"/>
                              </a:solidFill>
                              <a:latin typeface="Cambria Math" panose="02040503050406030204" pitchFamily="18" charset="0"/>
                            </a:rPr>
                            <m:t>𝑖</m:t>
                          </m:r>
                          <m:r>
                            <a:rPr lang="fr-FR" sz="2400" i="1">
                              <a:solidFill>
                                <a:schemeClr val="accent5"/>
                              </a:solidFill>
                              <a:latin typeface="Cambria Math" panose="02040503050406030204" pitchFamily="18" charset="0"/>
                            </a:rPr>
                            <m:t>,</m:t>
                          </m:r>
                          <m:r>
                            <a:rPr lang="fr-FR" sz="2400" i="1">
                              <a:solidFill>
                                <a:schemeClr val="accent5"/>
                              </a:solidFill>
                              <a:latin typeface="Cambria Math" panose="02040503050406030204" pitchFamily="18" charset="0"/>
                            </a:rPr>
                            <m:t>𝑡</m:t>
                          </m:r>
                        </m:sub>
                      </m:sSub>
                      <m:f>
                        <m:fPr>
                          <m:ctrlPr>
                            <a:rPr lang="fr-FR" sz="2400" i="1">
                              <a:solidFill>
                                <a:schemeClr val="accent5"/>
                              </a:solidFill>
                              <a:latin typeface="Cambria Math" panose="02040503050406030204" pitchFamily="18" charset="0"/>
                            </a:rPr>
                          </m:ctrlPr>
                        </m:fPr>
                        <m:num>
                          <m:r>
                            <a:rPr lang="fr-FR" sz="2400" i="1">
                              <a:solidFill>
                                <a:schemeClr val="accent5"/>
                              </a:solidFill>
                              <a:latin typeface="Cambria Math" panose="02040503050406030204" pitchFamily="18" charset="0"/>
                            </a:rPr>
                            <m:t>𝛥</m:t>
                          </m:r>
                          <m:r>
                            <a:rPr lang="fr-FR" sz="2400" i="1">
                              <a:solidFill>
                                <a:schemeClr val="accent5"/>
                              </a:solidFill>
                              <a:latin typeface="Cambria Math" panose="02040503050406030204" pitchFamily="18" charset="0"/>
                            </a:rPr>
                            <m:t>𝑡</m:t>
                          </m:r>
                        </m:num>
                        <m:den>
                          <m:r>
                            <a:rPr lang="fr-FR" sz="2400" i="1">
                              <a:solidFill>
                                <a:schemeClr val="accent5"/>
                              </a:solidFill>
                              <a:latin typeface="Cambria Math" panose="02040503050406030204" pitchFamily="18" charset="0"/>
                            </a:rPr>
                            <m:t>2!</m:t>
                          </m:r>
                        </m:den>
                      </m:f>
                      <m:r>
                        <a:rPr lang="fr-FR" sz="2400" b="0" i="1" smtClean="0">
                          <a:solidFill>
                            <a:schemeClr val="accent5"/>
                          </a:solidFill>
                          <a:latin typeface="Cambria Math" panose="02040503050406030204" pitchFamily="18" charset="0"/>
                        </a:rPr>
                        <m:t>+</m:t>
                      </m:r>
                      <m:r>
                        <a:rPr lang="fr-FR" sz="2400" i="1">
                          <a:solidFill>
                            <a:schemeClr val="accent5">
                              <a:lumMod val="75000"/>
                            </a:schemeClr>
                          </a:solidFill>
                          <a:latin typeface="Cambria Math" panose="02040503050406030204" pitchFamily="18" charset="0"/>
                        </a:rPr>
                        <m:t>𝑜</m:t>
                      </m:r>
                      <m:d>
                        <m:dPr>
                          <m:ctrlPr>
                            <a:rPr lang="fr-FR" sz="2400" i="1">
                              <a:solidFill>
                                <a:schemeClr val="accent5">
                                  <a:lumMod val="75000"/>
                                </a:schemeClr>
                              </a:solidFill>
                              <a:latin typeface="Cambria Math" panose="02040503050406030204" pitchFamily="18" charset="0"/>
                            </a:rPr>
                          </m:ctrlPr>
                        </m:dPr>
                        <m:e>
                          <m:r>
                            <m:rPr>
                              <m:sty m:val="p"/>
                            </m:rPr>
                            <a:rPr lang="fr-FR" sz="2400">
                              <a:solidFill>
                                <a:schemeClr val="accent5">
                                  <a:lumMod val="75000"/>
                                </a:schemeClr>
                              </a:solidFill>
                              <a:latin typeface="Cambria Math" panose="02040503050406030204" pitchFamily="18" charset="0"/>
                            </a:rPr>
                            <m:t>Δ</m:t>
                          </m:r>
                          <m:r>
                            <a:rPr lang="fr-FR" sz="2400" b="0" i="1" smtClean="0">
                              <a:solidFill>
                                <a:schemeClr val="accent5">
                                  <a:lumMod val="75000"/>
                                </a:schemeClr>
                              </a:solidFill>
                              <a:latin typeface="Cambria Math" panose="02040503050406030204" pitchFamily="18" charset="0"/>
                            </a:rPr>
                            <m:t>𝑡</m:t>
                          </m:r>
                        </m:e>
                      </m:d>
                      <m:r>
                        <a:rPr lang="fr-FR" sz="2400" b="0" i="1" smtClean="0">
                          <a:solidFill>
                            <a:schemeClr val="accent5">
                              <a:lumMod val="75000"/>
                            </a:schemeClr>
                          </a:solidFill>
                          <a:latin typeface="Cambria Math" panose="02040503050406030204" pitchFamily="18" charset="0"/>
                        </a:rPr>
                        <m:t>+</m:t>
                      </m:r>
                      <m:r>
                        <a:rPr lang="fr-FR" sz="2400" i="1">
                          <a:solidFill>
                            <a:schemeClr val="accent5">
                              <a:lumMod val="75000"/>
                            </a:schemeClr>
                          </a:solidFill>
                          <a:latin typeface="Cambria Math" panose="02040503050406030204" pitchFamily="18" charset="0"/>
                        </a:rPr>
                        <m:t>𝑜</m:t>
                      </m:r>
                      <m:d>
                        <m:dPr>
                          <m:ctrlPr>
                            <a:rPr lang="fr-FR" sz="2400" i="1">
                              <a:solidFill>
                                <a:schemeClr val="accent5">
                                  <a:lumMod val="75000"/>
                                </a:schemeClr>
                              </a:solidFill>
                              <a:latin typeface="Cambria Math" panose="02040503050406030204" pitchFamily="18" charset="0"/>
                            </a:rPr>
                          </m:ctrlPr>
                        </m:dPr>
                        <m:e>
                          <m:r>
                            <m:rPr>
                              <m:sty m:val="p"/>
                            </m:rPr>
                            <a:rPr lang="fr-FR" sz="2400">
                              <a:solidFill>
                                <a:schemeClr val="accent5">
                                  <a:lumMod val="75000"/>
                                </a:schemeClr>
                              </a:solidFill>
                              <a:latin typeface="Cambria Math" panose="02040503050406030204" pitchFamily="18" charset="0"/>
                            </a:rPr>
                            <m:t>Δ</m:t>
                          </m:r>
                          <m:sSup>
                            <m:sSupPr>
                              <m:ctrlPr>
                                <a:rPr lang="fr-FR" sz="2400" i="1">
                                  <a:solidFill>
                                    <a:schemeClr val="accent5">
                                      <a:lumMod val="75000"/>
                                    </a:schemeClr>
                                  </a:solidFill>
                                  <a:latin typeface="Cambria Math" panose="02040503050406030204" pitchFamily="18" charset="0"/>
                                </a:rPr>
                              </m:ctrlPr>
                            </m:sSupPr>
                            <m:e>
                              <m:r>
                                <a:rPr lang="fr-FR" sz="2400" i="1">
                                  <a:solidFill>
                                    <a:schemeClr val="accent5">
                                      <a:lumMod val="75000"/>
                                    </a:schemeClr>
                                  </a:solidFill>
                                  <a:latin typeface="Cambria Math" panose="02040503050406030204" pitchFamily="18" charset="0"/>
                                </a:rPr>
                                <m:t>𝑟</m:t>
                              </m:r>
                            </m:e>
                            <m:sup>
                              <m:r>
                                <a:rPr lang="fr-CA" sz="2400" i="1">
                                  <a:solidFill>
                                    <a:schemeClr val="accent5">
                                      <a:lumMod val="75000"/>
                                    </a:schemeClr>
                                  </a:solidFill>
                                  <a:latin typeface="Cambria Math" panose="02040503050406030204" pitchFamily="18" charset="0"/>
                                </a:rPr>
                                <m:t>2</m:t>
                              </m:r>
                            </m:sup>
                          </m:sSup>
                        </m:e>
                      </m:d>
                    </m:oMath>
                  </m:oMathPara>
                </a14:m>
                <a:endParaRPr lang="fr-FR" sz="2200" dirty="0"/>
              </a:p>
              <a:p>
                <a:pPr marL="0" indent="0">
                  <a:buNone/>
                </a:pPr>
                <a:r>
                  <a:rPr lang="fr-FR" sz="2400" dirty="0">
                    <a:solidFill>
                      <a:schemeClr val="accent3">
                        <a:lumMod val="75000"/>
                      </a:schemeClr>
                    </a:solidFill>
                    <a:latin typeface="Cambria Math" panose="02040503050406030204" pitchFamily="18" charset="0"/>
                  </a:rPr>
                  <a:t>                                                             L(C)                                     </a:t>
                </a:r>
                <a:r>
                  <a:rPr lang="fr-FR" sz="2400" dirty="0">
                    <a:solidFill>
                      <a:schemeClr val="accent5">
                        <a:lumMod val="75000"/>
                      </a:schemeClr>
                    </a:solidFill>
                    <a:latin typeface="Cambria Math" panose="02040503050406030204" pitchFamily="18" charset="0"/>
                  </a:rPr>
                  <a:t>Erreur</a:t>
                </a:r>
                <a:r>
                  <a:rPr lang="fr-FR" sz="2400" i="1" dirty="0">
                    <a:solidFill>
                      <a:schemeClr val="accent5">
                        <a:lumMod val="75000"/>
                      </a:schemeClr>
                    </a:solidFill>
                    <a:latin typeface="Cambria Math" panose="02040503050406030204" pitchFamily="18" charset="0"/>
                  </a:rPr>
                  <a:t> </a:t>
                </a:r>
                <a:r>
                  <a:rPr lang="fr-FR" sz="2400" dirty="0">
                    <a:solidFill>
                      <a:schemeClr val="accent5">
                        <a:lumMod val="75000"/>
                      </a:schemeClr>
                    </a:solidFill>
                    <a:latin typeface="Cambria Math" panose="02040503050406030204" pitchFamily="18" charset="0"/>
                  </a:rPr>
                  <a:t>de</a:t>
                </a:r>
                <a:r>
                  <a:rPr lang="fr-FR" sz="2400" i="1" dirty="0">
                    <a:solidFill>
                      <a:schemeClr val="accent5">
                        <a:lumMod val="75000"/>
                      </a:schemeClr>
                    </a:solidFill>
                    <a:latin typeface="Cambria Math" panose="02040503050406030204" pitchFamily="18" charset="0"/>
                  </a:rPr>
                  <a:t> </a:t>
                </a:r>
                <a:r>
                  <a:rPr lang="fr-FR" sz="2400" dirty="0">
                    <a:solidFill>
                      <a:schemeClr val="accent5">
                        <a:lumMod val="75000"/>
                      </a:schemeClr>
                    </a:solidFill>
                    <a:latin typeface="Cambria Math" panose="02040503050406030204" pitchFamily="18" charset="0"/>
                  </a:rPr>
                  <a:t>troncature</a:t>
                </a:r>
                <a:endParaRPr lang="fr-FR" sz="2200" dirty="0"/>
              </a:p>
              <a:p>
                <a:pPr marL="0" indent="0">
                  <a:buNone/>
                </a:pPr>
                <a:r>
                  <a:rPr lang="fr-FR" sz="2400" dirty="0">
                    <a:latin typeface="Cambria Math" panose="02040503050406030204" pitchFamily="18" charset="0"/>
                  </a:rPr>
                  <a:t>Ordre de précision attendu : 2 par rapport à r et 1 par rapport à t</a:t>
                </a:r>
              </a:p>
              <a:p>
                <a:pPr marL="0" indent="0">
                  <a:buNone/>
                </a:pPr>
                <a:endParaRPr lang="fr-FR" sz="2200" dirty="0"/>
              </a:p>
              <a:p>
                <a:pPr marL="0" indent="0">
                  <a:buNone/>
                </a:pPr>
                <a:endParaRPr lang="fr-FR" dirty="0"/>
              </a:p>
              <a:p>
                <a:pPr marL="0" indent="0">
                  <a:buNone/>
                </a:pPr>
                <a:endParaRPr lang="fr-FR" dirty="0"/>
              </a:p>
              <a:p>
                <a:pPr marL="0" indent="0">
                  <a:buNone/>
                </a:pPr>
                <a:endParaRPr lang="fr-FR" dirty="0"/>
              </a:p>
              <a:p>
                <a:pPr marL="0" indent="0">
                  <a:buNone/>
                </a:pPr>
                <a:endParaRPr lang="fr-FR" sz="2200" b="0" dirty="0"/>
              </a:p>
              <a:p>
                <a:pPr marL="0" indent="0">
                  <a:buNone/>
                </a:pPr>
                <a:endParaRPr lang="fr-FR" sz="2200" b="0" dirty="0"/>
              </a:p>
              <a:p>
                <a:pPr marL="0" indent="0">
                  <a:buNone/>
                </a:pPr>
                <a:endParaRPr lang="fr-FR" sz="2200" dirty="0"/>
              </a:p>
              <a:p>
                <a:pPr marL="0" indent="0">
                  <a:buNone/>
                </a:pPr>
                <a:endParaRPr lang="fr-FR" dirty="0"/>
              </a:p>
            </p:txBody>
          </p:sp>
        </mc:Choice>
        <mc:Fallback xmlns="">
          <p:sp>
            <p:nvSpPr>
              <p:cNvPr id="3" name="Espace réservé du contenu 2">
                <a:extLst>
                  <a:ext uri="{FF2B5EF4-FFF2-40B4-BE49-F238E27FC236}">
                    <a16:creationId xmlns:a16="http://schemas.microsoft.com/office/drawing/2014/main" id="{BC566139-E13C-0C28-BD58-40CF174B143A}"/>
                  </a:ext>
                </a:extLst>
              </p:cNvPr>
              <p:cNvSpPr>
                <a:spLocks noGrp="1" noRot="1" noChangeAspect="1" noMove="1" noResize="1" noEditPoints="1" noAdjustHandles="1" noChangeArrowheads="1" noChangeShapeType="1" noTextEdit="1"/>
              </p:cNvSpPr>
              <p:nvPr>
                <p:ph idx="1"/>
              </p:nvPr>
            </p:nvSpPr>
            <p:spPr>
              <a:xfrm>
                <a:off x="838200" y="1594738"/>
                <a:ext cx="10515600" cy="4577462"/>
              </a:xfrm>
              <a:blipFill>
                <a:blip r:embed="rId3"/>
                <a:stretch>
                  <a:fillRect l="-754" t="-1332"/>
                </a:stretch>
              </a:blipFill>
            </p:spPr>
            <p:txBody>
              <a:bodyPr/>
              <a:lstStyle/>
              <a:p>
                <a:r>
                  <a:rPr lang="fr-FR">
                    <a:noFill/>
                  </a:rPr>
                  <a:t> </a:t>
                </a:r>
              </a:p>
            </p:txBody>
          </p:sp>
        </mc:Fallback>
      </mc:AlternateContent>
    </p:spTree>
    <p:extLst>
      <p:ext uri="{BB962C8B-B14F-4D97-AF65-F5344CB8AC3E}">
        <p14:creationId xmlns:p14="http://schemas.microsoft.com/office/powerpoint/2010/main" val="729422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FAE7B-4A1E-DE0B-CDE7-406888289E8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004852-1D96-75BB-5269-125CBC420C3C}"/>
              </a:ext>
            </a:extLst>
          </p:cNvPr>
          <p:cNvSpPr>
            <a:spLocks noGrp="1"/>
          </p:cNvSpPr>
          <p:nvPr>
            <p:ph type="title"/>
          </p:nvPr>
        </p:nvSpPr>
        <p:spPr>
          <a:xfrm>
            <a:off x="838200" y="118237"/>
            <a:ext cx="10515600" cy="1325563"/>
          </a:xfrm>
        </p:spPr>
        <p:txBody>
          <a:bodyPr/>
          <a:lstStyle/>
          <a:p>
            <a:r>
              <a:rPr lang="fr-FR" dirty="0"/>
              <a:t>B) Solution Manufacturée</a:t>
            </a:r>
          </a:p>
        </p:txBody>
      </p:sp>
      <mc:AlternateContent xmlns:mc="http://schemas.openxmlformats.org/markup-compatibility/2006" xmlns:a14="http://schemas.microsoft.com/office/drawing/2010/main">
        <mc:Choice Requires="a14">
          <p:sp>
            <p:nvSpPr>
              <p:cNvPr id="5" name="Espace réservé du contenu 4">
                <a:extLst>
                  <a:ext uri="{FF2B5EF4-FFF2-40B4-BE49-F238E27FC236}">
                    <a16:creationId xmlns:a16="http://schemas.microsoft.com/office/drawing/2014/main" id="{E4A42691-9CFE-45C6-A49C-301D0207827F}"/>
                  </a:ext>
                </a:extLst>
              </p:cNvPr>
              <p:cNvSpPr>
                <a:spLocks noGrp="1"/>
              </p:cNvSpPr>
              <p:nvPr>
                <p:ph idx="1"/>
              </p:nvPr>
            </p:nvSpPr>
            <p:spPr/>
            <p:txBody>
              <a:bodyPr/>
              <a:lstStyle/>
              <a:p>
                <a:pPr marL="0" indent="0">
                  <a:buNone/>
                </a:pPr>
                <a:r>
                  <a:rPr lang="fr-CA" dirty="0"/>
                  <a:t>Équation : </a:t>
                </a:r>
                <a14:m>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rPr>
                          <m:t>𝐶</m:t>
                        </m:r>
                      </m:e>
                      <m:sub>
                        <m:r>
                          <a:rPr lang="fr-CA" b="0" i="1" smtClean="0">
                            <a:latin typeface="Cambria Math" panose="02040503050406030204" pitchFamily="18" charset="0"/>
                          </a:rPr>
                          <m:t>𝑚𝑚𝑠</m:t>
                        </m:r>
                      </m:sub>
                    </m:sSub>
                    <m:r>
                      <a:rPr lang="fr-CA" b="0" i="1" smtClean="0">
                        <a:latin typeface="Cambria Math" panose="02040503050406030204" pitchFamily="18" charset="0"/>
                      </a:rPr>
                      <m:t>=1+</m:t>
                    </m:r>
                    <m:func>
                      <m:funcPr>
                        <m:ctrlPr>
                          <a:rPr lang="fr-CA" b="0" i="1" smtClean="0">
                            <a:latin typeface="Cambria Math" panose="02040503050406030204" pitchFamily="18" charset="0"/>
                          </a:rPr>
                        </m:ctrlPr>
                      </m:funcPr>
                      <m:fName>
                        <m:r>
                          <m:rPr>
                            <m:sty m:val="p"/>
                          </m:rPr>
                          <a:rPr lang="fr-CA" b="0" i="0" smtClean="0">
                            <a:latin typeface="Cambria Math" panose="02040503050406030204" pitchFamily="18" charset="0"/>
                          </a:rPr>
                          <m:t>cos</m:t>
                        </m:r>
                      </m:fName>
                      <m:e>
                        <m:d>
                          <m:dPr>
                            <m:ctrlPr>
                              <a:rPr lang="fr-CA" b="0" i="1" smtClean="0">
                                <a:latin typeface="Cambria Math" panose="02040503050406030204" pitchFamily="18" charset="0"/>
                              </a:rPr>
                            </m:ctrlPr>
                          </m:dPr>
                          <m:e>
                            <m:r>
                              <a:rPr lang="fr-CA" b="0" i="1" smtClean="0">
                                <a:latin typeface="Cambria Math" panose="02040503050406030204" pitchFamily="18" charset="0"/>
                              </a:rPr>
                              <m:t>2 ∗</m:t>
                            </m:r>
                            <m:r>
                              <a:rPr lang="fr-CA" b="0" i="1" smtClean="0">
                                <a:latin typeface="Cambria Math" panose="02040503050406030204" pitchFamily="18" charset="0"/>
                              </a:rPr>
                              <m:t>𝜋</m:t>
                            </m:r>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𝑟</m:t>
                                </m:r>
                              </m:num>
                              <m:den>
                                <m:r>
                                  <a:rPr lang="fr-CA" b="0" i="1" smtClean="0">
                                    <a:latin typeface="Cambria Math" panose="02040503050406030204" pitchFamily="18" charset="0"/>
                                  </a:rPr>
                                  <m:t>𝑅</m:t>
                                </m:r>
                              </m:den>
                            </m:f>
                          </m:e>
                        </m:d>
                      </m:e>
                    </m:func>
                    <m:r>
                      <a:rPr lang="fr-CA" b="0" i="1" smtClean="0">
                        <a:latin typeface="Cambria Math" panose="02040503050406030204" pitchFamily="18" charset="0"/>
                      </a:rPr>
                      <m:t>∗</m:t>
                    </m:r>
                    <m:r>
                      <m:rPr>
                        <m:sty m:val="p"/>
                      </m:rPr>
                      <a:rPr lang="fr-CA" b="0" i="0" smtClean="0">
                        <a:latin typeface="Cambria Math" panose="02040503050406030204" pitchFamily="18" charset="0"/>
                      </a:rPr>
                      <m:t>cos</m:t>
                    </m:r>
                    <m:r>
                      <a:rPr lang="fr-CA" b="0" i="1" smtClean="0">
                        <a:latin typeface="Cambria Math" panose="02040503050406030204" pitchFamily="18" charset="0"/>
                      </a:rPr>
                      <m:t>⁡(2 ∗</m:t>
                    </m:r>
                    <m:r>
                      <a:rPr lang="fr-CA" b="0" i="1" smtClean="0">
                        <a:latin typeface="Cambria Math" panose="02040503050406030204" pitchFamily="18" charset="0"/>
                      </a:rPr>
                      <m:t>𝜋</m:t>
                    </m:r>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𝑡</m:t>
                        </m:r>
                      </m:num>
                      <m:den>
                        <m:r>
                          <a:rPr lang="fr-CA" b="0" i="1" smtClean="0">
                            <a:latin typeface="Cambria Math" panose="02040503050406030204" pitchFamily="18" charset="0"/>
                          </a:rPr>
                          <m:t>𝑡𝑒𝑚𝑝</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𝑓𝑖𝑛𝑎𝑙</m:t>
                            </m:r>
                          </m:sub>
                        </m:sSub>
                      </m:den>
                    </m:f>
                    <m:r>
                      <a:rPr lang="fr-CA" b="0" i="1" smtClean="0">
                        <a:latin typeface="Cambria Math" panose="02040503050406030204" pitchFamily="18" charset="0"/>
                      </a:rPr>
                      <m:t>)</m:t>
                    </m:r>
                  </m:oMath>
                </a14:m>
                <a:endParaRPr lang="fr-CA" dirty="0"/>
              </a:p>
            </p:txBody>
          </p:sp>
        </mc:Choice>
        <mc:Fallback xmlns="">
          <p:sp>
            <p:nvSpPr>
              <p:cNvPr id="5" name="Espace réservé du contenu 4">
                <a:extLst>
                  <a:ext uri="{FF2B5EF4-FFF2-40B4-BE49-F238E27FC236}">
                    <a16:creationId xmlns:a16="http://schemas.microsoft.com/office/drawing/2014/main" id="{E4A42691-9CFE-45C6-A49C-301D0207827F}"/>
                  </a:ext>
                </a:extLst>
              </p:cNvPr>
              <p:cNvSpPr>
                <a:spLocks noGrp="1" noRot="1" noChangeAspect="1" noMove="1" noResize="1" noEditPoints="1" noAdjustHandles="1" noChangeArrowheads="1" noChangeShapeType="1" noTextEdit="1"/>
              </p:cNvSpPr>
              <p:nvPr>
                <p:ph idx="1"/>
              </p:nvPr>
            </p:nvSpPr>
            <p:spPr>
              <a:blipFill>
                <a:blip r:embed="rId3"/>
                <a:stretch>
                  <a:fillRect l="-1217"/>
                </a:stretch>
              </a:blipFill>
            </p:spPr>
            <p:txBody>
              <a:bodyPr/>
              <a:lstStyle/>
              <a:p>
                <a:r>
                  <a:rPr lang="fr-CA">
                    <a:noFill/>
                  </a:rPr>
                  <a:t> </a:t>
                </a:r>
              </a:p>
            </p:txBody>
          </p:sp>
        </mc:Fallback>
      </mc:AlternateContent>
      <p:pic>
        <p:nvPicPr>
          <p:cNvPr id="7" name="Image 6">
            <a:extLst>
              <a:ext uri="{FF2B5EF4-FFF2-40B4-BE49-F238E27FC236}">
                <a16:creationId xmlns:a16="http://schemas.microsoft.com/office/drawing/2014/main" id="{F8DB5998-468A-EB74-1774-818AD3325F5B}"/>
              </a:ext>
            </a:extLst>
          </p:cNvPr>
          <p:cNvPicPr>
            <a:picLocks noChangeAspect="1"/>
          </p:cNvPicPr>
          <p:nvPr/>
        </p:nvPicPr>
        <p:blipFill>
          <a:blip r:embed="rId4">
            <a:extLst>
              <a:ext uri="{28A0092B-C50C-407E-A947-70E740481C1C}">
                <a14:useLocalDpi xmlns:a14="http://schemas.microsoft.com/office/drawing/2010/main" val="0"/>
              </a:ext>
            </a:extLst>
          </a:blip>
          <a:srcRect t="7602"/>
          <a:stretch>
            <a:fillRect/>
          </a:stretch>
        </p:blipFill>
        <p:spPr>
          <a:xfrm>
            <a:off x="1502875" y="2688879"/>
            <a:ext cx="8247707" cy="3869909"/>
          </a:xfrm>
          <a:prstGeom prst="rect">
            <a:avLst/>
          </a:prstGeom>
        </p:spPr>
      </p:pic>
    </p:spTree>
    <p:extLst>
      <p:ext uri="{BB962C8B-B14F-4D97-AF65-F5344CB8AC3E}">
        <p14:creationId xmlns:p14="http://schemas.microsoft.com/office/powerpoint/2010/main" val="2035793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CA7BF-CEB7-BAE5-A73C-68062335176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281168-C061-00D6-4A15-7844EEA74F8C}"/>
              </a:ext>
            </a:extLst>
          </p:cNvPr>
          <p:cNvSpPr>
            <a:spLocks noGrp="1"/>
          </p:cNvSpPr>
          <p:nvPr>
            <p:ph type="title"/>
          </p:nvPr>
        </p:nvSpPr>
        <p:spPr>
          <a:xfrm>
            <a:off x="838200" y="118237"/>
            <a:ext cx="10515600" cy="1325563"/>
          </a:xfrm>
        </p:spPr>
        <p:txBody>
          <a:bodyPr/>
          <a:lstStyle/>
          <a:p>
            <a:r>
              <a:rPr lang="fr-FR" dirty="0"/>
              <a:t>C) Terme source : Développements</a:t>
            </a:r>
          </a:p>
        </p:txBody>
      </p:sp>
      <mc:AlternateContent xmlns:mc="http://schemas.openxmlformats.org/markup-compatibility/2006">
        <mc:Choice xmlns:a14="http://schemas.microsoft.com/office/drawing/2010/main" Requires="a14">
          <p:sp>
            <p:nvSpPr>
              <p:cNvPr id="5" name="Espace réservé du contenu 4">
                <a:extLst>
                  <a:ext uri="{FF2B5EF4-FFF2-40B4-BE49-F238E27FC236}">
                    <a16:creationId xmlns:a16="http://schemas.microsoft.com/office/drawing/2014/main" id="{02C72247-3DAB-DC54-91E4-C3BF5F0C7A40}"/>
                  </a:ext>
                </a:extLst>
              </p:cNvPr>
              <p:cNvSpPr>
                <a:spLocks noGrp="1"/>
              </p:cNvSpPr>
              <p:nvPr>
                <p:ph idx="1"/>
              </p:nvPr>
            </p:nvSpPr>
            <p:spPr>
              <a:xfrm>
                <a:off x="774824" y="1113576"/>
                <a:ext cx="10949414" cy="3576119"/>
              </a:xfrm>
              <a:ln w="28575">
                <a:solidFill>
                  <a:schemeClr val="accent5"/>
                </a:solidFill>
              </a:ln>
            </p:spPr>
            <p:txBody>
              <a:bodyPr>
                <a:normAutofit fontScale="92500" lnSpcReduction="10000"/>
              </a:bodyPr>
              <a:lstStyle/>
              <a:p>
                <a:pPr marL="0" indent="0" algn="ctr">
                  <a:buNone/>
                </a:pPr>
                <a14:m>
                  <m:oMath xmlns:m="http://schemas.openxmlformats.org/officeDocument/2006/math">
                    <m:r>
                      <a:rPr lang="fr-CA" b="0" i="1" smtClean="0">
                        <a:latin typeface="Cambria Math" panose="02040503050406030204" pitchFamily="18" charset="0"/>
                      </a:rPr>
                      <m:t>𝐿</m:t>
                    </m:r>
                    <m:d>
                      <m:dPr>
                        <m:ctrlPr>
                          <a:rPr lang="fr-CA" b="0" i="1" smtClean="0">
                            <a:latin typeface="Cambria Math" panose="02040503050406030204" pitchFamily="18" charset="0"/>
                          </a:rPr>
                        </m:ctrlPr>
                      </m:dPr>
                      <m:e>
                        <m:r>
                          <a:rPr lang="fr-CA" b="0" i="1" smtClean="0">
                            <a:latin typeface="Cambria Math" panose="02040503050406030204" pitchFamily="18" charset="0"/>
                          </a:rPr>
                          <m:t>Ĉ</m:t>
                        </m:r>
                      </m:e>
                    </m:d>
                    <m:r>
                      <a:rPr lang="fr-CA" b="0" i="1" smtClean="0">
                        <a:latin typeface="Cambria Math" panose="02040503050406030204" pitchFamily="18" charset="0"/>
                      </a:rPr>
                      <m:t>=0= </m:t>
                    </m:r>
                    <m:f>
                      <m:fPr>
                        <m:ctrlPr>
                          <a:rPr lang="fr-CA" b="0" i="1" smtClean="0">
                            <a:latin typeface="Cambria Math" panose="02040503050406030204" pitchFamily="18" charset="0"/>
                          </a:rPr>
                        </m:ctrlPr>
                      </m:fPr>
                      <m:num>
                        <m:r>
                          <a:rPr lang="fr-CA" i="1">
                            <a:latin typeface="Cambria Math" panose="02040503050406030204" pitchFamily="18" charset="0"/>
                          </a:rPr>
                          <m:t>𝜕</m:t>
                        </m:r>
                        <m:r>
                          <a:rPr lang="fr-CA" i="1">
                            <a:latin typeface="Cambria Math" panose="02040503050406030204" pitchFamily="18" charset="0"/>
                          </a:rPr>
                          <m:t>Ĉ</m:t>
                        </m:r>
                      </m:num>
                      <m:den>
                        <m:r>
                          <a:rPr lang="fr-CA" b="0" i="1" smtClean="0">
                            <a:latin typeface="Cambria Math" panose="02040503050406030204" pitchFamily="18" charset="0"/>
                          </a:rPr>
                          <m:t>𝜕</m:t>
                        </m:r>
                        <m:r>
                          <a:rPr lang="fr-CA" b="0" i="1" smtClean="0">
                            <a:latin typeface="Cambria Math" panose="02040503050406030204" pitchFamily="18" charset="0"/>
                          </a:rPr>
                          <m:t>𝑡</m:t>
                        </m:r>
                      </m:den>
                    </m:f>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𝐷</m:t>
                        </m:r>
                      </m:e>
                      <m:sub>
                        <m:r>
                          <a:rPr lang="fr-CA" b="0" i="1" smtClean="0">
                            <a:latin typeface="Cambria Math" panose="02040503050406030204" pitchFamily="18" charset="0"/>
                          </a:rPr>
                          <m:t>𝑒𝑓𝑓</m:t>
                        </m:r>
                      </m:sub>
                    </m:sSub>
                    <m:d>
                      <m:dPr>
                        <m:ctrlPr>
                          <a:rPr lang="fr-CA" b="0" i="1" smtClean="0">
                            <a:latin typeface="Cambria Math" panose="02040503050406030204" pitchFamily="18" charset="0"/>
                          </a:rPr>
                        </m:ctrlPr>
                      </m:dPr>
                      <m:e>
                        <m:f>
                          <m:fPr>
                            <m:ctrlPr>
                              <a:rPr lang="fr-CA" i="1">
                                <a:latin typeface="Cambria Math" panose="02040503050406030204" pitchFamily="18" charset="0"/>
                              </a:rPr>
                            </m:ctrlPr>
                          </m:fPr>
                          <m:num>
                            <m:r>
                              <a:rPr lang="fr-CA" i="1">
                                <a:latin typeface="Cambria Math" panose="02040503050406030204" pitchFamily="18" charset="0"/>
                              </a:rPr>
                              <m:t>1</m:t>
                            </m:r>
                          </m:num>
                          <m:den>
                            <m:r>
                              <a:rPr lang="fr-CA" i="1">
                                <a:latin typeface="Cambria Math" panose="02040503050406030204" pitchFamily="18" charset="0"/>
                              </a:rPr>
                              <m:t>𝑟</m:t>
                            </m:r>
                          </m:den>
                        </m:f>
                        <m:r>
                          <a:rPr lang="fr-CA" b="0" i="1" smtClean="0">
                            <a:latin typeface="Cambria Math" panose="02040503050406030204" pitchFamily="18" charset="0"/>
                          </a:rPr>
                          <m:t> </m:t>
                        </m:r>
                        <m:f>
                          <m:fPr>
                            <m:ctrlPr>
                              <a:rPr lang="fr-CA" b="0" i="1" smtClean="0">
                                <a:latin typeface="Cambria Math" panose="02040503050406030204" pitchFamily="18" charset="0"/>
                              </a:rPr>
                            </m:ctrlPr>
                          </m:fPr>
                          <m:num>
                            <m:r>
                              <a:rPr lang="fr-CA" b="0" i="1" smtClean="0">
                                <a:latin typeface="Cambria Math" panose="02040503050406030204" pitchFamily="18" charset="0"/>
                              </a:rPr>
                              <m:t>𝜕</m:t>
                            </m:r>
                            <m:r>
                              <a:rPr lang="fr-CA" i="1">
                                <a:latin typeface="Cambria Math" panose="02040503050406030204" pitchFamily="18" charset="0"/>
                              </a:rPr>
                              <m:t>Ĉ</m:t>
                            </m:r>
                          </m:num>
                          <m:den>
                            <m:r>
                              <a:rPr lang="fr-CA" b="0" i="1" smtClean="0">
                                <a:latin typeface="Cambria Math" panose="02040503050406030204" pitchFamily="18" charset="0"/>
                              </a:rPr>
                              <m:t>𝜕</m:t>
                            </m:r>
                            <m:r>
                              <a:rPr lang="fr-CA" b="0" i="1" smtClean="0">
                                <a:latin typeface="Cambria Math" panose="02040503050406030204" pitchFamily="18" charset="0"/>
                              </a:rPr>
                              <m:t>𝑟</m:t>
                            </m:r>
                          </m:den>
                        </m:f>
                        <m:r>
                          <a:rPr lang="fr-CA" b="0" i="1" smtClean="0">
                            <a:latin typeface="Cambria Math" panose="02040503050406030204" pitchFamily="18" charset="0"/>
                          </a:rPr>
                          <m:t>+ </m:t>
                        </m:r>
                        <m:f>
                          <m:fPr>
                            <m:ctrlPr>
                              <a:rPr lang="fr-CA" b="0" i="1" smtClean="0">
                                <a:latin typeface="Cambria Math" panose="02040503050406030204" pitchFamily="18" charset="0"/>
                              </a:rPr>
                            </m:ctrlPr>
                          </m:fPr>
                          <m:num>
                            <m:sSup>
                              <m:sSupPr>
                                <m:ctrlPr>
                                  <a:rPr lang="fr-CA" b="0" i="1" smtClean="0">
                                    <a:latin typeface="Cambria Math" panose="02040503050406030204" pitchFamily="18" charset="0"/>
                                  </a:rPr>
                                </m:ctrlPr>
                              </m:sSupPr>
                              <m:e>
                                <m:r>
                                  <a:rPr lang="fr-CA" b="0" i="1" smtClean="0">
                                    <a:latin typeface="Cambria Math" panose="02040503050406030204" pitchFamily="18" charset="0"/>
                                  </a:rPr>
                                  <m:t>𝜕</m:t>
                                </m:r>
                              </m:e>
                              <m:sup>
                                <m:r>
                                  <a:rPr lang="fr-CA" b="0" i="1" smtClean="0">
                                    <a:latin typeface="Cambria Math" panose="02040503050406030204" pitchFamily="18" charset="0"/>
                                  </a:rPr>
                                  <m:t>2</m:t>
                                </m:r>
                              </m:sup>
                            </m:sSup>
                            <m:r>
                              <a:rPr lang="fr-CA" b="0" i="1" smtClean="0">
                                <a:latin typeface="Cambria Math" panose="02040503050406030204" pitchFamily="18" charset="0"/>
                              </a:rPr>
                              <m:t>Ĉ</m:t>
                            </m:r>
                          </m:num>
                          <m:den>
                            <m:r>
                              <a:rPr lang="fr-CA" b="0" i="1" smtClean="0">
                                <a:latin typeface="Cambria Math" panose="02040503050406030204" pitchFamily="18" charset="0"/>
                              </a:rPr>
                              <m:t>𝜕</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𝑟</m:t>
                                </m:r>
                              </m:e>
                              <m:sup>
                                <m:r>
                                  <a:rPr lang="fr-CA" b="0" i="1" smtClean="0">
                                    <a:latin typeface="Cambria Math" panose="02040503050406030204" pitchFamily="18" charset="0"/>
                                  </a:rPr>
                                  <m:t>2</m:t>
                                </m:r>
                              </m:sup>
                            </m:sSup>
                          </m:den>
                        </m:f>
                      </m:e>
                    </m:d>
                    <m:r>
                      <a:rPr lang="fr-CA" b="0" i="1" smtClean="0">
                        <a:latin typeface="Cambria Math" panose="02040503050406030204" pitchFamily="18" charset="0"/>
                      </a:rPr>
                      <m:t>+</m:t>
                    </m:r>
                    <m:r>
                      <a:rPr lang="fr-CA" b="0" i="1" smtClean="0">
                        <a:latin typeface="Cambria Math" panose="02040503050406030204" pitchFamily="18" charset="0"/>
                      </a:rPr>
                      <m:t>𝑘</m:t>
                    </m:r>
                    <m:r>
                      <a:rPr lang="fr-CA" b="0" i="1" smtClean="0">
                        <a:latin typeface="Cambria Math" panose="02040503050406030204" pitchFamily="18" charset="0"/>
                      </a:rPr>
                      <m:t>Ĉ</m:t>
                    </m:r>
                  </m:oMath>
                </a14:m>
                <a:r>
                  <a:rPr lang="fr-CA" b="0" dirty="0"/>
                  <a:t>,</a:t>
                </a:r>
              </a:p>
              <a:p>
                <a:pPr marL="0" indent="0" algn="ctr">
                  <a:buNone/>
                </a:pPr>
                <a:r>
                  <a:rPr lang="fr-CA" dirty="0"/>
                  <a:t>où </a:t>
                </a:r>
                <a14:m>
                  <m:oMath xmlns:m="http://schemas.openxmlformats.org/officeDocument/2006/math">
                    <m:r>
                      <a:rPr lang="fr-CA" b="0" i="1" smtClean="0">
                        <a:latin typeface="Cambria Math" panose="02040503050406030204" pitchFamily="18" charset="0"/>
                      </a:rPr>
                      <m:t>Ĉ= </m:t>
                    </m:r>
                    <m:sSub>
                      <m:sSubPr>
                        <m:ctrlPr>
                          <a:rPr lang="fr-CA" i="1">
                            <a:latin typeface="Cambria Math" panose="02040503050406030204" pitchFamily="18" charset="0"/>
                          </a:rPr>
                        </m:ctrlPr>
                      </m:sSubPr>
                      <m:e>
                        <m:r>
                          <a:rPr lang="fr-CA" i="1">
                            <a:latin typeface="Cambria Math" panose="02040503050406030204" pitchFamily="18" charset="0"/>
                          </a:rPr>
                          <m:t>𝐶</m:t>
                        </m:r>
                      </m:e>
                      <m:sub>
                        <m:r>
                          <a:rPr lang="fr-CA" i="1">
                            <a:latin typeface="Cambria Math" panose="02040503050406030204" pitchFamily="18" charset="0"/>
                          </a:rPr>
                          <m:t>𝑚𝑚𝑠</m:t>
                        </m:r>
                      </m:sub>
                    </m:sSub>
                    <m:r>
                      <a:rPr lang="fr-CA" i="1">
                        <a:latin typeface="Cambria Math" panose="02040503050406030204" pitchFamily="18" charset="0"/>
                      </a:rPr>
                      <m:t>=1+</m:t>
                    </m:r>
                    <m:func>
                      <m:funcPr>
                        <m:ctrlPr>
                          <a:rPr lang="fr-CA" i="1">
                            <a:latin typeface="Cambria Math" panose="02040503050406030204" pitchFamily="18" charset="0"/>
                          </a:rPr>
                        </m:ctrlPr>
                      </m:funcPr>
                      <m:fName>
                        <m:r>
                          <m:rPr>
                            <m:sty m:val="p"/>
                          </m:rPr>
                          <a:rPr lang="fr-CA">
                            <a:latin typeface="Cambria Math" panose="02040503050406030204" pitchFamily="18" charset="0"/>
                          </a:rPr>
                          <m:t>cos</m:t>
                        </m:r>
                      </m:fName>
                      <m:e>
                        <m:d>
                          <m:dPr>
                            <m:ctrlPr>
                              <a:rPr lang="fr-CA" i="1">
                                <a:latin typeface="Cambria Math" panose="02040503050406030204" pitchFamily="18" charset="0"/>
                              </a:rPr>
                            </m:ctrlPr>
                          </m:dPr>
                          <m:e>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𝑟</m:t>
                                </m:r>
                              </m:num>
                              <m:den>
                                <m:r>
                                  <a:rPr lang="fr-CA" i="1">
                                    <a:latin typeface="Cambria Math" panose="02040503050406030204" pitchFamily="18" charset="0"/>
                                  </a:rPr>
                                  <m:t>𝑅</m:t>
                                </m:r>
                              </m:den>
                            </m:f>
                          </m:e>
                        </m:d>
                      </m:e>
                    </m:func>
                    <m:r>
                      <a:rPr lang="fr-CA" i="1">
                        <a:latin typeface="Cambria Math" panose="02040503050406030204" pitchFamily="18" charset="0"/>
                      </a:rPr>
                      <m:t>∗</m:t>
                    </m:r>
                    <m:r>
                      <m:rPr>
                        <m:sty m:val="p"/>
                      </m:rPr>
                      <a:rPr lang="fr-CA">
                        <a:latin typeface="Cambria Math" panose="02040503050406030204" pitchFamily="18" charset="0"/>
                      </a:rPr>
                      <m:t>cos</m:t>
                    </m:r>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𝑡</m:t>
                        </m:r>
                      </m:num>
                      <m:den>
                        <m:r>
                          <a:rPr lang="fr-CA" i="1">
                            <a:latin typeface="Cambria Math" panose="02040503050406030204" pitchFamily="18" charset="0"/>
                          </a:rPr>
                          <m:t>𝑡𝑒𝑚𝑝</m:t>
                        </m:r>
                        <m:sSub>
                          <m:sSubPr>
                            <m:ctrlPr>
                              <a:rPr lang="fr-CA" i="1">
                                <a:latin typeface="Cambria Math" panose="02040503050406030204" pitchFamily="18" charset="0"/>
                              </a:rPr>
                            </m:ctrlPr>
                          </m:sSubPr>
                          <m:e>
                            <m:r>
                              <a:rPr lang="fr-CA" i="1">
                                <a:latin typeface="Cambria Math" panose="02040503050406030204" pitchFamily="18" charset="0"/>
                              </a:rPr>
                              <m:t>𝑠</m:t>
                            </m:r>
                          </m:e>
                          <m:sub>
                            <m:r>
                              <a:rPr lang="fr-CA" i="1">
                                <a:latin typeface="Cambria Math" panose="02040503050406030204" pitchFamily="18" charset="0"/>
                              </a:rPr>
                              <m:t>𝑓𝑖𝑛𝑎𝑙</m:t>
                            </m:r>
                          </m:sub>
                        </m:sSub>
                      </m:den>
                    </m:f>
                    <m:r>
                      <a:rPr lang="fr-CA" i="1">
                        <a:latin typeface="Cambria Math" panose="02040503050406030204" pitchFamily="18" charset="0"/>
                      </a:rPr>
                      <m:t>)</m:t>
                    </m:r>
                  </m:oMath>
                </a14:m>
                <a:r>
                  <a:rPr lang="fr-CA" dirty="0"/>
                  <a:t>,</a:t>
                </a:r>
              </a:p>
              <a:p>
                <a:pPr marL="0" indent="0" algn="ctr">
                  <a:buNone/>
                </a:pPr>
                <a14:m>
                  <m:oMath xmlns:m="http://schemas.openxmlformats.org/officeDocument/2006/math">
                    <m:f>
                      <m:fPr>
                        <m:ctrlPr>
                          <a:rPr lang="fr-CA" i="1">
                            <a:latin typeface="Cambria Math" panose="02040503050406030204" pitchFamily="18" charset="0"/>
                          </a:rPr>
                        </m:ctrlPr>
                      </m:fPr>
                      <m:num>
                        <m:r>
                          <a:rPr lang="fr-CA" i="1">
                            <a:latin typeface="Cambria Math" panose="02040503050406030204" pitchFamily="18" charset="0"/>
                          </a:rPr>
                          <m:t>𝜕</m:t>
                        </m:r>
                        <m:r>
                          <a:rPr lang="fr-CA" i="1">
                            <a:latin typeface="Cambria Math" panose="02040503050406030204" pitchFamily="18" charset="0"/>
                          </a:rPr>
                          <m:t>Ĉ</m:t>
                        </m:r>
                      </m:num>
                      <m:den>
                        <m:r>
                          <a:rPr lang="fr-CA" i="1">
                            <a:latin typeface="Cambria Math" panose="02040503050406030204" pitchFamily="18" charset="0"/>
                          </a:rPr>
                          <m:t>𝜕</m:t>
                        </m:r>
                        <m:r>
                          <m:rPr>
                            <m:sty m:val="p"/>
                          </m:rPr>
                          <a:rPr lang="fr-FR" b="0" i="1" smtClean="0">
                            <a:latin typeface="Cambria Math" panose="02040503050406030204" pitchFamily="18" charset="0"/>
                          </a:rPr>
                          <m:t>t</m:t>
                        </m:r>
                      </m:den>
                    </m:f>
                    <m:r>
                      <a:rPr lang="fr-CA" i="1">
                        <a:latin typeface="Cambria Math" panose="02040503050406030204" pitchFamily="18" charset="0"/>
                      </a:rPr>
                      <m:t>= </m:t>
                    </m:r>
                    <m:f>
                      <m:fPr>
                        <m:ctrlPr>
                          <a:rPr lang="fr-CA" i="1">
                            <a:latin typeface="Cambria Math" panose="02040503050406030204" pitchFamily="18" charset="0"/>
                          </a:rPr>
                        </m:ctrlPr>
                      </m:fPr>
                      <m:num>
                        <m:r>
                          <a:rPr lang="fr-CA" i="1">
                            <a:latin typeface="Cambria Math" panose="02040503050406030204" pitchFamily="18" charset="0"/>
                          </a:rPr>
                          <m:t>−2∗</m:t>
                        </m:r>
                        <m:r>
                          <a:rPr lang="fr-CA" b="0" i="1" smtClean="0">
                            <a:latin typeface="Cambria Math" panose="02040503050406030204" pitchFamily="18" charset="0"/>
                          </a:rPr>
                          <m:t>𝜋</m:t>
                        </m:r>
                      </m:num>
                      <m:den>
                        <m:r>
                          <a:rPr lang="fr-CA" b="0" i="1" smtClean="0">
                            <a:latin typeface="Cambria Math" panose="02040503050406030204" pitchFamily="18" charset="0"/>
                          </a:rPr>
                          <m:t>𝑡𝑒𝑚𝑝</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𝑠</m:t>
                            </m:r>
                          </m:e>
                          <m:sub>
                            <m:r>
                              <a:rPr lang="fr-CA" b="0" i="1" smtClean="0">
                                <a:latin typeface="Cambria Math" panose="02040503050406030204" pitchFamily="18" charset="0"/>
                              </a:rPr>
                              <m:t>𝑓𝑖𝑛𝑎𝑙</m:t>
                            </m:r>
                          </m:sub>
                        </m:sSub>
                      </m:den>
                    </m:f>
                    <m:r>
                      <a:rPr lang="fr-CA" b="0" i="1" smtClean="0">
                        <a:latin typeface="Cambria Math" panose="02040503050406030204" pitchFamily="18" charset="0"/>
                      </a:rPr>
                      <m:t>𝑐𝑜𝑠</m:t>
                    </m:r>
                    <m:d>
                      <m:dPr>
                        <m:ctrlPr>
                          <a:rPr lang="fr-CA" i="1">
                            <a:latin typeface="Cambria Math" panose="02040503050406030204" pitchFamily="18" charset="0"/>
                          </a:rPr>
                        </m:ctrlPr>
                      </m:dPr>
                      <m:e>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𝑟</m:t>
                            </m:r>
                          </m:num>
                          <m:den>
                            <m:r>
                              <a:rPr lang="fr-CA" i="1">
                                <a:latin typeface="Cambria Math" panose="02040503050406030204" pitchFamily="18" charset="0"/>
                              </a:rPr>
                              <m:t>𝑅</m:t>
                            </m:r>
                          </m:den>
                        </m:f>
                      </m:e>
                    </m:d>
                    <m:r>
                      <a:rPr lang="fr-CA" i="1">
                        <a:latin typeface="Cambria Math" panose="02040503050406030204" pitchFamily="18" charset="0"/>
                      </a:rPr>
                      <m:t>∗</m:t>
                    </m:r>
                    <m:r>
                      <m:rPr>
                        <m:sty m:val="p"/>
                      </m:rPr>
                      <a:rPr lang="fr-CA" b="0" i="0" smtClean="0">
                        <a:latin typeface="Cambria Math" panose="02040503050406030204" pitchFamily="18" charset="0"/>
                      </a:rPr>
                      <m:t>sin</m:t>
                    </m:r>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𝑡</m:t>
                        </m:r>
                      </m:num>
                      <m:den>
                        <m:r>
                          <a:rPr lang="fr-CA" i="1">
                            <a:latin typeface="Cambria Math" panose="02040503050406030204" pitchFamily="18" charset="0"/>
                          </a:rPr>
                          <m:t>𝑡𝑒𝑚𝑝</m:t>
                        </m:r>
                        <m:sSub>
                          <m:sSubPr>
                            <m:ctrlPr>
                              <a:rPr lang="fr-CA" i="1">
                                <a:latin typeface="Cambria Math" panose="02040503050406030204" pitchFamily="18" charset="0"/>
                              </a:rPr>
                            </m:ctrlPr>
                          </m:sSubPr>
                          <m:e>
                            <m:r>
                              <a:rPr lang="fr-CA" i="1">
                                <a:latin typeface="Cambria Math" panose="02040503050406030204" pitchFamily="18" charset="0"/>
                              </a:rPr>
                              <m:t>𝑠</m:t>
                            </m:r>
                          </m:e>
                          <m:sub>
                            <m:r>
                              <a:rPr lang="fr-CA" i="1">
                                <a:latin typeface="Cambria Math" panose="02040503050406030204" pitchFamily="18" charset="0"/>
                              </a:rPr>
                              <m:t>𝑓𝑖𝑛𝑎𝑙</m:t>
                            </m:r>
                          </m:sub>
                        </m:sSub>
                      </m:den>
                    </m:f>
                    <m:r>
                      <a:rPr lang="fr-CA" i="1">
                        <a:latin typeface="Cambria Math" panose="02040503050406030204" pitchFamily="18" charset="0"/>
                      </a:rPr>
                      <m:t>)</m:t>
                    </m:r>
                  </m:oMath>
                </a14:m>
                <a:r>
                  <a:rPr lang="fr-CA" dirty="0"/>
                  <a:t>,</a:t>
                </a:r>
              </a:p>
              <a:p>
                <a:pPr marL="0" indent="0" algn="ctr">
                  <a:buNone/>
                </a:pPr>
                <a14:m>
                  <m:oMath xmlns:m="http://schemas.openxmlformats.org/officeDocument/2006/math">
                    <m:f>
                      <m:fPr>
                        <m:ctrlPr>
                          <a:rPr lang="fr-CA" i="1">
                            <a:latin typeface="Cambria Math" panose="02040503050406030204" pitchFamily="18" charset="0"/>
                          </a:rPr>
                        </m:ctrlPr>
                      </m:fPr>
                      <m:num>
                        <m:r>
                          <a:rPr lang="fr-CA" i="1">
                            <a:latin typeface="Cambria Math" panose="02040503050406030204" pitchFamily="18" charset="0"/>
                          </a:rPr>
                          <m:t>𝜕</m:t>
                        </m:r>
                        <m:r>
                          <a:rPr lang="fr-CA" i="1">
                            <a:latin typeface="Cambria Math" panose="02040503050406030204" pitchFamily="18" charset="0"/>
                          </a:rPr>
                          <m:t>Ĉ</m:t>
                        </m:r>
                      </m:num>
                      <m:den>
                        <m:r>
                          <a:rPr lang="fr-CA" i="1">
                            <a:latin typeface="Cambria Math" panose="02040503050406030204" pitchFamily="18" charset="0"/>
                          </a:rPr>
                          <m:t>𝜕</m:t>
                        </m:r>
                        <m:r>
                          <a:rPr lang="fr-CA" i="1">
                            <a:latin typeface="Cambria Math" panose="02040503050406030204" pitchFamily="18" charset="0"/>
                          </a:rPr>
                          <m:t>𝑟</m:t>
                        </m:r>
                      </m:den>
                    </m:f>
                    <m:r>
                      <a:rPr lang="fr-CA" b="0" i="1" smtClean="0">
                        <a:latin typeface="Cambria Math" panose="02040503050406030204" pitchFamily="18" charset="0"/>
                      </a:rPr>
                      <m:t>= </m:t>
                    </m:r>
                    <m:f>
                      <m:fPr>
                        <m:ctrlPr>
                          <a:rPr lang="fr-CA" b="0" i="1" smtClean="0">
                            <a:latin typeface="Cambria Math" panose="02040503050406030204" pitchFamily="18" charset="0"/>
                          </a:rPr>
                        </m:ctrlPr>
                      </m:fPr>
                      <m:num>
                        <m:r>
                          <a:rPr lang="fr-CA" b="0" i="1" smtClean="0">
                            <a:latin typeface="Cambria Math" panose="02040503050406030204" pitchFamily="18" charset="0"/>
                          </a:rPr>
                          <m:t>−2∗</m:t>
                        </m:r>
                        <m:r>
                          <a:rPr lang="fr-CA" b="0" i="1" smtClean="0">
                            <a:latin typeface="Cambria Math" panose="02040503050406030204" pitchFamily="18" charset="0"/>
                          </a:rPr>
                          <m:t>𝜋</m:t>
                        </m:r>
                      </m:num>
                      <m:den>
                        <m:r>
                          <a:rPr lang="fr-CA" b="0" i="1" smtClean="0">
                            <a:latin typeface="Cambria Math" panose="02040503050406030204" pitchFamily="18" charset="0"/>
                          </a:rPr>
                          <m:t>𝑅</m:t>
                        </m:r>
                      </m:den>
                    </m:f>
                    <m:r>
                      <a:rPr lang="fr-CA" b="0" i="1" smtClean="0">
                        <a:latin typeface="Cambria Math" panose="02040503050406030204" pitchFamily="18" charset="0"/>
                      </a:rPr>
                      <m:t>𝑠𝑖𝑛</m:t>
                    </m:r>
                    <m:d>
                      <m:dPr>
                        <m:ctrlPr>
                          <a:rPr lang="fr-CA" i="1">
                            <a:latin typeface="Cambria Math" panose="02040503050406030204" pitchFamily="18" charset="0"/>
                          </a:rPr>
                        </m:ctrlPr>
                      </m:dPr>
                      <m:e>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𝑟</m:t>
                            </m:r>
                          </m:num>
                          <m:den>
                            <m:r>
                              <a:rPr lang="fr-CA" i="1">
                                <a:latin typeface="Cambria Math" panose="02040503050406030204" pitchFamily="18" charset="0"/>
                              </a:rPr>
                              <m:t>𝑅</m:t>
                            </m:r>
                          </m:den>
                        </m:f>
                      </m:e>
                    </m:d>
                    <m:r>
                      <a:rPr lang="fr-CA" i="1">
                        <a:latin typeface="Cambria Math" panose="02040503050406030204" pitchFamily="18" charset="0"/>
                      </a:rPr>
                      <m:t>∗</m:t>
                    </m:r>
                    <m:r>
                      <m:rPr>
                        <m:sty m:val="p"/>
                      </m:rPr>
                      <a:rPr lang="fr-CA">
                        <a:latin typeface="Cambria Math" panose="02040503050406030204" pitchFamily="18" charset="0"/>
                      </a:rPr>
                      <m:t>cos</m:t>
                    </m:r>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𝑡</m:t>
                        </m:r>
                      </m:num>
                      <m:den>
                        <m:r>
                          <a:rPr lang="fr-CA" i="1">
                            <a:latin typeface="Cambria Math" panose="02040503050406030204" pitchFamily="18" charset="0"/>
                          </a:rPr>
                          <m:t>𝑡𝑒𝑚𝑝</m:t>
                        </m:r>
                        <m:sSub>
                          <m:sSubPr>
                            <m:ctrlPr>
                              <a:rPr lang="fr-CA" i="1">
                                <a:latin typeface="Cambria Math" panose="02040503050406030204" pitchFamily="18" charset="0"/>
                              </a:rPr>
                            </m:ctrlPr>
                          </m:sSubPr>
                          <m:e>
                            <m:r>
                              <a:rPr lang="fr-CA" i="1">
                                <a:latin typeface="Cambria Math" panose="02040503050406030204" pitchFamily="18" charset="0"/>
                              </a:rPr>
                              <m:t>𝑠</m:t>
                            </m:r>
                          </m:e>
                          <m:sub>
                            <m:r>
                              <a:rPr lang="fr-CA" i="1">
                                <a:latin typeface="Cambria Math" panose="02040503050406030204" pitchFamily="18" charset="0"/>
                              </a:rPr>
                              <m:t>𝑓𝑖𝑛𝑎𝑙</m:t>
                            </m:r>
                          </m:sub>
                        </m:sSub>
                      </m:den>
                    </m:f>
                    <m:r>
                      <a:rPr lang="fr-CA" i="1">
                        <a:latin typeface="Cambria Math" panose="02040503050406030204" pitchFamily="18" charset="0"/>
                      </a:rPr>
                      <m:t>)</m:t>
                    </m:r>
                  </m:oMath>
                </a14:m>
                <a:r>
                  <a:rPr lang="fr-CA" dirty="0"/>
                  <a:t>,</a:t>
                </a:r>
              </a:p>
              <a:p>
                <a:pPr marL="0" indent="0" algn="ctr">
                  <a:buNone/>
                </a:pPr>
                <a14:m>
                  <m:oMath xmlns:m="http://schemas.openxmlformats.org/officeDocument/2006/math">
                    <m:f>
                      <m:fPr>
                        <m:ctrlPr>
                          <a:rPr lang="fr-CA" i="1">
                            <a:latin typeface="Cambria Math" panose="02040503050406030204" pitchFamily="18" charset="0"/>
                          </a:rPr>
                        </m:ctrlPr>
                      </m:fPr>
                      <m:num>
                        <m:sSup>
                          <m:sSupPr>
                            <m:ctrlPr>
                              <a:rPr lang="fr-CA" b="0" i="1" smtClean="0">
                                <a:latin typeface="Cambria Math" panose="02040503050406030204" pitchFamily="18" charset="0"/>
                              </a:rPr>
                            </m:ctrlPr>
                          </m:sSupPr>
                          <m:e>
                            <m:r>
                              <a:rPr lang="fr-CA" i="1">
                                <a:latin typeface="Cambria Math" panose="02040503050406030204" pitchFamily="18" charset="0"/>
                              </a:rPr>
                              <m:t>𝜕</m:t>
                            </m:r>
                          </m:e>
                          <m:sup>
                            <m:r>
                              <a:rPr lang="fr-CA" b="0" i="1" smtClean="0">
                                <a:latin typeface="Cambria Math" panose="02040503050406030204" pitchFamily="18" charset="0"/>
                              </a:rPr>
                              <m:t>2</m:t>
                            </m:r>
                          </m:sup>
                        </m:sSup>
                        <m:r>
                          <a:rPr lang="fr-CA" i="1">
                            <a:latin typeface="Cambria Math" panose="02040503050406030204" pitchFamily="18" charset="0"/>
                          </a:rPr>
                          <m:t>Ĉ</m:t>
                        </m:r>
                      </m:num>
                      <m:den>
                        <m:r>
                          <a:rPr lang="fr-CA" i="1">
                            <a:latin typeface="Cambria Math" panose="02040503050406030204" pitchFamily="18" charset="0"/>
                          </a:rPr>
                          <m:t>𝜕</m:t>
                        </m:r>
                        <m:sSup>
                          <m:sSupPr>
                            <m:ctrlPr>
                              <a:rPr lang="fr-CA" b="0" i="1" smtClean="0">
                                <a:latin typeface="Cambria Math" panose="02040503050406030204" pitchFamily="18" charset="0"/>
                              </a:rPr>
                            </m:ctrlPr>
                          </m:sSupPr>
                          <m:e>
                            <m:r>
                              <a:rPr lang="fr-CA" i="1">
                                <a:latin typeface="Cambria Math" panose="02040503050406030204" pitchFamily="18" charset="0"/>
                              </a:rPr>
                              <m:t>𝑟</m:t>
                            </m:r>
                          </m:e>
                          <m:sup>
                            <m:r>
                              <a:rPr lang="fr-CA" b="0" i="1" smtClean="0">
                                <a:latin typeface="Cambria Math" panose="02040503050406030204" pitchFamily="18" charset="0"/>
                              </a:rPr>
                              <m:t>2</m:t>
                            </m:r>
                          </m:sup>
                        </m:sSup>
                      </m:den>
                    </m:f>
                    <m:r>
                      <a:rPr lang="fr-CA" i="1">
                        <a:latin typeface="Cambria Math" panose="02040503050406030204" pitchFamily="18" charset="0"/>
                      </a:rPr>
                      <m:t>= </m:t>
                    </m:r>
                    <m:f>
                      <m:fPr>
                        <m:ctrlPr>
                          <a:rPr lang="fr-CA" i="1">
                            <a:latin typeface="Cambria Math" panose="02040503050406030204" pitchFamily="18" charset="0"/>
                          </a:rPr>
                        </m:ctrlPr>
                      </m:fPr>
                      <m:num>
                        <m:r>
                          <a:rPr lang="fr-CA" i="1">
                            <a:latin typeface="Cambria Math" panose="02040503050406030204" pitchFamily="18" charset="0"/>
                          </a:rPr>
                          <m:t>−</m:t>
                        </m:r>
                        <m:r>
                          <a:rPr lang="fr-CA" b="0" i="1" smtClean="0">
                            <a:latin typeface="Cambria Math" panose="02040503050406030204" pitchFamily="18" charset="0"/>
                          </a:rPr>
                          <m:t>4</m:t>
                        </m:r>
                        <m:r>
                          <a:rPr lang="fr-CA" i="1">
                            <a:latin typeface="Cambria Math" panose="02040503050406030204" pitchFamily="18" charset="0"/>
                          </a:rPr>
                          <m:t>∗</m:t>
                        </m:r>
                        <m:sSup>
                          <m:sSupPr>
                            <m:ctrlPr>
                              <a:rPr lang="fr-CA" b="0" i="1" smtClean="0">
                                <a:latin typeface="Cambria Math" panose="02040503050406030204" pitchFamily="18" charset="0"/>
                              </a:rPr>
                            </m:ctrlPr>
                          </m:sSupPr>
                          <m:e>
                            <m:r>
                              <a:rPr lang="fr-CA" i="1">
                                <a:latin typeface="Cambria Math" panose="02040503050406030204" pitchFamily="18" charset="0"/>
                              </a:rPr>
                              <m:t>𝜋</m:t>
                            </m:r>
                          </m:e>
                          <m:sup>
                            <m:r>
                              <a:rPr lang="fr-CA" b="0" i="1" smtClean="0">
                                <a:latin typeface="Cambria Math" panose="02040503050406030204" pitchFamily="18" charset="0"/>
                              </a:rPr>
                              <m:t>2</m:t>
                            </m:r>
                          </m:sup>
                        </m:sSup>
                      </m:num>
                      <m:den>
                        <m:sSup>
                          <m:sSupPr>
                            <m:ctrlPr>
                              <a:rPr lang="fr-CA" b="0" i="1" smtClean="0">
                                <a:latin typeface="Cambria Math" panose="02040503050406030204" pitchFamily="18" charset="0"/>
                              </a:rPr>
                            </m:ctrlPr>
                          </m:sSupPr>
                          <m:e>
                            <m:r>
                              <a:rPr lang="fr-CA" i="1">
                                <a:latin typeface="Cambria Math" panose="02040503050406030204" pitchFamily="18" charset="0"/>
                              </a:rPr>
                              <m:t>𝑅</m:t>
                            </m:r>
                          </m:e>
                          <m:sup>
                            <m:r>
                              <a:rPr lang="fr-CA" b="0" i="1" smtClean="0">
                                <a:latin typeface="Cambria Math" panose="02040503050406030204" pitchFamily="18" charset="0"/>
                              </a:rPr>
                              <m:t>2</m:t>
                            </m:r>
                          </m:sup>
                        </m:sSup>
                      </m:den>
                    </m:f>
                    <m:r>
                      <a:rPr lang="fr-CA" b="0" i="1" smtClean="0">
                        <a:latin typeface="Cambria Math" panose="02040503050406030204" pitchFamily="18" charset="0"/>
                      </a:rPr>
                      <m:t>𝑐𝑜𝑠</m:t>
                    </m:r>
                    <m:d>
                      <m:dPr>
                        <m:ctrlPr>
                          <a:rPr lang="fr-CA" i="1">
                            <a:latin typeface="Cambria Math" panose="02040503050406030204" pitchFamily="18" charset="0"/>
                          </a:rPr>
                        </m:ctrlPr>
                      </m:dPr>
                      <m:e>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𝑟</m:t>
                            </m:r>
                          </m:num>
                          <m:den>
                            <m:r>
                              <a:rPr lang="fr-CA" i="1">
                                <a:latin typeface="Cambria Math" panose="02040503050406030204" pitchFamily="18" charset="0"/>
                              </a:rPr>
                              <m:t>𝑅</m:t>
                            </m:r>
                          </m:den>
                        </m:f>
                      </m:e>
                    </m:d>
                    <m:r>
                      <a:rPr lang="fr-CA" i="1">
                        <a:latin typeface="Cambria Math" panose="02040503050406030204" pitchFamily="18" charset="0"/>
                      </a:rPr>
                      <m:t>∗</m:t>
                    </m:r>
                    <m:r>
                      <m:rPr>
                        <m:sty m:val="p"/>
                      </m:rPr>
                      <a:rPr lang="fr-CA">
                        <a:latin typeface="Cambria Math" panose="02040503050406030204" pitchFamily="18" charset="0"/>
                      </a:rPr>
                      <m:t>cos</m:t>
                    </m:r>
                    <m:r>
                      <a:rPr lang="fr-CA" i="1">
                        <a:latin typeface="Cambria Math" panose="02040503050406030204" pitchFamily="18" charset="0"/>
                      </a:rPr>
                      <m:t>⁡(2 ∗</m:t>
                    </m:r>
                    <m:r>
                      <a:rPr lang="fr-CA" i="1">
                        <a:latin typeface="Cambria Math" panose="02040503050406030204" pitchFamily="18" charset="0"/>
                      </a:rPr>
                      <m:t>𝜋</m:t>
                    </m:r>
                    <m:r>
                      <a:rPr lang="fr-CA" i="1">
                        <a:latin typeface="Cambria Math" panose="02040503050406030204" pitchFamily="18" charset="0"/>
                      </a:rPr>
                      <m:t>∗</m:t>
                    </m:r>
                    <m:f>
                      <m:fPr>
                        <m:ctrlPr>
                          <a:rPr lang="fr-CA" i="1">
                            <a:latin typeface="Cambria Math" panose="02040503050406030204" pitchFamily="18" charset="0"/>
                          </a:rPr>
                        </m:ctrlPr>
                      </m:fPr>
                      <m:num>
                        <m:r>
                          <a:rPr lang="fr-CA" i="1">
                            <a:latin typeface="Cambria Math" panose="02040503050406030204" pitchFamily="18" charset="0"/>
                          </a:rPr>
                          <m:t>𝑡</m:t>
                        </m:r>
                      </m:num>
                      <m:den>
                        <m:r>
                          <a:rPr lang="fr-CA" i="1">
                            <a:latin typeface="Cambria Math" panose="02040503050406030204" pitchFamily="18" charset="0"/>
                          </a:rPr>
                          <m:t>𝑡𝑒𝑚𝑝</m:t>
                        </m:r>
                        <m:sSub>
                          <m:sSubPr>
                            <m:ctrlPr>
                              <a:rPr lang="fr-CA" i="1">
                                <a:latin typeface="Cambria Math" panose="02040503050406030204" pitchFamily="18" charset="0"/>
                              </a:rPr>
                            </m:ctrlPr>
                          </m:sSubPr>
                          <m:e>
                            <m:r>
                              <a:rPr lang="fr-CA" i="1">
                                <a:latin typeface="Cambria Math" panose="02040503050406030204" pitchFamily="18" charset="0"/>
                              </a:rPr>
                              <m:t>𝑠</m:t>
                            </m:r>
                          </m:e>
                          <m:sub>
                            <m:r>
                              <a:rPr lang="fr-CA" i="1">
                                <a:latin typeface="Cambria Math" panose="02040503050406030204" pitchFamily="18" charset="0"/>
                              </a:rPr>
                              <m:t>𝑓𝑖𝑛𝑎𝑙</m:t>
                            </m:r>
                          </m:sub>
                        </m:sSub>
                      </m:den>
                    </m:f>
                    <m:r>
                      <a:rPr lang="fr-CA" i="1">
                        <a:latin typeface="Cambria Math" panose="02040503050406030204" pitchFamily="18" charset="0"/>
                      </a:rPr>
                      <m:t>)</m:t>
                    </m:r>
                  </m:oMath>
                </a14:m>
                <a:r>
                  <a:rPr lang="fr-CA" dirty="0"/>
                  <a:t> </a:t>
                </a:r>
              </a:p>
            </p:txBody>
          </p:sp>
        </mc:Choice>
        <mc:Fallback>
          <p:sp>
            <p:nvSpPr>
              <p:cNvPr id="5" name="Espace réservé du contenu 4">
                <a:extLst>
                  <a:ext uri="{FF2B5EF4-FFF2-40B4-BE49-F238E27FC236}">
                    <a16:creationId xmlns:a16="http://schemas.microsoft.com/office/drawing/2014/main" id="{02C72247-3DAB-DC54-91E4-C3BF5F0C7A40}"/>
                  </a:ext>
                </a:extLst>
              </p:cNvPr>
              <p:cNvSpPr>
                <a:spLocks noGrp="1" noRot="1" noChangeAspect="1" noMove="1" noResize="1" noEditPoints="1" noAdjustHandles="1" noChangeArrowheads="1" noChangeShapeType="1" noTextEdit="1"/>
              </p:cNvSpPr>
              <p:nvPr>
                <p:ph idx="1"/>
              </p:nvPr>
            </p:nvSpPr>
            <p:spPr>
              <a:xfrm>
                <a:off x="774824" y="1113576"/>
                <a:ext cx="10949414" cy="3576119"/>
              </a:xfrm>
              <a:blipFill>
                <a:blip r:embed="rId3"/>
                <a:stretch>
                  <a:fillRect/>
                </a:stretch>
              </a:blipFill>
              <a:ln w="28575">
                <a:solidFill>
                  <a:schemeClr val="accent5"/>
                </a:solidFill>
              </a:ln>
            </p:spPr>
            <p:txBody>
              <a:bodyPr/>
              <a:lstStyle/>
              <a:p>
                <a:r>
                  <a:rPr lang="en-US">
                    <a:noFill/>
                  </a:rPr>
                  <a:t> </a:t>
                </a:r>
              </a:p>
            </p:txBody>
          </p:sp>
        </mc:Fallback>
      </mc:AlternateContent>
      <p:pic>
        <p:nvPicPr>
          <p:cNvPr id="4" name="Image 3">
            <a:extLst>
              <a:ext uri="{FF2B5EF4-FFF2-40B4-BE49-F238E27FC236}">
                <a16:creationId xmlns:a16="http://schemas.microsoft.com/office/drawing/2014/main" id="{0F881B50-EA33-C38C-3D9C-8A6F8A9E9CEC}"/>
              </a:ext>
            </a:extLst>
          </p:cNvPr>
          <p:cNvPicPr>
            <a:picLocks noChangeAspect="1"/>
          </p:cNvPicPr>
          <p:nvPr/>
        </p:nvPicPr>
        <p:blipFill>
          <a:blip r:embed="rId4"/>
          <a:stretch>
            <a:fillRect/>
          </a:stretch>
        </p:blipFill>
        <p:spPr>
          <a:xfrm>
            <a:off x="2778979" y="5458909"/>
            <a:ext cx="6887536" cy="1181265"/>
          </a:xfrm>
          <a:prstGeom prst="rect">
            <a:avLst/>
          </a:prstGeom>
        </p:spPr>
      </p:pic>
      <p:sp>
        <p:nvSpPr>
          <p:cNvPr id="6" name="ZoneTexte 5">
            <a:extLst>
              <a:ext uri="{FF2B5EF4-FFF2-40B4-BE49-F238E27FC236}">
                <a16:creationId xmlns:a16="http://schemas.microsoft.com/office/drawing/2014/main" id="{98A94175-7F9C-5CB1-D127-EC94C8551DEA}"/>
              </a:ext>
            </a:extLst>
          </p:cNvPr>
          <p:cNvSpPr txBox="1"/>
          <p:nvPr/>
        </p:nvSpPr>
        <p:spPr>
          <a:xfrm>
            <a:off x="2442926" y="4608214"/>
            <a:ext cx="7559643" cy="1107996"/>
          </a:xfrm>
          <a:prstGeom prst="rect">
            <a:avLst/>
          </a:prstGeom>
          <a:noFill/>
        </p:spPr>
        <p:txBody>
          <a:bodyPr wrap="square" rtlCol="0">
            <a:spAutoFit/>
          </a:bodyPr>
          <a:lstStyle/>
          <a:p>
            <a:pPr algn="ctr"/>
            <a:endParaRPr lang="fr-CA" sz="1600" dirty="0"/>
          </a:p>
          <a:p>
            <a:pPr algn="ctr"/>
            <a:r>
              <a:rPr lang="fr-CA" sz="1600" dirty="0"/>
              <a:t>Note : pour se simplifier la tâche, les développements ont été faits à l’aide du calcul symbolique de </a:t>
            </a:r>
            <a:r>
              <a:rPr lang="fr-CA" sz="1600" dirty="0" err="1"/>
              <a:t>Sympy</a:t>
            </a:r>
            <a:r>
              <a:rPr lang="fr-CA" sz="1600" dirty="0"/>
              <a:t> dans Python :</a:t>
            </a:r>
          </a:p>
          <a:p>
            <a:endParaRPr lang="fr-CA" sz="1600" dirty="0"/>
          </a:p>
        </p:txBody>
      </p:sp>
    </p:spTree>
    <p:extLst>
      <p:ext uri="{BB962C8B-B14F-4D97-AF65-F5344CB8AC3E}">
        <p14:creationId xmlns:p14="http://schemas.microsoft.com/office/powerpoint/2010/main" val="341722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6F188-5146-F691-91E4-41C51DF4FF1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242EA4-2960-05DF-41AE-0DC6416C92F8}"/>
              </a:ext>
            </a:extLst>
          </p:cNvPr>
          <p:cNvSpPr>
            <a:spLocks noGrp="1"/>
          </p:cNvSpPr>
          <p:nvPr>
            <p:ph type="title"/>
          </p:nvPr>
        </p:nvSpPr>
        <p:spPr>
          <a:xfrm>
            <a:off x="838200" y="118237"/>
            <a:ext cx="10515600" cy="1325563"/>
          </a:xfrm>
        </p:spPr>
        <p:txBody>
          <a:bodyPr/>
          <a:lstStyle/>
          <a:p>
            <a:r>
              <a:rPr lang="fr-FR" dirty="0"/>
              <a:t>C) Terme source : Tracé</a:t>
            </a:r>
          </a:p>
        </p:txBody>
      </p:sp>
      <p:pic>
        <p:nvPicPr>
          <p:cNvPr id="9" name="Image 8">
            <a:extLst>
              <a:ext uri="{FF2B5EF4-FFF2-40B4-BE49-F238E27FC236}">
                <a16:creationId xmlns:a16="http://schemas.microsoft.com/office/drawing/2014/main" id="{D7271FD1-7E6A-7FAA-5288-F2166FB90158}"/>
              </a:ext>
            </a:extLst>
          </p:cNvPr>
          <p:cNvPicPr>
            <a:picLocks noChangeAspect="1"/>
          </p:cNvPicPr>
          <p:nvPr/>
        </p:nvPicPr>
        <p:blipFill>
          <a:blip r:embed="rId3"/>
          <a:stretch>
            <a:fillRect/>
          </a:stretch>
        </p:blipFill>
        <p:spPr>
          <a:xfrm>
            <a:off x="1533626" y="1108674"/>
            <a:ext cx="9468050" cy="4839739"/>
          </a:xfrm>
          <a:prstGeom prst="rect">
            <a:avLst/>
          </a:prstGeom>
        </p:spPr>
      </p:pic>
      <p:sp>
        <p:nvSpPr>
          <p:cNvPr id="10" name="ZoneTexte 9">
            <a:extLst>
              <a:ext uri="{FF2B5EF4-FFF2-40B4-BE49-F238E27FC236}">
                <a16:creationId xmlns:a16="http://schemas.microsoft.com/office/drawing/2014/main" id="{906D4819-BB1A-32B7-D9A1-5D4AD7DF1990}"/>
              </a:ext>
            </a:extLst>
          </p:cNvPr>
          <p:cNvSpPr txBox="1"/>
          <p:nvPr/>
        </p:nvSpPr>
        <p:spPr>
          <a:xfrm>
            <a:off x="3359217" y="6054291"/>
            <a:ext cx="5130265" cy="646331"/>
          </a:xfrm>
          <a:prstGeom prst="rect">
            <a:avLst/>
          </a:prstGeom>
          <a:noFill/>
        </p:spPr>
        <p:txBody>
          <a:bodyPr wrap="square" rtlCol="0">
            <a:spAutoFit/>
          </a:bodyPr>
          <a:lstStyle/>
          <a:p>
            <a:r>
              <a:rPr lang="fr-CA" dirty="0"/>
              <a:t>Note : ici le terme source n’est pas présent en r = 0 car il y a une division par 0</a:t>
            </a:r>
          </a:p>
        </p:txBody>
      </p:sp>
    </p:spTree>
    <p:extLst>
      <p:ext uri="{BB962C8B-B14F-4D97-AF65-F5344CB8AC3E}">
        <p14:creationId xmlns:p14="http://schemas.microsoft.com/office/powerpoint/2010/main" val="2004444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AD0A-2448-DAF0-376C-90852E39E22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40A840-1C01-3EF1-0F52-D62BAADC83E7}"/>
              </a:ext>
            </a:extLst>
          </p:cNvPr>
          <p:cNvSpPr>
            <a:spLocks noGrp="1"/>
          </p:cNvSpPr>
          <p:nvPr>
            <p:ph type="title"/>
          </p:nvPr>
        </p:nvSpPr>
        <p:spPr>
          <a:xfrm>
            <a:off x="838200" y="118237"/>
            <a:ext cx="10515600" cy="1325563"/>
          </a:xfrm>
        </p:spPr>
        <p:txBody>
          <a:bodyPr/>
          <a:lstStyle/>
          <a:p>
            <a:r>
              <a:rPr lang="fr-FR" dirty="0"/>
              <a:t>D) Graphiques de convergence : Espace</a:t>
            </a:r>
          </a:p>
        </p:txBody>
      </p:sp>
      <p:sp>
        <p:nvSpPr>
          <p:cNvPr id="10" name="ZoneTexte 9">
            <a:extLst>
              <a:ext uri="{FF2B5EF4-FFF2-40B4-BE49-F238E27FC236}">
                <a16:creationId xmlns:a16="http://schemas.microsoft.com/office/drawing/2014/main" id="{AC411E4E-3E3A-D7C0-2D5D-44E0A2C362BE}"/>
              </a:ext>
            </a:extLst>
          </p:cNvPr>
          <p:cNvSpPr txBox="1"/>
          <p:nvPr/>
        </p:nvSpPr>
        <p:spPr>
          <a:xfrm>
            <a:off x="2164080" y="5365540"/>
            <a:ext cx="8654716" cy="1384995"/>
          </a:xfrm>
          <a:prstGeom prst="rect">
            <a:avLst/>
          </a:prstGeom>
          <a:noFill/>
        </p:spPr>
        <p:txBody>
          <a:bodyPr wrap="square" rtlCol="0">
            <a:spAutoFit/>
          </a:bodyPr>
          <a:lstStyle/>
          <a:p>
            <a:pPr algn="just"/>
            <a:r>
              <a:rPr lang="fr-CA" sz="1200" dirty="0"/>
              <a:t>On peut voir que la convergence en espace est environ d’ordre 2 pour les trois types d’erreur. Cela est attendu avec les développements du terme de troncature montrés en A. Les écarts s’expliquent par les données prise en compte dans la convergence asymptotiques ; certaines erreurs sont aberrantes et ne devraient pas être prises en compte dans le calcul. Plus de pas de résolution pourraient aider à améliorer l’estimation de l’ordre de convergence asymptotique.</a:t>
            </a:r>
          </a:p>
          <a:p>
            <a:pPr algn="just"/>
            <a:endParaRPr lang="fr-CA" sz="1200" dirty="0"/>
          </a:p>
          <a:p>
            <a:pPr algn="just"/>
            <a:r>
              <a:rPr lang="fr-CA" sz="1200" dirty="0"/>
              <a:t>L’erreur vers la fin atteint un plateau puisque l’erreur de discrétisation en temps commence à dominer. Réduire le pas de discrétisation en temps pourrait aussi améliorer les résultats de la convergence en espace.</a:t>
            </a:r>
          </a:p>
        </p:txBody>
      </p:sp>
      <p:pic>
        <p:nvPicPr>
          <p:cNvPr id="4" name="Image 3">
            <a:extLst>
              <a:ext uri="{FF2B5EF4-FFF2-40B4-BE49-F238E27FC236}">
                <a16:creationId xmlns:a16="http://schemas.microsoft.com/office/drawing/2014/main" id="{AF57EDE4-BA7E-EED8-3B59-73B8F9C5B917}"/>
              </a:ext>
            </a:extLst>
          </p:cNvPr>
          <p:cNvPicPr>
            <a:picLocks noChangeAspect="1"/>
          </p:cNvPicPr>
          <p:nvPr/>
        </p:nvPicPr>
        <p:blipFill>
          <a:blip r:embed="rId3"/>
          <a:stretch>
            <a:fillRect/>
          </a:stretch>
        </p:blipFill>
        <p:spPr>
          <a:xfrm>
            <a:off x="2395086" y="1185279"/>
            <a:ext cx="7401827" cy="4180261"/>
          </a:xfrm>
          <a:prstGeom prst="rect">
            <a:avLst/>
          </a:prstGeom>
        </p:spPr>
      </p:pic>
      <p:sp>
        <p:nvSpPr>
          <p:cNvPr id="3" name="ZoneTexte 2">
            <a:extLst>
              <a:ext uri="{FF2B5EF4-FFF2-40B4-BE49-F238E27FC236}">
                <a16:creationId xmlns:a16="http://schemas.microsoft.com/office/drawing/2014/main" id="{65E4D10F-53A7-0092-BAA3-52C256DDC492}"/>
              </a:ext>
            </a:extLst>
          </p:cNvPr>
          <p:cNvSpPr txBox="1"/>
          <p:nvPr/>
        </p:nvSpPr>
        <p:spPr>
          <a:xfrm>
            <a:off x="10104730" y="1611517"/>
            <a:ext cx="1710042" cy="923330"/>
          </a:xfrm>
          <a:prstGeom prst="rect">
            <a:avLst/>
          </a:prstGeom>
          <a:noFill/>
          <a:ln>
            <a:solidFill>
              <a:schemeClr val="accent6"/>
            </a:solidFill>
          </a:ln>
        </p:spPr>
        <p:txBody>
          <a:bodyPr wrap="square" rtlCol="0">
            <a:spAutoFit/>
          </a:bodyPr>
          <a:lstStyle/>
          <a:p>
            <a:r>
              <a:rPr lang="fr-CA" dirty="0"/>
              <a:t>*Résultats obtenus avec un script Bash</a:t>
            </a:r>
          </a:p>
        </p:txBody>
      </p:sp>
    </p:spTree>
    <p:extLst>
      <p:ext uri="{BB962C8B-B14F-4D97-AF65-F5344CB8AC3E}">
        <p14:creationId xmlns:p14="http://schemas.microsoft.com/office/powerpoint/2010/main" val="3797620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998A4-448F-107D-A678-DB3E2F8084E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40F5659-B12B-C92B-98DF-B72B0BE9ED86}"/>
              </a:ext>
            </a:extLst>
          </p:cNvPr>
          <p:cNvSpPr>
            <a:spLocks noGrp="1"/>
          </p:cNvSpPr>
          <p:nvPr>
            <p:ph type="title"/>
          </p:nvPr>
        </p:nvSpPr>
        <p:spPr>
          <a:xfrm>
            <a:off x="838200" y="118237"/>
            <a:ext cx="10515600" cy="1325563"/>
          </a:xfrm>
        </p:spPr>
        <p:txBody>
          <a:bodyPr/>
          <a:lstStyle/>
          <a:p>
            <a:r>
              <a:rPr lang="fr-FR" dirty="0"/>
              <a:t>D) Graphiques de convergence : Temps</a:t>
            </a:r>
          </a:p>
        </p:txBody>
      </p:sp>
      <p:sp>
        <p:nvSpPr>
          <p:cNvPr id="10" name="ZoneTexte 9">
            <a:extLst>
              <a:ext uri="{FF2B5EF4-FFF2-40B4-BE49-F238E27FC236}">
                <a16:creationId xmlns:a16="http://schemas.microsoft.com/office/drawing/2014/main" id="{2C8B477F-8FA4-A391-5690-7C59D866F1C3}"/>
              </a:ext>
            </a:extLst>
          </p:cNvPr>
          <p:cNvSpPr txBox="1"/>
          <p:nvPr/>
        </p:nvSpPr>
        <p:spPr>
          <a:xfrm>
            <a:off x="2154455" y="5086407"/>
            <a:ext cx="8654716" cy="1384995"/>
          </a:xfrm>
          <a:prstGeom prst="rect">
            <a:avLst/>
          </a:prstGeom>
          <a:noFill/>
        </p:spPr>
        <p:txBody>
          <a:bodyPr wrap="square" rtlCol="0">
            <a:spAutoFit/>
          </a:bodyPr>
          <a:lstStyle/>
          <a:p>
            <a:pPr algn="just"/>
            <a:r>
              <a:rPr lang="fr-CA" sz="1200" dirty="0"/>
              <a:t>On peut voir que la convergence en espace est environ d’ordre 1 pour les trois types d’erreur. Cela est attendu avec les développements du terme de troncature montrés en A. Les écarts s’expliquent aussi par les données prise en compte dans la convergence asymptotiques ; certaines erreurs sont aberrantes et ne devraient pas être prises en compte dans le calcul. Plus de pas de résolution pourraient aider à améliorer l’estimation de l’ordre de convergence asymptotique.</a:t>
            </a:r>
          </a:p>
          <a:p>
            <a:pPr algn="just"/>
            <a:endParaRPr lang="fr-CA" sz="1200" dirty="0"/>
          </a:p>
          <a:p>
            <a:pPr algn="just"/>
            <a:r>
              <a:rPr lang="fr-CA" sz="1200" dirty="0"/>
              <a:t>On voit ici que le pas de discrétisation en espace a été bien choisi puisqu’il ne semble pas affecter (faire atteindre un plateau) l’erreur de discrétisation en temps, malgré le raffinement.</a:t>
            </a:r>
          </a:p>
        </p:txBody>
      </p:sp>
      <p:pic>
        <p:nvPicPr>
          <p:cNvPr id="5" name="Image 4">
            <a:extLst>
              <a:ext uri="{FF2B5EF4-FFF2-40B4-BE49-F238E27FC236}">
                <a16:creationId xmlns:a16="http://schemas.microsoft.com/office/drawing/2014/main" id="{6AD7C5DB-1F1F-B6A8-1FBD-4E77BE27347F}"/>
              </a:ext>
            </a:extLst>
          </p:cNvPr>
          <p:cNvPicPr>
            <a:picLocks noChangeAspect="1"/>
          </p:cNvPicPr>
          <p:nvPr/>
        </p:nvPicPr>
        <p:blipFill>
          <a:blip r:embed="rId3"/>
          <a:stretch>
            <a:fillRect/>
          </a:stretch>
        </p:blipFill>
        <p:spPr>
          <a:xfrm>
            <a:off x="3436938" y="1238637"/>
            <a:ext cx="5735938" cy="3734663"/>
          </a:xfrm>
          <a:prstGeom prst="rect">
            <a:avLst/>
          </a:prstGeom>
        </p:spPr>
      </p:pic>
      <p:sp>
        <p:nvSpPr>
          <p:cNvPr id="6" name="ZoneTexte 5">
            <a:extLst>
              <a:ext uri="{FF2B5EF4-FFF2-40B4-BE49-F238E27FC236}">
                <a16:creationId xmlns:a16="http://schemas.microsoft.com/office/drawing/2014/main" id="{0866BF2C-0970-5AC0-D3F7-91E5592C8E01}"/>
              </a:ext>
            </a:extLst>
          </p:cNvPr>
          <p:cNvSpPr txBox="1"/>
          <p:nvPr/>
        </p:nvSpPr>
        <p:spPr>
          <a:xfrm>
            <a:off x="9954150" y="1665838"/>
            <a:ext cx="1710042" cy="923330"/>
          </a:xfrm>
          <a:prstGeom prst="rect">
            <a:avLst/>
          </a:prstGeom>
          <a:noFill/>
          <a:ln>
            <a:solidFill>
              <a:schemeClr val="accent6"/>
            </a:solidFill>
          </a:ln>
        </p:spPr>
        <p:txBody>
          <a:bodyPr wrap="square" rtlCol="0">
            <a:spAutoFit/>
          </a:bodyPr>
          <a:lstStyle/>
          <a:p>
            <a:r>
              <a:rPr lang="fr-CA" dirty="0"/>
              <a:t>*Résultats obtenus avec un script Bash</a:t>
            </a:r>
          </a:p>
        </p:txBody>
      </p:sp>
    </p:spTree>
    <p:extLst>
      <p:ext uri="{BB962C8B-B14F-4D97-AF65-F5344CB8AC3E}">
        <p14:creationId xmlns:p14="http://schemas.microsoft.com/office/powerpoint/2010/main" val="1009329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1FD4F-689A-DD1F-99B3-4F9E32181D7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4CC7E58-E30E-357C-5056-9D8B86DEB5B0}"/>
              </a:ext>
            </a:extLst>
          </p:cNvPr>
          <p:cNvSpPr>
            <a:spLocks noGrp="1"/>
          </p:cNvSpPr>
          <p:nvPr>
            <p:ph type="title"/>
          </p:nvPr>
        </p:nvSpPr>
        <p:spPr>
          <a:xfrm>
            <a:off x="838200" y="118237"/>
            <a:ext cx="10515600" cy="1325563"/>
          </a:xfrm>
        </p:spPr>
        <p:txBody>
          <a:bodyPr/>
          <a:lstStyle/>
          <a:p>
            <a:r>
              <a:rPr lang="fr-FR" dirty="0"/>
              <a:t>F) Concentration en Sel dans le Cylindre après </a:t>
            </a:r>
          </a:p>
        </p:txBody>
      </p:sp>
      <p:sp>
        <p:nvSpPr>
          <p:cNvPr id="10" name="ZoneTexte 9">
            <a:extLst>
              <a:ext uri="{FF2B5EF4-FFF2-40B4-BE49-F238E27FC236}">
                <a16:creationId xmlns:a16="http://schemas.microsoft.com/office/drawing/2014/main" id="{4F1222AD-43E4-CCAE-4799-14DD32D34060}"/>
              </a:ext>
            </a:extLst>
          </p:cNvPr>
          <p:cNvSpPr txBox="1"/>
          <p:nvPr/>
        </p:nvSpPr>
        <p:spPr>
          <a:xfrm>
            <a:off x="3250932" y="6154988"/>
            <a:ext cx="5690135" cy="584775"/>
          </a:xfrm>
          <a:prstGeom prst="rect">
            <a:avLst/>
          </a:prstGeom>
          <a:noFill/>
        </p:spPr>
        <p:txBody>
          <a:bodyPr wrap="square" rtlCol="0">
            <a:spAutoFit/>
          </a:bodyPr>
          <a:lstStyle/>
          <a:p>
            <a:pPr algn="ctr"/>
            <a:r>
              <a:rPr lang="fr-CA" sz="1600" dirty="0"/>
              <a:t>Tracé de la solution qui serait autrement analytiquement très difficile à trouver.</a:t>
            </a:r>
          </a:p>
        </p:txBody>
      </p:sp>
      <p:pic>
        <p:nvPicPr>
          <p:cNvPr id="4" name="Image 3">
            <a:extLst>
              <a:ext uri="{FF2B5EF4-FFF2-40B4-BE49-F238E27FC236}">
                <a16:creationId xmlns:a16="http://schemas.microsoft.com/office/drawing/2014/main" id="{6B6DFE22-7DED-654E-D97F-92F00AC47F11}"/>
              </a:ext>
            </a:extLst>
          </p:cNvPr>
          <p:cNvPicPr>
            <a:picLocks noChangeAspect="1"/>
          </p:cNvPicPr>
          <p:nvPr/>
        </p:nvPicPr>
        <p:blipFill>
          <a:blip r:embed="rId3"/>
          <a:srcRect b="1552"/>
          <a:stretch>
            <a:fillRect/>
          </a:stretch>
        </p:blipFill>
        <p:spPr>
          <a:xfrm>
            <a:off x="1222122" y="1292215"/>
            <a:ext cx="9193943" cy="4936569"/>
          </a:xfrm>
          <a:prstGeom prst="rect">
            <a:avLst/>
          </a:prstGeom>
        </p:spPr>
      </p:pic>
    </p:spTree>
    <p:extLst>
      <p:ext uri="{BB962C8B-B14F-4D97-AF65-F5344CB8AC3E}">
        <p14:creationId xmlns:p14="http://schemas.microsoft.com/office/powerpoint/2010/main" val="27176636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2373</TotalTime>
  <Words>741</Words>
  <Application>Microsoft Office PowerPoint</Application>
  <PresentationFormat>Widescreen</PresentationFormat>
  <Paragraphs>79</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Cambria Math</vt:lpstr>
      <vt:lpstr>Thème Office</vt:lpstr>
      <vt:lpstr>MEC8211 – Devoir 2 </vt:lpstr>
      <vt:lpstr>A) Nouveau schéma de discrétisation </vt:lpstr>
      <vt:lpstr>A) Nouveau schéma de discrétisation </vt:lpstr>
      <vt:lpstr>A) Nouveau schéma de discrétisation </vt:lpstr>
      <vt:lpstr>A) Nouveau schéma de discrétisation </vt:lpstr>
      <vt:lpstr>B) Solution Manufacturée</vt:lpstr>
      <vt:lpstr>C) Terme source : Développements</vt:lpstr>
      <vt:lpstr>C) Terme source : Tracé</vt:lpstr>
      <vt:lpstr>D) Graphiques de convergence : Espace</vt:lpstr>
      <vt:lpstr>D) Graphiques de convergence : Temps</vt:lpstr>
      <vt:lpstr>F) Concentration en Sel dans le Cylindre après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Charlotte Sabrié</dc:creator>
  <cp:lastModifiedBy>Loïc Vignaud</cp:lastModifiedBy>
  <cp:revision>26</cp:revision>
  <dcterms:created xsi:type="dcterms:W3CDTF">2026-02-07T22:10:41Z</dcterms:created>
  <dcterms:modified xsi:type="dcterms:W3CDTF">2026-03-06T20:41:30Z</dcterms:modified>
</cp:coreProperties>
</file>